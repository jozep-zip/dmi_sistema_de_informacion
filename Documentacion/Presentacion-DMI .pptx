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6858000" cy="9144000"/>
  <p:embeddedFontLst>
    <p:embeddedFont>
      <p:font typeface="Arial Bold" panose="020B0604020202020204" charset="0"/>
      <p:regular r:id="rId18"/>
    </p:embeddedFont>
    <p:embeddedFont>
      <p:font typeface="Calibri (MS)" panose="020B0604020202020204" charset="0"/>
      <p:regular r:id="rId19"/>
    </p:embeddedFont>
    <p:embeddedFont>
      <p:font typeface="Calibri (MS) Bold" panose="020B0604020202020204" charset="0"/>
      <p:regular r:id="rId20"/>
    </p:embeddedFont>
    <p:embeddedFont>
      <p:font typeface="Calibri (MS) Italics" panose="020B0604020202020204" charset="0"/>
      <p:regular r:id="rId21"/>
    </p:embeddedFont>
    <p:embeddedFont>
      <p:font typeface="Work Sans Bold" panose="020B0604020202020204" charset="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Visdualizar inventario</a:t>
            </a:r>
          </a:p>
          <a:p>
            <a:r>
              <a:rPr lang="en-US"/>
              <a:t>Control automático del stock disponible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jpe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7.png"/><Relationship Id="rId5" Type="http://schemas.openxmlformats.org/officeDocument/2006/relationships/image" Target="../media/image12.png"/><Relationship Id="rId10" Type="http://schemas.openxmlformats.org/officeDocument/2006/relationships/image" Target="../media/image5.png"/><Relationship Id="rId4" Type="http://schemas.openxmlformats.org/officeDocument/2006/relationships/image" Target="../media/image4.jpeg"/><Relationship Id="rId9"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3.png"/><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4.jpe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4.jpe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15.png"/><Relationship Id="rId4" Type="http://schemas.openxmlformats.org/officeDocument/2006/relationships/image" Target="../media/image12.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5.png"/><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4.jpe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29.png"/><Relationship Id="rId4" Type="http://schemas.openxmlformats.org/officeDocument/2006/relationships/image" Target="../media/image4.jpeg"/><Relationship Id="rId9"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8.png"/><Relationship Id="rId10" Type="http://schemas.openxmlformats.org/officeDocument/2006/relationships/image" Target="../media/image31.png"/><Relationship Id="rId4" Type="http://schemas.openxmlformats.org/officeDocument/2006/relationships/image" Target="../media/image4.jpe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image" Target="../media/image4.jpe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4.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35.png"/><Relationship Id="rId4" Type="http://schemas.openxmlformats.org/officeDocument/2006/relationships/image" Target="../media/image4.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15311361" y="1582817"/>
            <a:ext cx="1384668" cy="1363142"/>
            <a:chOff x="0" y="0"/>
            <a:chExt cx="1846224" cy="1817522"/>
          </a:xfrm>
        </p:grpSpPr>
        <p:sp>
          <p:nvSpPr>
            <p:cNvPr id="4" name="Freeform 4"/>
            <p:cNvSpPr/>
            <p:nvPr/>
          </p:nvSpPr>
          <p:spPr>
            <a:xfrm>
              <a:off x="0" y="0"/>
              <a:ext cx="1846199" cy="1817497"/>
            </a:xfrm>
            <a:custGeom>
              <a:avLst/>
              <a:gdLst/>
              <a:ahLst/>
              <a:cxnLst/>
              <a:rect l="l" t="t" r="r" b="b"/>
              <a:pathLst>
                <a:path w="1846199" h="1817497">
                  <a:moveTo>
                    <a:pt x="0" y="0"/>
                  </a:moveTo>
                  <a:lnTo>
                    <a:pt x="1846199" y="0"/>
                  </a:lnTo>
                  <a:lnTo>
                    <a:pt x="1846199" y="1817497"/>
                  </a:lnTo>
                  <a:lnTo>
                    <a:pt x="0" y="1817497"/>
                  </a:lnTo>
                  <a:lnTo>
                    <a:pt x="0" y="0"/>
                  </a:lnTo>
                  <a:close/>
                </a:path>
              </a:pathLst>
            </a:custGeom>
            <a:blipFill>
              <a:blip r:embed="rId4"/>
              <a:stretch>
                <a:fillRect l="-344" r="-344"/>
              </a:stretch>
            </a:blipFill>
          </p:spPr>
          <p:txBody>
            <a:bodyPr/>
            <a:lstStyle/>
            <a:p>
              <a:endParaRPr lang="es-CO"/>
            </a:p>
          </p:txBody>
        </p:sp>
      </p:grpSp>
      <p:sp>
        <p:nvSpPr>
          <p:cNvPr id="5" name="TextBox 5"/>
          <p:cNvSpPr txBox="1"/>
          <p:nvPr/>
        </p:nvSpPr>
        <p:spPr>
          <a:xfrm>
            <a:off x="1386350" y="1416409"/>
            <a:ext cx="14189863" cy="1915127"/>
          </a:xfrm>
          <a:prstGeom prst="rect">
            <a:avLst/>
          </a:prstGeom>
        </p:spPr>
        <p:txBody>
          <a:bodyPr lIns="0" tIns="0" rIns="0" bIns="0" rtlCol="0" anchor="t">
            <a:spAutoFit/>
          </a:bodyPr>
          <a:lstStyle/>
          <a:p>
            <a:pPr algn="l">
              <a:lnSpc>
                <a:spcPts val="8065"/>
              </a:lnSpc>
            </a:pPr>
            <a:r>
              <a:rPr lang="en-US" sz="6727" b="1">
                <a:solidFill>
                  <a:srgbClr val="404040"/>
                </a:solidFill>
                <a:latin typeface="Arial Bold"/>
                <a:ea typeface="Arial Bold"/>
                <a:cs typeface="Arial Bold"/>
                <a:sym typeface="Arial Bold"/>
              </a:rPr>
              <a:t>Disol Motor´s</a:t>
            </a:r>
          </a:p>
          <a:p>
            <a:pPr algn="l">
              <a:lnSpc>
                <a:spcPts val="6869"/>
              </a:lnSpc>
            </a:pPr>
            <a:r>
              <a:rPr lang="en-US" sz="5727" b="1">
                <a:solidFill>
                  <a:srgbClr val="404040"/>
                </a:solidFill>
                <a:latin typeface="Arial Bold"/>
                <a:ea typeface="Arial Bold"/>
                <a:cs typeface="Arial Bold"/>
                <a:sym typeface="Arial Bold"/>
              </a:rPr>
              <a:t>Sistema de Informacion</a:t>
            </a:r>
          </a:p>
        </p:txBody>
      </p:sp>
      <p:sp>
        <p:nvSpPr>
          <p:cNvPr id="6" name="TextBox 6"/>
          <p:cNvSpPr txBox="1"/>
          <p:nvPr/>
        </p:nvSpPr>
        <p:spPr>
          <a:xfrm>
            <a:off x="587826" y="426244"/>
            <a:ext cx="4242587" cy="249879"/>
          </a:xfrm>
          <a:prstGeom prst="rect">
            <a:avLst/>
          </a:prstGeom>
        </p:spPr>
        <p:txBody>
          <a:bodyPr lIns="0" tIns="0" rIns="0" bIns="0" rtlCol="0" anchor="t">
            <a:spAutoFit/>
          </a:bodyPr>
          <a:lstStyle/>
          <a:p>
            <a:pPr algn="l">
              <a:lnSpc>
                <a:spcPts val="1800"/>
              </a:lnSpc>
            </a:pPr>
            <a:r>
              <a:rPr lang="en-US" sz="1500" b="1">
                <a:solidFill>
                  <a:srgbClr val="4D4D4C"/>
                </a:solidFill>
                <a:latin typeface="Work Sans Bold"/>
                <a:ea typeface="Work Sans Bold"/>
                <a:cs typeface="Work Sans Bold"/>
                <a:sym typeface="Work Sans Bold"/>
              </a:rPr>
              <a:t>Clasificación de la información: Pública</a:t>
            </a:r>
          </a:p>
        </p:txBody>
      </p:sp>
      <p:sp>
        <p:nvSpPr>
          <p:cNvPr id="7" name="TextBox 7"/>
          <p:cNvSpPr txBox="1"/>
          <p:nvPr/>
        </p:nvSpPr>
        <p:spPr>
          <a:xfrm>
            <a:off x="1714424" y="5727859"/>
            <a:ext cx="6690903" cy="949452"/>
          </a:xfrm>
          <a:prstGeom prst="rect">
            <a:avLst/>
          </a:prstGeom>
        </p:spPr>
        <p:txBody>
          <a:bodyPr lIns="0" tIns="0" rIns="0" bIns="0" rtlCol="0" anchor="t">
            <a:spAutoFit/>
          </a:bodyPr>
          <a:lstStyle/>
          <a:p>
            <a:pPr algn="l">
              <a:lnSpc>
                <a:spcPts val="2483"/>
              </a:lnSpc>
            </a:pPr>
            <a:r>
              <a:rPr lang="en-US" sz="1800">
                <a:solidFill>
                  <a:srgbClr val="000000"/>
                </a:solidFill>
                <a:latin typeface="Arial"/>
                <a:ea typeface="Arial"/>
                <a:cs typeface="Arial"/>
                <a:sym typeface="Arial"/>
              </a:rPr>
              <a:t>Kevin Barreto- Product owner </a:t>
            </a:r>
          </a:p>
          <a:p>
            <a:pPr algn="l">
              <a:lnSpc>
                <a:spcPts val="2483"/>
              </a:lnSpc>
            </a:pPr>
            <a:r>
              <a:rPr lang="en-US" sz="1800">
                <a:solidFill>
                  <a:srgbClr val="000000"/>
                </a:solidFill>
                <a:latin typeface="Arial"/>
                <a:ea typeface="Arial"/>
                <a:cs typeface="Arial"/>
                <a:sym typeface="Arial"/>
              </a:rPr>
              <a:t>Joseph Zapata- Scrum master</a:t>
            </a:r>
          </a:p>
          <a:p>
            <a:pPr algn="l">
              <a:lnSpc>
                <a:spcPts val="2483"/>
              </a:lnSpc>
            </a:pPr>
            <a:r>
              <a:rPr lang="en-US" sz="1800">
                <a:solidFill>
                  <a:srgbClr val="000000"/>
                </a:solidFill>
                <a:latin typeface="Arial"/>
                <a:ea typeface="Arial"/>
                <a:cs typeface="Arial"/>
                <a:sym typeface="Arial"/>
              </a:rPr>
              <a:t>Sneider Plata-Development leader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11520" y="1179576"/>
            <a:ext cx="16184699" cy="1165950"/>
            <a:chOff x="0" y="0"/>
            <a:chExt cx="21579599" cy="1554600"/>
          </a:xfrm>
        </p:grpSpPr>
        <p:sp>
          <p:nvSpPr>
            <p:cNvPr id="4" name="Freeform 4"/>
            <p:cNvSpPr/>
            <p:nvPr/>
          </p:nvSpPr>
          <p:spPr>
            <a:xfrm>
              <a:off x="0" y="0"/>
              <a:ext cx="21579601" cy="1554606"/>
            </a:xfrm>
            <a:custGeom>
              <a:avLst/>
              <a:gdLst/>
              <a:ahLst/>
              <a:cxnLst/>
              <a:rect l="l" t="t" r="r" b="b"/>
              <a:pathLst>
                <a:path w="21579601" h="1554606">
                  <a:moveTo>
                    <a:pt x="0" y="0"/>
                  </a:moveTo>
                  <a:lnTo>
                    <a:pt x="21579601" y="0"/>
                  </a:lnTo>
                  <a:lnTo>
                    <a:pt x="21579601" y="1554606"/>
                  </a:lnTo>
                  <a:lnTo>
                    <a:pt x="0" y="1554606"/>
                  </a:lnTo>
                  <a:close/>
                </a:path>
              </a:pathLst>
            </a:custGeom>
            <a:blipFill>
              <a:blip r:embed="rId4">
                <a:alphaModFix amt="0"/>
              </a:blip>
              <a:stretch>
                <a:fillRect t="-220473" b="-220472"/>
              </a:stretch>
            </a:blipFill>
          </p:spPr>
          <p:txBody>
            <a:bodyPr/>
            <a:lstStyle/>
            <a:p>
              <a:endParaRPr lang="es-CO"/>
            </a:p>
          </p:txBody>
        </p:sp>
        <p:sp>
          <p:nvSpPr>
            <p:cNvPr id="5" name="TextBox 5"/>
            <p:cNvSpPr txBox="1"/>
            <p:nvPr/>
          </p:nvSpPr>
          <p:spPr>
            <a:xfrm>
              <a:off x="0" y="0"/>
              <a:ext cx="21579599" cy="1554600"/>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¿Qué es DMI?</a:t>
              </a:r>
            </a:p>
          </p:txBody>
        </p:sp>
      </p:grpSp>
      <p:grpSp>
        <p:nvGrpSpPr>
          <p:cNvPr id="6" name="Group 6"/>
          <p:cNvGrpSpPr/>
          <p:nvPr/>
        </p:nvGrpSpPr>
        <p:grpSpPr>
          <a:xfrm>
            <a:off x="811520" y="2592324"/>
            <a:ext cx="8915400" cy="1581506"/>
            <a:chOff x="0" y="0"/>
            <a:chExt cx="11887200" cy="2108674"/>
          </a:xfrm>
        </p:grpSpPr>
        <p:sp>
          <p:nvSpPr>
            <p:cNvPr id="7" name="Freeform 7"/>
            <p:cNvSpPr/>
            <p:nvPr/>
          </p:nvSpPr>
          <p:spPr>
            <a:xfrm>
              <a:off x="0" y="0"/>
              <a:ext cx="11887200" cy="2108668"/>
            </a:xfrm>
            <a:custGeom>
              <a:avLst/>
              <a:gdLst/>
              <a:ahLst/>
              <a:cxnLst/>
              <a:rect l="l" t="t" r="r" b="b"/>
              <a:pathLst>
                <a:path w="11887200" h="2108668">
                  <a:moveTo>
                    <a:pt x="0" y="0"/>
                  </a:moveTo>
                  <a:lnTo>
                    <a:pt x="11887200" y="0"/>
                  </a:lnTo>
                  <a:lnTo>
                    <a:pt x="11887200" y="2108668"/>
                  </a:lnTo>
                  <a:lnTo>
                    <a:pt x="0" y="2108668"/>
                  </a:lnTo>
                  <a:close/>
                </a:path>
              </a:pathLst>
            </a:custGeom>
            <a:blipFill>
              <a:blip r:embed="rId4">
                <a:alphaModFix amt="0"/>
              </a:blip>
              <a:stretch>
                <a:fillRect t="-59977" b="-59708"/>
              </a:stretch>
            </a:blipFill>
          </p:spPr>
          <p:txBody>
            <a:bodyPr/>
            <a:lstStyle/>
            <a:p>
              <a:endParaRPr lang="es-CO"/>
            </a:p>
          </p:txBody>
        </p:sp>
        <p:sp>
          <p:nvSpPr>
            <p:cNvPr id="8" name="TextBox 8"/>
            <p:cNvSpPr txBox="1"/>
            <p:nvPr/>
          </p:nvSpPr>
          <p:spPr>
            <a:xfrm>
              <a:off x="0" y="-85725"/>
              <a:ext cx="11887200" cy="2194399"/>
            </a:xfrm>
            <a:prstGeom prst="rect">
              <a:avLst/>
            </a:prstGeom>
          </p:spPr>
          <p:txBody>
            <a:bodyPr lIns="0" tIns="0" rIns="0" bIns="0" rtlCol="0" anchor="ctr"/>
            <a:lstStyle/>
            <a:p>
              <a:pPr algn="l">
                <a:lnSpc>
                  <a:spcPts val="3001"/>
                </a:lnSpc>
              </a:pPr>
              <a:r>
                <a:rPr lang="en-US" sz="2175">
                  <a:solidFill>
                    <a:srgbClr val="22292E"/>
                  </a:solidFill>
                  <a:latin typeface="Calibri (MS)"/>
                  <a:ea typeface="Calibri (MS)"/>
                  <a:cs typeface="Calibri (MS)"/>
                  <a:sym typeface="Calibri (MS)"/>
                </a:rPr>
                <a:t>Plataforma web de mecanica para Disol Motors Injection, es un sistema de información web diseñado para optimizar la gestión de un taller de mecánica automotriz. Su objetivo principal es facilitar la administración de vehículos, clientes, servicios, citas e inventario mediante una plataforma digital.</a:t>
              </a:r>
            </a:p>
          </p:txBody>
        </p:sp>
      </p:grpSp>
      <p:grpSp>
        <p:nvGrpSpPr>
          <p:cNvPr id="9" name="Group 9"/>
          <p:cNvGrpSpPr/>
          <p:nvPr/>
        </p:nvGrpSpPr>
        <p:grpSpPr>
          <a:xfrm>
            <a:off x="811520" y="4238244"/>
            <a:ext cx="6858000" cy="480146"/>
            <a:chOff x="0" y="0"/>
            <a:chExt cx="9144000" cy="640194"/>
          </a:xfrm>
        </p:grpSpPr>
        <p:sp>
          <p:nvSpPr>
            <p:cNvPr id="10" name="Freeform 10"/>
            <p:cNvSpPr/>
            <p:nvPr/>
          </p:nvSpPr>
          <p:spPr>
            <a:xfrm>
              <a:off x="0" y="0"/>
              <a:ext cx="9144000" cy="640200"/>
            </a:xfrm>
            <a:custGeom>
              <a:avLst/>
              <a:gdLst/>
              <a:ahLst/>
              <a:cxnLst/>
              <a:rect l="l" t="t" r="r" b="b"/>
              <a:pathLst>
                <a:path w="9144000" h="640200">
                  <a:moveTo>
                    <a:pt x="0" y="0"/>
                  </a:moveTo>
                  <a:lnTo>
                    <a:pt x="9144000" y="0"/>
                  </a:lnTo>
                  <a:lnTo>
                    <a:pt x="9144000" y="640200"/>
                  </a:lnTo>
                  <a:lnTo>
                    <a:pt x="0" y="640200"/>
                  </a:lnTo>
                  <a:close/>
                </a:path>
              </a:pathLst>
            </a:custGeom>
            <a:blipFill>
              <a:blip r:embed="rId4">
                <a:alphaModFix amt="0"/>
              </a:blip>
              <a:stretch>
                <a:fillRect t="-228305" b="-228305"/>
              </a:stretch>
            </a:blipFill>
          </p:spPr>
          <p:txBody>
            <a:bodyPr/>
            <a:lstStyle/>
            <a:p>
              <a:endParaRPr lang="es-CO"/>
            </a:p>
          </p:txBody>
        </p:sp>
        <p:sp>
          <p:nvSpPr>
            <p:cNvPr id="11" name="TextBox 11"/>
            <p:cNvSpPr txBox="1"/>
            <p:nvPr/>
          </p:nvSpPr>
          <p:spPr>
            <a:xfrm>
              <a:off x="0" y="-47625"/>
              <a:ext cx="9144000" cy="687819"/>
            </a:xfrm>
            <a:prstGeom prst="rect">
              <a:avLst/>
            </a:prstGeom>
          </p:spPr>
          <p:txBody>
            <a:bodyPr lIns="0" tIns="0" rIns="0" bIns="0" rtlCol="0" anchor="ctr"/>
            <a:lstStyle/>
            <a:p>
              <a:pPr algn="l">
                <a:lnSpc>
                  <a:spcPts val="2520"/>
                </a:lnSpc>
              </a:pPr>
              <a:r>
                <a:rPr lang="en-US" sz="2100" b="1">
                  <a:solidFill>
                    <a:srgbClr val="00304D"/>
                  </a:solidFill>
                  <a:latin typeface="Calibri (MS) Bold"/>
                  <a:ea typeface="Calibri (MS) Bold"/>
                  <a:cs typeface="Calibri (MS) Bold"/>
                  <a:sym typeface="Calibri (MS) Bold"/>
                </a:rPr>
                <a:t>El sistema permite:</a:t>
              </a:r>
            </a:p>
          </p:txBody>
        </p:sp>
      </p:grpSp>
      <p:grpSp>
        <p:nvGrpSpPr>
          <p:cNvPr id="12" name="Group 12"/>
          <p:cNvGrpSpPr/>
          <p:nvPr/>
        </p:nvGrpSpPr>
        <p:grpSpPr>
          <a:xfrm>
            <a:off x="811520" y="4855464"/>
            <a:ext cx="521103" cy="521103"/>
            <a:chOff x="0" y="0"/>
            <a:chExt cx="694804" cy="694804"/>
          </a:xfrm>
        </p:grpSpPr>
        <p:sp>
          <p:nvSpPr>
            <p:cNvPr id="13" name="Freeform 13"/>
            <p:cNvSpPr/>
            <p:nvPr/>
          </p:nvSpPr>
          <p:spPr>
            <a:xfrm>
              <a:off x="0" y="0"/>
              <a:ext cx="694817" cy="694817"/>
            </a:xfrm>
            <a:custGeom>
              <a:avLst/>
              <a:gdLst/>
              <a:ahLst/>
              <a:cxnLst/>
              <a:rect l="l" t="t" r="r" b="b"/>
              <a:pathLst>
                <a:path w="694817" h="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txBody>
            <a:bodyPr/>
            <a:lstStyle/>
            <a:p>
              <a:endParaRPr lang="es-CO"/>
            </a:p>
          </p:txBody>
        </p:sp>
      </p:grpSp>
      <p:grpSp>
        <p:nvGrpSpPr>
          <p:cNvPr id="14" name="Group 14"/>
          <p:cNvGrpSpPr/>
          <p:nvPr/>
        </p:nvGrpSpPr>
        <p:grpSpPr>
          <a:xfrm>
            <a:off x="947033" y="4990976"/>
            <a:ext cx="250184" cy="250184"/>
            <a:chOff x="0" y="0"/>
            <a:chExt cx="333578" cy="333578"/>
          </a:xfrm>
        </p:grpSpPr>
        <p:sp>
          <p:nvSpPr>
            <p:cNvPr id="15" name="Freeform 15" descr="icons/window.png"/>
            <p:cNvSpPr/>
            <p:nvPr/>
          </p:nvSpPr>
          <p:spPr>
            <a:xfrm>
              <a:off x="0" y="0"/>
              <a:ext cx="333629" cy="333629"/>
            </a:xfrm>
            <a:custGeom>
              <a:avLst/>
              <a:gdLst/>
              <a:ahLst/>
              <a:cxnLst/>
              <a:rect l="l" t="t" r="r" b="b"/>
              <a:pathLst>
                <a:path w="333629" h="333629">
                  <a:moveTo>
                    <a:pt x="0" y="0"/>
                  </a:moveTo>
                  <a:lnTo>
                    <a:pt x="333629" y="0"/>
                  </a:lnTo>
                  <a:lnTo>
                    <a:pt x="333629" y="333629"/>
                  </a:lnTo>
                  <a:lnTo>
                    <a:pt x="0" y="333629"/>
                  </a:lnTo>
                  <a:lnTo>
                    <a:pt x="0" y="0"/>
                  </a:lnTo>
                  <a:close/>
                </a:path>
              </a:pathLst>
            </a:custGeom>
            <a:blipFill>
              <a:blip r:embed="rId5"/>
              <a:stretch>
                <a:fillRect r="15" b="15"/>
              </a:stretch>
            </a:blipFill>
          </p:spPr>
          <p:txBody>
            <a:bodyPr/>
            <a:lstStyle/>
            <a:p>
              <a:endParaRPr lang="es-CO"/>
            </a:p>
          </p:txBody>
        </p:sp>
      </p:grpSp>
      <p:grpSp>
        <p:nvGrpSpPr>
          <p:cNvPr id="16" name="Group 16"/>
          <p:cNvGrpSpPr/>
          <p:nvPr/>
        </p:nvGrpSpPr>
        <p:grpSpPr>
          <a:xfrm>
            <a:off x="1565900" y="4814316"/>
            <a:ext cx="7955099" cy="603450"/>
            <a:chOff x="0" y="0"/>
            <a:chExt cx="10606799" cy="804600"/>
          </a:xfrm>
        </p:grpSpPr>
        <p:sp>
          <p:nvSpPr>
            <p:cNvPr id="17" name="Freeform 17"/>
            <p:cNvSpPr/>
            <p:nvPr/>
          </p:nvSpPr>
          <p:spPr>
            <a:xfrm>
              <a:off x="0" y="0"/>
              <a:ext cx="10606800" cy="804604"/>
            </a:xfrm>
            <a:custGeom>
              <a:avLst/>
              <a:gdLst/>
              <a:ahLst/>
              <a:cxnLst/>
              <a:rect l="l" t="t" r="r" b="b"/>
              <a:pathLst>
                <a:path w="10606800" h="804604">
                  <a:moveTo>
                    <a:pt x="0" y="0"/>
                  </a:moveTo>
                  <a:lnTo>
                    <a:pt x="10606800" y="0"/>
                  </a:lnTo>
                  <a:lnTo>
                    <a:pt x="10606800" y="804604"/>
                  </a:lnTo>
                  <a:lnTo>
                    <a:pt x="0" y="804604"/>
                  </a:lnTo>
                  <a:close/>
                </a:path>
              </a:pathLst>
            </a:custGeom>
            <a:blipFill>
              <a:blip r:embed="rId4">
                <a:alphaModFix amt="0"/>
              </a:blip>
              <a:stretch>
                <a:fillRect t="-206864" b="-206863"/>
              </a:stretch>
            </a:blipFill>
          </p:spPr>
          <p:txBody>
            <a:bodyPr/>
            <a:lstStyle/>
            <a:p>
              <a:endParaRPr lang="es-CO"/>
            </a:p>
          </p:txBody>
        </p:sp>
        <p:sp>
          <p:nvSpPr>
            <p:cNvPr id="18" name="TextBox 18"/>
            <p:cNvSpPr txBox="1"/>
            <p:nvPr/>
          </p:nvSpPr>
          <p:spPr>
            <a:xfrm>
              <a:off x="0" y="-38100"/>
              <a:ext cx="10606799" cy="842700"/>
            </a:xfrm>
            <a:prstGeom prst="rect">
              <a:avLst/>
            </a:prstGeom>
          </p:spPr>
          <p:txBody>
            <a:bodyPr lIns="0" tIns="0" rIns="0" bIns="0" rtlCol="0" anchor="ctr"/>
            <a:lstStyle/>
            <a:p>
              <a:pPr algn="l">
                <a:lnSpc>
                  <a:spcPts val="2250"/>
                </a:lnSpc>
              </a:pPr>
              <a:r>
                <a:rPr lang="en-US" sz="1875">
                  <a:solidFill>
                    <a:srgbClr val="22292E"/>
                  </a:solidFill>
                  <a:latin typeface="Calibri (MS)"/>
                  <a:ea typeface="Calibri (MS)"/>
                  <a:cs typeface="Calibri (MS)"/>
                  <a:sym typeface="Calibri (MS)"/>
                </a:rPr>
                <a:t>Visualizar el catálogo de productos disponibles</a:t>
              </a:r>
            </a:p>
          </p:txBody>
        </p:sp>
      </p:grpSp>
      <p:grpSp>
        <p:nvGrpSpPr>
          <p:cNvPr id="19" name="Group 19"/>
          <p:cNvGrpSpPr/>
          <p:nvPr/>
        </p:nvGrpSpPr>
        <p:grpSpPr>
          <a:xfrm>
            <a:off x="811520" y="5623560"/>
            <a:ext cx="521103" cy="521103"/>
            <a:chOff x="0" y="0"/>
            <a:chExt cx="694804" cy="694804"/>
          </a:xfrm>
        </p:grpSpPr>
        <p:sp>
          <p:nvSpPr>
            <p:cNvPr id="20" name="Freeform 20"/>
            <p:cNvSpPr/>
            <p:nvPr/>
          </p:nvSpPr>
          <p:spPr>
            <a:xfrm>
              <a:off x="0" y="0"/>
              <a:ext cx="694817" cy="694817"/>
            </a:xfrm>
            <a:custGeom>
              <a:avLst/>
              <a:gdLst/>
              <a:ahLst/>
              <a:cxnLst/>
              <a:rect l="l" t="t" r="r" b="b"/>
              <a:pathLst>
                <a:path w="694817" h="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txBody>
            <a:bodyPr/>
            <a:lstStyle/>
            <a:p>
              <a:endParaRPr lang="es-CO"/>
            </a:p>
          </p:txBody>
        </p:sp>
      </p:grpSp>
      <p:grpSp>
        <p:nvGrpSpPr>
          <p:cNvPr id="21" name="Group 21"/>
          <p:cNvGrpSpPr/>
          <p:nvPr/>
        </p:nvGrpSpPr>
        <p:grpSpPr>
          <a:xfrm>
            <a:off x="947033" y="5759072"/>
            <a:ext cx="250184" cy="250184"/>
            <a:chOff x="0" y="0"/>
            <a:chExt cx="333578" cy="333578"/>
          </a:xfrm>
        </p:grpSpPr>
        <p:sp>
          <p:nvSpPr>
            <p:cNvPr id="22" name="Freeform 22" descr="icons/filter.png"/>
            <p:cNvSpPr/>
            <p:nvPr/>
          </p:nvSpPr>
          <p:spPr>
            <a:xfrm>
              <a:off x="0" y="0"/>
              <a:ext cx="333629" cy="333629"/>
            </a:xfrm>
            <a:custGeom>
              <a:avLst/>
              <a:gdLst/>
              <a:ahLst/>
              <a:cxnLst/>
              <a:rect l="l" t="t" r="r" b="b"/>
              <a:pathLst>
                <a:path w="333629" h="333629">
                  <a:moveTo>
                    <a:pt x="0" y="0"/>
                  </a:moveTo>
                  <a:lnTo>
                    <a:pt x="333629" y="0"/>
                  </a:lnTo>
                  <a:lnTo>
                    <a:pt x="333629" y="333629"/>
                  </a:lnTo>
                  <a:lnTo>
                    <a:pt x="0" y="333629"/>
                  </a:lnTo>
                  <a:lnTo>
                    <a:pt x="0" y="0"/>
                  </a:lnTo>
                  <a:close/>
                </a:path>
              </a:pathLst>
            </a:custGeom>
            <a:blipFill>
              <a:blip r:embed="rId6"/>
              <a:stretch>
                <a:fillRect r="15" b="15"/>
              </a:stretch>
            </a:blipFill>
          </p:spPr>
          <p:txBody>
            <a:bodyPr/>
            <a:lstStyle/>
            <a:p>
              <a:endParaRPr lang="es-CO"/>
            </a:p>
          </p:txBody>
        </p:sp>
      </p:grpSp>
      <p:grpSp>
        <p:nvGrpSpPr>
          <p:cNvPr id="23" name="Group 23"/>
          <p:cNvGrpSpPr/>
          <p:nvPr/>
        </p:nvGrpSpPr>
        <p:grpSpPr>
          <a:xfrm>
            <a:off x="1565900" y="5582412"/>
            <a:ext cx="7955099" cy="603450"/>
            <a:chOff x="0" y="0"/>
            <a:chExt cx="10606799" cy="804600"/>
          </a:xfrm>
        </p:grpSpPr>
        <p:sp>
          <p:nvSpPr>
            <p:cNvPr id="24" name="Freeform 24"/>
            <p:cNvSpPr/>
            <p:nvPr/>
          </p:nvSpPr>
          <p:spPr>
            <a:xfrm>
              <a:off x="0" y="0"/>
              <a:ext cx="10606800" cy="804604"/>
            </a:xfrm>
            <a:custGeom>
              <a:avLst/>
              <a:gdLst/>
              <a:ahLst/>
              <a:cxnLst/>
              <a:rect l="l" t="t" r="r" b="b"/>
              <a:pathLst>
                <a:path w="10606800" h="804604">
                  <a:moveTo>
                    <a:pt x="0" y="0"/>
                  </a:moveTo>
                  <a:lnTo>
                    <a:pt x="10606800" y="0"/>
                  </a:lnTo>
                  <a:lnTo>
                    <a:pt x="10606800" y="804604"/>
                  </a:lnTo>
                  <a:lnTo>
                    <a:pt x="0" y="804604"/>
                  </a:lnTo>
                  <a:close/>
                </a:path>
              </a:pathLst>
            </a:custGeom>
            <a:blipFill>
              <a:blip r:embed="rId4">
                <a:alphaModFix amt="0"/>
              </a:blip>
              <a:stretch>
                <a:fillRect t="-206864" b="-206863"/>
              </a:stretch>
            </a:blipFill>
          </p:spPr>
          <p:txBody>
            <a:bodyPr/>
            <a:lstStyle/>
            <a:p>
              <a:endParaRPr lang="es-CO"/>
            </a:p>
          </p:txBody>
        </p:sp>
        <p:sp>
          <p:nvSpPr>
            <p:cNvPr id="25" name="TextBox 25"/>
            <p:cNvSpPr txBox="1"/>
            <p:nvPr/>
          </p:nvSpPr>
          <p:spPr>
            <a:xfrm>
              <a:off x="0" y="-38100"/>
              <a:ext cx="10606799" cy="842700"/>
            </a:xfrm>
            <a:prstGeom prst="rect">
              <a:avLst/>
            </a:prstGeom>
          </p:spPr>
          <p:txBody>
            <a:bodyPr lIns="0" tIns="0" rIns="0" bIns="0" rtlCol="0" anchor="ctr"/>
            <a:lstStyle/>
            <a:p>
              <a:pPr algn="l">
                <a:lnSpc>
                  <a:spcPts val="2250"/>
                </a:lnSpc>
              </a:pPr>
              <a:r>
                <a:rPr lang="en-US" sz="1875">
                  <a:solidFill>
                    <a:srgbClr val="22292E"/>
                  </a:solidFill>
                  <a:latin typeface="Calibri (MS)"/>
                  <a:ea typeface="Calibri (MS)"/>
                  <a:cs typeface="Calibri (MS)"/>
                  <a:sym typeface="Calibri (MS)"/>
                </a:rPr>
                <a:t>Mantener un inventario completo sobre los servicios y citas agendadas</a:t>
              </a:r>
            </a:p>
          </p:txBody>
        </p:sp>
      </p:grpSp>
      <p:grpSp>
        <p:nvGrpSpPr>
          <p:cNvPr id="26" name="Group 26"/>
          <p:cNvGrpSpPr/>
          <p:nvPr/>
        </p:nvGrpSpPr>
        <p:grpSpPr>
          <a:xfrm>
            <a:off x="811520" y="6428232"/>
            <a:ext cx="521103" cy="521103"/>
            <a:chOff x="0" y="0"/>
            <a:chExt cx="694804" cy="694804"/>
          </a:xfrm>
        </p:grpSpPr>
        <p:sp>
          <p:nvSpPr>
            <p:cNvPr id="27" name="Freeform 27"/>
            <p:cNvSpPr/>
            <p:nvPr/>
          </p:nvSpPr>
          <p:spPr>
            <a:xfrm>
              <a:off x="0" y="0"/>
              <a:ext cx="694817" cy="694817"/>
            </a:xfrm>
            <a:custGeom>
              <a:avLst/>
              <a:gdLst/>
              <a:ahLst/>
              <a:cxnLst/>
              <a:rect l="l" t="t" r="r" b="b"/>
              <a:pathLst>
                <a:path w="694817" h="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txBody>
            <a:bodyPr/>
            <a:lstStyle/>
            <a:p>
              <a:endParaRPr lang="es-CO"/>
            </a:p>
          </p:txBody>
        </p:sp>
      </p:grpSp>
      <p:grpSp>
        <p:nvGrpSpPr>
          <p:cNvPr id="28" name="Group 28"/>
          <p:cNvGrpSpPr/>
          <p:nvPr/>
        </p:nvGrpSpPr>
        <p:grpSpPr>
          <a:xfrm>
            <a:off x="947033" y="6563744"/>
            <a:ext cx="250184" cy="250184"/>
            <a:chOff x="0" y="0"/>
            <a:chExt cx="333578" cy="333578"/>
          </a:xfrm>
        </p:grpSpPr>
        <p:sp>
          <p:nvSpPr>
            <p:cNvPr id="29" name="Freeform 29" descr="icons/cart.png"/>
            <p:cNvSpPr/>
            <p:nvPr/>
          </p:nvSpPr>
          <p:spPr>
            <a:xfrm>
              <a:off x="0" y="0"/>
              <a:ext cx="333629" cy="333629"/>
            </a:xfrm>
            <a:custGeom>
              <a:avLst/>
              <a:gdLst/>
              <a:ahLst/>
              <a:cxnLst/>
              <a:rect l="l" t="t" r="r" b="b"/>
              <a:pathLst>
                <a:path w="333629" h="333629">
                  <a:moveTo>
                    <a:pt x="0" y="0"/>
                  </a:moveTo>
                  <a:lnTo>
                    <a:pt x="333629" y="0"/>
                  </a:lnTo>
                  <a:lnTo>
                    <a:pt x="333629" y="333629"/>
                  </a:lnTo>
                  <a:lnTo>
                    <a:pt x="0" y="333629"/>
                  </a:lnTo>
                  <a:lnTo>
                    <a:pt x="0" y="0"/>
                  </a:lnTo>
                  <a:close/>
                </a:path>
              </a:pathLst>
            </a:custGeom>
            <a:blipFill>
              <a:blip r:embed="rId7"/>
              <a:stretch>
                <a:fillRect r="15" b="15"/>
              </a:stretch>
            </a:blipFill>
          </p:spPr>
          <p:txBody>
            <a:bodyPr/>
            <a:lstStyle/>
            <a:p>
              <a:endParaRPr lang="es-CO"/>
            </a:p>
          </p:txBody>
        </p:sp>
      </p:grpSp>
      <p:grpSp>
        <p:nvGrpSpPr>
          <p:cNvPr id="30" name="Group 30"/>
          <p:cNvGrpSpPr/>
          <p:nvPr/>
        </p:nvGrpSpPr>
        <p:grpSpPr>
          <a:xfrm>
            <a:off x="1565900" y="6387084"/>
            <a:ext cx="7955099" cy="603450"/>
            <a:chOff x="0" y="0"/>
            <a:chExt cx="10606799" cy="804600"/>
          </a:xfrm>
        </p:grpSpPr>
        <p:sp>
          <p:nvSpPr>
            <p:cNvPr id="31" name="Freeform 31"/>
            <p:cNvSpPr/>
            <p:nvPr/>
          </p:nvSpPr>
          <p:spPr>
            <a:xfrm>
              <a:off x="0" y="0"/>
              <a:ext cx="10606800" cy="804604"/>
            </a:xfrm>
            <a:custGeom>
              <a:avLst/>
              <a:gdLst/>
              <a:ahLst/>
              <a:cxnLst/>
              <a:rect l="l" t="t" r="r" b="b"/>
              <a:pathLst>
                <a:path w="10606800" h="804604">
                  <a:moveTo>
                    <a:pt x="0" y="0"/>
                  </a:moveTo>
                  <a:lnTo>
                    <a:pt x="10606800" y="0"/>
                  </a:lnTo>
                  <a:lnTo>
                    <a:pt x="10606800" y="804604"/>
                  </a:lnTo>
                  <a:lnTo>
                    <a:pt x="0" y="804604"/>
                  </a:lnTo>
                  <a:close/>
                </a:path>
              </a:pathLst>
            </a:custGeom>
            <a:blipFill>
              <a:blip r:embed="rId4">
                <a:alphaModFix amt="0"/>
              </a:blip>
              <a:stretch>
                <a:fillRect t="-206864" b="-206863"/>
              </a:stretch>
            </a:blipFill>
          </p:spPr>
          <p:txBody>
            <a:bodyPr/>
            <a:lstStyle/>
            <a:p>
              <a:endParaRPr lang="es-CO"/>
            </a:p>
          </p:txBody>
        </p:sp>
        <p:sp>
          <p:nvSpPr>
            <p:cNvPr id="32" name="TextBox 32"/>
            <p:cNvSpPr txBox="1"/>
            <p:nvPr/>
          </p:nvSpPr>
          <p:spPr>
            <a:xfrm>
              <a:off x="0" y="-38100"/>
              <a:ext cx="10606799" cy="842700"/>
            </a:xfrm>
            <a:prstGeom prst="rect">
              <a:avLst/>
            </a:prstGeom>
          </p:spPr>
          <p:txBody>
            <a:bodyPr lIns="0" tIns="0" rIns="0" bIns="0" rtlCol="0" anchor="ctr"/>
            <a:lstStyle/>
            <a:p>
              <a:pPr algn="l">
                <a:lnSpc>
                  <a:spcPts val="2250"/>
                </a:lnSpc>
              </a:pPr>
              <a:r>
                <a:rPr lang="en-US" sz="1875">
                  <a:solidFill>
                    <a:srgbClr val="22292E"/>
                  </a:solidFill>
                  <a:latin typeface="Calibri (MS)"/>
                  <a:ea typeface="Calibri (MS)"/>
                  <a:cs typeface="Calibri (MS)"/>
                  <a:sym typeface="Calibri (MS)"/>
                </a:rPr>
                <a:t>Poder realizar compras en linea dentro del sitio web</a:t>
              </a:r>
            </a:p>
          </p:txBody>
        </p:sp>
      </p:grpSp>
      <p:grpSp>
        <p:nvGrpSpPr>
          <p:cNvPr id="33" name="Group 33"/>
          <p:cNvGrpSpPr/>
          <p:nvPr/>
        </p:nvGrpSpPr>
        <p:grpSpPr>
          <a:xfrm>
            <a:off x="10344140" y="2592324"/>
            <a:ext cx="7132501" cy="6926399"/>
            <a:chOff x="0" y="0"/>
            <a:chExt cx="9510001" cy="9235199"/>
          </a:xfrm>
        </p:grpSpPr>
        <p:sp>
          <p:nvSpPr>
            <p:cNvPr id="34" name="Freeform 34"/>
            <p:cNvSpPr/>
            <p:nvPr/>
          </p:nvSpPr>
          <p:spPr>
            <a:xfrm>
              <a:off x="0" y="0"/>
              <a:ext cx="9510014" cy="9235186"/>
            </a:xfrm>
            <a:custGeom>
              <a:avLst/>
              <a:gdLst/>
              <a:ahLst/>
              <a:cxnLst/>
              <a:rect l="l" t="t" r="r" b="b"/>
              <a:pathLst>
                <a:path w="9510014" h="9235186">
                  <a:moveTo>
                    <a:pt x="0" y="146304"/>
                  </a:moveTo>
                  <a:cubicBezTo>
                    <a:pt x="0" y="65532"/>
                    <a:pt x="65532" y="0"/>
                    <a:pt x="146304" y="0"/>
                  </a:cubicBezTo>
                  <a:lnTo>
                    <a:pt x="9363710" y="0"/>
                  </a:lnTo>
                  <a:cubicBezTo>
                    <a:pt x="9444482" y="0"/>
                    <a:pt x="9510014" y="65532"/>
                    <a:pt x="9510014" y="146304"/>
                  </a:cubicBezTo>
                  <a:lnTo>
                    <a:pt x="9510014" y="9088882"/>
                  </a:lnTo>
                  <a:cubicBezTo>
                    <a:pt x="9510014" y="9169653"/>
                    <a:pt x="9444482" y="9235186"/>
                    <a:pt x="9363710" y="9235186"/>
                  </a:cubicBezTo>
                  <a:lnTo>
                    <a:pt x="146304" y="9235186"/>
                  </a:lnTo>
                  <a:cubicBezTo>
                    <a:pt x="65532" y="9235186"/>
                    <a:pt x="0" y="9169654"/>
                    <a:pt x="0" y="9088882"/>
                  </a:cubicBezTo>
                  <a:close/>
                </a:path>
              </a:pathLst>
            </a:custGeom>
            <a:solidFill>
              <a:srgbClr val="00304D"/>
            </a:solidFill>
          </p:spPr>
          <p:txBody>
            <a:bodyPr/>
            <a:lstStyle/>
            <a:p>
              <a:endParaRPr lang="es-CO"/>
            </a:p>
          </p:txBody>
        </p:sp>
      </p:grpSp>
      <p:grpSp>
        <p:nvGrpSpPr>
          <p:cNvPr id="35" name="Group 35"/>
          <p:cNvGrpSpPr/>
          <p:nvPr/>
        </p:nvGrpSpPr>
        <p:grpSpPr>
          <a:xfrm>
            <a:off x="10824200" y="2935224"/>
            <a:ext cx="6172200" cy="480146"/>
            <a:chOff x="0" y="0"/>
            <a:chExt cx="8229600" cy="640194"/>
          </a:xfrm>
        </p:grpSpPr>
        <p:sp>
          <p:nvSpPr>
            <p:cNvPr id="36" name="Freeform 36"/>
            <p:cNvSpPr/>
            <p:nvPr/>
          </p:nvSpPr>
          <p:spPr>
            <a:xfrm>
              <a:off x="0" y="0"/>
              <a:ext cx="8229600" cy="640200"/>
            </a:xfrm>
            <a:custGeom>
              <a:avLst/>
              <a:gdLst/>
              <a:ahLst/>
              <a:cxnLst/>
              <a:rect l="l" t="t" r="r" b="b"/>
              <a:pathLst>
                <a:path w="8229600" h="640200">
                  <a:moveTo>
                    <a:pt x="0" y="0"/>
                  </a:moveTo>
                  <a:lnTo>
                    <a:pt x="8229600" y="0"/>
                  </a:lnTo>
                  <a:lnTo>
                    <a:pt x="8229600" y="640200"/>
                  </a:lnTo>
                  <a:lnTo>
                    <a:pt x="0" y="640200"/>
                  </a:lnTo>
                  <a:close/>
                </a:path>
              </a:pathLst>
            </a:custGeom>
            <a:blipFill>
              <a:blip r:embed="rId4">
                <a:alphaModFix amt="0"/>
              </a:blip>
              <a:stretch>
                <a:fillRect t="-200475" b="-200474"/>
              </a:stretch>
            </a:blipFill>
          </p:spPr>
          <p:txBody>
            <a:bodyPr/>
            <a:lstStyle/>
            <a:p>
              <a:endParaRPr lang="es-CO"/>
            </a:p>
          </p:txBody>
        </p:sp>
        <p:sp>
          <p:nvSpPr>
            <p:cNvPr id="37" name="TextBox 37"/>
            <p:cNvSpPr txBox="1"/>
            <p:nvPr/>
          </p:nvSpPr>
          <p:spPr>
            <a:xfrm>
              <a:off x="0" y="-38100"/>
              <a:ext cx="8229600" cy="678294"/>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STACK PRINCIPAL</a:t>
              </a:r>
            </a:p>
          </p:txBody>
        </p:sp>
      </p:grpSp>
      <p:grpSp>
        <p:nvGrpSpPr>
          <p:cNvPr id="38" name="Group 38"/>
          <p:cNvGrpSpPr/>
          <p:nvPr/>
        </p:nvGrpSpPr>
        <p:grpSpPr>
          <a:xfrm>
            <a:off x="10824200" y="3621024"/>
            <a:ext cx="754199" cy="754199"/>
            <a:chOff x="0" y="0"/>
            <a:chExt cx="1005599" cy="1005599"/>
          </a:xfrm>
        </p:grpSpPr>
        <p:sp>
          <p:nvSpPr>
            <p:cNvPr id="39" name="Freeform 39"/>
            <p:cNvSpPr/>
            <p:nvPr/>
          </p:nvSpPr>
          <p:spPr>
            <a:xfrm>
              <a:off x="0" y="0"/>
              <a:ext cx="1005586" cy="1005586"/>
            </a:xfrm>
            <a:custGeom>
              <a:avLst/>
              <a:gdLst/>
              <a:ahLst/>
              <a:cxnLst/>
              <a:rect l="l" t="t" r="r" b="b"/>
              <a:pathLst>
                <a:path w="1005586" h="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txBody>
            <a:bodyPr/>
            <a:lstStyle/>
            <a:p>
              <a:endParaRPr lang="es-CO"/>
            </a:p>
          </p:txBody>
        </p:sp>
      </p:grpSp>
      <p:grpSp>
        <p:nvGrpSpPr>
          <p:cNvPr id="40" name="Group 40"/>
          <p:cNvGrpSpPr/>
          <p:nvPr/>
        </p:nvGrpSpPr>
        <p:grpSpPr>
          <a:xfrm>
            <a:off x="11020339" y="3817153"/>
            <a:ext cx="362102" cy="362102"/>
            <a:chOff x="0" y="0"/>
            <a:chExt cx="482803" cy="482803"/>
          </a:xfrm>
        </p:grpSpPr>
        <p:sp>
          <p:nvSpPr>
            <p:cNvPr id="41" name="Freeform 41" descr="icons/code.png"/>
            <p:cNvSpPr/>
            <p:nvPr/>
          </p:nvSpPr>
          <p:spPr>
            <a:xfrm>
              <a:off x="0" y="0"/>
              <a:ext cx="482854" cy="482854"/>
            </a:xfrm>
            <a:custGeom>
              <a:avLst/>
              <a:gdLst/>
              <a:ahLst/>
              <a:cxnLst/>
              <a:rect l="l" t="t" r="r" b="b"/>
              <a:pathLst>
                <a:path w="482854" h="482854">
                  <a:moveTo>
                    <a:pt x="0" y="0"/>
                  </a:moveTo>
                  <a:lnTo>
                    <a:pt x="482854" y="0"/>
                  </a:lnTo>
                  <a:lnTo>
                    <a:pt x="482854" y="482854"/>
                  </a:lnTo>
                  <a:lnTo>
                    <a:pt x="0" y="482854"/>
                  </a:lnTo>
                  <a:lnTo>
                    <a:pt x="0" y="0"/>
                  </a:lnTo>
                  <a:close/>
                </a:path>
              </a:pathLst>
            </a:custGeom>
            <a:blipFill>
              <a:blip r:embed="rId8"/>
              <a:stretch>
                <a:fillRect r="10" b="10"/>
              </a:stretch>
            </a:blipFill>
          </p:spPr>
          <p:txBody>
            <a:bodyPr/>
            <a:lstStyle/>
            <a:p>
              <a:endParaRPr lang="es-CO"/>
            </a:p>
          </p:txBody>
        </p:sp>
      </p:grpSp>
      <p:grpSp>
        <p:nvGrpSpPr>
          <p:cNvPr id="42" name="Group 42"/>
          <p:cNvGrpSpPr/>
          <p:nvPr/>
        </p:nvGrpSpPr>
        <p:grpSpPr>
          <a:xfrm>
            <a:off x="11852900" y="3621024"/>
            <a:ext cx="5349154" cy="411299"/>
            <a:chOff x="0" y="0"/>
            <a:chExt cx="7132206" cy="548399"/>
          </a:xfrm>
        </p:grpSpPr>
        <p:sp>
          <p:nvSpPr>
            <p:cNvPr id="43" name="Freeform 43"/>
            <p:cNvSpPr/>
            <p:nvPr/>
          </p:nvSpPr>
          <p:spPr>
            <a:xfrm>
              <a:off x="0" y="0"/>
              <a:ext cx="7132200" cy="548400"/>
            </a:xfrm>
            <a:custGeom>
              <a:avLst/>
              <a:gdLst/>
              <a:ahLst/>
              <a:cxnLst/>
              <a:rect l="l" t="t" r="r" b="b"/>
              <a:pathLst>
                <a:path w="7132200" h="548400">
                  <a:moveTo>
                    <a:pt x="0" y="0"/>
                  </a:moveTo>
                  <a:lnTo>
                    <a:pt x="7132200" y="0"/>
                  </a:lnTo>
                  <a:lnTo>
                    <a:pt x="7132200" y="548400"/>
                  </a:lnTo>
                  <a:lnTo>
                    <a:pt x="0" y="548400"/>
                  </a:lnTo>
                  <a:close/>
                </a:path>
              </a:pathLst>
            </a:custGeom>
            <a:blipFill>
              <a:blip r:embed="rId4">
                <a:alphaModFix amt="0"/>
              </a:blip>
              <a:stretch>
                <a:fillRect t="-203412" b="-203412"/>
              </a:stretch>
            </a:blipFill>
          </p:spPr>
          <p:txBody>
            <a:bodyPr/>
            <a:lstStyle/>
            <a:p>
              <a:endParaRPr lang="es-CO"/>
            </a:p>
          </p:txBody>
        </p:sp>
        <p:sp>
          <p:nvSpPr>
            <p:cNvPr id="44" name="TextBox 44"/>
            <p:cNvSpPr txBox="1"/>
            <p:nvPr/>
          </p:nvSpPr>
          <p:spPr>
            <a:xfrm>
              <a:off x="0" y="-47625"/>
              <a:ext cx="7132206" cy="596024"/>
            </a:xfrm>
            <a:prstGeom prst="rect">
              <a:avLst/>
            </a:prstGeom>
          </p:spPr>
          <p:txBody>
            <a:bodyPr lIns="0" tIns="0" rIns="0" bIns="0" rtlCol="0" anchor="ctr"/>
            <a:lstStyle/>
            <a:p>
              <a:pPr algn="l">
                <a:lnSpc>
                  <a:spcPts val="2340"/>
                </a:lnSpc>
              </a:pPr>
              <a:r>
                <a:rPr lang="en-US" sz="1950" b="1">
                  <a:solidFill>
                    <a:srgbClr val="FFFFFF"/>
                  </a:solidFill>
                  <a:latin typeface="Calibri (MS) Bold"/>
                  <a:ea typeface="Calibri (MS) Bold"/>
                  <a:cs typeface="Calibri (MS) Bold"/>
                  <a:sym typeface="Calibri (MS) Bold"/>
                </a:rPr>
                <a:t>Frontend</a:t>
              </a:r>
            </a:p>
          </p:txBody>
        </p:sp>
      </p:grpSp>
      <p:grpSp>
        <p:nvGrpSpPr>
          <p:cNvPr id="45" name="Group 45"/>
          <p:cNvGrpSpPr/>
          <p:nvPr/>
        </p:nvGrpSpPr>
        <p:grpSpPr>
          <a:xfrm>
            <a:off x="11852900" y="4018788"/>
            <a:ext cx="5349154" cy="411300"/>
            <a:chOff x="0" y="0"/>
            <a:chExt cx="7132206" cy="548400"/>
          </a:xfrm>
        </p:grpSpPr>
        <p:sp>
          <p:nvSpPr>
            <p:cNvPr id="46" name="Freeform 46"/>
            <p:cNvSpPr/>
            <p:nvPr/>
          </p:nvSpPr>
          <p:spPr>
            <a:xfrm>
              <a:off x="0" y="0"/>
              <a:ext cx="7132200" cy="548401"/>
            </a:xfrm>
            <a:custGeom>
              <a:avLst/>
              <a:gdLst/>
              <a:ahLst/>
              <a:cxnLst/>
              <a:rect l="l" t="t" r="r" b="b"/>
              <a:pathLst>
                <a:path w="7132200" h="548401">
                  <a:moveTo>
                    <a:pt x="0" y="0"/>
                  </a:moveTo>
                  <a:lnTo>
                    <a:pt x="7132200" y="0"/>
                  </a:lnTo>
                  <a:lnTo>
                    <a:pt x="7132200" y="548401"/>
                  </a:lnTo>
                  <a:lnTo>
                    <a:pt x="0" y="548401"/>
                  </a:lnTo>
                  <a:close/>
                </a:path>
              </a:pathLst>
            </a:custGeom>
            <a:blipFill>
              <a:blip r:embed="rId4">
                <a:alphaModFix amt="0"/>
              </a:blip>
              <a:stretch>
                <a:fillRect t="-203411" b="-203411"/>
              </a:stretch>
            </a:blipFill>
          </p:spPr>
          <p:txBody>
            <a:bodyPr/>
            <a:lstStyle/>
            <a:p>
              <a:endParaRPr lang="es-CO"/>
            </a:p>
          </p:txBody>
        </p:sp>
        <p:sp>
          <p:nvSpPr>
            <p:cNvPr id="47" name="TextBox 47"/>
            <p:cNvSpPr txBox="1"/>
            <p:nvPr/>
          </p:nvSpPr>
          <p:spPr>
            <a:xfrm>
              <a:off x="0" y="-28575"/>
              <a:ext cx="7132206" cy="576975"/>
            </a:xfrm>
            <a:prstGeom prst="rect">
              <a:avLst/>
            </a:prstGeom>
          </p:spPr>
          <p:txBody>
            <a:bodyPr lIns="0" tIns="0" rIns="0" bIns="0" rtlCol="0" anchor="ctr"/>
            <a:lstStyle/>
            <a:p>
              <a:pPr algn="l">
                <a:lnSpc>
                  <a:spcPts val="1980"/>
                </a:lnSpc>
              </a:pPr>
              <a:r>
                <a:rPr lang="en-US" sz="1650">
                  <a:solidFill>
                    <a:srgbClr val="B9CBD6"/>
                  </a:solidFill>
                  <a:latin typeface="Calibri (MS)"/>
                  <a:ea typeface="Calibri (MS)"/>
                  <a:cs typeface="Calibri (MS)"/>
                  <a:sym typeface="Calibri (MS)"/>
                </a:rPr>
                <a:t>React - JS - CSS - Boostrap</a:t>
              </a:r>
            </a:p>
          </p:txBody>
        </p:sp>
      </p:grpSp>
      <p:grpSp>
        <p:nvGrpSpPr>
          <p:cNvPr id="48" name="Group 48"/>
          <p:cNvGrpSpPr/>
          <p:nvPr/>
        </p:nvGrpSpPr>
        <p:grpSpPr>
          <a:xfrm>
            <a:off x="10824200" y="4800590"/>
            <a:ext cx="754199" cy="754199"/>
            <a:chOff x="0" y="0"/>
            <a:chExt cx="1005599" cy="1005599"/>
          </a:xfrm>
        </p:grpSpPr>
        <p:sp>
          <p:nvSpPr>
            <p:cNvPr id="49" name="Freeform 49"/>
            <p:cNvSpPr/>
            <p:nvPr/>
          </p:nvSpPr>
          <p:spPr>
            <a:xfrm>
              <a:off x="0" y="0"/>
              <a:ext cx="1005586" cy="1005586"/>
            </a:xfrm>
            <a:custGeom>
              <a:avLst/>
              <a:gdLst/>
              <a:ahLst/>
              <a:cxnLst/>
              <a:rect l="l" t="t" r="r" b="b"/>
              <a:pathLst>
                <a:path w="1005586" h="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txBody>
            <a:bodyPr/>
            <a:lstStyle/>
            <a:p>
              <a:endParaRPr lang="es-CO"/>
            </a:p>
          </p:txBody>
        </p:sp>
      </p:grpSp>
      <p:grpSp>
        <p:nvGrpSpPr>
          <p:cNvPr id="50" name="Group 50"/>
          <p:cNvGrpSpPr/>
          <p:nvPr/>
        </p:nvGrpSpPr>
        <p:grpSpPr>
          <a:xfrm>
            <a:off x="11020339" y="4996729"/>
            <a:ext cx="362102" cy="362102"/>
            <a:chOff x="0" y="0"/>
            <a:chExt cx="482803" cy="482803"/>
          </a:xfrm>
        </p:grpSpPr>
        <p:sp>
          <p:nvSpPr>
            <p:cNvPr id="51" name="Freeform 51" descr="icons/server.png"/>
            <p:cNvSpPr/>
            <p:nvPr/>
          </p:nvSpPr>
          <p:spPr>
            <a:xfrm>
              <a:off x="0" y="0"/>
              <a:ext cx="482854" cy="482854"/>
            </a:xfrm>
            <a:custGeom>
              <a:avLst/>
              <a:gdLst/>
              <a:ahLst/>
              <a:cxnLst/>
              <a:rect l="l" t="t" r="r" b="b"/>
              <a:pathLst>
                <a:path w="482854" h="482854">
                  <a:moveTo>
                    <a:pt x="0" y="0"/>
                  </a:moveTo>
                  <a:lnTo>
                    <a:pt x="482854" y="0"/>
                  </a:lnTo>
                  <a:lnTo>
                    <a:pt x="482854" y="482854"/>
                  </a:lnTo>
                  <a:lnTo>
                    <a:pt x="0" y="482854"/>
                  </a:lnTo>
                  <a:lnTo>
                    <a:pt x="0" y="0"/>
                  </a:lnTo>
                  <a:close/>
                </a:path>
              </a:pathLst>
            </a:custGeom>
            <a:blipFill>
              <a:blip r:embed="rId9"/>
              <a:stretch>
                <a:fillRect r="10" b="10"/>
              </a:stretch>
            </a:blipFill>
          </p:spPr>
          <p:txBody>
            <a:bodyPr/>
            <a:lstStyle/>
            <a:p>
              <a:endParaRPr lang="es-CO"/>
            </a:p>
          </p:txBody>
        </p:sp>
      </p:grpSp>
      <p:grpSp>
        <p:nvGrpSpPr>
          <p:cNvPr id="52" name="Group 52"/>
          <p:cNvGrpSpPr/>
          <p:nvPr/>
        </p:nvGrpSpPr>
        <p:grpSpPr>
          <a:xfrm>
            <a:off x="11852900" y="4800590"/>
            <a:ext cx="5349154" cy="411299"/>
            <a:chOff x="0" y="0"/>
            <a:chExt cx="7132206" cy="548399"/>
          </a:xfrm>
        </p:grpSpPr>
        <p:sp>
          <p:nvSpPr>
            <p:cNvPr id="53" name="Freeform 53"/>
            <p:cNvSpPr/>
            <p:nvPr/>
          </p:nvSpPr>
          <p:spPr>
            <a:xfrm>
              <a:off x="0" y="0"/>
              <a:ext cx="7132200" cy="548400"/>
            </a:xfrm>
            <a:custGeom>
              <a:avLst/>
              <a:gdLst/>
              <a:ahLst/>
              <a:cxnLst/>
              <a:rect l="l" t="t" r="r" b="b"/>
              <a:pathLst>
                <a:path w="7132200" h="548400">
                  <a:moveTo>
                    <a:pt x="0" y="0"/>
                  </a:moveTo>
                  <a:lnTo>
                    <a:pt x="7132200" y="0"/>
                  </a:lnTo>
                  <a:lnTo>
                    <a:pt x="7132200" y="548400"/>
                  </a:lnTo>
                  <a:lnTo>
                    <a:pt x="0" y="548400"/>
                  </a:lnTo>
                  <a:close/>
                </a:path>
              </a:pathLst>
            </a:custGeom>
            <a:blipFill>
              <a:blip r:embed="rId4">
                <a:alphaModFix amt="0"/>
              </a:blip>
              <a:stretch>
                <a:fillRect t="-203412" b="-203412"/>
              </a:stretch>
            </a:blipFill>
          </p:spPr>
          <p:txBody>
            <a:bodyPr/>
            <a:lstStyle/>
            <a:p>
              <a:endParaRPr lang="es-CO"/>
            </a:p>
          </p:txBody>
        </p:sp>
        <p:sp>
          <p:nvSpPr>
            <p:cNvPr id="54" name="TextBox 54"/>
            <p:cNvSpPr txBox="1"/>
            <p:nvPr/>
          </p:nvSpPr>
          <p:spPr>
            <a:xfrm>
              <a:off x="0" y="-47625"/>
              <a:ext cx="7132206" cy="596024"/>
            </a:xfrm>
            <a:prstGeom prst="rect">
              <a:avLst/>
            </a:prstGeom>
          </p:spPr>
          <p:txBody>
            <a:bodyPr lIns="0" tIns="0" rIns="0" bIns="0" rtlCol="0" anchor="ctr"/>
            <a:lstStyle/>
            <a:p>
              <a:pPr algn="l">
                <a:lnSpc>
                  <a:spcPts val="2340"/>
                </a:lnSpc>
              </a:pPr>
              <a:r>
                <a:rPr lang="en-US" sz="1950" b="1">
                  <a:solidFill>
                    <a:srgbClr val="FFFFFF"/>
                  </a:solidFill>
                  <a:latin typeface="Calibri (MS) Bold"/>
                  <a:ea typeface="Calibri (MS) Bold"/>
                  <a:cs typeface="Calibri (MS) Bold"/>
                  <a:sym typeface="Calibri (MS) Bold"/>
                </a:rPr>
                <a:t>Backend</a:t>
              </a:r>
            </a:p>
          </p:txBody>
        </p:sp>
      </p:grpSp>
      <p:grpSp>
        <p:nvGrpSpPr>
          <p:cNvPr id="55" name="Group 55"/>
          <p:cNvGrpSpPr/>
          <p:nvPr/>
        </p:nvGrpSpPr>
        <p:grpSpPr>
          <a:xfrm>
            <a:off x="11852900" y="5198364"/>
            <a:ext cx="5349154" cy="411300"/>
            <a:chOff x="0" y="0"/>
            <a:chExt cx="7132206" cy="548400"/>
          </a:xfrm>
        </p:grpSpPr>
        <p:sp>
          <p:nvSpPr>
            <p:cNvPr id="56" name="Freeform 56"/>
            <p:cNvSpPr/>
            <p:nvPr/>
          </p:nvSpPr>
          <p:spPr>
            <a:xfrm>
              <a:off x="0" y="0"/>
              <a:ext cx="7132200" cy="548401"/>
            </a:xfrm>
            <a:custGeom>
              <a:avLst/>
              <a:gdLst/>
              <a:ahLst/>
              <a:cxnLst/>
              <a:rect l="l" t="t" r="r" b="b"/>
              <a:pathLst>
                <a:path w="7132200" h="548401">
                  <a:moveTo>
                    <a:pt x="0" y="0"/>
                  </a:moveTo>
                  <a:lnTo>
                    <a:pt x="7132200" y="0"/>
                  </a:lnTo>
                  <a:lnTo>
                    <a:pt x="7132200" y="548401"/>
                  </a:lnTo>
                  <a:lnTo>
                    <a:pt x="0" y="548401"/>
                  </a:lnTo>
                  <a:close/>
                </a:path>
              </a:pathLst>
            </a:custGeom>
            <a:blipFill>
              <a:blip r:embed="rId4">
                <a:alphaModFix amt="0"/>
              </a:blip>
              <a:stretch>
                <a:fillRect t="-203411" b="-203411"/>
              </a:stretch>
            </a:blipFill>
          </p:spPr>
          <p:txBody>
            <a:bodyPr/>
            <a:lstStyle/>
            <a:p>
              <a:endParaRPr lang="es-CO"/>
            </a:p>
          </p:txBody>
        </p:sp>
        <p:sp>
          <p:nvSpPr>
            <p:cNvPr id="57" name="TextBox 57"/>
            <p:cNvSpPr txBox="1"/>
            <p:nvPr/>
          </p:nvSpPr>
          <p:spPr>
            <a:xfrm>
              <a:off x="0" y="-28575"/>
              <a:ext cx="7132206" cy="576975"/>
            </a:xfrm>
            <a:prstGeom prst="rect">
              <a:avLst/>
            </a:prstGeom>
          </p:spPr>
          <p:txBody>
            <a:bodyPr lIns="0" tIns="0" rIns="0" bIns="0" rtlCol="0" anchor="ctr"/>
            <a:lstStyle/>
            <a:p>
              <a:pPr algn="l">
                <a:lnSpc>
                  <a:spcPts val="1980"/>
                </a:lnSpc>
              </a:pPr>
              <a:r>
                <a:rPr lang="en-US" sz="1650">
                  <a:solidFill>
                    <a:srgbClr val="B9CBD6"/>
                  </a:solidFill>
                  <a:latin typeface="Calibri (MS)"/>
                  <a:ea typeface="Calibri (MS)"/>
                  <a:cs typeface="Calibri (MS)"/>
                  <a:sym typeface="Calibri (MS)"/>
                </a:rPr>
                <a:t>Python Fast api</a:t>
              </a:r>
            </a:p>
          </p:txBody>
        </p:sp>
      </p:grpSp>
      <p:grpSp>
        <p:nvGrpSpPr>
          <p:cNvPr id="58" name="Group 58"/>
          <p:cNvGrpSpPr/>
          <p:nvPr/>
        </p:nvGrpSpPr>
        <p:grpSpPr>
          <a:xfrm>
            <a:off x="10824200" y="5980176"/>
            <a:ext cx="754199" cy="754199"/>
            <a:chOff x="0" y="0"/>
            <a:chExt cx="1005599" cy="1005599"/>
          </a:xfrm>
        </p:grpSpPr>
        <p:sp>
          <p:nvSpPr>
            <p:cNvPr id="59" name="Freeform 59"/>
            <p:cNvSpPr/>
            <p:nvPr/>
          </p:nvSpPr>
          <p:spPr>
            <a:xfrm>
              <a:off x="0" y="0"/>
              <a:ext cx="1005586" cy="1005586"/>
            </a:xfrm>
            <a:custGeom>
              <a:avLst/>
              <a:gdLst/>
              <a:ahLst/>
              <a:cxnLst/>
              <a:rect l="l" t="t" r="r" b="b"/>
              <a:pathLst>
                <a:path w="1005586" h="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txBody>
            <a:bodyPr/>
            <a:lstStyle/>
            <a:p>
              <a:endParaRPr lang="es-CO"/>
            </a:p>
          </p:txBody>
        </p:sp>
      </p:grpSp>
      <p:grpSp>
        <p:nvGrpSpPr>
          <p:cNvPr id="60" name="Group 60"/>
          <p:cNvGrpSpPr/>
          <p:nvPr/>
        </p:nvGrpSpPr>
        <p:grpSpPr>
          <a:xfrm>
            <a:off x="11020339" y="6176305"/>
            <a:ext cx="362102" cy="362102"/>
            <a:chOff x="0" y="0"/>
            <a:chExt cx="482803" cy="482803"/>
          </a:xfrm>
        </p:grpSpPr>
        <p:sp>
          <p:nvSpPr>
            <p:cNvPr id="61" name="Freeform 61" descr="icons/database.png"/>
            <p:cNvSpPr/>
            <p:nvPr/>
          </p:nvSpPr>
          <p:spPr>
            <a:xfrm>
              <a:off x="0" y="0"/>
              <a:ext cx="482854" cy="482854"/>
            </a:xfrm>
            <a:custGeom>
              <a:avLst/>
              <a:gdLst/>
              <a:ahLst/>
              <a:cxnLst/>
              <a:rect l="l" t="t" r="r" b="b"/>
              <a:pathLst>
                <a:path w="482854" h="482854">
                  <a:moveTo>
                    <a:pt x="0" y="0"/>
                  </a:moveTo>
                  <a:lnTo>
                    <a:pt x="482854" y="0"/>
                  </a:lnTo>
                  <a:lnTo>
                    <a:pt x="482854" y="482854"/>
                  </a:lnTo>
                  <a:lnTo>
                    <a:pt x="0" y="482854"/>
                  </a:lnTo>
                  <a:lnTo>
                    <a:pt x="0" y="0"/>
                  </a:lnTo>
                  <a:close/>
                </a:path>
              </a:pathLst>
            </a:custGeom>
            <a:blipFill>
              <a:blip r:embed="rId10"/>
              <a:stretch>
                <a:fillRect r="10" b="10"/>
              </a:stretch>
            </a:blipFill>
          </p:spPr>
          <p:txBody>
            <a:bodyPr/>
            <a:lstStyle/>
            <a:p>
              <a:endParaRPr lang="es-CO"/>
            </a:p>
          </p:txBody>
        </p:sp>
      </p:grpSp>
      <p:grpSp>
        <p:nvGrpSpPr>
          <p:cNvPr id="62" name="Group 62"/>
          <p:cNvGrpSpPr/>
          <p:nvPr/>
        </p:nvGrpSpPr>
        <p:grpSpPr>
          <a:xfrm>
            <a:off x="11852900" y="5980176"/>
            <a:ext cx="5349154" cy="411299"/>
            <a:chOff x="0" y="0"/>
            <a:chExt cx="7132206" cy="548399"/>
          </a:xfrm>
        </p:grpSpPr>
        <p:sp>
          <p:nvSpPr>
            <p:cNvPr id="63" name="Freeform 63"/>
            <p:cNvSpPr/>
            <p:nvPr/>
          </p:nvSpPr>
          <p:spPr>
            <a:xfrm>
              <a:off x="0" y="0"/>
              <a:ext cx="7132200" cy="548400"/>
            </a:xfrm>
            <a:custGeom>
              <a:avLst/>
              <a:gdLst/>
              <a:ahLst/>
              <a:cxnLst/>
              <a:rect l="l" t="t" r="r" b="b"/>
              <a:pathLst>
                <a:path w="7132200" h="548400">
                  <a:moveTo>
                    <a:pt x="0" y="0"/>
                  </a:moveTo>
                  <a:lnTo>
                    <a:pt x="7132200" y="0"/>
                  </a:lnTo>
                  <a:lnTo>
                    <a:pt x="7132200" y="548400"/>
                  </a:lnTo>
                  <a:lnTo>
                    <a:pt x="0" y="548400"/>
                  </a:lnTo>
                  <a:close/>
                </a:path>
              </a:pathLst>
            </a:custGeom>
            <a:blipFill>
              <a:blip r:embed="rId4">
                <a:alphaModFix amt="0"/>
              </a:blip>
              <a:stretch>
                <a:fillRect t="-203412" b="-203412"/>
              </a:stretch>
            </a:blipFill>
          </p:spPr>
          <p:txBody>
            <a:bodyPr/>
            <a:lstStyle/>
            <a:p>
              <a:endParaRPr lang="es-CO"/>
            </a:p>
          </p:txBody>
        </p:sp>
        <p:sp>
          <p:nvSpPr>
            <p:cNvPr id="64" name="TextBox 64"/>
            <p:cNvSpPr txBox="1"/>
            <p:nvPr/>
          </p:nvSpPr>
          <p:spPr>
            <a:xfrm>
              <a:off x="0" y="-47625"/>
              <a:ext cx="7132206" cy="596024"/>
            </a:xfrm>
            <a:prstGeom prst="rect">
              <a:avLst/>
            </a:prstGeom>
          </p:spPr>
          <p:txBody>
            <a:bodyPr lIns="0" tIns="0" rIns="0" bIns="0" rtlCol="0" anchor="ctr"/>
            <a:lstStyle/>
            <a:p>
              <a:pPr algn="l">
                <a:lnSpc>
                  <a:spcPts val="2340"/>
                </a:lnSpc>
              </a:pPr>
              <a:r>
                <a:rPr lang="en-US" sz="1950" b="1">
                  <a:solidFill>
                    <a:srgbClr val="FFFFFF"/>
                  </a:solidFill>
                  <a:latin typeface="Calibri (MS) Bold"/>
                  <a:ea typeface="Calibri (MS) Bold"/>
                  <a:cs typeface="Calibri (MS) Bold"/>
                  <a:sym typeface="Calibri (MS) Bold"/>
                </a:rPr>
                <a:t>Base de datos</a:t>
              </a:r>
            </a:p>
          </p:txBody>
        </p:sp>
      </p:grpSp>
      <p:grpSp>
        <p:nvGrpSpPr>
          <p:cNvPr id="65" name="Group 65"/>
          <p:cNvGrpSpPr/>
          <p:nvPr/>
        </p:nvGrpSpPr>
        <p:grpSpPr>
          <a:xfrm>
            <a:off x="11852900" y="6377940"/>
            <a:ext cx="5349154" cy="411300"/>
            <a:chOff x="0" y="0"/>
            <a:chExt cx="7132206" cy="548400"/>
          </a:xfrm>
        </p:grpSpPr>
        <p:sp>
          <p:nvSpPr>
            <p:cNvPr id="66" name="Freeform 66"/>
            <p:cNvSpPr/>
            <p:nvPr/>
          </p:nvSpPr>
          <p:spPr>
            <a:xfrm>
              <a:off x="0" y="0"/>
              <a:ext cx="7132200" cy="548401"/>
            </a:xfrm>
            <a:custGeom>
              <a:avLst/>
              <a:gdLst/>
              <a:ahLst/>
              <a:cxnLst/>
              <a:rect l="l" t="t" r="r" b="b"/>
              <a:pathLst>
                <a:path w="7132200" h="548401">
                  <a:moveTo>
                    <a:pt x="0" y="0"/>
                  </a:moveTo>
                  <a:lnTo>
                    <a:pt x="7132200" y="0"/>
                  </a:lnTo>
                  <a:lnTo>
                    <a:pt x="7132200" y="548401"/>
                  </a:lnTo>
                  <a:lnTo>
                    <a:pt x="0" y="548401"/>
                  </a:lnTo>
                  <a:close/>
                </a:path>
              </a:pathLst>
            </a:custGeom>
            <a:blipFill>
              <a:blip r:embed="rId4">
                <a:alphaModFix amt="0"/>
              </a:blip>
              <a:stretch>
                <a:fillRect t="-203411" b="-203411"/>
              </a:stretch>
            </a:blipFill>
          </p:spPr>
          <p:txBody>
            <a:bodyPr/>
            <a:lstStyle/>
            <a:p>
              <a:endParaRPr lang="es-CO"/>
            </a:p>
          </p:txBody>
        </p:sp>
        <p:sp>
          <p:nvSpPr>
            <p:cNvPr id="67" name="TextBox 67"/>
            <p:cNvSpPr txBox="1"/>
            <p:nvPr/>
          </p:nvSpPr>
          <p:spPr>
            <a:xfrm>
              <a:off x="0" y="-28575"/>
              <a:ext cx="7132206" cy="576975"/>
            </a:xfrm>
            <a:prstGeom prst="rect">
              <a:avLst/>
            </a:prstGeom>
          </p:spPr>
          <p:txBody>
            <a:bodyPr lIns="0" tIns="0" rIns="0" bIns="0" rtlCol="0" anchor="ctr"/>
            <a:lstStyle/>
            <a:p>
              <a:pPr algn="l">
                <a:lnSpc>
                  <a:spcPts val="1980"/>
                </a:lnSpc>
              </a:pPr>
              <a:r>
                <a:rPr lang="en-US" sz="1650">
                  <a:solidFill>
                    <a:srgbClr val="B9CBD6"/>
                  </a:solidFill>
                  <a:latin typeface="Calibri (MS)"/>
                  <a:ea typeface="Calibri (MS)"/>
                  <a:cs typeface="Calibri (MS)"/>
                  <a:sym typeface="Calibri (MS)"/>
                </a:rPr>
                <a:t>supabase(postgreSQL)</a:t>
              </a:r>
            </a:p>
          </p:txBody>
        </p:sp>
      </p:grpSp>
      <p:grpSp>
        <p:nvGrpSpPr>
          <p:cNvPr id="68" name="Group 68"/>
          <p:cNvGrpSpPr/>
          <p:nvPr/>
        </p:nvGrpSpPr>
        <p:grpSpPr>
          <a:xfrm>
            <a:off x="10824200" y="7159752"/>
            <a:ext cx="754199" cy="754199"/>
            <a:chOff x="0" y="0"/>
            <a:chExt cx="1005599" cy="1005599"/>
          </a:xfrm>
        </p:grpSpPr>
        <p:sp>
          <p:nvSpPr>
            <p:cNvPr id="69" name="Freeform 69"/>
            <p:cNvSpPr/>
            <p:nvPr/>
          </p:nvSpPr>
          <p:spPr>
            <a:xfrm>
              <a:off x="0" y="0"/>
              <a:ext cx="1005586" cy="1005586"/>
            </a:xfrm>
            <a:custGeom>
              <a:avLst/>
              <a:gdLst/>
              <a:ahLst/>
              <a:cxnLst/>
              <a:rect l="l" t="t" r="r" b="b"/>
              <a:pathLst>
                <a:path w="1005586" h="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txBody>
            <a:bodyPr/>
            <a:lstStyle/>
            <a:p>
              <a:endParaRPr lang="es-CO"/>
            </a:p>
          </p:txBody>
        </p:sp>
      </p:grpSp>
      <p:grpSp>
        <p:nvGrpSpPr>
          <p:cNvPr id="70" name="Group 70"/>
          <p:cNvGrpSpPr/>
          <p:nvPr/>
        </p:nvGrpSpPr>
        <p:grpSpPr>
          <a:xfrm>
            <a:off x="11020339" y="7355881"/>
            <a:ext cx="362102" cy="362102"/>
            <a:chOff x="0" y="0"/>
            <a:chExt cx="482803" cy="482803"/>
          </a:xfrm>
        </p:grpSpPr>
        <p:sp>
          <p:nvSpPr>
            <p:cNvPr id="71" name="Freeform 71" descr="icons/cloud.png"/>
            <p:cNvSpPr/>
            <p:nvPr/>
          </p:nvSpPr>
          <p:spPr>
            <a:xfrm>
              <a:off x="0" y="0"/>
              <a:ext cx="482854" cy="482854"/>
            </a:xfrm>
            <a:custGeom>
              <a:avLst/>
              <a:gdLst/>
              <a:ahLst/>
              <a:cxnLst/>
              <a:rect l="l" t="t" r="r" b="b"/>
              <a:pathLst>
                <a:path w="482854" h="482854">
                  <a:moveTo>
                    <a:pt x="0" y="0"/>
                  </a:moveTo>
                  <a:lnTo>
                    <a:pt x="482854" y="0"/>
                  </a:lnTo>
                  <a:lnTo>
                    <a:pt x="482854" y="482854"/>
                  </a:lnTo>
                  <a:lnTo>
                    <a:pt x="0" y="482854"/>
                  </a:lnTo>
                  <a:lnTo>
                    <a:pt x="0" y="0"/>
                  </a:lnTo>
                  <a:close/>
                </a:path>
              </a:pathLst>
            </a:custGeom>
            <a:blipFill>
              <a:blip r:embed="rId11"/>
              <a:stretch>
                <a:fillRect r="10" b="10"/>
              </a:stretch>
            </a:blipFill>
          </p:spPr>
          <p:txBody>
            <a:bodyPr/>
            <a:lstStyle/>
            <a:p>
              <a:endParaRPr lang="es-CO"/>
            </a:p>
          </p:txBody>
        </p:sp>
      </p:grpSp>
      <p:grpSp>
        <p:nvGrpSpPr>
          <p:cNvPr id="72" name="Group 72"/>
          <p:cNvGrpSpPr/>
          <p:nvPr/>
        </p:nvGrpSpPr>
        <p:grpSpPr>
          <a:xfrm>
            <a:off x="11852900" y="7159752"/>
            <a:ext cx="5349154" cy="411299"/>
            <a:chOff x="0" y="0"/>
            <a:chExt cx="7132206" cy="548399"/>
          </a:xfrm>
        </p:grpSpPr>
        <p:sp>
          <p:nvSpPr>
            <p:cNvPr id="73" name="Freeform 73"/>
            <p:cNvSpPr/>
            <p:nvPr/>
          </p:nvSpPr>
          <p:spPr>
            <a:xfrm>
              <a:off x="0" y="0"/>
              <a:ext cx="7132200" cy="548400"/>
            </a:xfrm>
            <a:custGeom>
              <a:avLst/>
              <a:gdLst/>
              <a:ahLst/>
              <a:cxnLst/>
              <a:rect l="l" t="t" r="r" b="b"/>
              <a:pathLst>
                <a:path w="7132200" h="548400">
                  <a:moveTo>
                    <a:pt x="0" y="0"/>
                  </a:moveTo>
                  <a:lnTo>
                    <a:pt x="7132200" y="0"/>
                  </a:lnTo>
                  <a:lnTo>
                    <a:pt x="7132200" y="548400"/>
                  </a:lnTo>
                  <a:lnTo>
                    <a:pt x="0" y="548400"/>
                  </a:lnTo>
                  <a:close/>
                </a:path>
              </a:pathLst>
            </a:custGeom>
            <a:blipFill>
              <a:blip r:embed="rId4">
                <a:alphaModFix amt="0"/>
              </a:blip>
              <a:stretch>
                <a:fillRect t="-203412" b="-203412"/>
              </a:stretch>
            </a:blipFill>
          </p:spPr>
          <p:txBody>
            <a:bodyPr/>
            <a:lstStyle/>
            <a:p>
              <a:endParaRPr lang="es-CO"/>
            </a:p>
          </p:txBody>
        </p:sp>
        <p:sp>
          <p:nvSpPr>
            <p:cNvPr id="74" name="TextBox 74"/>
            <p:cNvSpPr txBox="1"/>
            <p:nvPr/>
          </p:nvSpPr>
          <p:spPr>
            <a:xfrm>
              <a:off x="0" y="-47625"/>
              <a:ext cx="7132206" cy="596024"/>
            </a:xfrm>
            <a:prstGeom prst="rect">
              <a:avLst/>
            </a:prstGeom>
          </p:spPr>
          <p:txBody>
            <a:bodyPr lIns="0" tIns="0" rIns="0" bIns="0" rtlCol="0" anchor="ctr"/>
            <a:lstStyle/>
            <a:p>
              <a:pPr algn="l">
                <a:lnSpc>
                  <a:spcPts val="2340"/>
                </a:lnSpc>
              </a:pPr>
              <a:r>
                <a:rPr lang="en-US" sz="1950" b="1">
                  <a:solidFill>
                    <a:srgbClr val="FFFFFF"/>
                  </a:solidFill>
                  <a:latin typeface="Calibri (MS) Bold"/>
                  <a:ea typeface="Calibri (MS) Bold"/>
                  <a:cs typeface="Calibri (MS) Bold"/>
                  <a:sym typeface="Calibri (MS) Bold"/>
                </a:rPr>
                <a:t>Servicios externos</a:t>
              </a:r>
            </a:p>
          </p:txBody>
        </p:sp>
      </p:grpSp>
      <p:grpSp>
        <p:nvGrpSpPr>
          <p:cNvPr id="75" name="Group 75"/>
          <p:cNvGrpSpPr/>
          <p:nvPr/>
        </p:nvGrpSpPr>
        <p:grpSpPr>
          <a:xfrm>
            <a:off x="11852900" y="7557516"/>
            <a:ext cx="5349154" cy="411300"/>
            <a:chOff x="0" y="0"/>
            <a:chExt cx="7132206" cy="548400"/>
          </a:xfrm>
        </p:grpSpPr>
        <p:sp>
          <p:nvSpPr>
            <p:cNvPr id="76" name="Freeform 76"/>
            <p:cNvSpPr/>
            <p:nvPr/>
          </p:nvSpPr>
          <p:spPr>
            <a:xfrm>
              <a:off x="0" y="0"/>
              <a:ext cx="7132200" cy="548401"/>
            </a:xfrm>
            <a:custGeom>
              <a:avLst/>
              <a:gdLst/>
              <a:ahLst/>
              <a:cxnLst/>
              <a:rect l="l" t="t" r="r" b="b"/>
              <a:pathLst>
                <a:path w="7132200" h="548401">
                  <a:moveTo>
                    <a:pt x="0" y="0"/>
                  </a:moveTo>
                  <a:lnTo>
                    <a:pt x="7132200" y="0"/>
                  </a:lnTo>
                  <a:lnTo>
                    <a:pt x="7132200" y="548401"/>
                  </a:lnTo>
                  <a:lnTo>
                    <a:pt x="0" y="548401"/>
                  </a:lnTo>
                  <a:close/>
                </a:path>
              </a:pathLst>
            </a:custGeom>
            <a:blipFill>
              <a:blip r:embed="rId4">
                <a:alphaModFix amt="0"/>
              </a:blip>
              <a:stretch>
                <a:fillRect t="-203411" b="-203411"/>
              </a:stretch>
            </a:blipFill>
          </p:spPr>
          <p:txBody>
            <a:bodyPr/>
            <a:lstStyle/>
            <a:p>
              <a:endParaRPr lang="es-CO"/>
            </a:p>
          </p:txBody>
        </p:sp>
        <p:sp>
          <p:nvSpPr>
            <p:cNvPr id="77" name="TextBox 77"/>
            <p:cNvSpPr txBox="1"/>
            <p:nvPr/>
          </p:nvSpPr>
          <p:spPr>
            <a:xfrm>
              <a:off x="0" y="-28575"/>
              <a:ext cx="7132206" cy="576975"/>
            </a:xfrm>
            <a:prstGeom prst="rect">
              <a:avLst/>
            </a:prstGeom>
          </p:spPr>
          <p:txBody>
            <a:bodyPr lIns="0" tIns="0" rIns="0" bIns="0" rtlCol="0" anchor="ctr"/>
            <a:lstStyle/>
            <a:p>
              <a:pPr algn="l">
                <a:lnSpc>
                  <a:spcPts val="1980"/>
                </a:lnSpc>
              </a:pPr>
              <a:r>
                <a:rPr lang="en-US" sz="1650">
                  <a:solidFill>
                    <a:srgbClr val="B9CBD6"/>
                  </a:solidFill>
                  <a:latin typeface="Calibri (MS)"/>
                  <a:ea typeface="Calibri (MS)"/>
                  <a:cs typeface="Calibri (MS)"/>
                  <a:sym typeface="Calibri (MS)"/>
                </a:rPr>
                <a:t>Wompi - Cronjob - Render - Vercel - Brevo - Claudinary.</a:t>
              </a:r>
            </a:p>
          </p:txBody>
        </p:sp>
      </p:grpSp>
      <p:sp>
        <p:nvSpPr>
          <p:cNvPr id="78" name="Rectángulo: esquinas superiores redondeadas 77">
            <a:extLst>
              <a:ext uri="{FF2B5EF4-FFF2-40B4-BE49-F238E27FC236}">
                <a16:creationId xmlns:a16="http://schemas.microsoft.com/office/drawing/2014/main" id="{B5D0DBEC-57DB-74CE-EFD8-BECFEAE3A64C}"/>
              </a:ext>
            </a:extLst>
          </p:cNvPr>
          <p:cNvSpPr/>
          <p:nvPr/>
        </p:nvSpPr>
        <p:spPr>
          <a:xfrm>
            <a:off x="7848600" y="9765506"/>
            <a:ext cx="2590800" cy="152400"/>
          </a:xfrm>
          <a:prstGeom prst="round2SameRect">
            <a:avLst/>
          </a:prstGeom>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987552"/>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Agenda de la sustentación</a:t>
              </a:r>
            </a:p>
          </p:txBody>
        </p:sp>
      </p:grpSp>
      <p:grpSp>
        <p:nvGrpSpPr>
          <p:cNvPr id="6" name="Group 6"/>
          <p:cNvGrpSpPr/>
          <p:nvPr/>
        </p:nvGrpSpPr>
        <p:grpSpPr>
          <a:xfrm>
            <a:off x="822960" y="2537460"/>
            <a:ext cx="7715250" cy="1261796"/>
            <a:chOff x="0" y="0"/>
            <a:chExt cx="10287000" cy="1682394"/>
          </a:xfrm>
        </p:grpSpPr>
        <p:sp>
          <p:nvSpPr>
            <p:cNvPr id="7" name="Freeform 7"/>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8" name="Group 8"/>
          <p:cNvGrpSpPr/>
          <p:nvPr/>
        </p:nvGrpSpPr>
        <p:grpSpPr>
          <a:xfrm>
            <a:off x="1069848" y="2784348"/>
            <a:ext cx="768153" cy="768153"/>
            <a:chOff x="0" y="0"/>
            <a:chExt cx="1024204" cy="1024204"/>
          </a:xfrm>
        </p:grpSpPr>
        <p:sp>
          <p:nvSpPr>
            <p:cNvPr id="9" name="Freeform 9"/>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10" name="Group 10"/>
          <p:cNvGrpSpPr/>
          <p:nvPr/>
        </p:nvGrpSpPr>
        <p:grpSpPr>
          <a:xfrm>
            <a:off x="1269549" y="2984049"/>
            <a:ext cx="368684" cy="368684"/>
            <a:chOff x="0" y="0"/>
            <a:chExt cx="491579" cy="491579"/>
          </a:xfrm>
        </p:grpSpPr>
        <p:sp>
          <p:nvSpPr>
            <p:cNvPr id="11" name="Freeform 11" descr="icons/bullseye.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5"/>
              <a:stretch>
                <a:fillRect r="7" b="7"/>
              </a:stretch>
            </a:blipFill>
          </p:spPr>
          <p:txBody>
            <a:bodyPr/>
            <a:lstStyle/>
            <a:p>
              <a:endParaRPr lang="es-CO"/>
            </a:p>
          </p:txBody>
        </p:sp>
      </p:grpSp>
      <p:grpSp>
        <p:nvGrpSpPr>
          <p:cNvPr id="12" name="Group 12"/>
          <p:cNvGrpSpPr/>
          <p:nvPr/>
        </p:nvGrpSpPr>
        <p:grpSpPr>
          <a:xfrm>
            <a:off x="2057400" y="2702052"/>
            <a:ext cx="6275251" cy="493652"/>
            <a:chOff x="0" y="0"/>
            <a:chExt cx="8367001" cy="658203"/>
          </a:xfrm>
        </p:grpSpPr>
        <p:sp>
          <p:nvSpPr>
            <p:cNvPr id="13" name="Freeform 13"/>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14" name="TextBox 14"/>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Resumen y objetivos</a:t>
              </a:r>
            </a:p>
          </p:txBody>
        </p:sp>
      </p:grpSp>
      <p:grpSp>
        <p:nvGrpSpPr>
          <p:cNvPr id="15" name="Group 15"/>
          <p:cNvGrpSpPr/>
          <p:nvPr/>
        </p:nvGrpSpPr>
        <p:grpSpPr>
          <a:xfrm>
            <a:off x="2057400" y="3168396"/>
            <a:ext cx="6275251" cy="548550"/>
            <a:chOff x="0" y="0"/>
            <a:chExt cx="8367001" cy="731400"/>
          </a:xfrm>
        </p:grpSpPr>
        <p:sp>
          <p:nvSpPr>
            <p:cNvPr id="16" name="Freeform 16"/>
            <p:cNvSpPr/>
            <p:nvPr/>
          </p:nvSpPr>
          <p:spPr>
            <a:xfrm>
              <a:off x="0" y="0"/>
              <a:ext cx="8367000" cy="731394"/>
            </a:xfrm>
            <a:custGeom>
              <a:avLst/>
              <a:gdLst/>
              <a:ahLst/>
              <a:cxnLst/>
              <a:rect l="l" t="t" r="r" b="b"/>
              <a:pathLst>
                <a:path w="8367000" h="731394">
                  <a:moveTo>
                    <a:pt x="0" y="0"/>
                  </a:moveTo>
                  <a:lnTo>
                    <a:pt x="8367000" y="0"/>
                  </a:lnTo>
                  <a:lnTo>
                    <a:pt x="8367000" y="731394"/>
                  </a:lnTo>
                  <a:lnTo>
                    <a:pt x="0" y="731394"/>
                  </a:lnTo>
                  <a:close/>
                </a:path>
              </a:pathLst>
            </a:custGeom>
            <a:blipFill>
              <a:blip r:embed="rId4">
                <a:alphaModFix amt="0"/>
              </a:blip>
              <a:stretch>
                <a:fillRect t="-172904" b="-172905"/>
              </a:stretch>
            </a:blipFill>
          </p:spPr>
          <p:txBody>
            <a:bodyPr/>
            <a:lstStyle/>
            <a:p>
              <a:endParaRPr lang="es-CO"/>
            </a:p>
          </p:txBody>
        </p:sp>
        <p:sp>
          <p:nvSpPr>
            <p:cNvPr id="17" name="TextBox 17"/>
            <p:cNvSpPr txBox="1"/>
            <p:nvPr/>
          </p:nvSpPr>
          <p:spPr>
            <a:xfrm>
              <a:off x="0" y="-28575"/>
              <a:ext cx="8367001" cy="759975"/>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Qué es DMI y qué buscamos lograr</a:t>
              </a:r>
            </a:p>
          </p:txBody>
        </p:sp>
      </p:grpSp>
      <p:grpSp>
        <p:nvGrpSpPr>
          <p:cNvPr id="18" name="Group 18"/>
          <p:cNvGrpSpPr/>
          <p:nvPr/>
        </p:nvGrpSpPr>
        <p:grpSpPr>
          <a:xfrm>
            <a:off x="9018270" y="2537460"/>
            <a:ext cx="7715250" cy="1261796"/>
            <a:chOff x="0" y="0"/>
            <a:chExt cx="10287000" cy="1682394"/>
          </a:xfrm>
        </p:grpSpPr>
        <p:sp>
          <p:nvSpPr>
            <p:cNvPr id="19" name="Freeform 19"/>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20" name="Group 20"/>
          <p:cNvGrpSpPr/>
          <p:nvPr/>
        </p:nvGrpSpPr>
        <p:grpSpPr>
          <a:xfrm>
            <a:off x="9265158" y="2784348"/>
            <a:ext cx="768153" cy="768153"/>
            <a:chOff x="0" y="0"/>
            <a:chExt cx="1024204" cy="1024204"/>
          </a:xfrm>
        </p:grpSpPr>
        <p:sp>
          <p:nvSpPr>
            <p:cNvPr id="21" name="Freeform 21"/>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22" name="Group 22"/>
          <p:cNvGrpSpPr/>
          <p:nvPr/>
        </p:nvGrpSpPr>
        <p:grpSpPr>
          <a:xfrm>
            <a:off x="9464859" y="2984049"/>
            <a:ext cx="368684" cy="368684"/>
            <a:chOff x="0" y="0"/>
            <a:chExt cx="491579" cy="491579"/>
          </a:xfrm>
        </p:grpSpPr>
        <p:sp>
          <p:nvSpPr>
            <p:cNvPr id="23" name="Freeform 23" descr="icons/warning.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6"/>
              <a:stretch>
                <a:fillRect r="7" b="7"/>
              </a:stretch>
            </a:blipFill>
          </p:spPr>
          <p:txBody>
            <a:bodyPr/>
            <a:lstStyle/>
            <a:p>
              <a:endParaRPr lang="es-CO"/>
            </a:p>
          </p:txBody>
        </p:sp>
      </p:grpSp>
      <p:grpSp>
        <p:nvGrpSpPr>
          <p:cNvPr id="24" name="Group 24"/>
          <p:cNvGrpSpPr/>
          <p:nvPr/>
        </p:nvGrpSpPr>
        <p:grpSpPr>
          <a:xfrm>
            <a:off x="10252710" y="2702052"/>
            <a:ext cx="6275251" cy="493652"/>
            <a:chOff x="0" y="0"/>
            <a:chExt cx="8367001" cy="658203"/>
          </a:xfrm>
        </p:grpSpPr>
        <p:sp>
          <p:nvSpPr>
            <p:cNvPr id="25" name="Freeform 25"/>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26" name="TextBox 26"/>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Problema y justificación</a:t>
              </a:r>
            </a:p>
          </p:txBody>
        </p:sp>
      </p:grpSp>
      <p:grpSp>
        <p:nvGrpSpPr>
          <p:cNvPr id="27" name="Group 27"/>
          <p:cNvGrpSpPr/>
          <p:nvPr/>
        </p:nvGrpSpPr>
        <p:grpSpPr>
          <a:xfrm>
            <a:off x="10252710" y="3168396"/>
            <a:ext cx="6275251" cy="548554"/>
            <a:chOff x="0" y="0"/>
            <a:chExt cx="8367001" cy="731406"/>
          </a:xfrm>
        </p:grpSpPr>
        <p:sp>
          <p:nvSpPr>
            <p:cNvPr id="28" name="Freeform 28"/>
            <p:cNvSpPr/>
            <p:nvPr/>
          </p:nvSpPr>
          <p:spPr>
            <a:xfrm>
              <a:off x="0" y="0"/>
              <a:ext cx="8367000" cy="731400"/>
            </a:xfrm>
            <a:custGeom>
              <a:avLst/>
              <a:gdLst/>
              <a:ahLst/>
              <a:cxnLst/>
              <a:rect l="l" t="t" r="r" b="b"/>
              <a:pathLst>
                <a:path w="8367000" h="731400">
                  <a:moveTo>
                    <a:pt x="0" y="0"/>
                  </a:moveTo>
                  <a:lnTo>
                    <a:pt x="8367000" y="0"/>
                  </a:lnTo>
                  <a:lnTo>
                    <a:pt x="8367000" y="731400"/>
                  </a:lnTo>
                  <a:lnTo>
                    <a:pt x="0" y="731400"/>
                  </a:lnTo>
                  <a:close/>
                </a:path>
              </a:pathLst>
            </a:custGeom>
            <a:blipFill>
              <a:blip r:embed="rId4">
                <a:alphaModFix amt="0"/>
              </a:blip>
              <a:stretch>
                <a:fillRect t="-172902" b="-172903"/>
              </a:stretch>
            </a:blipFill>
          </p:spPr>
          <p:txBody>
            <a:bodyPr/>
            <a:lstStyle/>
            <a:p>
              <a:endParaRPr lang="es-CO"/>
            </a:p>
          </p:txBody>
        </p:sp>
        <p:sp>
          <p:nvSpPr>
            <p:cNvPr id="29" name="TextBox 29"/>
            <p:cNvSpPr txBox="1"/>
            <p:nvPr/>
          </p:nvSpPr>
          <p:spPr>
            <a:xfrm>
              <a:off x="0" y="-28575"/>
              <a:ext cx="8367001" cy="759981"/>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Por qué era necesario este proyecto</a:t>
              </a:r>
            </a:p>
          </p:txBody>
        </p:sp>
      </p:grpSp>
      <p:grpSp>
        <p:nvGrpSpPr>
          <p:cNvPr id="30" name="Group 30"/>
          <p:cNvGrpSpPr/>
          <p:nvPr/>
        </p:nvGrpSpPr>
        <p:grpSpPr>
          <a:xfrm>
            <a:off x="822960" y="4101084"/>
            <a:ext cx="7715250" cy="1261796"/>
            <a:chOff x="0" y="0"/>
            <a:chExt cx="10287000" cy="1682394"/>
          </a:xfrm>
        </p:grpSpPr>
        <p:sp>
          <p:nvSpPr>
            <p:cNvPr id="31" name="Freeform 31"/>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32" name="Group 32"/>
          <p:cNvGrpSpPr/>
          <p:nvPr/>
        </p:nvGrpSpPr>
        <p:grpSpPr>
          <a:xfrm>
            <a:off x="1069848" y="4347972"/>
            <a:ext cx="768153" cy="768153"/>
            <a:chOff x="0" y="0"/>
            <a:chExt cx="1024204" cy="1024204"/>
          </a:xfrm>
        </p:grpSpPr>
        <p:sp>
          <p:nvSpPr>
            <p:cNvPr id="33" name="Freeform 33"/>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34" name="Group 34"/>
          <p:cNvGrpSpPr/>
          <p:nvPr/>
        </p:nvGrpSpPr>
        <p:grpSpPr>
          <a:xfrm>
            <a:off x="1269549" y="4547673"/>
            <a:ext cx="368684" cy="368684"/>
            <a:chOff x="0" y="0"/>
            <a:chExt cx="491579" cy="491579"/>
          </a:xfrm>
        </p:grpSpPr>
        <p:sp>
          <p:nvSpPr>
            <p:cNvPr id="35" name="Freeform 35" descr="icons/route.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7"/>
              <a:stretch>
                <a:fillRect r="7" b="7"/>
              </a:stretch>
            </a:blipFill>
          </p:spPr>
          <p:txBody>
            <a:bodyPr/>
            <a:lstStyle/>
            <a:p>
              <a:endParaRPr lang="es-CO"/>
            </a:p>
          </p:txBody>
        </p:sp>
      </p:grpSp>
      <p:grpSp>
        <p:nvGrpSpPr>
          <p:cNvPr id="36" name="Group 36"/>
          <p:cNvGrpSpPr/>
          <p:nvPr/>
        </p:nvGrpSpPr>
        <p:grpSpPr>
          <a:xfrm>
            <a:off x="2057400" y="4265676"/>
            <a:ext cx="6275251" cy="493652"/>
            <a:chOff x="0" y="0"/>
            <a:chExt cx="8367001" cy="658203"/>
          </a:xfrm>
        </p:grpSpPr>
        <p:sp>
          <p:nvSpPr>
            <p:cNvPr id="37" name="Freeform 37"/>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38" name="TextBox 38"/>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Alcance y metodología</a:t>
              </a:r>
            </a:p>
          </p:txBody>
        </p:sp>
      </p:grpSp>
      <p:grpSp>
        <p:nvGrpSpPr>
          <p:cNvPr id="39" name="Group 39"/>
          <p:cNvGrpSpPr/>
          <p:nvPr/>
        </p:nvGrpSpPr>
        <p:grpSpPr>
          <a:xfrm>
            <a:off x="2057400" y="4732020"/>
            <a:ext cx="6275251" cy="548554"/>
            <a:chOff x="0" y="0"/>
            <a:chExt cx="8367001" cy="731406"/>
          </a:xfrm>
        </p:grpSpPr>
        <p:sp>
          <p:nvSpPr>
            <p:cNvPr id="40" name="Freeform 40"/>
            <p:cNvSpPr/>
            <p:nvPr/>
          </p:nvSpPr>
          <p:spPr>
            <a:xfrm>
              <a:off x="0" y="0"/>
              <a:ext cx="8367000" cy="731400"/>
            </a:xfrm>
            <a:custGeom>
              <a:avLst/>
              <a:gdLst/>
              <a:ahLst/>
              <a:cxnLst/>
              <a:rect l="l" t="t" r="r" b="b"/>
              <a:pathLst>
                <a:path w="8367000" h="731400">
                  <a:moveTo>
                    <a:pt x="0" y="0"/>
                  </a:moveTo>
                  <a:lnTo>
                    <a:pt x="8367000" y="0"/>
                  </a:lnTo>
                  <a:lnTo>
                    <a:pt x="8367000" y="731400"/>
                  </a:lnTo>
                  <a:lnTo>
                    <a:pt x="0" y="731400"/>
                  </a:lnTo>
                  <a:close/>
                </a:path>
              </a:pathLst>
            </a:custGeom>
            <a:blipFill>
              <a:blip r:embed="rId4">
                <a:alphaModFix amt="0"/>
              </a:blip>
              <a:stretch>
                <a:fillRect t="-172902" b="-172903"/>
              </a:stretch>
            </a:blipFill>
          </p:spPr>
          <p:txBody>
            <a:bodyPr/>
            <a:lstStyle/>
            <a:p>
              <a:endParaRPr lang="es-CO"/>
            </a:p>
          </p:txBody>
        </p:sp>
        <p:sp>
          <p:nvSpPr>
            <p:cNvPr id="41" name="TextBox 41"/>
            <p:cNvSpPr txBox="1"/>
            <p:nvPr/>
          </p:nvSpPr>
          <p:spPr>
            <a:xfrm>
              <a:off x="0" y="-28575"/>
              <a:ext cx="8367001" cy="759981"/>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Qué incluye el sistema y cómo lo construimos (Scrum)</a:t>
              </a:r>
            </a:p>
          </p:txBody>
        </p:sp>
      </p:grpSp>
      <p:grpSp>
        <p:nvGrpSpPr>
          <p:cNvPr id="42" name="Group 42"/>
          <p:cNvGrpSpPr/>
          <p:nvPr/>
        </p:nvGrpSpPr>
        <p:grpSpPr>
          <a:xfrm>
            <a:off x="9018270" y="4101084"/>
            <a:ext cx="7715250" cy="1261796"/>
            <a:chOff x="0" y="0"/>
            <a:chExt cx="10287000" cy="1682394"/>
          </a:xfrm>
        </p:grpSpPr>
        <p:sp>
          <p:nvSpPr>
            <p:cNvPr id="43" name="Freeform 43"/>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44" name="Group 44"/>
          <p:cNvGrpSpPr/>
          <p:nvPr/>
        </p:nvGrpSpPr>
        <p:grpSpPr>
          <a:xfrm>
            <a:off x="9265158" y="4347972"/>
            <a:ext cx="768153" cy="768153"/>
            <a:chOff x="0" y="0"/>
            <a:chExt cx="1024204" cy="1024204"/>
          </a:xfrm>
        </p:grpSpPr>
        <p:sp>
          <p:nvSpPr>
            <p:cNvPr id="45" name="Freeform 45"/>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46" name="Group 46"/>
          <p:cNvGrpSpPr/>
          <p:nvPr/>
        </p:nvGrpSpPr>
        <p:grpSpPr>
          <a:xfrm>
            <a:off x="9464859" y="4547673"/>
            <a:ext cx="368684" cy="368684"/>
            <a:chOff x="0" y="0"/>
            <a:chExt cx="491579" cy="491579"/>
          </a:xfrm>
        </p:grpSpPr>
        <p:sp>
          <p:nvSpPr>
            <p:cNvPr id="47" name="Freeform 47" descr="icons/clipboard.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8"/>
              <a:stretch>
                <a:fillRect r="7" b="7"/>
              </a:stretch>
            </a:blipFill>
          </p:spPr>
          <p:txBody>
            <a:bodyPr/>
            <a:lstStyle/>
            <a:p>
              <a:endParaRPr lang="es-CO"/>
            </a:p>
          </p:txBody>
        </p:sp>
      </p:grpSp>
      <p:grpSp>
        <p:nvGrpSpPr>
          <p:cNvPr id="48" name="Group 48"/>
          <p:cNvGrpSpPr/>
          <p:nvPr/>
        </p:nvGrpSpPr>
        <p:grpSpPr>
          <a:xfrm>
            <a:off x="10252710" y="4265676"/>
            <a:ext cx="6275251" cy="493652"/>
            <a:chOff x="0" y="0"/>
            <a:chExt cx="8367001" cy="658203"/>
          </a:xfrm>
        </p:grpSpPr>
        <p:sp>
          <p:nvSpPr>
            <p:cNvPr id="49" name="Freeform 49"/>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50" name="TextBox 50"/>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Requerimientos (IEEE 830)</a:t>
              </a:r>
            </a:p>
          </p:txBody>
        </p:sp>
      </p:grpSp>
      <p:grpSp>
        <p:nvGrpSpPr>
          <p:cNvPr id="51" name="Group 51"/>
          <p:cNvGrpSpPr/>
          <p:nvPr/>
        </p:nvGrpSpPr>
        <p:grpSpPr>
          <a:xfrm>
            <a:off x="10252710" y="4732020"/>
            <a:ext cx="6275251" cy="548554"/>
            <a:chOff x="0" y="0"/>
            <a:chExt cx="8367001" cy="731406"/>
          </a:xfrm>
        </p:grpSpPr>
        <p:sp>
          <p:nvSpPr>
            <p:cNvPr id="52" name="Freeform 52"/>
            <p:cNvSpPr/>
            <p:nvPr/>
          </p:nvSpPr>
          <p:spPr>
            <a:xfrm>
              <a:off x="0" y="0"/>
              <a:ext cx="8367000" cy="731400"/>
            </a:xfrm>
            <a:custGeom>
              <a:avLst/>
              <a:gdLst/>
              <a:ahLst/>
              <a:cxnLst/>
              <a:rect l="l" t="t" r="r" b="b"/>
              <a:pathLst>
                <a:path w="8367000" h="731400">
                  <a:moveTo>
                    <a:pt x="0" y="0"/>
                  </a:moveTo>
                  <a:lnTo>
                    <a:pt x="8367000" y="0"/>
                  </a:lnTo>
                  <a:lnTo>
                    <a:pt x="8367000" y="731400"/>
                  </a:lnTo>
                  <a:lnTo>
                    <a:pt x="0" y="731400"/>
                  </a:lnTo>
                  <a:close/>
                </a:path>
              </a:pathLst>
            </a:custGeom>
            <a:blipFill>
              <a:blip r:embed="rId4">
                <a:alphaModFix amt="0"/>
              </a:blip>
              <a:stretch>
                <a:fillRect t="-172902" b="-172903"/>
              </a:stretch>
            </a:blipFill>
          </p:spPr>
          <p:txBody>
            <a:bodyPr/>
            <a:lstStyle/>
            <a:p>
              <a:endParaRPr lang="es-CO"/>
            </a:p>
          </p:txBody>
        </p:sp>
        <p:sp>
          <p:nvSpPr>
            <p:cNvPr id="53" name="TextBox 53"/>
            <p:cNvSpPr txBox="1"/>
            <p:nvPr/>
          </p:nvSpPr>
          <p:spPr>
            <a:xfrm>
              <a:off x="0" y="-28575"/>
              <a:ext cx="8367001" cy="759981"/>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Funcionalidades esenciales del sistema</a:t>
              </a:r>
            </a:p>
          </p:txBody>
        </p:sp>
      </p:grpSp>
      <p:grpSp>
        <p:nvGrpSpPr>
          <p:cNvPr id="54" name="Group 54"/>
          <p:cNvGrpSpPr/>
          <p:nvPr/>
        </p:nvGrpSpPr>
        <p:grpSpPr>
          <a:xfrm>
            <a:off x="822960" y="5664708"/>
            <a:ext cx="7715250" cy="1261796"/>
            <a:chOff x="0" y="0"/>
            <a:chExt cx="10287000" cy="1682394"/>
          </a:xfrm>
        </p:grpSpPr>
        <p:sp>
          <p:nvSpPr>
            <p:cNvPr id="55" name="Freeform 55"/>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56" name="Group 56"/>
          <p:cNvGrpSpPr/>
          <p:nvPr/>
        </p:nvGrpSpPr>
        <p:grpSpPr>
          <a:xfrm>
            <a:off x="1069848" y="5911596"/>
            <a:ext cx="768153" cy="768153"/>
            <a:chOff x="0" y="0"/>
            <a:chExt cx="1024204" cy="1024204"/>
          </a:xfrm>
        </p:grpSpPr>
        <p:sp>
          <p:nvSpPr>
            <p:cNvPr id="57" name="Freeform 57"/>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58" name="Group 58"/>
          <p:cNvGrpSpPr/>
          <p:nvPr/>
        </p:nvGrpSpPr>
        <p:grpSpPr>
          <a:xfrm>
            <a:off x="1269549" y="6111297"/>
            <a:ext cx="368684" cy="368684"/>
            <a:chOff x="0" y="0"/>
            <a:chExt cx="491579" cy="491579"/>
          </a:xfrm>
        </p:grpSpPr>
        <p:sp>
          <p:nvSpPr>
            <p:cNvPr id="59" name="Freeform 59" descr="icons/layer.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9"/>
              <a:stretch>
                <a:fillRect r="7" b="7"/>
              </a:stretch>
            </a:blipFill>
          </p:spPr>
          <p:txBody>
            <a:bodyPr/>
            <a:lstStyle/>
            <a:p>
              <a:endParaRPr lang="es-CO"/>
            </a:p>
          </p:txBody>
        </p:sp>
      </p:grpSp>
      <p:grpSp>
        <p:nvGrpSpPr>
          <p:cNvPr id="60" name="Group 60"/>
          <p:cNvGrpSpPr/>
          <p:nvPr/>
        </p:nvGrpSpPr>
        <p:grpSpPr>
          <a:xfrm>
            <a:off x="2057400" y="5829300"/>
            <a:ext cx="6275251" cy="493652"/>
            <a:chOff x="0" y="0"/>
            <a:chExt cx="8367001" cy="658203"/>
          </a:xfrm>
        </p:grpSpPr>
        <p:sp>
          <p:nvSpPr>
            <p:cNvPr id="61" name="Freeform 61"/>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62" name="TextBox 62"/>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Arquitectura y stack</a:t>
              </a:r>
            </a:p>
          </p:txBody>
        </p:sp>
      </p:grpSp>
      <p:grpSp>
        <p:nvGrpSpPr>
          <p:cNvPr id="63" name="Group 63"/>
          <p:cNvGrpSpPr/>
          <p:nvPr/>
        </p:nvGrpSpPr>
        <p:grpSpPr>
          <a:xfrm>
            <a:off x="2057400" y="6295644"/>
            <a:ext cx="6275251" cy="576644"/>
            <a:chOff x="0" y="0"/>
            <a:chExt cx="8367001" cy="768858"/>
          </a:xfrm>
        </p:grpSpPr>
        <p:sp>
          <p:nvSpPr>
            <p:cNvPr id="64" name="Freeform 64"/>
            <p:cNvSpPr/>
            <p:nvPr/>
          </p:nvSpPr>
          <p:spPr>
            <a:xfrm>
              <a:off x="0" y="0"/>
              <a:ext cx="8367000" cy="768852"/>
            </a:xfrm>
            <a:custGeom>
              <a:avLst/>
              <a:gdLst/>
              <a:ahLst/>
              <a:cxnLst/>
              <a:rect l="l" t="t" r="r" b="b"/>
              <a:pathLst>
                <a:path w="8367000" h="768852">
                  <a:moveTo>
                    <a:pt x="0" y="0"/>
                  </a:moveTo>
                  <a:lnTo>
                    <a:pt x="8367000" y="0"/>
                  </a:lnTo>
                  <a:lnTo>
                    <a:pt x="8367000" y="768852"/>
                  </a:lnTo>
                  <a:lnTo>
                    <a:pt x="0" y="768852"/>
                  </a:lnTo>
                  <a:close/>
                </a:path>
              </a:pathLst>
            </a:custGeom>
            <a:blipFill>
              <a:blip r:embed="rId4">
                <a:alphaModFix amt="0"/>
              </a:blip>
              <a:stretch>
                <a:fillRect t="-164480" b="-159609"/>
              </a:stretch>
            </a:blipFill>
          </p:spPr>
          <p:txBody>
            <a:bodyPr/>
            <a:lstStyle/>
            <a:p>
              <a:endParaRPr lang="es-CO"/>
            </a:p>
          </p:txBody>
        </p:sp>
        <p:sp>
          <p:nvSpPr>
            <p:cNvPr id="65" name="TextBox 65"/>
            <p:cNvSpPr txBox="1"/>
            <p:nvPr/>
          </p:nvSpPr>
          <p:spPr>
            <a:xfrm>
              <a:off x="0" y="-28575"/>
              <a:ext cx="8367001" cy="797433"/>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PythonFastAPI, React, Boostrap, Supabase y desplegado en Vercel y Render</a:t>
              </a:r>
            </a:p>
          </p:txBody>
        </p:sp>
      </p:grpSp>
      <p:grpSp>
        <p:nvGrpSpPr>
          <p:cNvPr id="66" name="Group 66"/>
          <p:cNvGrpSpPr/>
          <p:nvPr/>
        </p:nvGrpSpPr>
        <p:grpSpPr>
          <a:xfrm>
            <a:off x="9018270" y="5664708"/>
            <a:ext cx="7715250" cy="1261796"/>
            <a:chOff x="0" y="0"/>
            <a:chExt cx="10287000" cy="1682394"/>
          </a:xfrm>
        </p:grpSpPr>
        <p:sp>
          <p:nvSpPr>
            <p:cNvPr id="67" name="Freeform 67"/>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68" name="Group 68"/>
          <p:cNvGrpSpPr/>
          <p:nvPr/>
        </p:nvGrpSpPr>
        <p:grpSpPr>
          <a:xfrm>
            <a:off x="9265158" y="5911596"/>
            <a:ext cx="768153" cy="768153"/>
            <a:chOff x="0" y="0"/>
            <a:chExt cx="1024204" cy="1024204"/>
          </a:xfrm>
        </p:grpSpPr>
        <p:sp>
          <p:nvSpPr>
            <p:cNvPr id="69" name="Freeform 69"/>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70" name="Group 70"/>
          <p:cNvGrpSpPr/>
          <p:nvPr/>
        </p:nvGrpSpPr>
        <p:grpSpPr>
          <a:xfrm>
            <a:off x="9464859" y="6111297"/>
            <a:ext cx="368684" cy="368684"/>
            <a:chOff x="0" y="0"/>
            <a:chExt cx="491579" cy="491579"/>
          </a:xfrm>
        </p:grpSpPr>
        <p:sp>
          <p:nvSpPr>
            <p:cNvPr id="71" name="Freeform 71" descr="icons/window.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10"/>
              <a:stretch>
                <a:fillRect r="7" b="7"/>
              </a:stretch>
            </a:blipFill>
          </p:spPr>
          <p:txBody>
            <a:bodyPr/>
            <a:lstStyle/>
            <a:p>
              <a:endParaRPr lang="es-CO"/>
            </a:p>
          </p:txBody>
        </p:sp>
      </p:grpSp>
      <p:grpSp>
        <p:nvGrpSpPr>
          <p:cNvPr id="72" name="Group 72"/>
          <p:cNvGrpSpPr/>
          <p:nvPr/>
        </p:nvGrpSpPr>
        <p:grpSpPr>
          <a:xfrm>
            <a:off x="10252710" y="5829300"/>
            <a:ext cx="6275251" cy="493652"/>
            <a:chOff x="0" y="0"/>
            <a:chExt cx="8367001" cy="658203"/>
          </a:xfrm>
        </p:grpSpPr>
        <p:sp>
          <p:nvSpPr>
            <p:cNvPr id="73" name="Freeform 73"/>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74" name="TextBox 74"/>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Interfaz y demo</a:t>
              </a:r>
            </a:p>
          </p:txBody>
        </p:sp>
      </p:grpSp>
      <p:grpSp>
        <p:nvGrpSpPr>
          <p:cNvPr id="75" name="Group 75"/>
          <p:cNvGrpSpPr/>
          <p:nvPr/>
        </p:nvGrpSpPr>
        <p:grpSpPr>
          <a:xfrm>
            <a:off x="10252710" y="6295644"/>
            <a:ext cx="6275251" cy="548554"/>
            <a:chOff x="0" y="0"/>
            <a:chExt cx="8367001" cy="731406"/>
          </a:xfrm>
        </p:grpSpPr>
        <p:sp>
          <p:nvSpPr>
            <p:cNvPr id="76" name="Freeform 76"/>
            <p:cNvSpPr/>
            <p:nvPr/>
          </p:nvSpPr>
          <p:spPr>
            <a:xfrm>
              <a:off x="0" y="0"/>
              <a:ext cx="8367000" cy="731400"/>
            </a:xfrm>
            <a:custGeom>
              <a:avLst/>
              <a:gdLst/>
              <a:ahLst/>
              <a:cxnLst/>
              <a:rect l="l" t="t" r="r" b="b"/>
              <a:pathLst>
                <a:path w="8367000" h="731400">
                  <a:moveTo>
                    <a:pt x="0" y="0"/>
                  </a:moveTo>
                  <a:lnTo>
                    <a:pt x="8367000" y="0"/>
                  </a:lnTo>
                  <a:lnTo>
                    <a:pt x="8367000" y="731400"/>
                  </a:lnTo>
                  <a:lnTo>
                    <a:pt x="0" y="731400"/>
                  </a:lnTo>
                  <a:close/>
                </a:path>
              </a:pathLst>
            </a:custGeom>
            <a:blipFill>
              <a:blip r:embed="rId4">
                <a:alphaModFix amt="0"/>
              </a:blip>
              <a:stretch>
                <a:fillRect t="-172902" b="-172903"/>
              </a:stretch>
            </a:blipFill>
          </p:spPr>
          <p:txBody>
            <a:bodyPr/>
            <a:lstStyle/>
            <a:p>
              <a:endParaRPr lang="es-CO"/>
            </a:p>
          </p:txBody>
        </p:sp>
        <p:sp>
          <p:nvSpPr>
            <p:cNvPr id="77" name="TextBox 77"/>
            <p:cNvSpPr txBox="1"/>
            <p:nvPr/>
          </p:nvSpPr>
          <p:spPr>
            <a:xfrm>
              <a:off x="0" y="-28575"/>
              <a:ext cx="8367001" cy="759981"/>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Recorrido por las pantallas del sistema</a:t>
              </a:r>
            </a:p>
          </p:txBody>
        </p:sp>
      </p:grpSp>
      <p:grpSp>
        <p:nvGrpSpPr>
          <p:cNvPr id="78" name="Group 78"/>
          <p:cNvGrpSpPr/>
          <p:nvPr/>
        </p:nvGrpSpPr>
        <p:grpSpPr>
          <a:xfrm>
            <a:off x="822960" y="7228332"/>
            <a:ext cx="7715250" cy="1261796"/>
            <a:chOff x="0" y="0"/>
            <a:chExt cx="10287000" cy="1682394"/>
          </a:xfrm>
        </p:grpSpPr>
        <p:sp>
          <p:nvSpPr>
            <p:cNvPr id="79" name="Freeform 79"/>
            <p:cNvSpPr/>
            <p:nvPr/>
          </p:nvSpPr>
          <p:spPr>
            <a:xfrm>
              <a:off x="0" y="0"/>
              <a:ext cx="10287000" cy="1682369"/>
            </a:xfrm>
            <a:custGeom>
              <a:avLst/>
              <a:gdLst/>
              <a:ahLst/>
              <a:cxnLst/>
              <a:rect l="l" t="t" r="r" b="b"/>
              <a:pathLst>
                <a:path w="10287000" h="1682369">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txBody>
            <a:bodyPr/>
            <a:lstStyle/>
            <a:p>
              <a:endParaRPr lang="es-CO"/>
            </a:p>
          </p:txBody>
        </p:sp>
      </p:grpSp>
      <p:grpSp>
        <p:nvGrpSpPr>
          <p:cNvPr id="80" name="Group 80"/>
          <p:cNvGrpSpPr/>
          <p:nvPr/>
        </p:nvGrpSpPr>
        <p:grpSpPr>
          <a:xfrm>
            <a:off x="1069848" y="7475220"/>
            <a:ext cx="768153" cy="768153"/>
            <a:chOff x="0" y="0"/>
            <a:chExt cx="1024204" cy="1024204"/>
          </a:xfrm>
        </p:grpSpPr>
        <p:sp>
          <p:nvSpPr>
            <p:cNvPr id="81" name="Freeform 81"/>
            <p:cNvSpPr/>
            <p:nvPr/>
          </p:nvSpPr>
          <p:spPr>
            <a:xfrm>
              <a:off x="0" y="0"/>
              <a:ext cx="1024255" cy="1024255"/>
            </a:xfrm>
            <a:custGeom>
              <a:avLst/>
              <a:gdLst/>
              <a:ahLst/>
              <a:cxnLst/>
              <a:rect l="l" t="t" r="r" b="b"/>
              <a:pathLst>
                <a:path w="1024255" h="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txBody>
            <a:bodyPr/>
            <a:lstStyle/>
            <a:p>
              <a:endParaRPr lang="es-CO"/>
            </a:p>
          </p:txBody>
        </p:sp>
      </p:grpSp>
      <p:grpSp>
        <p:nvGrpSpPr>
          <p:cNvPr id="82" name="Group 82"/>
          <p:cNvGrpSpPr/>
          <p:nvPr/>
        </p:nvGrpSpPr>
        <p:grpSpPr>
          <a:xfrm>
            <a:off x="1269549" y="7674921"/>
            <a:ext cx="368684" cy="368684"/>
            <a:chOff x="0" y="0"/>
            <a:chExt cx="491579" cy="491579"/>
          </a:xfrm>
        </p:grpSpPr>
        <p:sp>
          <p:nvSpPr>
            <p:cNvPr id="83" name="Freeform 83" descr="icons/flask.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11"/>
              <a:stretch>
                <a:fillRect r="7" b="7"/>
              </a:stretch>
            </a:blipFill>
          </p:spPr>
          <p:txBody>
            <a:bodyPr/>
            <a:lstStyle/>
            <a:p>
              <a:endParaRPr lang="es-CO"/>
            </a:p>
          </p:txBody>
        </p:sp>
      </p:grpSp>
      <p:grpSp>
        <p:nvGrpSpPr>
          <p:cNvPr id="84" name="Group 84"/>
          <p:cNvGrpSpPr/>
          <p:nvPr/>
        </p:nvGrpSpPr>
        <p:grpSpPr>
          <a:xfrm>
            <a:off x="2057400" y="7392924"/>
            <a:ext cx="6275251" cy="493652"/>
            <a:chOff x="0" y="0"/>
            <a:chExt cx="8367001" cy="658203"/>
          </a:xfrm>
        </p:grpSpPr>
        <p:sp>
          <p:nvSpPr>
            <p:cNvPr id="85" name="Freeform 85"/>
            <p:cNvSpPr/>
            <p:nvPr/>
          </p:nvSpPr>
          <p:spPr>
            <a:xfrm>
              <a:off x="0" y="0"/>
              <a:ext cx="8367000" cy="658200"/>
            </a:xfrm>
            <a:custGeom>
              <a:avLst/>
              <a:gdLst/>
              <a:ahLst/>
              <a:cxnLst/>
              <a:rect l="l" t="t" r="r" b="b"/>
              <a:pathLst>
                <a:path w="8367000" h="658200">
                  <a:moveTo>
                    <a:pt x="0" y="0"/>
                  </a:moveTo>
                  <a:lnTo>
                    <a:pt x="8367000" y="0"/>
                  </a:lnTo>
                  <a:lnTo>
                    <a:pt x="8367000" y="658200"/>
                  </a:lnTo>
                  <a:lnTo>
                    <a:pt x="0" y="658200"/>
                  </a:lnTo>
                  <a:close/>
                </a:path>
              </a:pathLst>
            </a:custGeom>
            <a:blipFill>
              <a:blip r:embed="rId4">
                <a:alphaModFix amt="0"/>
              </a:blip>
              <a:stretch>
                <a:fillRect t="-197692" b="-197692"/>
              </a:stretch>
            </a:blipFill>
          </p:spPr>
          <p:txBody>
            <a:bodyPr/>
            <a:lstStyle/>
            <a:p>
              <a:endParaRPr lang="es-CO"/>
            </a:p>
          </p:txBody>
        </p:sp>
        <p:sp>
          <p:nvSpPr>
            <p:cNvPr id="86" name="TextBox 86"/>
            <p:cNvSpPr txBox="1"/>
            <p:nvPr/>
          </p:nvSpPr>
          <p:spPr>
            <a:xfrm>
              <a:off x="0" y="-57150"/>
              <a:ext cx="8367001" cy="715353"/>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Pruebas y conclusiones</a:t>
              </a:r>
            </a:p>
          </p:txBody>
        </p:sp>
      </p:grpSp>
      <p:grpSp>
        <p:nvGrpSpPr>
          <p:cNvPr id="87" name="Group 87"/>
          <p:cNvGrpSpPr/>
          <p:nvPr/>
        </p:nvGrpSpPr>
        <p:grpSpPr>
          <a:xfrm>
            <a:off x="2057400" y="7859268"/>
            <a:ext cx="6275251" cy="548554"/>
            <a:chOff x="0" y="0"/>
            <a:chExt cx="8367001" cy="731406"/>
          </a:xfrm>
        </p:grpSpPr>
        <p:sp>
          <p:nvSpPr>
            <p:cNvPr id="88" name="Freeform 88"/>
            <p:cNvSpPr/>
            <p:nvPr/>
          </p:nvSpPr>
          <p:spPr>
            <a:xfrm>
              <a:off x="0" y="0"/>
              <a:ext cx="8367000" cy="731400"/>
            </a:xfrm>
            <a:custGeom>
              <a:avLst/>
              <a:gdLst/>
              <a:ahLst/>
              <a:cxnLst/>
              <a:rect l="l" t="t" r="r" b="b"/>
              <a:pathLst>
                <a:path w="8367000" h="731400">
                  <a:moveTo>
                    <a:pt x="0" y="0"/>
                  </a:moveTo>
                  <a:lnTo>
                    <a:pt x="8367000" y="0"/>
                  </a:lnTo>
                  <a:lnTo>
                    <a:pt x="8367000" y="731400"/>
                  </a:lnTo>
                  <a:lnTo>
                    <a:pt x="0" y="731400"/>
                  </a:lnTo>
                  <a:close/>
                </a:path>
              </a:pathLst>
            </a:custGeom>
            <a:blipFill>
              <a:blip r:embed="rId4">
                <a:alphaModFix amt="0"/>
              </a:blip>
              <a:stretch>
                <a:fillRect t="-172902" b="-172903"/>
              </a:stretch>
            </a:blipFill>
          </p:spPr>
          <p:txBody>
            <a:bodyPr/>
            <a:lstStyle/>
            <a:p>
              <a:endParaRPr lang="es-CO"/>
            </a:p>
          </p:txBody>
        </p:sp>
        <p:sp>
          <p:nvSpPr>
            <p:cNvPr id="89" name="TextBox 89"/>
            <p:cNvSpPr txBox="1"/>
            <p:nvPr/>
          </p:nvSpPr>
          <p:spPr>
            <a:xfrm>
              <a:off x="0" y="-28575"/>
              <a:ext cx="8367001" cy="759981"/>
            </a:xfrm>
            <a:prstGeom prst="rect">
              <a:avLst/>
            </a:prstGeom>
          </p:spPr>
          <p:txBody>
            <a:bodyPr lIns="0" tIns="0" rIns="0" bIns="0" rtlCol="0" anchor="ctr"/>
            <a:lstStyle/>
            <a:p>
              <a:pPr algn="l">
                <a:lnSpc>
                  <a:spcPts val="1980"/>
                </a:lnSpc>
              </a:pPr>
              <a:r>
                <a:rPr lang="en-US" sz="1650">
                  <a:solidFill>
                    <a:srgbClr val="5B6670"/>
                  </a:solidFill>
                  <a:latin typeface="Calibri (MS)"/>
                  <a:ea typeface="Calibri (MS)"/>
                  <a:cs typeface="Calibri (MS)"/>
                  <a:sym typeface="Calibri (MS)"/>
                </a:rPr>
                <a:t>Cómo validamos la calidad del software</a:t>
              </a:r>
            </a:p>
          </p:txBody>
        </p:sp>
      </p:grpSp>
      <p:sp>
        <p:nvSpPr>
          <p:cNvPr id="91" name="Rectángulo: esquinas superiores redondeadas 90">
            <a:extLst>
              <a:ext uri="{FF2B5EF4-FFF2-40B4-BE49-F238E27FC236}">
                <a16:creationId xmlns:a16="http://schemas.microsoft.com/office/drawing/2014/main" id="{C3857311-69B8-4FCF-511E-74785E961CCA}"/>
              </a:ext>
            </a:extLst>
          </p:cNvPr>
          <p:cNvSpPr/>
          <p:nvPr/>
        </p:nvSpPr>
        <p:spPr>
          <a:xfrm>
            <a:off x="7848600" y="9765506"/>
            <a:ext cx="2590800" cy="152400"/>
          </a:xfrm>
          <a:prstGeom prst="round2SameRect">
            <a:avLst/>
          </a:prstGeom>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11520" y="987552"/>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Planteamiento del problema</a:t>
              </a:r>
            </a:p>
          </p:txBody>
        </p:sp>
      </p:grpSp>
      <p:grpSp>
        <p:nvGrpSpPr>
          <p:cNvPr id="6" name="Group 6"/>
          <p:cNvGrpSpPr/>
          <p:nvPr/>
        </p:nvGrpSpPr>
        <p:grpSpPr>
          <a:xfrm>
            <a:off x="811520" y="2468880"/>
            <a:ext cx="7681046" cy="6720754"/>
            <a:chOff x="0" y="0"/>
            <a:chExt cx="10241394" cy="8961006"/>
          </a:xfrm>
        </p:grpSpPr>
        <p:sp>
          <p:nvSpPr>
            <p:cNvPr id="7" name="Freeform 7"/>
            <p:cNvSpPr/>
            <p:nvPr/>
          </p:nvSpPr>
          <p:spPr>
            <a:xfrm>
              <a:off x="0" y="0"/>
              <a:ext cx="10241407" cy="8960993"/>
            </a:xfrm>
            <a:custGeom>
              <a:avLst/>
              <a:gdLst/>
              <a:ahLst/>
              <a:cxnLst/>
              <a:rect l="l" t="t" r="r" b="b"/>
              <a:pathLst>
                <a:path w="10241407" h="8960993">
                  <a:moveTo>
                    <a:pt x="0" y="146304"/>
                  </a:moveTo>
                  <a:cubicBezTo>
                    <a:pt x="0" y="65532"/>
                    <a:pt x="65532" y="0"/>
                    <a:pt x="146304" y="0"/>
                  </a:cubicBezTo>
                  <a:lnTo>
                    <a:pt x="10095103" y="0"/>
                  </a:lnTo>
                  <a:cubicBezTo>
                    <a:pt x="10175875" y="0"/>
                    <a:pt x="10241407" y="65532"/>
                    <a:pt x="10241407" y="146304"/>
                  </a:cubicBezTo>
                  <a:lnTo>
                    <a:pt x="10241407" y="8814689"/>
                  </a:lnTo>
                  <a:cubicBezTo>
                    <a:pt x="10241407" y="8895461"/>
                    <a:pt x="10175875" y="8960993"/>
                    <a:pt x="10095103" y="8960993"/>
                  </a:cubicBezTo>
                  <a:lnTo>
                    <a:pt x="146304" y="8960993"/>
                  </a:lnTo>
                  <a:cubicBezTo>
                    <a:pt x="65532" y="8960993"/>
                    <a:pt x="0" y="8895461"/>
                    <a:pt x="0" y="8814689"/>
                  </a:cubicBezTo>
                  <a:close/>
                </a:path>
              </a:pathLst>
            </a:custGeom>
            <a:solidFill>
              <a:srgbClr val="F6F6F6"/>
            </a:solidFill>
          </p:spPr>
          <p:txBody>
            <a:bodyPr/>
            <a:lstStyle/>
            <a:p>
              <a:endParaRPr lang="es-CO"/>
            </a:p>
          </p:txBody>
        </p:sp>
      </p:grpSp>
      <p:grpSp>
        <p:nvGrpSpPr>
          <p:cNvPr id="8" name="Group 8"/>
          <p:cNvGrpSpPr/>
          <p:nvPr/>
        </p:nvGrpSpPr>
        <p:grpSpPr>
          <a:xfrm>
            <a:off x="1291580" y="2811780"/>
            <a:ext cx="6858000" cy="548554"/>
            <a:chOff x="0" y="0"/>
            <a:chExt cx="9144000" cy="731406"/>
          </a:xfrm>
        </p:grpSpPr>
        <p:sp>
          <p:nvSpPr>
            <p:cNvPr id="9" name="Freeform 9"/>
            <p:cNvSpPr/>
            <p:nvPr/>
          </p:nvSpPr>
          <p:spPr>
            <a:xfrm>
              <a:off x="0" y="0"/>
              <a:ext cx="9144000" cy="731400"/>
            </a:xfrm>
            <a:custGeom>
              <a:avLst/>
              <a:gdLst/>
              <a:ahLst/>
              <a:cxnLst/>
              <a:rect l="l" t="t" r="r" b="b"/>
              <a:pathLst>
                <a:path w="9144000" h="731400">
                  <a:moveTo>
                    <a:pt x="0" y="0"/>
                  </a:moveTo>
                  <a:lnTo>
                    <a:pt x="9144000" y="0"/>
                  </a:lnTo>
                  <a:lnTo>
                    <a:pt x="9144000" y="731400"/>
                  </a:lnTo>
                  <a:lnTo>
                    <a:pt x="0" y="731400"/>
                  </a:lnTo>
                  <a:close/>
                </a:path>
              </a:pathLst>
            </a:custGeom>
            <a:blipFill>
              <a:blip r:embed="rId4">
                <a:alphaModFix amt="0"/>
              </a:blip>
              <a:stretch>
                <a:fillRect t="-193602" b="-193603"/>
              </a:stretch>
            </a:blipFill>
          </p:spPr>
          <p:txBody>
            <a:bodyPr/>
            <a:lstStyle/>
            <a:p>
              <a:endParaRPr lang="es-CO"/>
            </a:p>
          </p:txBody>
        </p:sp>
        <p:sp>
          <p:nvSpPr>
            <p:cNvPr id="10" name="TextBox 10"/>
            <p:cNvSpPr txBox="1"/>
            <p:nvPr/>
          </p:nvSpPr>
          <p:spPr>
            <a:xfrm>
              <a:off x="0" y="-38100"/>
              <a:ext cx="9144000" cy="769506"/>
            </a:xfrm>
            <a:prstGeom prst="rect">
              <a:avLst/>
            </a:prstGeom>
          </p:spPr>
          <p:txBody>
            <a:bodyPr lIns="0" tIns="0" rIns="0" bIns="0" rtlCol="0" anchor="ctr"/>
            <a:lstStyle/>
            <a:p>
              <a:pPr algn="l">
                <a:lnSpc>
                  <a:spcPts val="2879"/>
                </a:lnSpc>
              </a:pPr>
              <a:r>
                <a:rPr lang="en-US" sz="2400" b="1">
                  <a:solidFill>
                    <a:srgbClr val="00304D"/>
                  </a:solidFill>
                  <a:latin typeface="Calibri (MS) Bold"/>
                  <a:ea typeface="Calibri (MS) Bold"/>
                  <a:cs typeface="Calibri (MS) Bold"/>
                  <a:sym typeface="Calibri (MS) Bold"/>
                </a:rPr>
                <a:t>Gestión manual e informal</a:t>
              </a:r>
            </a:p>
          </p:txBody>
        </p:sp>
      </p:grpSp>
      <p:grpSp>
        <p:nvGrpSpPr>
          <p:cNvPr id="11" name="Group 11"/>
          <p:cNvGrpSpPr/>
          <p:nvPr/>
        </p:nvGrpSpPr>
        <p:grpSpPr>
          <a:xfrm>
            <a:off x="1291580" y="3497580"/>
            <a:ext cx="438750" cy="438750"/>
            <a:chOff x="0" y="0"/>
            <a:chExt cx="585000" cy="585000"/>
          </a:xfrm>
        </p:grpSpPr>
        <p:sp>
          <p:nvSpPr>
            <p:cNvPr id="12" name="Freeform 12"/>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13" name="Group 13"/>
          <p:cNvGrpSpPr/>
          <p:nvPr/>
        </p:nvGrpSpPr>
        <p:grpSpPr>
          <a:xfrm>
            <a:off x="1405700" y="3611699"/>
            <a:ext cx="210674" cy="210674"/>
            <a:chOff x="0" y="0"/>
            <a:chExt cx="280899" cy="280899"/>
          </a:xfrm>
        </p:grpSpPr>
        <p:sp>
          <p:nvSpPr>
            <p:cNvPr id="14" name="Freeform 14"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15" name="Group 15"/>
          <p:cNvGrpSpPr/>
          <p:nvPr/>
        </p:nvGrpSpPr>
        <p:grpSpPr>
          <a:xfrm>
            <a:off x="1936232" y="3442716"/>
            <a:ext cx="6377854" cy="685800"/>
            <a:chOff x="0" y="0"/>
            <a:chExt cx="8503806" cy="914400"/>
          </a:xfrm>
        </p:grpSpPr>
        <p:sp>
          <p:nvSpPr>
            <p:cNvPr id="16" name="Freeform 16"/>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17" name="TextBox 17"/>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Muchas Mecanicas gestionan sus citas y productos con un papel </a:t>
              </a:r>
            </a:p>
          </p:txBody>
        </p:sp>
      </p:grpSp>
      <p:grpSp>
        <p:nvGrpSpPr>
          <p:cNvPr id="18" name="Group 18"/>
          <p:cNvGrpSpPr/>
          <p:nvPr/>
        </p:nvGrpSpPr>
        <p:grpSpPr>
          <a:xfrm>
            <a:off x="1291580" y="4299966"/>
            <a:ext cx="438750" cy="438750"/>
            <a:chOff x="0" y="0"/>
            <a:chExt cx="585000" cy="585000"/>
          </a:xfrm>
        </p:grpSpPr>
        <p:sp>
          <p:nvSpPr>
            <p:cNvPr id="19" name="Freeform 19"/>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20" name="Group 20"/>
          <p:cNvGrpSpPr/>
          <p:nvPr/>
        </p:nvGrpSpPr>
        <p:grpSpPr>
          <a:xfrm>
            <a:off x="1405700" y="4414085"/>
            <a:ext cx="210674" cy="210674"/>
            <a:chOff x="0" y="0"/>
            <a:chExt cx="280899" cy="280899"/>
          </a:xfrm>
        </p:grpSpPr>
        <p:sp>
          <p:nvSpPr>
            <p:cNvPr id="21" name="Freeform 21"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22" name="Group 22"/>
          <p:cNvGrpSpPr/>
          <p:nvPr/>
        </p:nvGrpSpPr>
        <p:grpSpPr>
          <a:xfrm>
            <a:off x="1936232" y="4245102"/>
            <a:ext cx="6377854" cy="685800"/>
            <a:chOff x="0" y="0"/>
            <a:chExt cx="8503806" cy="914400"/>
          </a:xfrm>
        </p:grpSpPr>
        <p:sp>
          <p:nvSpPr>
            <p:cNvPr id="23" name="Freeform 23"/>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24" name="TextBox 24"/>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Procesos manuales y pérdida de datos</a:t>
              </a:r>
            </a:p>
          </p:txBody>
        </p:sp>
      </p:grpSp>
      <p:grpSp>
        <p:nvGrpSpPr>
          <p:cNvPr id="25" name="Group 25"/>
          <p:cNvGrpSpPr/>
          <p:nvPr/>
        </p:nvGrpSpPr>
        <p:grpSpPr>
          <a:xfrm>
            <a:off x="1291580" y="5102352"/>
            <a:ext cx="438750" cy="438750"/>
            <a:chOff x="0" y="0"/>
            <a:chExt cx="585000" cy="585000"/>
          </a:xfrm>
        </p:grpSpPr>
        <p:sp>
          <p:nvSpPr>
            <p:cNvPr id="26" name="Freeform 26"/>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27" name="Group 27"/>
          <p:cNvGrpSpPr/>
          <p:nvPr/>
        </p:nvGrpSpPr>
        <p:grpSpPr>
          <a:xfrm>
            <a:off x="1405700" y="5216471"/>
            <a:ext cx="210674" cy="210674"/>
            <a:chOff x="0" y="0"/>
            <a:chExt cx="280899" cy="280899"/>
          </a:xfrm>
        </p:grpSpPr>
        <p:sp>
          <p:nvSpPr>
            <p:cNvPr id="28" name="Freeform 28"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29" name="Group 29"/>
          <p:cNvGrpSpPr/>
          <p:nvPr/>
        </p:nvGrpSpPr>
        <p:grpSpPr>
          <a:xfrm>
            <a:off x="1936232" y="5047488"/>
            <a:ext cx="6377854" cy="685800"/>
            <a:chOff x="0" y="0"/>
            <a:chExt cx="8503806" cy="914400"/>
          </a:xfrm>
        </p:grpSpPr>
        <p:sp>
          <p:nvSpPr>
            <p:cNvPr id="30" name="Freeform 30"/>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31" name="TextBox 31"/>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Dificultad para controlar las citas</a:t>
              </a:r>
            </a:p>
          </p:txBody>
        </p:sp>
      </p:grpSp>
      <p:grpSp>
        <p:nvGrpSpPr>
          <p:cNvPr id="32" name="Group 32"/>
          <p:cNvGrpSpPr/>
          <p:nvPr/>
        </p:nvGrpSpPr>
        <p:grpSpPr>
          <a:xfrm>
            <a:off x="1291580" y="5904738"/>
            <a:ext cx="438750" cy="438750"/>
            <a:chOff x="0" y="0"/>
            <a:chExt cx="585000" cy="585000"/>
          </a:xfrm>
        </p:grpSpPr>
        <p:sp>
          <p:nvSpPr>
            <p:cNvPr id="33" name="Freeform 33"/>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34" name="Group 34"/>
          <p:cNvGrpSpPr/>
          <p:nvPr/>
        </p:nvGrpSpPr>
        <p:grpSpPr>
          <a:xfrm>
            <a:off x="1405700" y="6018857"/>
            <a:ext cx="210674" cy="210674"/>
            <a:chOff x="0" y="0"/>
            <a:chExt cx="280899" cy="280899"/>
          </a:xfrm>
        </p:grpSpPr>
        <p:sp>
          <p:nvSpPr>
            <p:cNvPr id="35" name="Freeform 35"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36" name="Group 36"/>
          <p:cNvGrpSpPr/>
          <p:nvPr/>
        </p:nvGrpSpPr>
        <p:grpSpPr>
          <a:xfrm>
            <a:off x="1936232" y="5849874"/>
            <a:ext cx="6377854" cy="685800"/>
            <a:chOff x="0" y="0"/>
            <a:chExt cx="8503806" cy="914400"/>
          </a:xfrm>
        </p:grpSpPr>
        <p:sp>
          <p:nvSpPr>
            <p:cNvPr id="37" name="Freeform 37"/>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38" name="TextBox 38"/>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Falta de historial de movimientos</a:t>
              </a:r>
            </a:p>
          </p:txBody>
        </p:sp>
      </p:grpSp>
      <p:grpSp>
        <p:nvGrpSpPr>
          <p:cNvPr id="39" name="Group 39"/>
          <p:cNvGrpSpPr/>
          <p:nvPr/>
        </p:nvGrpSpPr>
        <p:grpSpPr>
          <a:xfrm>
            <a:off x="1291580" y="6707124"/>
            <a:ext cx="438750" cy="438750"/>
            <a:chOff x="0" y="0"/>
            <a:chExt cx="585000" cy="585000"/>
          </a:xfrm>
        </p:grpSpPr>
        <p:sp>
          <p:nvSpPr>
            <p:cNvPr id="40" name="Freeform 40"/>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41" name="Group 41"/>
          <p:cNvGrpSpPr/>
          <p:nvPr/>
        </p:nvGrpSpPr>
        <p:grpSpPr>
          <a:xfrm>
            <a:off x="1405700" y="6821243"/>
            <a:ext cx="210674" cy="210674"/>
            <a:chOff x="0" y="0"/>
            <a:chExt cx="280899" cy="280899"/>
          </a:xfrm>
        </p:grpSpPr>
        <p:sp>
          <p:nvSpPr>
            <p:cNvPr id="42" name="Freeform 42"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43" name="Group 43"/>
          <p:cNvGrpSpPr/>
          <p:nvPr/>
        </p:nvGrpSpPr>
        <p:grpSpPr>
          <a:xfrm>
            <a:off x="1936232" y="6652260"/>
            <a:ext cx="6377854" cy="685800"/>
            <a:chOff x="0" y="0"/>
            <a:chExt cx="8503806" cy="914400"/>
          </a:xfrm>
        </p:grpSpPr>
        <p:sp>
          <p:nvSpPr>
            <p:cNvPr id="44" name="Freeform 44"/>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45" name="TextBox 45"/>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Ausencia de un canal de compras en línea</a:t>
              </a:r>
            </a:p>
          </p:txBody>
        </p:sp>
      </p:grpSp>
      <p:grpSp>
        <p:nvGrpSpPr>
          <p:cNvPr id="46" name="Group 46"/>
          <p:cNvGrpSpPr/>
          <p:nvPr/>
        </p:nvGrpSpPr>
        <p:grpSpPr>
          <a:xfrm>
            <a:off x="1291580" y="7509510"/>
            <a:ext cx="438750" cy="438750"/>
            <a:chOff x="0" y="0"/>
            <a:chExt cx="585000" cy="585000"/>
          </a:xfrm>
        </p:grpSpPr>
        <p:sp>
          <p:nvSpPr>
            <p:cNvPr id="47" name="Freeform 47"/>
            <p:cNvSpPr/>
            <p:nvPr/>
          </p:nvSpPr>
          <p:spPr>
            <a:xfrm>
              <a:off x="0" y="0"/>
              <a:ext cx="584962" cy="584962"/>
            </a:xfrm>
            <a:custGeom>
              <a:avLst/>
              <a:gdLst/>
              <a:ahLst/>
              <a:cxnLst/>
              <a:rect l="l" t="t" r="r" b="b"/>
              <a:pathLst>
                <a:path w="584962" h="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txBody>
            <a:bodyPr/>
            <a:lstStyle/>
            <a:p>
              <a:endParaRPr lang="es-CO"/>
            </a:p>
          </p:txBody>
        </p:sp>
      </p:grpSp>
      <p:grpSp>
        <p:nvGrpSpPr>
          <p:cNvPr id="48" name="Group 48"/>
          <p:cNvGrpSpPr/>
          <p:nvPr/>
        </p:nvGrpSpPr>
        <p:grpSpPr>
          <a:xfrm>
            <a:off x="1405700" y="7623629"/>
            <a:ext cx="210674" cy="210674"/>
            <a:chOff x="0" y="0"/>
            <a:chExt cx="280899" cy="280899"/>
          </a:xfrm>
        </p:grpSpPr>
        <p:sp>
          <p:nvSpPr>
            <p:cNvPr id="49" name="Freeform 49" descr="icons/warning.png"/>
            <p:cNvSpPr/>
            <p:nvPr/>
          </p:nvSpPr>
          <p:spPr>
            <a:xfrm>
              <a:off x="0" y="0"/>
              <a:ext cx="280924" cy="280924"/>
            </a:xfrm>
            <a:custGeom>
              <a:avLst/>
              <a:gdLst/>
              <a:ahLst/>
              <a:cxnLst/>
              <a:rect l="l" t="t" r="r" b="b"/>
              <a:pathLst>
                <a:path w="280924" h="280924">
                  <a:moveTo>
                    <a:pt x="0" y="0"/>
                  </a:moveTo>
                  <a:lnTo>
                    <a:pt x="280924" y="0"/>
                  </a:lnTo>
                  <a:lnTo>
                    <a:pt x="280924" y="280924"/>
                  </a:lnTo>
                  <a:lnTo>
                    <a:pt x="0" y="280924"/>
                  </a:lnTo>
                  <a:lnTo>
                    <a:pt x="0" y="0"/>
                  </a:lnTo>
                  <a:close/>
                </a:path>
              </a:pathLst>
            </a:custGeom>
            <a:blipFill>
              <a:blip r:embed="rId5"/>
              <a:stretch>
                <a:fillRect r="9" b="9"/>
              </a:stretch>
            </a:blipFill>
          </p:spPr>
          <p:txBody>
            <a:bodyPr/>
            <a:lstStyle/>
            <a:p>
              <a:endParaRPr lang="es-CO"/>
            </a:p>
          </p:txBody>
        </p:sp>
      </p:grpSp>
      <p:grpSp>
        <p:nvGrpSpPr>
          <p:cNvPr id="50" name="Group 50"/>
          <p:cNvGrpSpPr/>
          <p:nvPr/>
        </p:nvGrpSpPr>
        <p:grpSpPr>
          <a:xfrm>
            <a:off x="1936232" y="7454646"/>
            <a:ext cx="6377854" cy="685800"/>
            <a:chOff x="0" y="0"/>
            <a:chExt cx="8503806" cy="914400"/>
          </a:xfrm>
        </p:grpSpPr>
        <p:sp>
          <p:nvSpPr>
            <p:cNvPr id="51" name="Freeform 51"/>
            <p:cNvSpPr/>
            <p:nvPr/>
          </p:nvSpPr>
          <p:spPr>
            <a:xfrm>
              <a:off x="0" y="0"/>
              <a:ext cx="8503800" cy="914400"/>
            </a:xfrm>
            <a:custGeom>
              <a:avLst/>
              <a:gdLst/>
              <a:ahLst/>
              <a:cxnLst/>
              <a:rect l="l" t="t" r="r" b="b"/>
              <a:pathLst>
                <a:path w="8503800" h="914400">
                  <a:moveTo>
                    <a:pt x="0" y="0"/>
                  </a:moveTo>
                  <a:lnTo>
                    <a:pt x="8503800" y="0"/>
                  </a:lnTo>
                  <a:lnTo>
                    <a:pt x="8503800" y="914400"/>
                  </a:lnTo>
                  <a:lnTo>
                    <a:pt x="0" y="914400"/>
                  </a:lnTo>
                  <a:close/>
                </a:path>
              </a:pathLst>
            </a:custGeom>
            <a:blipFill>
              <a:blip r:embed="rId4">
                <a:alphaModFix amt="0"/>
              </a:blip>
              <a:stretch>
                <a:fillRect t="-131208" b="-131208"/>
              </a:stretch>
            </a:blipFill>
          </p:spPr>
          <p:txBody>
            <a:bodyPr/>
            <a:lstStyle/>
            <a:p>
              <a:endParaRPr lang="es-CO"/>
            </a:p>
          </p:txBody>
        </p:sp>
        <p:sp>
          <p:nvSpPr>
            <p:cNvPr id="52" name="TextBox 52"/>
            <p:cNvSpPr txBox="1"/>
            <p:nvPr/>
          </p:nvSpPr>
          <p:spPr>
            <a:xfrm>
              <a:off x="0" y="-38100"/>
              <a:ext cx="8503806" cy="952500"/>
            </a:xfrm>
            <a:prstGeom prst="rect">
              <a:avLst/>
            </a:prstGeom>
          </p:spPr>
          <p:txBody>
            <a:bodyPr lIns="0" tIns="0" rIns="0" bIns="0" rtlCol="0" anchor="ctr"/>
            <a:lstStyle/>
            <a:p>
              <a:pPr algn="l">
                <a:lnSpc>
                  <a:spcPts val="2070"/>
                </a:lnSpc>
              </a:pPr>
              <a:r>
                <a:rPr lang="en-US" sz="1725">
                  <a:solidFill>
                    <a:srgbClr val="22292E"/>
                  </a:solidFill>
                  <a:latin typeface="Calibri (MS)"/>
                  <a:ea typeface="Calibri (MS)"/>
                  <a:cs typeface="Calibri (MS)"/>
                  <a:sym typeface="Calibri (MS)"/>
                </a:rPr>
                <a:t>Sin precencia digital dentro del entorno laboral</a:t>
              </a:r>
            </a:p>
          </p:txBody>
        </p:sp>
      </p:grpSp>
      <p:grpSp>
        <p:nvGrpSpPr>
          <p:cNvPr id="53" name="Group 53"/>
          <p:cNvGrpSpPr/>
          <p:nvPr/>
        </p:nvGrpSpPr>
        <p:grpSpPr>
          <a:xfrm>
            <a:off x="8903960" y="2468880"/>
            <a:ext cx="8572500" cy="6720754"/>
            <a:chOff x="0" y="0"/>
            <a:chExt cx="11430000" cy="8961006"/>
          </a:xfrm>
        </p:grpSpPr>
        <p:sp>
          <p:nvSpPr>
            <p:cNvPr id="54" name="Freeform 54"/>
            <p:cNvSpPr/>
            <p:nvPr/>
          </p:nvSpPr>
          <p:spPr>
            <a:xfrm>
              <a:off x="0" y="0"/>
              <a:ext cx="11430000" cy="8960993"/>
            </a:xfrm>
            <a:custGeom>
              <a:avLst/>
              <a:gdLst/>
              <a:ahLst/>
              <a:cxnLst/>
              <a:rect l="l" t="t" r="r" b="b"/>
              <a:pathLst>
                <a:path w="11430000" h="8960993">
                  <a:moveTo>
                    <a:pt x="0" y="146304"/>
                  </a:moveTo>
                  <a:cubicBezTo>
                    <a:pt x="0" y="65532"/>
                    <a:pt x="65532" y="0"/>
                    <a:pt x="146304" y="0"/>
                  </a:cubicBezTo>
                  <a:lnTo>
                    <a:pt x="11283696" y="0"/>
                  </a:lnTo>
                  <a:cubicBezTo>
                    <a:pt x="11364468" y="0"/>
                    <a:pt x="11430000" y="65532"/>
                    <a:pt x="11430000" y="146304"/>
                  </a:cubicBezTo>
                  <a:lnTo>
                    <a:pt x="11430000" y="8814689"/>
                  </a:lnTo>
                  <a:cubicBezTo>
                    <a:pt x="11430000" y="8895461"/>
                    <a:pt x="11364468" y="8960993"/>
                    <a:pt x="11283696" y="8960993"/>
                  </a:cubicBezTo>
                  <a:lnTo>
                    <a:pt x="146304" y="8960993"/>
                  </a:lnTo>
                  <a:cubicBezTo>
                    <a:pt x="65532" y="8960993"/>
                    <a:pt x="0" y="8895461"/>
                    <a:pt x="0" y="8814689"/>
                  </a:cubicBezTo>
                  <a:close/>
                </a:path>
              </a:pathLst>
            </a:custGeom>
            <a:solidFill>
              <a:srgbClr val="FACEC7"/>
            </a:solidFill>
          </p:spPr>
          <p:txBody>
            <a:bodyPr/>
            <a:lstStyle/>
            <a:p>
              <a:endParaRPr lang="es-CO"/>
            </a:p>
          </p:txBody>
        </p:sp>
      </p:grpSp>
      <p:grpSp>
        <p:nvGrpSpPr>
          <p:cNvPr id="55" name="Group 55"/>
          <p:cNvGrpSpPr/>
          <p:nvPr/>
        </p:nvGrpSpPr>
        <p:grpSpPr>
          <a:xfrm>
            <a:off x="9384020" y="2880360"/>
            <a:ext cx="823046" cy="823046"/>
            <a:chOff x="0" y="0"/>
            <a:chExt cx="1097394" cy="1097394"/>
          </a:xfrm>
        </p:grpSpPr>
        <p:sp>
          <p:nvSpPr>
            <p:cNvPr id="56" name="Freeform 56"/>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C74E3C"/>
            </a:solidFill>
          </p:spPr>
          <p:txBody>
            <a:bodyPr/>
            <a:lstStyle/>
            <a:p>
              <a:endParaRPr lang="es-CO"/>
            </a:p>
          </p:txBody>
        </p:sp>
      </p:grpSp>
      <p:grpSp>
        <p:nvGrpSpPr>
          <p:cNvPr id="57" name="Group 57"/>
          <p:cNvGrpSpPr/>
          <p:nvPr/>
        </p:nvGrpSpPr>
        <p:grpSpPr>
          <a:xfrm>
            <a:off x="10412720" y="2990088"/>
            <a:ext cx="6858000" cy="617400"/>
            <a:chOff x="0" y="0"/>
            <a:chExt cx="9144000" cy="823200"/>
          </a:xfrm>
        </p:grpSpPr>
        <p:sp>
          <p:nvSpPr>
            <p:cNvPr id="58" name="Freeform 58"/>
            <p:cNvSpPr/>
            <p:nvPr/>
          </p:nvSpPr>
          <p:spPr>
            <a:xfrm>
              <a:off x="0" y="0"/>
              <a:ext cx="9144000" cy="823199"/>
            </a:xfrm>
            <a:custGeom>
              <a:avLst/>
              <a:gdLst/>
              <a:ahLst/>
              <a:cxnLst/>
              <a:rect l="l" t="t" r="r" b="b"/>
              <a:pathLst>
                <a:path w="9144000" h="823199">
                  <a:moveTo>
                    <a:pt x="0" y="0"/>
                  </a:moveTo>
                  <a:lnTo>
                    <a:pt x="9144000" y="0"/>
                  </a:lnTo>
                  <a:lnTo>
                    <a:pt x="9144000" y="823199"/>
                  </a:lnTo>
                  <a:lnTo>
                    <a:pt x="0" y="823199"/>
                  </a:lnTo>
                  <a:close/>
                </a:path>
              </a:pathLst>
            </a:custGeom>
            <a:blipFill>
              <a:blip r:embed="rId4">
                <a:alphaModFix amt="0"/>
              </a:blip>
              <a:stretch>
                <a:fillRect t="-166437" b="-166437"/>
              </a:stretch>
            </a:blipFill>
          </p:spPr>
          <p:txBody>
            <a:bodyPr/>
            <a:lstStyle/>
            <a:p>
              <a:endParaRPr lang="es-CO"/>
            </a:p>
          </p:txBody>
        </p:sp>
        <p:sp>
          <p:nvSpPr>
            <p:cNvPr id="59" name="TextBox 59"/>
            <p:cNvSpPr txBox="1"/>
            <p:nvPr/>
          </p:nvSpPr>
          <p:spPr>
            <a:xfrm>
              <a:off x="0" y="-38100"/>
              <a:ext cx="9144000" cy="861300"/>
            </a:xfrm>
            <a:prstGeom prst="rect">
              <a:avLst/>
            </a:prstGeom>
          </p:spPr>
          <p:txBody>
            <a:bodyPr lIns="0" tIns="0" rIns="0" bIns="0" rtlCol="0" anchor="ctr"/>
            <a:lstStyle/>
            <a:p>
              <a:pPr algn="l">
                <a:lnSpc>
                  <a:spcPts val="2879"/>
                </a:lnSpc>
              </a:pPr>
              <a:r>
                <a:rPr lang="en-US" sz="2400" b="1">
                  <a:solidFill>
                    <a:srgbClr val="00304D"/>
                  </a:solidFill>
                  <a:latin typeface="Calibri (MS) Bold"/>
                  <a:ea typeface="Calibri (MS) Bold"/>
                  <a:cs typeface="Calibri (MS) Bold"/>
                  <a:sym typeface="Calibri (MS) Bold"/>
                </a:rPr>
                <a:t>Problema de inventarios</a:t>
              </a:r>
            </a:p>
          </p:txBody>
        </p:sp>
      </p:grpSp>
      <p:grpSp>
        <p:nvGrpSpPr>
          <p:cNvPr id="60" name="Group 60"/>
          <p:cNvGrpSpPr/>
          <p:nvPr/>
        </p:nvGrpSpPr>
        <p:grpSpPr>
          <a:xfrm>
            <a:off x="9384020" y="3909060"/>
            <a:ext cx="7681046" cy="1303200"/>
            <a:chOff x="0" y="0"/>
            <a:chExt cx="10241394" cy="1737600"/>
          </a:xfrm>
        </p:grpSpPr>
        <p:sp>
          <p:nvSpPr>
            <p:cNvPr id="61" name="Freeform 61"/>
            <p:cNvSpPr/>
            <p:nvPr/>
          </p:nvSpPr>
          <p:spPr>
            <a:xfrm>
              <a:off x="0" y="0"/>
              <a:ext cx="10241400" cy="1737599"/>
            </a:xfrm>
            <a:custGeom>
              <a:avLst/>
              <a:gdLst/>
              <a:ahLst/>
              <a:cxnLst/>
              <a:rect l="l" t="t" r="r" b="b"/>
              <a:pathLst>
                <a:path w="10241400" h="1737599">
                  <a:moveTo>
                    <a:pt x="0" y="0"/>
                  </a:moveTo>
                  <a:lnTo>
                    <a:pt x="10241400" y="0"/>
                  </a:lnTo>
                  <a:lnTo>
                    <a:pt x="10241400" y="1737599"/>
                  </a:lnTo>
                  <a:lnTo>
                    <a:pt x="0" y="1737599"/>
                  </a:lnTo>
                  <a:close/>
                </a:path>
              </a:pathLst>
            </a:custGeom>
            <a:blipFill>
              <a:blip r:embed="rId4">
                <a:alphaModFix amt="0"/>
              </a:blip>
              <a:stretch>
                <a:fillRect t="-64844" b="-64844"/>
              </a:stretch>
            </a:blipFill>
          </p:spPr>
          <p:txBody>
            <a:bodyPr/>
            <a:lstStyle/>
            <a:p>
              <a:endParaRPr lang="es-CO"/>
            </a:p>
          </p:txBody>
        </p:sp>
        <p:sp>
          <p:nvSpPr>
            <p:cNvPr id="62" name="TextBox 62"/>
            <p:cNvSpPr txBox="1"/>
            <p:nvPr/>
          </p:nvSpPr>
          <p:spPr>
            <a:xfrm>
              <a:off x="0" y="-38100"/>
              <a:ext cx="10241394" cy="1775700"/>
            </a:xfrm>
            <a:prstGeom prst="rect">
              <a:avLst/>
            </a:prstGeom>
          </p:spPr>
          <p:txBody>
            <a:bodyPr lIns="0" tIns="0" rIns="0" bIns="0" rtlCol="0" anchor="ctr"/>
            <a:lstStyle/>
            <a:p>
              <a:pPr algn="l">
                <a:lnSpc>
                  <a:spcPts val="2250"/>
                </a:lnSpc>
              </a:pPr>
              <a:r>
                <a:rPr lang="en-US" sz="1875">
                  <a:solidFill>
                    <a:srgbClr val="22292E"/>
                  </a:solidFill>
                  <a:latin typeface="Calibri (MS)"/>
                  <a:ea typeface="Calibri (MS)"/>
                  <a:cs typeface="Calibri (MS)"/>
                  <a:sym typeface="Calibri (MS)"/>
                </a:rPr>
                <a:t>El exesivo ingreso de CITAS y INVENTARIOS hizo que se desperdiciara demaciado tiempo y papel en anotar todo a mano</a:t>
              </a:r>
            </a:p>
          </p:txBody>
        </p:sp>
      </p:grpSp>
      <p:grpSp>
        <p:nvGrpSpPr>
          <p:cNvPr id="63" name="Group 63"/>
          <p:cNvGrpSpPr/>
          <p:nvPr/>
        </p:nvGrpSpPr>
        <p:grpSpPr>
          <a:xfrm>
            <a:off x="9384020" y="5417820"/>
            <a:ext cx="7681046" cy="3497399"/>
            <a:chOff x="0" y="0"/>
            <a:chExt cx="10241394" cy="4663199"/>
          </a:xfrm>
        </p:grpSpPr>
        <p:sp>
          <p:nvSpPr>
            <p:cNvPr id="64" name="Freeform 64"/>
            <p:cNvSpPr/>
            <p:nvPr/>
          </p:nvSpPr>
          <p:spPr>
            <a:xfrm>
              <a:off x="0" y="0"/>
              <a:ext cx="10241407" cy="4663186"/>
            </a:xfrm>
            <a:custGeom>
              <a:avLst/>
              <a:gdLst/>
              <a:ahLst/>
              <a:cxnLst/>
              <a:rect l="l" t="t" r="r" b="b"/>
              <a:pathLst>
                <a:path w="10241407" h="4663186">
                  <a:moveTo>
                    <a:pt x="0" y="146304"/>
                  </a:moveTo>
                  <a:cubicBezTo>
                    <a:pt x="0" y="65532"/>
                    <a:pt x="65532" y="0"/>
                    <a:pt x="146304" y="0"/>
                  </a:cubicBezTo>
                  <a:lnTo>
                    <a:pt x="10095103" y="0"/>
                  </a:lnTo>
                  <a:cubicBezTo>
                    <a:pt x="10175875" y="0"/>
                    <a:pt x="10241407" y="65532"/>
                    <a:pt x="10241407" y="146304"/>
                  </a:cubicBezTo>
                  <a:lnTo>
                    <a:pt x="10241407" y="4516882"/>
                  </a:lnTo>
                  <a:cubicBezTo>
                    <a:pt x="10241407" y="4597654"/>
                    <a:pt x="10175875" y="4663186"/>
                    <a:pt x="10095103" y="4663186"/>
                  </a:cubicBezTo>
                  <a:lnTo>
                    <a:pt x="146304" y="4663186"/>
                  </a:lnTo>
                  <a:cubicBezTo>
                    <a:pt x="65532" y="4663186"/>
                    <a:pt x="0" y="4597654"/>
                    <a:pt x="0" y="4516882"/>
                  </a:cubicBezTo>
                  <a:close/>
                </a:path>
              </a:pathLst>
            </a:custGeom>
            <a:solidFill>
              <a:srgbClr val="00304D"/>
            </a:solidFill>
          </p:spPr>
          <p:txBody>
            <a:bodyPr/>
            <a:lstStyle/>
            <a:p>
              <a:endParaRPr lang="es-CO"/>
            </a:p>
          </p:txBody>
        </p:sp>
      </p:grpSp>
      <p:grpSp>
        <p:nvGrpSpPr>
          <p:cNvPr id="65" name="Group 65"/>
          <p:cNvGrpSpPr/>
          <p:nvPr/>
        </p:nvGrpSpPr>
        <p:grpSpPr>
          <a:xfrm>
            <a:off x="9795500" y="5692140"/>
            <a:ext cx="6858000" cy="438750"/>
            <a:chOff x="0" y="0"/>
            <a:chExt cx="9144000" cy="585000"/>
          </a:xfrm>
        </p:grpSpPr>
        <p:sp>
          <p:nvSpPr>
            <p:cNvPr id="66" name="Freeform 66"/>
            <p:cNvSpPr/>
            <p:nvPr/>
          </p:nvSpPr>
          <p:spPr>
            <a:xfrm>
              <a:off x="0" y="0"/>
              <a:ext cx="9144000" cy="585000"/>
            </a:xfrm>
            <a:custGeom>
              <a:avLst/>
              <a:gdLst/>
              <a:ahLst/>
              <a:cxnLst/>
              <a:rect l="l" t="t" r="r" b="b"/>
              <a:pathLst>
                <a:path w="9144000" h="585000">
                  <a:moveTo>
                    <a:pt x="0" y="0"/>
                  </a:moveTo>
                  <a:lnTo>
                    <a:pt x="9144000" y="0"/>
                  </a:lnTo>
                  <a:lnTo>
                    <a:pt x="9144000" y="585000"/>
                  </a:lnTo>
                  <a:lnTo>
                    <a:pt x="0" y="585000"/>
                  </a:lnTo>
                  <a:close/>
                </a:path>
              </a:pathLst>
            </a:custGeom>
            <a:blipFill>
              <a:blip r:embed="rId4">
                <a:alphaModFix amt="0"/>
              </a:blip>
              <a:stretch>
                <a:fillRect t="-254566" b="-254566"/>
              </a:stretch>
            </a:blipFill>
          </p:spPr>
          <p:txBody>
            <a:bodyPr/>
            <a:lstStyle/>
            <a:p>
              <a:endParaRPr lang="es-CO"/>
            </a:p>
          </p:txBody>
        </p:sp>
        <p:sp>
          <p:nvSpPr>
            <p:cNvPr id="67" name="TextBox 67"/>
            <p:cNvSpPr txBox="1"/>
            <p:nvPr/>
          </p:nvSpPr>
          <p:spPr>
            <a:xfrm>
              <a:off x="0" y="-38100"/>
              <a:ext cx="9144000" cy="623100"/>
            </a:xfrm>
            <a:prstGeom prst="rect">
              <a:avLst/>
            </a:prstGeom>
          </p:spPr>
          <p:txBody>
            <a:bodyPr lIns="0" tIns="0" rIns="0" bIns="0" rtlCol="0" anchor="ctr"/>
            <a:lstStyle/>
            <a:p>
              <a:pPr algn="l">
                <a:lnSpc>
                  <a:spcPts val="2160"/>
                </a:lnSpc>
              </a:pPr>
              <a:r>
                <a:rPr lang="en-US" sz="1800" b="1">
                  <a:solidFill>
                    <a:srgbClr val="FACEC7"/>
                  </a:solidFill>
                  <a:latin typeface="Calibri (MS) Bold"/>
                  <a:ea typeface="Calibri (MS) Bold"/>
                  <a:cs typeface="Calibri (MS) Bold"/>
                  <a:sym typeface="Calibri (MS) Bold"/>
                </a:rPr>
                <a:t>SOLUCIÓN PROPUESTA</a:t>
              </a:r>
            </a:p>
          </p:txBody>
        </p:sp>
      </p:grpSp>
      <p:grpSp>
        <p:nvGrpSpPr>
          <p:cNvPr id="68" name="Group 68"/>
          <p:cNvGrpSpPr/>
          <p:nvPr/>
        </p:nvGrpSpPr>
        <p:grpSpPr>
          <a:xfrm>
            <a:off x="9795500" y="6172200"/>
            <a:ext cx="6926399" cy="2537550"/>
            <a:chOff x="0" y="0"/>
            <a:chExt cx="9235199" cy="3383400"/>
          </a:xfrm>
        </p:grpSpPr>
        <p:sp>
          <p:nvSpPr>
            <p:cNvPr id="69" name="Freeform 69"/>
            <p:cNvSpPr/>
            <p:nvPr/>
          </p:nvSpPr>
          <p:spPr>
            <a:xfrm>
              <a:off x="0" y="0"/>
              <a:ext cx="9235200" cy="3383406"/>
            </a:xfrm>
            <a:custGeom>
              <a:avLst/>
              <a:gdLst/>
              <a:ahLst/>
              <a:cxnLst/>
              <a:rect l="l" t="t" r="r" b="b"/>
              <a:pathLst>
                <a:path w="9235200" h="3383406">
                  <a:moveTo>
                    <a:pt x="0" y="0"/>
                  </a:moveTo>
                  <a:lnTo>
                    <a:pt x="9235200" y="0"/>
                  </a:lnTo>
                  <a:lnTo>
                    <a:pt x="9235200" y="3383406"/>
                  </a:lnTo>
                  <a:lnTo>
                    <a:pt x="0" y="3383406"/>
                  </a:lnTo>
                  <a:close/>
                </a:path>
              </a:pathLst>
            </a:custGeom>
            <a:blipFill>
              <a:blip r:embed="rId4">
                <a:alphaModFix amt="0"/>
              </a:blip>
              <a:stretch>
                <a:fillRect t="-3185" b="-3185"/>
              </a:stretch>
            </a:blipFill>
          </p:spPr>
          <p:txBody>
            <a:bodyPr/>
            <a:lstStyle/>
            <a:p>
              <a:endParaRPr lang="es-CO"/>
            </a:p>
          </p:txBody>
        </p:sp>
        <p:sp>
          <p:nvSpPr>
            <p:cNvPr id="70" name="TextBox 70"/>
            <p:cNvSpPr txBox="1"/>
            <p:nvPr/>
          </p:nvSpPr>
          <p:spPr>
            <a:xfrm>
              <a:off x="0" y="-47625"/>
              <a:ext cx="9235199" cy="3431025"/>
            </a:xfrm>
            <a:prstGeom prst="rect">
              <a:avLst/>
            </a:prstGeom>
          </p:spPr>
          <p:txBody>
            <a:bodyPr lIns="0" tIns="0" rIns="0" bIns="0" rtlCol="0" anchor="ctr"/>
            <a:lstStyle/>
            <a:p>
              <a:pPr algn="l">
                <a:lnSpc>
                  <a:spcPts val="2340"/>
                </a:lnSpc>
              </a:pPr>
              <a:r>
                <a:rPr lang="en-US" sz="1950">
                  <a:solidFill>
                    <a:srgbClr val="FFFFFF"/>
                  </a:solidFill>
                  <a:latin typeface="Calibri (MS)"/>
                  <a:ea typeface="Calibri (MS)"/>
                  <a:cs typeface="Calibri (MS)"/>
                  <a:sym typeface="Calibri (MS)"/>
                </a:rPr>
                <a:t>DMI Junta estos procesos en una plataforma web enfocada en el uso de administradores y usuarios simultaneamente en la que se gestionan las necesidades principales de la mecanica</a:t>
              </a:r>
            </a:p>
          </p:txBody>
        </p:sp>
      </p:grpSp>
      <p:grpSp>
        <p:nvGrpSpPr>
          <p:cNvPr id="71" name="Group 71"/>
          <p:cNvGrpSpPr/>
          <p:nvPr/>
        </p:nvGrpSpPr>
        <p:grpSpPr>
          <a:xfrm>
            <a:off x="9497547" y="2993929"/>
            <a:ext cx="595908" cy="595908"/>
            <a:chOff x="0" y="0"/>
            <a:chExt cx="491579" cy="491579"/>
          </a:xfrm>
        </p:grpSpPr>
        <p:sp>
          <p:nvSpPr>
            <p:cNvPr id="72" name="Freeform 72" descr="icons/bullseye.png"/>
            <p:cNvSpPr/>
            <p:nvPr/>
          </p:nvSpPr>
          <p:spPr>
            <a:xfrm>
              <a:off x="0" y="0"/>
              <a:ext cx="491617" cy="491617"/>
            </a:xfrm>
            <a:custGeom>
              <a:avLst/>
              <a:gdLst/>
              <a:ahLst/>
              <a:cxnLst/>
              <a:rect l="l" t="t" r="r" b="b"/>
              <a:pathLst>
                <a:path w="491617" h="491617">
                  <a:moveTo>
                    <a:pt x="0" y="0"/>
                  </a:moveTo>
                  <a:lnTo>
                    <a:pt x="491617" y="0"/>
                  </a:lnTo>
                  <a:lnTo>
                    <a:pt x="491617" y="491617"/>
                  </a:lnTo>
                  <a:lnTo>
                    <a:pt x="0" y="491617"/>
                  </a:lnTo>
                  <a:lnTo>
                    <a:pt x="0" y="0"/>
                  </a:lnTo>
                  <a:close/>
                </a:path>
              </a:pathLst>
            </a:custGeom>
            <a:blipFill>
              <a:blip r:embed="rId6"/>
              <a:stretch>
                <a:fillRect r="7" b="7"/>
              </a:stretch>
            </a:blipFill>
          </p:spPr>
          <p:txBody>
            <a:bodyPr/>
            <a:lstStyle/>
            <a:p>
              <a:endParaRPr lang="es-CO"/>
            </a:p>
          </p:txBody>
        </p:sp>
      </p:grpSp>
      <p:sp>
        <p:nvSpPr>
          <p:cNvPr id="74" name="Rectángulo: esquinas superiores redondeadas 73">
            <a:extLst>
              <a:ext uri="{FF2B5EF4-FFF2-40B4-BE49-F238E27FC236}">
                <a16:creationId xmlns:a16="http://schemas.microsoft.com/office/drawing/2014/main" id="{E4F823DB-047C-B550-01E3-AF3CC58EFD2F}"/>
              </a:ext>
            </a:extLst>
          </p:cNvPr>
          <p:cNvSpPr/>
          <p:nvPr/>
        </p:nvSpPr>
        <p:spPr>
          <a:xfrm>
            <a:off x="7848600" y="9765506"/>
            <a:ext cx="2590800" cy="152400"/>
          </a:xfrm>
          <a:prstGeom prst="round2SameRect">
            <a:avLst/>
          </a:prstGeom>
          <a:solidFill>
            <a:srgbClr val="C0000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576072"/>
            <a:ext cx="13716000" cy="480150"/>
            <a:chOff x="0" y="0"/>
            <a:chExt cx="18288000" cy="640200"/>
          </a:xfrm>
        </p:grpSpPr>
        <p:sp>
          <p:nvSpPr>
            <p:cNvPr id="4" name="Freeform 4"/>
            <p:cNvSpPr/>
            <p:nvPr/>
          </p:nvSpPr>
          <p:spPr>
            <a:xfrm>
              <a:off x="0" y="0"/>
              <a:ext cx="18288000" cy="640206"/>
            </a:xfrm>
            <a:custGeom>
              <a:avLst/>
              <a:gdLst/>
              <a:ahLst/>
              <a:cxnLst/>
              <a:rect l="l" t="t" r="r" b="b"/>
              <a:pathLst>
                <a:path w="18288000" h="640206">
                  <a:moveTo>
                    <a:pt x="0" y="0"/>
                  </a:moveTo>
                  <a:lnTo>
                    <a:pt x="18288000" y="0"/>
                  </a:lnTo>
                  <a:lnTo>
                    <a:pt x="18288000" y="640206"/>
                  </a:lnTo>
                  <a:lnTo>
                    <a:pt x="0" y="640206"/>
                  </a:lnTo>
                  <a:close/>
                </a:path>
              </a:pathLst>
            </a:custGeom>
            <a:blipFill>
              <a:blip r:embed="rId4">
                <a:alphaModFix amt="0"/>
              </a:blip>
              <a:stretch>
                <a:fillRect t="-506606" b="-506605"/>
              </a:stretch>
            </a:blipFill>
          </p:spPr>
          <p:txBody>
            <a:bodyPr/>
            <a:lstStyle/>
            <a:p>
              <a:endParaRPr lang="es-CO"/>
            </a:p>
          </p:txBody>
        </p:sp>
        <p:sp>
          <p:nvSpPr>
            <p:cNvPr id="5" name="TextBox 5"/>
            <p:cNvSpPr txBox="1"/>
            <p:nvPr/>
          </p:nvSpPr>
          <p:spPr>
            <a:xfrm>
              <a:off x="0" y="-47625"/>
              <a:ext cx="18288000" cy="687825"/>
            </a:xfrm>
            <a:prstGeom prst="rect">
              <a:avLst/>
            </a:prstGeom>
          </p:spPr>
          <p:txBody>
            <a:bodyPr lIns="0" tIns="0" rIns="0" bIns="0" rtlCol="0" anchor="ctr"/>
            <a:lstStyle/>
            <a:p>
              <a:pPr algn="l">
                <a:lnSpc>
                  <a:spcPts val="2340"/>
                </a:lnSpc>
              </a:pPr>
              <a:r>
                <a:rPr lang="en-US" sz="1950" b="1">
                  <a:solidFill>
                    <a:srgbClr val="39A900"/>
                  </a:solidFill>
                  <a:latin typeface="Calibri (MS) Bold"/>
                  <a:ea typeface="Calibri (MS) Bold"/>
                  <a:cs typeface="Calibri (MS) Bold"/>
                  <a:sym typeface="Calibri (MS) Bold"/>
                </a:rPr>
                <a:t>¿POR QUÉ ESTE PROYECTO DMI?</a:t>
              </a:r>
            </a:p>
          </p:txBody>
        </p:sp>
      </p:grpSp>
      <p:grpSp>
        <p:nvGrpSpPr>
          <p:cNvPr id="6" name="Group 6"/>
          <p:cNvGrpSpPr/>
          <p:nvPr/>
        </p:nvGrpSpPr>
        <p:grpSpPr>
          <a:xfrm>
            <a:off x="822960" y="987552"/>
            <a:ext cx="16184699" cy="1165946"/>
            <a:chOff x="0" y="0"/>
            <a:chExt cx="21579599" cy="1554594"/>
          </a:xfrm>
        </p:grpSpPr>
        <p:sp>
          <p:nvSpPr>
            <p:cNvPr id="7" name="Freeform 7"/>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8" name="TextBox 8"/>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Justificación</a:t>
              </a:r>
            </a:p>
          </p:txBody>
        </p:sp>
      </p:grpSp>
      <p:grpSp>
        <p:nvGrpSpPr>
          <p:cNvPr id="9" name="Group 9"/>
          <p:cNvGrpSpPr/>
          <p:nvPr/>
        </p:nvGrpSpPr>
        <p:grpSpPr>
          <a:xfrm>
            <a:off x="822960" y="2414301"/>
            <a:ext cx="15910646" cy="2372688"/>
            <a:chOff x="0" y="0"/>
            <a:chExt cx="21214194" cy="3163584"/>
          </a:xfrm>
        </p:grpSpPr>
        <p:sp>
          <p:nvSpPr>
            <p:cNvPr id="10" name="Freeform 10"/>
            <p:cNvSpPr/>
            <p:nvPr/>
          </p:nvSpPr>
          <p:spPr>
            <a:xfrm>
              <a:off x="0" y="0"/>
              <a:ext cx="21214200" cy="3163569"/>
            </a:xfrm>
            <a:custGeom>
              <a:avLst/>
              <a:gdLst/>
              <a:ahLst/>
              <a:cxnLst/>
              <a:rect l="l" t="t" r="r" b="b"/>
              <a:pathLst>
                <a:path w="21214200" h="3163569">
                  <a:moveTo>
                    <a:pt x="0" y="0"/>
                  </a:moveTo>
                  <a:lnTo>
                    <a:pt x="21214200" y="0"/>
                  </a:lnTo>
                  <a:lnTo>
                    <a:pt x="21214200" y="3163569"/>
                  </a:lnTo>
                  <a:lnTo>
                    <a:pt x="0" y="3163569"/>
                  </a:lnTo>
                  <a:close/>
                </a:path>
              </a:pathLst>
            </a:custGeom>
            <a:blipFill>
              <a:blip r:embed="rId4">
                <a:alphaModFix amt="0"/>
              </a:blip>
              <a:stretch>
                <a:fillRect t="-111876" b="-49448"/>
              </a:stretch>
            </a:blipFill>
          </p:spPr>
          <p:txBody>
            <a:bodyPr/>
            <a:lstStyle/>
            <a:p>
              <a:endParaRPr lang="es-CO"/>
            </a:p>
          </p:txBody>
        </p:sp>
        <p:sp>
          <p:nvSpPr>
            <p:cNvPr id="11" name="TextBox 11"/>
            <p:cNvSpPr txBox="1"/>
            <p:nvPr/>
          </p:nvSpPr>
          <p:spPr>
            <a:xfrm>
              <a:off x="0" y="-47625"/>
              <a:ext cx="21214194" cy="3211209"/>
            </a:xfrm>
            <a:prstGeom prst="rect">
              <a:avLst/>
            </a:prstGeom>
          </p:spPr>
          <p:txBody>
            <a:bodyPr lIns="0" tIns="0" rIns="0" bIns="0" rtlCol="0" anchor="ctr"/>
            <a:lstStyle/>
            <a:p>
              <a:pPr algn="l">
                <a:lnSpc>
                  <a:spcPts val="2520"/>
                </a:lnSpc>
              </a:pPr>
              <a:r>
                <a:rPr lang="en-US" sz="2100">
                  <a:solidFill>
                    <a:srgbClr val="22292E"/>
                  </a:solidFill>
                  <a:latin typeface="Calibri (MS)"/>
                  <a:ea typeface="Calibri (MS)"/>
                  <a:cs typeface="Calibri (MS)"/>
                  <a:sym typeface="Calibri (MS)"/>
                </a:rPr>
                <a:t>DMI se justifica por la necesidad de modernizar la gestión de talleres automotrices, facilitando el registro de vehículos, la programación de citas y el control de inventario para mejorar la organización y atención al cliente.</a:t>
              </a:r>
            </a:p>
            <a:p>
              <a:pPr algn="l">
                <a:lnSpc>
                  <a:spcPts val="2520"/>
                </a:lnSpc>
              </a:pPr>
              <a:endParaRPr lang="en-US" sz="2100">
                <a:solidFill>
                  <a:srgbClr val="22292E"/>
                </a:solidFill>
                <a:latin typeface="Calibri (MS)"/>
                <a:ea typeface="Calibri (MS)"/>
                <a:cs typeface="Calibri (MS)"/>
                <a:sym typeface="Calibri (MS)"/>
              </a:endParaRPr>
            </a:p>
            <a:p>
              <a:pPr algn="l">
                <a:lnSpc>
                  <a:spcPts val="2520"/>
                </a:lnSpc>
              </a:pPr>
              <a:endParaRPr lang="en-US" sz="2100">
                <a:solidFill>
                  <a:srgbClr val="22292E"/>
                </a:solidFill>
                <a:latin typeface="Calibri (MS)"/>
                <a:ea typeface="Calibri (MS)"/>
                <a:cs typeface="Calibri (MS)"/>
                <a:sym typeface="Calibri (MS)"/>
              </a:endParaRPr>
            </a:p>
            <a:p>
              <a:pPr algn="l">
                <a:lnSpc>
                  <a:spcPts val="2520"/>
                </a:lnSpc>
              </a:pPr>
              <a:endParaRPr lang="en-US" sz="2100">
                <a:solidFill>
                  <a:srgbClr val="22292E"/>
                </a:solidFill>
                <a:latin typeface="Calibri (MS)"/>
                <a:ea typeface="Calibri (MS)"/>
                <a:cs typeface="Calibri (MS)"/>
                <a:sym typeface="Calibri (MS)"/>
              </a:endParaRPr>
            </a:p>
            <a:p>
              <a:pPr algn="l">
                <a:lnSpc>
                  <a:spcPts val="2520"/>
                </a:lnSpc>
              </a:pPr>
              <a:endParaRPr lang="en-US" sz="2100">
                <a:solidFill>
                  <a:srgbClr val="22292E"/>
                </a:solidFill>
                <a:latin typeface="Calibri (MS)"/>
                <a:ea typeface="Calibri (MS)"/>
                <a:cs typeface="Calibri (MS)"/>
                <a:sym typeface="Calibri (MS)"/>
              </a:endParaRPr>
            </a:p>
            <a:p>
              <a:pPr algn="l">
                <a:lnSpc>
                  <a:spcPts val="2520"/>
                </a:lnSpc>
              </a:pPr>
              <a:endParaRPr lang="en-US" sz="2100">
                <a:solidFill>
                  <a:srgbClr val="22292E"/>
                </a:solidFill>
                <a:latin typeface="Calibri (MS)"/>
                <a:ea typeface="Calibri (MS)"/>
                <a:cs typeface="Calibri (MS)"/>
                <a:sym typeface="Calibri (MS)"/>
              </a:endParaRPr>
            </a:p>
          </p:txBody>
        </p:sp>
      </p:grpSp>
      <p:grpSp>
        <p:nvGrpSpPr>
          <p:cNvPr id="12" name="Group 12"/>
          <p:cNvGrpSpPr/>
          <p:nvPr/>
        </p:nvGrpSpPr>
        <p:grpSpPr>
          <a:xfrm>
            <a:off x="822960" y="3634740"/>
            <a:ext cx="5239350" cy="2537546"/>
            <a:chOff x="0" y="0"/>
            <a:chExt cx="6985800" cy="3383394"/>
          </a:xfrm>
        </p:grpSpPr>
        <p:sp>
          <p:nvSpPr>
            <p:cNvPr id="13" name="Freeform 13"/>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14" name="Group 14"/>
          <p:cNvGrpSpPr/>
          <p:nvPr/>
        </p:nvGrpSpPr>
        <p:grpSpPr>
          <a:xfrm>
            <a:off x="3017520" y="3936492"/>
            <a:ext cx="850497" cy="850497"/>
            <a:chOff x="0" y="0"/>
            <a:chExt cx="1133996" cy="1133996"/>
          </a:xfrm>
        </p:grpSpPr>
        <p:sp>
          <p:nvSpPr>
            <p:cNvPr id="15" name="Freeform 15"/>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16" name="Group 16"/>
          <p:cNvGrpSpPr/>
          <p:nvPr/>
        </p:nvGrpSpPr>
        <p:grpSpPr>
          <a:xfrm>
            <a:off x="3238624" y="4157596"/>
            <a:ext cx="408184" cy="408184"/>
            <a:chOff x="0" y="0"/>
            <a:chExt cx="544246" cy="544246"/>
          </a:xfrm>
        </p:grpSpPr>
        <p:sp>
          <p:nvSpPr>
            <p:cNvPr id="17" name="Freeform 17" descr="icons/cogs.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5"/>
              <a:stretch>
                <a:fillRect r="-9" b="-9"/>
              </a:stretch>
            </a:blipFill>
          </p:spPr>
          <p:txBody>
            <a:bodyPr/>
            <a:lstStyle/>
            <a:p>
              <a:endParaRPr lang="es-CO"/>
            </a:p>
          </p:txBody>
        </p:sp>
      </p:grpSp>
      <p:grpSp>
        <p:nvGrpSpPr>
          <p:cNvPr id="18" name="Group 18"/>
          <p:cNvGrpSpPr/>
          <p:nvPr/>
        </p:nvGrpSpPr>
        <p:grpSpPr>
          <a:xfrm>
            <a:off x="1028700" y="4978908"/>
            <a:ext cx="4828051" cy="480146"/>
            <a:chOff x="0" y="0"/>
            <a:chExt cx="6437401" cy="640194"/>
          </a:xfrm>
        </p:grpSpPr>
        <p:sp>
          <p:nvSpPr>
            <p:cNvPr id="19" name="Freeform 19"/>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20" name="TextBox 20"/>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Modernizar la gestión</a:t>
              </a:r>
            </a:p>
          </p:txBody>
        </p:sp>
      </p:grpSp>
      <p:grpSp>
        <p:nvGrpSpPr>
          <p:cNvPr id="21" name="Group 21"/>
          <p:cNvGrpSpPr/>
          <p:nvPr/>
        </p:nvGrpSpPr>
        <p:grpSpPr>
          <a:xfrm>
            <a:off x="1028700" y="5445252"/>
            <a:ext cx="4828051" cy="685800"/>
            <a:chOff x="0" y="0"/>
            <a:chExt cx="6437401" cy="914400"/>
          </a:xfrm>
        </p:grpSpPr>
        <p:sp>
          <p:nvSpPr>
            <p:cNvPr id="22" name="Freeform 22"/>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23" name="TextBox 23"/>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Organizar productos, ventas e inventario</a:t>
              </a:r>
            </a:p>
          </p:txBody>
        </p:sp>
      </p:grpSp>
      <p:grpSp>
        <p:nvGrpSpPr>
          <p:cNvPr id="24" name="Group 24"/>
          <p:cNvGrpSpPr/>
          <p:nvPr/>
        </p:nvGrpSpPr>
        <p:grpSpPr>
          <a:xfrm>
            <a:off x="6501384" y="3634740"/>
            <a:ext cx="5239350" cy="2537546"/>
            <a:chOff x="0" y="0"/>
            <a:chExt cx="6985800" cy="3383394"/>
          </a:xfrm>
        </p:grpSpPr>
        <p:sp>
          <p:nvSpPr>
            <p:cNvPr id="25" name="Freeform 25"/>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26" name="Group 26"/>
          <p:cNvGrpSpPr/>
          <p:nvPr/>
        </p:nvGrpSpPr>
        <p:grpSpPr>
          <a:xfrm>
            <a:off x="8695944" y="3936492"/>
            <a:ext cx="850497" cy="850497"/>
            <a:chOff x="0" y="0"/>
            <a:chExt cx="1133996" cy="1133996"/>
          </a:xfrm>
        </p:grpSpPr>
        <p:sp>
          <p:nvSpPr>
            <p:cNvPr id="27" name="Freeform 27"/>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28" name="Group 28"/>
          <p:cNvGrpSpPr/>
          <p:nvPr/>
        </p:nvGrpSpPr>
        <p:grpSpPr>
          <a:xfrm>
            <a:off x="8917048" y="4157596"/>
            <a:ext cx="408184" cy="408184"/>
            <a:chOff x="0" y="0"/>
            <a:chExt cx="544246" cy="544246"/>
          </a:xfrm>
        </p:grpSpPr>
        <p:sp>
          <p:nvSpPr>
            <p:cNvPr id="29" name="Freeform 29" descr="icons/check.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6"/>
              <a:stretch>
                <a:fillRect r="-9" b="-9"/>
              </a:stretch>
            </a:blipFill>
          </p:spPr>
          <p:txBody>
            <a:bodyPr/>
            <a:lstStyle/>
            <a:p>
              <a:endParaRPr lang="es-CO"/>
            </a:p>
          </p:txBody>
        </p:sp>
      </p:grpSp>
      <p:grpSp>
        <p:nvGrpSpPr>
          <p:cNvPr id="30" name="Group 30"/>
          <p:cNvGrpSpPr/>
          <p:nvPr/>
        </p:nvGrpSpPr>
        <p:grpSpPr>
          <a:xfrm>
            <a:off x="6707124" y="4978908"/>
            <a:ext cx="4828051" cy="480146"/>
            <a:chOff x="0" y="0"/>
            <a:chExt cx="6437401" cy="640194"/>
          </a:xfrm>
        </p:grpSpPr>
        <p:sp>
          <p:nvSpPr>
            <p:cNvPr id="31" name="Freeform 31"/>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32" name="TextBox 32"/>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Reducir errores</a:t>
              </a:r>
            </a:p>
          </p:txBody>
        </p:sp>
      </p:grpSp>
      <p:grpSp>
        <p:nvGrpSpPr>
          <p:cNvPr id="33" name="Group 33"/>
          <p:cNvGrpSpPr/>
          <p:nvPr/>
        </p:nvGrpSpPr>
        <p:grpSpPr>
          <a:xfrm>
            <a:off x="6707124" y="5445252"/>
            <a:ext cx="4828051" cy="685800"/>
            <a:chOff x="0" y="0"/>
            <a:chExt cx="6437401" cy="914400"/>
          </a:xfrm>
        </p:grpSpPr>
        <p:sp>
          <p:nvSpPr>
            <p:cNvPr id="34" name="Freeform 34"/>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35" name="TextBox 35"/>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Menos fallos por procesos manuales</a:t>
              </a:r>
            </a:p>
          </p:txBody>
        </p:sp>
      </p:grpSp>
      <p:grpSp>
        <p:nvGrpSpPr>
          <p:cNvPr id="36" name="Group 36"/>
          <p:cNvGrpSpPr/>
          <p:nvPr/>
        </p:nvGrpSpPr>
        <p:grpSpPr>
          <a:xfrm>
            <a:off x="12179808" y="3634740"/>
            <a:ext cx="5239350" cy="2537546"/>
            <a:chOff x="0" y="0"/>
            <a:chExt cx="6985800" cy="3383394"/>
          </a:xfrm>
        </p:grpSpPr>
        <p:sp>
          <p:nvSpPr>
            <p:cNvPr id="37" name="Freeform 37"/>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38" name="Group 38"/>
          <p:cNvGrpSpPr/>
          <p:nvPr/>
        </p:nvGrpSpPr>
        <p:grpSpPr>
          <a:xfrm>
            <a:off x="14374368" y="3936492"/>
            <a:ext cx="850497" cy="850497"/>
            <a:chOff x="0" y="0"/>
            <a:chExt cx="1133996" cy="1133996"/>
          </a:xfrm>
        </p:grpSpPr>
        <p:sp>
          <p:nvSpPr>
            <p:cNvPr id="39" name="Freeform 39"/>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40" name="Group 40"/>
          <p:cNvGrpSpPr/>
          <p:nvPr/>
        </p:nvGrpSpPr>
        <p:grpSpPr>
          <a:xfrm>
            <a:off x="14595472" y="4157596"/>
            <a:ext cx="408184" cy="408184"/>
            <a:chOff x="0" y="0"/>
            <a:chExt cx="544246" cy="544246"/>
          </a:xfrm>
        </p:grpSpPr>
        <p:sp>
          <p:nvSpPr>
            <p:cNvPr id="41" name="Freeform 41" descr="icons/mobile.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7"/>
              <a:stretch>
                <a:fillRect r="-9" b="-9"/>
              </a:stretch>
            </a:blipFill>
          </p:spPr>
          <p:txBody>
            <a:bodyPr/>
            <a:lstStyle/>
            <a:p>
              <a:endParaRPr lang="es-CO"/>
            </a:p>
          </p:txBody>
        </p:sp>
      </p:grpSp>
      <p:grpSp>
        <p:nvGrpSpPr>
          <p:cNvPr id="42" name="Group 42"/>
          <p:cNvGrpSpPr/>
          <p:nvPr/>
        </p:nvGrpSpPr>
        <p:grpSpPr>
          <a:xfrm>
            <a:off x="12385548" y="4978908"/>
            <a:ext cx="4828051" cy="480146"/>
            <a:chOff x="0" y="0"/>
            <a:chExt cx="6437401" cy="640194"/>
          </a:xfrm>
        </p:grpSpPr>
        <p:sp>
          <p:nvSpPr>
            <p:cNvPr id="43" name="Freeform 43"/>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44" name="TextBox 44"/>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Compra digital</a:t>
              </a:r>
            </a:p>
          </p:txBody>
        </p:sp>
      </p:grpSp>
      <p:grpSp>
        <p:nvGrpSpPr>
          <p:cNvPr id="45" name="Group 45"/>
          <p:cNvGrpSpPr/>
          <p:nvPr/>
        </p:nvGrpSpPr>
        <p:grpSpPr>
          <a:xfrm>
            <a:off x="12385548" y="5445252"/>
            <a:ext cx="4828051" cy="685800"/>
            <a:chOff x="0" y="0"/>
            <a:chExt cx="6437401" cy="914400"/>
          </a:xfrm>
        </p:grpSpPr>
        <p:sp>
          <p:nvSpPr>
            <p:cNvPr id="46" name="Freeform 46"/>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47" name="TextBox 47"/>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Acceso desde cualquier dispositivo</a:t>
              </a:r>
            </a:p>
          </p:txBody>
        </p:sp>
      </p:grpSp>
      <p:grpSp>
        <p:nvGrpSpPr>
          <p:cNvPr id="48" name="Group 48"/>
          <p:cNvGrpSpPr/>
          <p:nvPr/>
        </p:nvGrpSpPr>
        <p:grpSpPr>
          <a:xfrm>
            <a:off x="822960" y="6556248"/>
            <a:ext cx="5239350" cy="2537546"/>
            <a:chOff x="0" y="0"/>
            <a:chExt cx="6985800" cy="3383394"/>
          </a:xfrm>
        </p:grpSpPr>
        <p:sp>
          <p:nvSpPr>
            <p:cNvPr id="49" name="Freeform 49"/>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50" name="Group 50"/>
          <p:cNvGrpSpPr/>
          <p:nvPr/>
        </p:nvGrpSpPr>
        <p:grpSpPr>
          <a:xfrm>
            <a:off x="3017520" y="6858000"/>
            <a:ext cx="850497" cy="850497"/>
            <a:chOff x="0" y="0"/>
            <a:chExt cx="1133996" cy="1133996"/>
          </a:xfrm>
        </p:grpSpPr>
        <p:sp>
          <p:nvSpPr>
            <p:cNvPr id="51" name="Freeform 51"/>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52" name="Group 52"/>
          <p:cNvGrpSpPr/>
          <p:nvPr/>
        </p:nvGrpSpPr>
        <p:grpSpPr>
          <a:xfrm>
            <a:off x="3238624" y="7079104"/>
            <a:ext cx="408184" cy="408184"/>
            <a:chOff x="0" y="0"/>
            <a:chExt cx="544246" cy="544246"/>
          </a:xfrm>
        </p:grpSpPr>
        <p:sp>
          <p:nvSpPr>
            <p:cNvPr id="53" name="Freeform 53" descr="icons/leaf.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8"/>
              <a:stretch>
                <a:fillRect r="-9" b="-9"/>
              </a:stretch>
            </a:blipFill>
          </p:spPr>
          <p:txBody>
            <a:bodyPr/>
            <a:lstStyle/>
            <a:p>
              <a:endParaRPr lang="es-CO"/>
            </a:p>
          </p:txBody>
        </p:sp>
      </p:grpSp>
      <p:grpSp>
        <p:nvGrpSpPr>
          <p:cNvPr id="54" name="Group 54"/>
          <p:cNvGrpSpPr/>
          <p:nvPr/>
        </p:nvGrpSpPr>
        <p:grpSpPr>
          <a:xfrm>
            <a:off x="1028700" y="7900416"/>
            <a:ext cx="4828051" cy="480146"/>
            <a:chOff x="0" y="0"/>
            <a:chExt cx="6437401" cy="640194"/>
          </a:xfrm>
        </p:grpSpPr>
        <p:sp>
          <p:nvSpPr>
            <p:cNvPr id="55" name="Freeform 55"/>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56" name="TextBox 56"/>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Cuidado ambiental</a:t>
              </a:r>
            </a:p>
          </p:txBody>
        </p:sp>
      </p:grpSp>
      <p:grpSp>
        <p:nvGrpSpPr>
          <p:cNvPr id="57" name="Group 57"/>
          <p:cNvGrpSpPr/>
          <p:nvPr/>
        </p:nvGrpSpPr>
        <p:grpSpPr>
          <a:xfrm>
            <a:off x="1028700" y="8366760"/>
            <a:ext cx="4828051" cy="685800"/>
            <a:chOff x="0" y="0"/>
            <a:chExt cx="6437401" cy="914400"/>
          </a:xfrm>
        </p:grpSpPr>
        <p:sp>
          <p:nvSpPr>
            <p:cNvPr id="58" name="Freeform 58"/>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59" name="TextBox 59"/>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Fomenta la reduccion del uso del papel</a:t>
              </a:r>
            </a:p>
          </p:txBody>
        </p:sp>
      </p:grpSp>
      <p:grpSp>
        <p:nvGrpSpPr>
          <p:cNvPr id="60" name="Group 60"/>
          <p:cNvGrpSpPr/>
          <p:nvPr/>
        </p:nvGrpSpPr>
        <p:grpSpPr>
          <a:xfrm>
            <a:off x="6501384" y="6556248"/>
            <a:ext cx="5239350" cy="2537546"/>
            <a:chOff x="0" y="0"/>
            <a:chExt cx="6985800" cy="3383394"/>
          </a:xfrm>
        </p:grpSpPr>
        <p:sp>
          <p:nvSpPr>
            <p:cNvPr id="61" name="Freeform 61"/>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62" name="Group 62"/>
          <p:cNvGrpSpPr/>
          <p:nvPr/>
        </p:nvGrpSpPr>
        <p:grpSpPr>
          <a:xfrm>
            <a:off x="8695944" y="6858000"/>
            <a:ext cx="850497" cy="850497"/>
            <a:chOff x="0" y="0"/>
            <a:chExt cx="1133996" cy="1133996"/>
          </a:xfrm>
        </p:grpSpPr>
        <p:sp>
          <p:nvSpPr>
            <p:cNvPr id="63" name="Freeform 63"/>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64" name="Group 64"/>
          <p:cNvGrpSpPr/>
          <p:nvPr/>
        </p:nvGrpSpPr>
        <p:grpSpPr>
          <a:xfrm>
            <a:off x="8917048" y="7079104"/>
            <a:ext cx="408184" cy="408184"/>
            <a:chOff x="0" y="0"/>
            <a:chExt cx="544246" cy="544246"/>
          </a:xfrm>
        </p:grpSpPr>
        <p:sp>
          <p:nvSpPr>
            <p:cNvPr id="65" name="Freeform 65" descr="icons/chart.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9"/>
              <a:stretch>
                <a:fillRect r="-9" b="-9"/>
              </a:stretch>
            </a:blipFill>
          </p:spPr>
          <p:txBody>
            <a:bodyPr/>
            <a:lstStyle/>
            <a:p>
              <a:endParaRPr lang="es-CO"/>
            </a:p>
          </p:txBody>
        </p:sp>
      </p:grpSp>
      <p:grpSp>
        <p:nvGrpSpPr>
          <p:cNvPr id="66" name="Group 66"/>
          <p:cNvGrpSpPr/>
          <p:nvPr/>
        </p:nvGrpSpPr>
        <p:grpSpPr>
          <a:xfrm>
            <a:off x="6707124" y="7900416"/>
            <a:ext cx="4828051" cy="480146"/>
            <a:chOff x="0" y="0"/>
            <a:chExt cx="6437401" cy="640194"/>
          </a:xfrm>
        </p:grpSpPr>
        <p:sp>
          <p:nvSpPr>
            <p:cNvPr id="67" name="Freeform 67"/>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68" name="TextBox 68"/>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Mejor administración</a:t>
              </a:r>
            </a:p>
          </p:txBody>
        </p:sp>
      </p:grpSp>
      <p:grpSp>
        <p:nvGrpSpPr>
          <p:cNvPr id="69" name="Group 69"/>
          <p:cNvGrpSpPr/>
          <p:nvPr/>
        </p:nvGrpSpPr>
        <p:grpSpPr>
          <a:xfrm>
            <a:off x="6707124" y="8366760"/>
            <a:ext cx="4828051" cy="685800"/>
            <a:chOff x="0" y="0"/>
            <a:chExt cx="6437401" cy="914400"/>
          </a:xfrm>
        </p:grpSpPr>
        <p:sp>
          <p:nvSpPr>
            <p:cNvPr id="70" name="Freeform 70"/>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71" name="TextBox 71"/>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Mayor control e incremento de ventas</a:t>
              </a:r>
            </a:p>
          </p:txBody>
        </p:sp>
      </p:grpSp>
      <p:grpSp>
        <p:nvGrpSpPr>
          <p:cNvPr id="72" name="Group 72"/>
          <p:cNvGrpSpPr/>
          <p:nvPr/>
        </p:nvGrpSpPr>
        <p:grpSpPr>
          <a:xfrm>
            <a:off x="12179808" y="6556248"/>
            <a:ext cx="5239350" cy="2537546"/>
            <a:chOff x="0" y="0"/>
            <a:chExt cx="6985800" cy="3383394"/>
          </a:xfrm>
        </p:grpSpPr>
        <p:sp>
          <p:nvSpPr>
            <p:cNvPr id="73" name="Freeform 73"/>
            <p:cNvSpPr/>
            <p:nvPr/>
          </p:nvSpPr>
          <p:spPr>
            <a:xfrm>
              <a:off x="0" y="0"/>
              <a:ext cx="6985762" cy="3383407"/>
            </a:xfrm>
            <a:custGeom>
              <a:avLst/>
              <a:gdLst/>
              <a:ahLst/>
              <a:cxnLst/>
              <a:rect l="l" t="t" r="r" b="b"/>
              <a:pathLst>
                <a:path w="6985762" h="3383407">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txBody>
            <a:bodyPr/>
            <a:lstStyle/>
            <a:p>
              <a:endParaRPr lang="es-CO"/>
            </a:p>
          </p:txBody>
        </p:sp>
      </p:grpSp>
      <p:grpSp>
        <p:nvGrpSpPr>
          <p:cNvPr id="74" name="Group 74"/>
          <p:cNvGrpSpPr/>
          <p:nvPr/>
        </p:nvGrpSpPr>
        <p:grpSpPr>
          <a:xfrm>
            <a:off x="14374368" y="6858000"/>
            <a:ext cx="850497" cy="850497"/>
            <a:chOff x="0" y="0"/>
            <a:chExt cx="1133996" cy="1133996"/>
          </a:xfrm>
        </p:grpSpPr>
        <p:sp>
          <p:nvSpPr>
            <p:cNvPr id="75" name="Freeform 75"/>
            <p:cNvSpPr/>
            <p:nvPr/>
          </p:nvSpPr>
          <p:spPr>
            <a:xfrm>
              <a:off x="0" y="0"/>
              <a:ext cx="1133983" cy="1133983"/>
            </a:xfrm>
            <a:custGeom>
              <a:avLst/>
              <a:gdLst/>
              <a:ahLst/>
              <a:cxnLst/>
              <a:rect l="l" t="t" r="r" b="b"/>
              <a:pathLst>
                <a:path w="1133983" h="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txBody>
            <a:bodyPr/>
            <a:lstStyle/>
            <a:p>
              <a:endParaRPr lang="es-CO"/>
            </a:p>
          </p:txBody>
        </p:sp>
      </p:grpSp>
      <p:grpSp>
        <p:nvGrpSpPr>
          <p:cNvPr id="76" name="Group 76"/>
          <p:cNvGrpSpPr/>
          <p:nvPr/>
        </p:nvGrpSpPr>
        <p:grpSpPr>
          <a:xfrm>
            <a:off x="14595472" y="7079104"/>
            <a:ext cx="408184" cy="408184"/>
            <a:chOff x="0" y="0"/>
            <a:chExt cx="544246" cy="544246"/>
          </a:xfrm>
        </p:grpSpPr>
        <p:sp>
          <p:nvSpPr>
            <p:cNvPr id="77" name="Freeform 77" descr="icons/shield.png"/>
            <p:cNvSpPr/>
            <p:nvPr/>
          </p:nvSpPr>
          <p:spPr>
            <a:xfrm>
              <a:off x="0" y="0"/>
              <a:ext cx="544195" cy="544195"/>
            </a:xfrm>
            <a:custGeom>
              <a:avLst/>
              <a:gdLst/>
              <a:ahLst/>
              <a:cxnLst/>
              <a:rect l="l" t="t" r="r" b="b"/>
              <a:pathLst>
                <a:path w="544195" h="544195">
                  <a:moveTo>
                    <a:pt x="0" y="0"/>
                  </a:moveTo>
                  <a:lnTo>
                    <a:pt x="544195" y="0"/>
                  </a:lnTo>
                  <a:lnTo>
                    <a:pt x="544195" y="544195"/>
                  </a:lnTo>
                  <a:lnTo>
                    <a:pt x="0" y="544195"/>
                  </a:lnTo>
                  <a:lnTo>
                    <a:pt x="0" y="0"/>
                  </a:lnTo>
                  <a:close/>
                </a:path>
              </a:pathLst>
            </a:custGeom>
            <a:blipFill>
              <a:blip r:embed="rId10"/>
              <a:stretch>
                <a:fillRect r="-9" b="-9"/>
              </a:stretch>
            </a:blipFill>
          </p:spPr>
          <p:txBody>
            <a:bodyPr/>
            <a:lstStyle/>
            <a:p>
              <a:endParaRPr lang="es-CO"/>
            </a:p>
          </p:txBody>
        </p:sp>
      </p:grpSp>
      <p:grpSp>
        <p:nvGrpSpPr>
          <p:cNvPr id="78" name="Group 78"/>
          <p:cNvGrpSpPr/>
          <p:nvPr/>
        </p:nvGrpSpPr>
        <p:grpSpPr>
          <a:xfrm>
            <a:off x="12385548" y="7900416"/>
            <a:ext cx="4828051" cy="480146"/>
            <a:chOff x="0" y="0"/>
            <a:chExt cx="6437401" cy="640194"/>
          </a:xfrm>
        </p:grpSpPr>
        <p:sp>
          <p:nvSpPr>
            <p:cNvPr id="79" name="Freeform 79"/>
            <p:cNvSpPr/>
            <p:nvPr/>
          </p:nvSpPr>
          <p:spPr>
            <a:xfrm>
              <a:off x="0" y="0"/>
              <a:ext cx="6437400" cy="640200"/>
            </a:xfrm>
            <a:custGeom>
              <a:avLst/>
              <a:gdLst/>
              <a:ahLst/>
              <a:cxnLst/>
              <a:rect l="l" t="t" r="r" b="b"/>
              <a:pathLst>
                <a:path w="6437400" h="640200">
                  <a:moveTo>
                    <a:pt x="0" y="0"/>
                  </a:moveTo>
                  <a:lnTo>
                    <a:pt x="6437400" y="0"/>
                  </a:lnTo>
                  <a:lnTo>
                    <a:pt x="6437400" y="640200"/>
                  </a:lnTo>
                  <a:lnTo>
                    <a:pt x="0" y="640200"/>
                  </a:lnTo>
                  <a:close/>
                </a:path>
              </a:pathLst>
            </a:custGeom>
            <a:blipFill>
              <a:blip r:embed="rId4">
                <a:alphaModFix amt="0"/>
              </a:blip>
              <a:stretch>
                <a:fillRect t="-145928" b="-145927"/>
              </a:stretch>
            </a:blipFill>
          </p:spPr>
          <p:txBody>
            <a:bodyPr/>
            <a:lstStyle/>
            <a:p>
              <a:endParaRPr lang="es-CO"/>
            </a:p>
          </p:txBody>
        </p:sp>
        <p:sp>
          <p:nvSpPr>
            <p:cNvPr id="80" name="TextBox 80"/>
            <p:cNvSpPr txBox="1"/>
            <p:nvPr/>
          </p:nvSpPr>
          <p:spPr>
            <a:xfrm>
              <a:off x="0" y="-47625"/>
              <a:ext cx="6437401" cy="687819"/>
            </a:xfrm>
            <a:prstGeom prst="rect">
              <a:avLst/>
            </a:prstGeom>
          </p:spPr>
          <p:txBody>
            <a:bodyPr lIns="0" tIns="0" rIns="0" bIns="0" rtlCol="0" anchor="ctr"/>
            <a:lstStyle/>
            <a:p>
              <a:pPr algn="ctr">
                <a:lnSpc>
                  <a:spcPts val="2340"/>
                </a:lnSpc>
              </a:pPr>
              <a:r>
                <a:rPr lang="en-US" sz="1950" b="1">
                  <a:solidFill>
                    <a:srgbClr val="00304D"/>
                  </a:solidFill>
                  <a:latin typeface="Calibri (MS) Bold"/>
                  <a:ea typeface="Calibri (MS) Bold"/>
                  <a:cs typeface="Calibri (MS) Bold"/>
                  <a:sym typeface="Calibri (MS) Bold"/>
                </a:rPr>
                <a:t>Confianza del cliente</a:t>
              </a:r>
            </a:p>
          </p:txBody>
        </p:sp>
      </p:grpSp>
      <p:grpSp>
        <p:nvGrpSpPr>
          <p:cNvPr id="81" name="Group 81"/>
          <p:cNvGrpSpPr/>
          <p:nvPr/>
        </p:nvGrpSpPr>
        <p:grpSpPr>
          <a:xfrm>
            <a:off x="12385548" y="8366760"/>
            <a:ext cx="4828051" cy="685800"/>
            <a:chOff x="0" y="0"/>
            <a:chExt cx="6437401" cy="914400"/>
          </a:xfrm>
        </p:grpSpPr>
        <p:sp>
          <p:nvSpPr>
            <p:cNvPr id="82" name="Freeform 82"/>
            <p:cNvSpPr/>
            <p:nvPr/>
          </p:nvSpPr>
          <p:spPr>
            <a:xfrm>
              <a:off x="0" y="0"/>
              <a:ext cx="6437400" cy="914400"/>
            </a:xfrm>
            <a:custGeom>
              <a:avLst/>
              <a:gdLst/>
              <a:ahLst/>
              <a:cxnLst/>
              <a:rect l="l" t="t" r="r" b="b"/>
              <a:pathLst>
                <a:path w="6437400" h="914400">
                  <a:moveTo>
                    <a:pt x="0" y="0"/>
                  </a:moveTo>
                  <a:lnTo>
                    <a:pt x="6437400" y="0"/>
                  </a:lnTo>
                  <a:lnTo>
                    <a:pt x="6437400" y="914400"/>
                  </a:lnTo>
                  <a:lnTo>
                    <a:pt x="0" y="914400"/>
                  </a:lnTo>
                  <a:close/>
                </a:path>
              </a:pathLst>
            </a:custGeom>
            <a:blipFill>
              <a:blip r:embed="rId4">
                <a:alphaModFix amt="0"/>
              </a:blip>
              <a:stretch>
                <a:fillRect t="-87175" b="-87175"/>
              </a:stretch>
            </a:blipFill>
          </p:spPr>
          <p:txBody>
            <a:bodyPr/>
            <a:lstStyle/>
            <a:p>
              <a:endParaRPr lang="es-CO"/>
            </a:p>
          </p:txBody>
        </p:sp>
        <p:sp>
          <p:nvSpPr>
            <p:cNvPr id="83" name="TextBox 83"/>
            <p:cNvSpPr txBox="1"/>
            <p:nvPr/>
          </p:nvSpPr>
          <p:spPr>
            <a:xfrm>
              <a:off x="0" y="-19050"/>
              <a:ext cx="6437401" cy="933450"/>
            </a:xfrm>
            <a:prstGeom prst="rect">
              <a:avLst/>
            </a:prstGeom>
          </p:spPr>
          <p:txBody>
            <a:bodyPr lIns="0" tIns="0" rIns="0" bIns="0" rtlCol="0" anchor="ctr"/>
            <a:lstStyle/>
            <a:p>
              <a:pPr algn="ctr">
                <a:lnSpc>
                  <a:spcPts val="1889"/>
                </a:lnSpc>
              </a:pPr>
              <a:r>
                <a:rPr lang="en-US" sz="1575">
                  <a:solidFill>
                    <a:srgbClr val="5B6670"/>
                  </a:solidFill>
                  <a:latin typeface="Calibri (MS)"/>
                  <a:ea typeface="Calibri (MS)"/>
                  <a:cs typeface="Calibri (MS)"/>
                  <a:sym typeface="Calibri (MS)"/>
                </a:rPr>
                <a:t>Información clara y transparente</a:t>
              </a:r>
            </a:p>
          </p:txBody>
        </p:sp>
      </p:grpSp>
      <p:sp>
        <p:nvSpPr>
          <p:cNvPr id="85" name="Rectángulo: esquinas superiores redondeadas 84">
            <a:extLst>
              <a:ext uri="{FF2B5EF4-FFF2-40B4-BE49-F238E27FC236}">
                <a16:creationId xmlns:a16="http://schemas.microsoft.com/office/drawing/2014/main" id="{75C7C6CA-42C1-545C-E121-09F543500560}"/>
              </a:ext>
            </a:extLst>
          </p:cNvPr>
          <p:cNvSpPr/>
          <p:nvPr/>
        </p:nvSpPr>
        <p:spPr>
          <a:xfrm>
            <a:off x="7848600" y="9765506"/>
            <a:ext cx="2590800" cy="152400"/>
          </a:xfrm>
          <a:prstGeom prst="round2SameRect">
            <a:avLst/>
          </a:prstGeom>
          <a:solidFill>
            <a:srgbClr val="00B05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22960" y="576072"/>
            <a:ext cx="13716000" cy="480146"/>
            <a:chOff x="0" y="0"/>
            <a:chExt cx="18288000" cy="640194"/>
          </a:xfrm>
        </p:grpSpPr>
        <p:sp>
          <p:nvSpPr>
            <p:cNvPr id="3" name="Freeform 3"/>
            <p:cNvSpPr/>
            <p:nvPr/>
          </p:nvSpPr>
          <p:spPr>
            <a:xfrm>
              <a:off x="0" y="0"/>
              <a:ext cx="18288000" cy="640200"/>
            </a:xfrm>
            <a:custGeom>
              <a:avLst/>
              <a:gdLst/>
              <a:ahLst/>
              <a:cxnLst/>
              <a:rect l="l" t="t" r="r" b="b"/>
              <a:pathLst>
                <a:path w="18288000" h="640200">
                  <a:moveTo>
                    <a:pt x="0" y="0"/>
                  </a:moveTo>
                  <a:lnTo>
                    <a:pt x="18288000" y="0"/>
                  </a:lnTo>
                  <a:lnTo>
                    <a:pt x="18288000" y="640200"/>
                  </a:lnTo>
                  <a:lnTo>
                    <a:pt x="0" y="640200"/>
                  </a:lnTo>
                  <a:close/>
                </a:path>
              </a:pathLst>
            </a:custGeom>
            <a:blipFill>
              <a:blip r:embed="rId3">
                <a:alphaModFix amt="0"/>
              </a:blip>
              <a:stretch>
                <a:fillRect t="-506611" b="-506610"/>
              </a:stretch>
            </a:blipFill>
          </p:spPr>
          <p:txBody>
            <a:bodyPr/>
            <a:lstStyle/>
            <a:p>
              <a:endParaRPr lang="es-CO"/>
            </a:p>
          </p:txBody>
        </p:sp>
        <p:sp>
          <p:nvSpPr>
            <p:cNvPr id="4" name="TextBox 4"/>
            <p:cNvSpPr txBox="1"/>
            <p:nvPr/>
          </p:nvSpPr>
          <p:spPr>
            <a:xfrm>
              <a:off x="0" y="-47625"/>
              <a:ext cx="18288000" cy="687819"/>
            </a:xfrm>
            <a:prstGeom prst="rect">
              <a:avLst/>
            </a:prstGeom>
          </p:spPr>
          <p:txBody>
            <a:bodyPr lIns="0" tIns="0" rIns="0" bIns="0" rtlCol="0" anchor="ctr"/>
            <a:lstStyle/>
            <a:p>
              <a:pPr algn="l">
                <a:lnSpc>
                  <a:spcPts val="2340"/>
                </a:lnSpc>
              </a:pPr>
              <a:r>
                <a:rPr lang="en-US" sz="1950" b="1">
                  <a:solidFill>
                    <a:srgbClr val="39A900"/>
                  </a:solidFill>
                  <a:latin typeface="Calibri (MS) Bold"/>
                  <a:ea typeface="Calibri (MS) Bold"/>
                  <a:cs typeface="Calibri (MS) Bold"/>
                  <a:sym typeface="Calibri (MS) Bold"/>
                </a:rPr>
                <a:t>METAS DEL PROYECTO</a:t>
              </a:r>
            </a:p>
          </p:txBody>
        </p:sp>
      </p:grpSp>
      <p:grpSp>
        <p:nvGrpSpPr>
          <p:cNvPr id="5" name="Group 5"/>
          <p:cNvGrpSpPr/>
          <p:nvPr/>
        </p:nvGrpSpPr>
        <p:grpSpPr>
          <a:xfrm>
            <a:off x="822960" y="987552"/>
            <a:ext cx="16184699" cy="1165946"/>
            <a:chOff x="0" y="0"/>
            <a:chExt cx="21579599" cy="1554594"/>
          </a:xfrm>
        </p:grpSpPr>
        <p:sp>
          <p:nvSpPr>
            <p:cNvPr id="6" name="Freeform 6"/>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3">
                <a:alphaModFix amt="0"/>
              </a:blip>
              <a:stretch>
                <a:fillRect t="-220474" b="-220474"/>
              </a:stretch>
            </a:blipFill>
          </p:spPr>
          <p:txBody>
            <a:bodyPr/>
            <a:lstStyle/>
            <a:p>
              <a:endParaRPr lang="es-CO"/>
            </a:p>
          </p:txBody>
        </p:sp>
        <p:sp>
          <p:nvSpPr>
            <p:cNvPr id="7" name="TextBox 7"/>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Objetivos</a:t>
              </a:r>
            </a:p>
          </p:txBody>
        </p:sp>
      </p:grpSp>
      <p:grpSp>
        <p:nvGrpSpPr>
          <p:cNvPr id="8" name="Group 8"/>
          <p:cNvGrpSpPr/>
          <p:nvPr/>
        </p:nvGrpSpPr>
        <p:grpSpPr>
          <a:xfrm>
            <a:off x="822960" y="2468880"/>
            <a:ext cx="15910646" cy="1577254"/>
            <a:chOff x="0" y="0"/>
            <a:chExt cx="21214194" cy="2103006"/>
          </a:xfrm>
        </p:grpSpPr>
        <p:sp>
          <p:nvSpPr>
            <p:cNvPr id="9" name="Freeform 9"/>
            <p:cNvSpPr/>
            <p:nvPr/>
          </p:nvSpPr>
          <p:spPr>
            <a:xfrm>
              <a:off x="0" y="0"/>
              <a:ext cx="21214207" cy="2102993"/>
            </a:xfrm>
            <a:custGeom>
              <a:avLst/>
              <a:gdLst/>
              <a:ahLst/>
              <a:cxnLst/>
              <a:rect l="l" t="t" r="r" b="b"/>
              <a:pathLst>
                <a:path w="21214207" h="2102993">
                  <a:moveTo>
                    <a:pt x="0" y="146304"/>
                  </a:moveTo>
                  <a:cubicBezTo>
                    <a:pt x="0" y="65532"/>
                    <a:pt x="65532" y="0"/>
                    <a:pt x="146304" y="0"/>
                  </a:cubicBezTo>
                  <a:lnTo>
                    <a:pt x="21067903" y="0"/>
                  </a:lnTo>
                  <a:cubicBezTo>
                    <a:pt x="21148675" y="0"/>
                    <a:pt x="21214207" y="65532"/>
                    <a:pt x="21214207" y="146304"/>
                  </a:cubicBezTo>
                  <a:lnTo>
                    <a:pt x="21214207" y="1956689"/>
                  </a:lnTo>
                  <a:cubicBezTo>
                    <a:pt x="21214207" y="2037461"/>
                    <a:pt x="21148675" y="2102993"/>
                    <a:pt x="21067903" y="2102993"/>
                  </a:cubicBezTo>
                  <a:lnTo>
                    <a:pt x="146304" y="2102993"/>
                  </a:lnTo>
                  <a:cubicBezTo>
                    <a:pt x="65532" y="2102993"/>
                    <a:pt x="0" y="2037461"/>
                    <a:pt x="0" y="1956689"/>
                  </a:cubicBezTo>
                  <a:close/>
                </a:path>
              </a:pathLst>
            </a:custGeom>
            <a:solidFill>
              <a:srgbClr val="00304D"/>
            </a:solidFill>
          </p:spPr>
          <p:txBody>
            <a:bodyPr/>
            <a:lstStyle/>
            <a:p>
              <a:endParaRPr lang="es-CO"/>
            </a:p>
          </p:txBody>
        </p:sp>
      </p:grpSp>
      <p:grpSp>
        <p:nvGrpSpPr>
          <p:cNvPr id="10" name="Group 10"/>
          <p:cNvGrpSpPr/>
          <p:nvPr/>
        </p:nvGrpSpPr>
        <p:grpSpPr>
          <a:xfrm>
            <a:off x="1303020" y="2811780"/>
            <a:ext cx="891454" cy="891454"/>
            <a:chOff x="0" y="0"/>
            <a:chExt cx="1188606" cy="1188606"/>
          </a:xfrm>
        </p:grpSpPr>
        <p:sp>
          <p:nvSpPr>
            <p:cNvPr id="11" name="Freeform 11"/>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txBody>
            <a:bodyPr/>
            <a:lstStyle/>
            <a:p>
              <a:endParaRPr lang="es-CO"/>
            </a:p>
          </p:txBody>
        </p:sp>
      </p:grpSp>
      <p:grpSp>
        <p:nvGrpSpPr>
          <p:cNvPr id="12" name="Group 12"/>
          <p:cNvGrpSpPr/>
          <p:nvPr/>
        </p:nvGrpSpPr>
        <p:grpSpPr>
          <a:xfrm>
            <a:off x="1534820" y="3043580"/>
            <a:ext cx="427939" cy="427939"/>
            <a:chOff x="0" y="0"/>
            <a:chExt cx="570586" cy="570586"/>
          </a:xfrm>
        </p:grpSpPr>
        <p:sp>
          <p:nvSpPr>
            <p:cNvPr id="13" name="Freeform 13" descr="icons/bullseye.png"/>
            <p:cNvSpPr/>
            <p:nvPr/>
          </p:nvSpPr>
          <p:spPr>
            <a:xfrm>
              <a:off x="0" y="0"/>
              <a:ext cx="570611" cy="570611"/>
            </a:xfrm>
            <a:custGeom>
              <a:avLst/>
              <a:gdLst/>
              <a:ahLst/>
              <a:cxnLst/>
              <a:rect l="l" t="t" r="r" b="b"/>
              <a:pathLst>
                <a:path w="570611" h="570611">
                  <a:moveTo>
                    <a:pt x="0" y="0"/>
                  </a:moveTo>
                  <a:lnTo>
                    <a:pt x="570611" y="0"/>
                  </a:lnTo>
                  <a:lnTo>
                    <a:pt x="570611" y="570611"/>
                  </a:lnTo>
                  <a:lnTo>
                    <a:pt x="0" y="570611"/>
                  </a:lnTo>
                  <a:lnTo>
                    <a:pt x="0" y="0"/>
                  </a:lnTo>
                  <a:close/>
                </a:path>
              </a:pathLst>
            </a:custGeom>
            <a:blipFill>
              <a:blip r:embed="rId4"/>
              <a:stretch>
                <a:fillRect r="4" b="4"/>
              </a:stretch>
            </a:blipFill>
          </p:spPr>
          <p:txBody>
            <a:bodyPr/>
            <a:lstStyle/>
            <a:p>
              <a:endParaRPr lang="es-CO"/>
            </a:p>
          </p:txBody>
        </p:sp>
      </p:grpSp>
      <p:grpSp>
        <p:nvGrpSpPr>
          <p:cNvPr id="14" name="Group 14"/>
          <p:cNvGrpSpPr/>
          <p:nvPr/>
        </p:nvGrpSpPr>
        <p:grpSpPr>
          <a:xfrm>
            <a:off x="2457907" y="2517019"/>
            <a:ext cx="4114800" cy="411299"/>
            <a:chOff x="0" y="0"/>
            <a:chExt cx="5486400" cy="548399"/>
          </a:xfrm>
        </p:grpSpPr>
        <p:sp>
          <p:nvSpPr>
            <p:cNvPr id="15" name="Freeform 15"/>
            <p:cNvSpPr/>
            <p:nvPr/>
          </p:nvSpPr>
          <p:spPr>
            <a:xfrm>
              <a:off x="0" y="0"/>
              <a:ext cx="5486400" cy="548400"/>
            </a:xfrm>
            <a:custGeom>
              <a:avLst/>
              <a:gdLst/>
              <a:ahLst/>
              <a:cxnLst/>
              <a:rect l="l" t="t" r="r" b="b"/>
              <a:pathLst>
                <a:path w="5486400" h="548400">
                  <a:moveTo>
                    <a:pt x="0" y="0"/>
                  </a:moveTo>
                  <a:lnTo>
                    <a:pt x="5486400" y="0"/>
                  </a:lnTo>
                  <a:lnTo>
                    <a:pt x="5486400" y="548400"/>
                  </a:lnTo>
                  <a:lnTo>
                    <a:pt x="0" y="548400"/>
                  </a:lnTo>
                  <a:close/>
                </a:path>
              </a:pathLst>
            </a:custGeom>
            <a:blipFill>
              <a:blip r:embed="rId3">
                <a:alphaModFix amt="0"/>
              </a:blip>
              <a:stretch>
                <a:fillRect t="-144935" b="-144935"/>
              </a:stretch>
            </a:blipFill>
          </p:spPr>
          <p:txBody>
            <a:bodyPr/>
            <a:lstStyle/>
            <a:p>
              <a:endParaRPr lang="es-CO"/>
            </a:p>
          </p:txBody>
        </p:sp>
        <p:sp>
          <p:nvSpPr>
            <p:cNvPr id="16" name="TextBox 16"/>
            <p:cNvSpPr txBox="1"/>
            <p:nvPr/>
          </p:nvSpPr>
          <p:spPr>
            <a:xfrm>
              <a:off x="0" y="-38100"/>
              <a:ext cx="5486400" cy="586499"/>
            </a:xfrm>
            <a:prstGeom prst="rect">
              <a:avLst/>
            </a:prstGeom>
          </p:spPr>
          <p:txBody>
            <a:bodyPr lIns="0" tIns="0" rIns="0" bIns="0" rtlCol="0" anchor="ctr"/>
            <a:lstStyle/>
            <a:p>
              <a:pPr algn="l">
                <a:lnSpc>
                  <a:spcPts val="2879"/>
                </a:lnSpc>
              </a:pPr>
              <a:r>
                <a:rPr lang="en-US" sz="2400" b="1">
                  <a:solidFill>
                    <a:srgbClr val="FDC300"/>
                  </a:solidFill>
                  <a:latin typeface="Calibri (MS) Bold"/>
                  <a:ea typeface="Calibri (MS) Bold"/>
                  <a:cs typeface="Calibri (MS) Bold"/>
                  <a:sym typeface="Calibri (MS) Bold"/>
                </a:rPr>
                <a:t>Objetivo general</a:t>
              </a:r>
            </a:p>
          </p:txBody>
        </p:sp>
      </p:grpSp>
      <p:grpSp>
        <p:nvGrpSpPr>
          <p:cNvPr id="17" name="Group 17"/>
          <p:cNvGrpSpPr/>
          <p:nvPr/>
        </p:nvGrpSpPr>
        <p:grpSpPr>
          <a:xfrm>
            <a:off x="2468880" y="2956465"/>
            <a:ext cx="13853246" cy="1360829"/>
            <a:chOff x="0" y="0"/>
            <a:chExt cx="18470994" cy="1814438"/>
          </a:xfrm>
        </p:grpSpPr>
        <p:sp>
          <p:nvSpPr>
            <p:cNvPr id="18" name="Freeform 18"/>
            <p:cNvSpPr/>
            <p:nvPr/>
          </p:nvSpPr>
          <p:spPr>
            <a:xfrm>
              <a:off x="0" y="0"/>
              <a:ext cx="18471000" cy="1814438"/>
            </a:xfrm>
            <a:custGeom>
              <a:avLst/>
              <a:gdLst/>
              <a:ahLst/>
              <a:cxnLst/>
              <a:rect l="l" t="t" r="r" b="b"/>
              <a:pathLst>
                <a:path w="18471000" h="1814438">
                  <a:moveTo>
                    <a:pt x="0" y="0"/>
                  </a:moveTo>
                  <a:lnTo>
                    <a:pt x="18471000" y="0"/>
                  </a:lnTo>
                  <a:lnTo>
                    <a:pt x="18471000" y="1814438"/>
                  </a:lnTo>
                  <a:lnTo>
                    <a:pt x="0" y="1814438"/>
                  </a:lnTo>
                  <a:close/>
                </a:path>
              </a:pathLst>
            </a:custGeom>
            <a:blipFill>
              <a:blip r:embed="rId3">
                <a:alphaModFix amt="0"/>
              </a:blip>
              <a:stretch>
                <a:fillRect t="-164082" b="-132632"/>
              </a:stretch>
            </a:blipFill>
          </p:spPr>
          <p:txBody>
            <a:bodyPr/>
            <a:lstStyle/>
            <a:p>
              <a:endParaRPr lang="es-CO"/>
            </a:p>
          </p:txBody>
        </p:sp>
        <p:sp>
          <p:nvSpPr>
            <p:cNvPr id="19" name="TextBox 19"/>
            <p:cNvSpPr txBox="1"/>
            <p:nvPr/>
          </p:nvSpPr>
          <p:spPr>
            <a:xfrm>
              <a:off x="0" y="-47625"/>
              <a:ext cx="18470994" cy="1862063"/>
            </a:xfrm>
            <a:prstGeom prst="rect">
              <a:avLst/>
            </a:prstGeom>
          </p:spPr>
          <p:txBody>
            <a:bodyPr lIns="0" tIns="0" rIns="0" bIns="0" rtlCol="0" anchor="ctr"/>
            <a:lstStyle/>
            <a:p>
              <a:pPr algn="l">
                <a:lnSpc>
                  <a:spcPts val="2520"/>
                </a:lnSpc>
              </a:pPr>
              <a:r>
                <a:rPr lang="en-US" sz="2100">
                  <a:solidFill>
                    <a:srgbClr val="FFFFFF"/>
                  </a:solidFill>
                  <a:latin typeface="Calibri (MS)"/>
                  <a:ea typeface="Calibri (MS)"/>
                  <a:cs typeface="Calibri (MS)"/>
                  <a:sym typeface="Calibri (MS)"/>
                </a:rPr>
                <a:t>Diseñar e implementar un aplicativo web con base de datos integrada para DISOL MOTORS que permita automatizar la gestión de inventario, el control de reparaciones, la venta de repuestos y la atención al cliente, optimizando los procesos internos y mejorando la eficiencia en la prestación de servicios.</a:t>
              </a:r>
            </a:p>
            <a:p>
              <a:pPr algn="l">
                <a:lnSpc>
                  <a:spcPts val="2520"/>
                </a:lnSpc>
              </a:pPr>
              <a:endParaRPr lang="en-US" sz="2100">
                <a:solidFill>
                  <a:srgbClr val="FFFFFF"/>
                </a:solidFill>
                <a:latin typeface="Calibri (MS)"/>
                <a:ea typeface="Calibri (MS)"/>
                <a:cs typeface="Calibri (MS)"/>
                <a:sym typeface="Calibri (MS)"/>
              </a:endParaRPr>
            </a:p>
          </p:txBody>
        </p:sp>
      </p:grpSp>
      <p:grpSp>
        <p:nvGrpSpPr>
          <p:cNvPr id="20" name="Group 20"/>
          <p:cNvGrpSpPr/>
          <p:nvPr/>
        </p:nvGrpSpPr>
        <p:grpSpPr>
          <a:xfrm>
            <a:off x="822960" y="4389120"/>
            <a:ext cx="6858000" cy="480146"/>
            <a:chOff x="0" y="0"/>
            <a:chExt cx="9144000" cy="640194"/>
          </a:xfrm>
        </p:grpSpPr>
        <p:sp>
          <p:nvSpPr>
            <p:cNvPr id="21" name="Freeform 21"/>
            <p:cNvSpPr/>
            <p:nvPr/>
          </p:nvSpPr>
          <p:spPr>
            <a:xfrm>
              <a:off x="0" y="0"/>
              <a:ext cx="9144000" cy="640200"/>
            </a:xfrm>
            <a:custGeom>
              <a:avLst/>
              <a:gdLst/>
              <a:ahLst/>
              <a:cxnLst/>
              <a:rect l="l" t="t" r="r" b="b"/>
              <a:pathLst>
                <a:path w="9144000" h="640200">
                  <a:moveTo>
                    <a:pt x="0" y="0"/>
                  </a:moveTo>
                  <a:lnTo>
                    <a:pt x="9144000" y="0"/>
                  </a:lnTo>
                  <a:lnTo>
                    <a:pt x="9144000" y="640200"/>
                  </a:lnTo>
                  <a:lnTo>
                    <a:pt x="0" y="640200"/>
                  </a:lnTo>
                  <a:close/>
                </a:path>
              </a:pathLst>
            </a:custGeom>
            <a:blipFill>
              <a:blip r:embed="rId3">
                <a:alphaModFix amt="0"/>
              </a:blip>
              <a:stretch>
                <a:fillRect t="-228305" b="-228305"/>
              </a:stretch>
            </a:blipFill>
          </p:spPr>
          <p:txBody>
            <a:bodyPr/>
            <a:lstStyle/>
            <a:p>
              <a:endParaRPr lang="es-CO"/>
            </a:p>
          </p:txBody>
        </p:sp>
        <p:sp>
          <p:nvSpPr>
            <p:cNvPr id="22" name="TextBox 22"/>
            <p:cNvSpPr txBox="1"/>
            <p:nvPr/>
          </p:nvSpPr>
          <p:spPr>
            <a:xfrm>
              <a:off x="0" y="-57150"/>
              <a:ext cx="9144000" cy="697344"/>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Objetivos específicos</a:t>
              </a:r>
            </a:p>
          </p:txBody>
        </p:sp>
      </p:grpSp>
      <p:grpSp>
        <p:nvGrpSpPr>
          <p:cNvPr id="23" name="Group 23"/>
          <p:cNvGrpSpPr/>
          <p:nvPr/>
        </p:nvGrpSpPr>
        <p:grpSpPr>
          <a:xfrm>
            <a:off x="822960" y="5006340"/>
            <a:ext cx="2940748" cy="3223346"/>
            <a:chOff x="0" y="0"/>
            <a:chExt cx="3920998" cy="4297794"/>
          </a:xfrm>
        </p:grpSpPr>
        <p:sp>
          <p:nvSpPr>
            <p:cNvPr id="24" name="Freeform 24"/>
            <p:cNvSpPr/>
            <p:nvPr/>
          </p:nvSpPr>
          <p:spPr>
            <a:xfrm>
              <a:off x="0" y="0"/>
              <a:ext cx="3920998" cy="4297807"/>
            </a:xfrm>
            <a:custGeom>
              <a:avLst/>
              <a:gdLst/>
              <a:ahLst/>
              <a:cxnLst/>
              <a:rect l="l" t="t" r="r" b="b"/>
              <a:pathLst>
                <a:path w="3920998" h="4297807">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txBody>
            <a:bodyPr/>
            <a:lstStyle/>
            <a:p>
              <a:endParaRPr lang="es-CO"/>
            </a:p>
          </p:txBody>
        </p:sp>
      </p:grpSp>
      <p:grpSp>
        <p:nvGrpSpPr>
          <p:cNvPr id="25" name="Group 25"/>
          <p:cNvGrpSpPr/>
          <p:nvPr/>
        </p:nvGrpSpPr>
        <p:grpSpPr>
          <a:xfrm>
            <a:off x="1950415" y="5280660"/>
            <a:ext cx="685800" cy="685800"/>
            <a:chOff x="0" y="0"/>
            <a:chExt cx="914400" cy="914400"/>
          </a:xfrm>
        </p:grpSpPr>
        <p:sp>
          <p:nvSpPr>
            <p:cNvPr id="26" name="Freeform 26"/>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27" name="Group 27"/>
          <p:cNvGrpSpPr/>
          <p:nvPr/>
        </p:nvGrpSpPr>
        <p:grpSpPr>
          <a:xfrm>
            <a:off x="2128723" y="5458968"/>
            <a:ext cx="329184" cy="329184"/>
            <a:chOff x="0" y="0"/>
            <a:chExt cx="438912" cy="438912"/>
          </a:xfrm>
        </p:grpSpPr>
        <p:sp>
          <p:nvSpPr>
            <p:cNvPr id="28" name="Freeform 28" descr="icons/clipboard.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5"/>
              <a:stretch>
                <a:fillRect/>
              </a:stretch>
            </a:blipFill>
          </p:spPr>
          <p:txBody>
            <a:bodyPr/>
            <a:lstStyle/>
            <a:p>
              <a:endParaRPr lang="es-CO"/>
            </a:p>
          </p:txBody>
        </p:sp>
      </p:grpSp>
      <p:grpSp>
        <p:nvGrpSpPr>
          <p:cNvPr id="29" name="Group 29"/>
          <p:cNvGrpSpPr/>
          <p:nvPr/>
        </p:nvGrpSpPr>
        <p:grpSpPr>
          <a:xfrm>
            <a:off x="960120" y="6172200"/>
            <a:ext cx="2666248" cy="754199"/>
            <a:chOff x="0" y="0"/>
            <a:chExt cx="3554997" cy="1005599"/>
          </a:xfrm>
        </p:grpSpPr>
        <p:sp>
          <p:nvSpPr>
            <p:cNvPr id="30" name="Freeform 30"/>
            <p:cNvSpPr/>
            <p:nvPr/>
          </p:nvSpPr>
          <p:spPr>
            <a:xfrm>
              <a:off x="0" y="0"/>
              <a:ext cx="3555000" cy="1005600"/>
            </a:xfrm>
            <a:custGeom>
              <a:avLst/>
              <a:gdLst/>
              <a:ahLst/>
              <a:cxnLst/>
              <a:rect l="l" t="t" r="r" b="b"/>
              <a:pathLst>
                <a:path w="3555000" h="1005600">
                  <a:moveTo>
                    <a:pt x="0" y="0"/>
                  </a:moveTo>
                  <a:lnTo>
                    <a:pt x="3555000" y="0"/>
                  </a:lnTo>
                  <a:lnTo>
                    <a:pt x="3555000" y="1005600"/>
                  </a:lnTo>
                  <a:lnTo>
                    <a:pt x="0" y="1005600"/>
                  </a:lnTo>
                  <a:close/>
                </a:path>
              </a:pathLst>
            </a:custGeom>
            <a:blipFill>
              <a:blip r:embed="rId3">
                <a:alphaModFix amt="0"/>
              </a:blip>
              <a:stretch>
                <a:fillRect t="-18883" b="-18883"/>
              </a:stretch>
            </a:blipFill>
          </p:spPr>
          <p:txBody>
            <a:bodyPr/>
            <a:lstStyle/>
            <a:p>
              <a:endParaRPr lang="es-CO"/>
            </a:p>
          </p:txBody>
        </p:sp>
        <p:sp>
          <p:nvSpPr>
            <p:cNvPr id="31" name="TextBox 31"/>
            <p:cNvSpPr txBox="1"/>
            <p:nvPr/>
          </p:nvSpPr>
          <p:spPr>
            <a:xfrm>
              <a:off x="0" y="-38100"/>
              <a:ext cx="3554997" cy="10436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Promover sostenibilidad</a:t>
              </a:r>
            </a:p>
          </p:txBody>
        </p:sp>
      </p:grpSp>
      <p:grpSp>
        <p:nvGrpSpPr>
          <p:cNvPr id="32" name="Group 32"/>
          <p:cNvGrpSpPr/>
          <p:nvPr/>
        </p:nvGrpSpPr>
        <p:grpSpPr>
          <a:xfrm>
            <a:off x="987552" y="6926580"/>
            <a:ext cx="2611345" cy="1165950"/>
            <a:chOff x="0" y="0"/>
            <a:chExt cx="3481794" cy="1554600"/>
          </a:xfrm>
        </p:grpSpPr>
        <p:sp>
          <p:nvSpPr>
            <p:cNvPr id="33" name="Freeform 33"/>
            <p:cNvSpPr/>
            <p:nvPr/>
          </p:nvSpPr>
          <p:spPr>
            <a:xfrm>
              <a:off x="0" y="0"/>
              <a:ext cx="3481800" cy="1554606"/>
            </a:xfrm>
            <a:custGeom>
              <a:avLst/>
              <a:gdLst/>
              <a:ahLst/>
              <a:cxnLst/>
              <a:rect l="l" t="t" r="r" b="b"/>
              <a:pathLst>
                <a:path w="3481800" h="1554606">
                  <a:moveTo>
                    <a:pt x="0" y="0"/>
                  </a:moveTo>
                  <a:lnTo>
                    <a:pt x="3481800" y="0"/>
                  </a:lnTo>
                  <a:lnTo>
                    <a:pt x="3481800" y="1554606"/>
                  </a:lnTo>
                  <a:lnTo>
                    <a:pt x="0" y="1554606"/>
                  </a:lnTo>
                  <a:close/>
                </a:path>
              </a:pathLst>
            </a:custGeom>
            <a:blipFill>
              <a:blip r:embed="rId3">
                <a:alphaModFix amt="0"/>
              </a:blip>
              <a:stretch>
                <a:fillRect l="-7286" r="-7286"/>
              </a:stretch>
            </a:blipFill>
          </p:spPr>
          <p:txBody>
            <a:bodyPr/>
            <a:lstStyle/>
            <a:p>
              <a:endParaRPr lang="es-CO"/>
            </a:p>
          </p:txBody>
        </p:sp>
        <p:sp>
          <p:nvSpPr>
            <p:cNvPr id="34" name="TextBox 34"/>
            <p:cNvSpPr txBox="1"/>
            <p:nvPr/>
          </p:nvSpPr>
          <p:spPr>
            <a:xfrm>
              <a:off x="0" y="-19050"/>
              <a:ext cx="3481794" cy="1573650"/>
            </a:xfrm>
            <a:prstGeom prst="rect">
              <a:avLst/>
            </a:prstGeom>
          </p:spPr>
          <p:txBody>
            <a:bodyPr lIns="0" tIns="0" rIns="0" bIns="0" rtlCol="0" anchor="ctr"/>
            <a:lstStyle/>
            <a:p>
              <a:pPr algn="ctr">
                <a:lnSpc>
                  <a:spcPts val="1889"/>
                </a:lnSpc>
              </a:pPr>
              <a:r>
                <a:rPr lang="en-US" sz="1575">
                  <a:solidFill>
                    <a:srgbClr val="000000"/>
                  </a:solidFill>
                  <a:latin typeface="Calibri (MS)"/>
                  <a:ea typeface="Calibri (MS)"/>
                  <a:cs typeface="Calibri (MS)"/>
                  <a:sym typeface="Calibri (MS)"/>
                </a:rPr>
                <a:t>Reutilización datos de productos y informacion de usuarios</a:t>
              </a:r>
            </a:p>
          </p:txBody>
        </p:sp>
      </p:grpSp>
      <p:grpSp>
        <p:nvGrpSpPr>
          <p:cNvPr id="35" name="Group 35"/>
          <p:cNvGrpSpPr/>
          <p:nvPr/>
        </p:nvGrpSpPr>
        <p:grpSpPr>
          <a:xfrm>
            <a:off x="4065422" y="5006340"/>
            <a:ext cx="2940748" cy="3223346"/>
            <a:chOff x="0" y="0"/>
            <a:chExt cx="3920998" cy="4297794"/>
          </a:xfrm>
        </p:grpSpPr>
        <p:sp>
          <p:nvSpPr>
            <p:cNvPr id="36" name="Freeform 36"/>
            <p:cNvSpPr/>
            <p:nvPr/>
          </p:nvSpPr>
          <p:spPr>
            <a:xfrm>
              <a:off x="0" y="0"/>
              <a:ext cx="3920998" cy="4297807"/>
            </a:xfrm>
            <a:custGeom>
              <a:avLst/>
              <a:gdLst/>
              <a:ahLst/>
              <a:cxnLst/>
              <a:rect l="l" t="t" r="r" b="b"/>
              <a:pathLst>
                <a:path w="3920998" h="4297807">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txBody>
            <a:bodyPr/>
            <a:lstStyle/>
            <a:p>
              <a:endParaRPr lang="es-CO"/>
            </a:p>
          </p:txBody>
        </p:sp>
      </p:grpSp>
      <p:grpSp>
        <p:nvGrpSpPr>
          <p:cNvPr id="37" name="Group 37"/>
          <p:cNvGrpSpPr/>
          <p:nvPr/>
        </p:nvGrpSpPr>
        <p:grpSpPr>
          <a:xfrm>
            <a:off x="5192878" y="5280660"/>
            <a:ext cx="685800" cy="685800"/>
            <a:chOff x="0" y="0"/>
            <a:chExt cx="914400" cy="914400"/>
          </a:xfrm>
        </p:grpSpPr>
        <p:sp>
          <p:nvSpPr>
            <p:cNvPr id="38" name="Freeform 38"/>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39" name="Group 39"/>
          <p:cNvGrpSpPr/>
          <p:nvPr/>
        </p:nvGrpSpPr>
        <p:grpSpPr>
          <a:xfrm>
            <a:off x="4202582" y="6172200"/>
            <a:ext cx="2666248" cy="754199"/>
            <a:chOff x="0" y="0"/>
            <a:chExt cx="3554997" cy="1005599"/>
          </a:xfrm>
        </p:grpSpPr>
        <p:sp>
          <p:nvSpPr>
            <p:cNvPr id="40" name="Freeform 40"/>
            <p:cNvSpPr/>
            <p:nvPr/>
          </p:nvSpPr>
          <p:spPr>
            <a:xfrm>
              <a:off x="0" y="0"/>
              <a:ext cx="3555000" cy="1005600"/>
            </a:xfrm>
            <a:custGeom>
              <a:avLst/>
              <a:gdLst/>
              <a:ahLst/>
              <a:cxnLst/>
              <a:rect l="l" t="t" r="r" b="b"/>
              <a:pathLst>
                <a:path w="3555000" h="1005600">
                  <a:moveTo>
                    <a:pt x="0" y="0"/>
                  </a:moveTo>
                  <a:lnTo>
                    <a:pt x="3555000" y="0"/>
                  </a:lnTo>
                  <a:lnTo>
                    <a:pt x="3555000" y="1005600"/>
                  </a:lnTo>
                  <a:lnTo>
                    <a:pt x="0" y="1005600"/>
                  </a:lnTo>
                  <a:close/>
                </a:path>
              </a:pathLst>
            </a:custGeom>
            <a:blipFill>
              <a:blip r:embed="rId3">
                <a:alphaModFix amt="0"/>
              </a:blip>
              <a:stretch>
                <a:fillRect t="-18883" b="-18883"/>
              </a:stretch>
            </a:blipFill>
          </p:spPr>
          <p:txBody>
            <a:bodyPr/>
            <a:lstStyle/>
            <a:p>
              <a:endParaRPr lang="es-CO"/>
            </a:p>
          </p:txBody>
        </p:sp>
        <p:sp>
          <p:nvSpPr>
            <p:cNvPr id="41" name="TextBox 41"/>
            <p:cNvSpPr txBox="1"/>
            <p:nvPr/>
          </p:nvSpPr>
          <p:spPr>
            <a:xfrm>
              <a:off x="0" y="-38100"/>
              <a:ext cx="3554997" cy="10436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Facilitar compras en línea</a:t>
              </a:r>
            </a:p>
          </p:txBody>
        </p:sp>
      </p:grpSp>
      <p:grpSp>
        <p:nvGrpSpPr>
          <p:cNvPr id="42" name="Group 42"/>
          <p:cNvGrpSpPr/>
          <p:nvPr/>
        </p:nvGrpSpPr>
        <p:grpSpPr>
          <a:xfrm>
            <a:off x="4230014" y="6926580"/>
            <a:ext cx="2611345" cy="1165946"/>
            <a:chOff x="0" y="0"/>
            <a:chExt cx="3481794" cy="1554594"/>
          </a:xfrm>
        </p:grpSpPr>
        <p:sp>
          <p:nvSpPr>
            <p:cNvPr id="43" name="Freeform 43"/>
            <p:cNvSpPr/>
            <p:nvPr/>
          </p:nvSpPr>
          <p:spPr>
            <a:xfrm>
              <a:off x="0" y="0"/>
              <a:ext cx="3481800" cy="1554600"/>
            </a:xfrm>
            <a:custGeom>
              <a:avLst/>
              <a:gdLst/>
              <a:ahLst/>
              <a:cxnLst/>
              <a:rect l="l" t="t" r="r" b="b"/>
              <a:pathLst>
                <a:path w="3481800" h="1554600">
                  <a:moveTo>
                    <a:pt x="0" y="0"/>
                  </a:moveTo>
                  <a:lnTo>
                    <a:pt x="3481800" y="0"/>
                  </a:lnTo>
                  <a:lnTo>
                    <a:pt x="3481800" y="1554600"/>
                  </a:lnTo>
                  <a:lnTo>
                    <a:pt x="0" y="1554600"/>
                  </a:lnTo>
                  <a:close/>
                </a:path>
              </a:pathLst>
            </a:custGeom>
            <a:blipFill>
              <a:blip r:embed="rId3">
                <a:alphaModFix amt="0"/>
              </a:blip>
              <a:stretch>
                <a:fillRect l="-7286" r="-7286"/>
              </a:stretch>
            </a:blipFill>
          </p:spPr>
          <p:txBody>
            <a:bodyPr/>
            <a:lstStyle/>
            <a:p>
              <a:endParaRPr lang="es-CO"/>
            </a:p>
          </p:txBody>
        </p:sp>
        <p:sp>
          <p:nvSpPr>
            <p:cNvPr id="44" name="TextBox 44"/>
            <p:cNvSpPr txBox="1"/>
            <p:nvPr/>
          </p:nvSpPr>
          <p:spPr>
            <a:xfrm>
              <a:off x="0" y="-19050"/>
              <a:ext cx="3481794" cy="1573644"/>
            </a:xfrm>
            <a:prstGeom prst="rect">
              <a:avLst/>
            </a:prstGeom>
          </p:spPr>
          <p:txBody>
            <a:bodyPr lIns="0" tIns="0" rIns="0" bIns="0" rtlCol="0" anchor="ctr"/>
            <a:lstStyle/>
            <a:p>
              <a:pPr algn="ctr">
                <a:lnSpc>
                  <a:spcPts val="1889"/>
                </a:lnSpc>
              </a:pPr>
              <a:r>
                <a:rPr lang="en-US" sz="1575">
                  <a:solidFill>
                    <a:srgbClr val="000000"/>
                  </a:solidFill>
                  <a:latin typeface="Calibri (MS)"/>
                  <a:ea typeface="Calibri (MS)"/>
                  <a:cs typeface="Calibri (MS)"/>
                  <a:sym typeface="Calibri (MS)"/>
                </a:rPr>
                <a:t>Carrito de compras y pagos digitales</a:t>
              </a:r>
            </a:p>
          </p:txBody>
        </p:sp>
      </p:grpSp>
      <p:grpSp>
        <p:nvGrpSpPr>
          <p:cNvPr id="45" name="Group 45"/>
          <p:cNvGrpSpPr/>
          <p:nvPr/>
        </p:nvGrpSpPr>
        <p:grpSpPr>
          <a:xfrm>
            <a:off x="7307885" y="5006340"/>
            <a:ext cx="2940748" cy="3223346"/>
            <a:chOff x="0" y="0"/>
            <a:chExt cx="3920998" cy="4297794"/>
          </a:xfrm>
        </p:grpSpPr>
        <p:sp>
          <p:nvSpPr>
            <p:cNvPr id="46" name="Freeform 46"/>
            <p:cNvSpPr/>
            <p:nvPr/>
          </p:nvSpPr>
          <p:spPr>
            <a:xfrm>
              <a:off x="0" y="0"/>
              <a:ext cx="3920998" cy="4297807"/>
            </a:xfrm>
            <a:custGeom>
              <a:avLst/>
              <a:gdLst/>
              <a:ahLst/>
              <a:cxnLst/>
              <a:rect l="l" t="t" r="r" b="b"/>
              <a:pathLst>
                <a:path w="3920998" h="4297807">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txBody>
            <a:bodyPr/>
            <a:lstStyle/>
            <a:p>
              <a:endParaRPr lang="es-CO"/>
            </a:p>
          </p:txBody>
        </p:sp>
      </p:grpSp>
      <p:grpSp>
        <p:nvGrpSpPr>
          <p:cNvPr id="47" name="Group 47"/>
          <p:cNvGrpSpPr/>
          <p:nvPr/>
        </p:nvGrpSpPr>
        <p:grpSpPr>
          <a:xfrm>
            <a:off x="8435340" y="5280660"/>
            <a:ext cx="685800" cy="685800"/>
            <a:chOff x="0" y="0"/>
            <a:chExt cx="914400" cy="914400"/>
          </a:xfrm>
        </p:grpSpPr>
        <p:sp>
          <p:nvSpPr>
            <p:cNvPr id="48" name="Freeform 48"/>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49" name="Group 49"/>
          <p:cNvGrpSpPr/>
          <p:nvPr/>
        </p:nvGrpSpPr>
        <p:grpSpPr>
          <a:xfrm>
            <a:off x="5368976" y="5458968"/>
            <a:ext cx="329184" cy="329184"/>
            <a:chOff x="0" y="0"/>
            <a:chExt cx="438912" cy="438912"/>
          </a:xfrm>
        </p:grpSpPr>
        <p:sp>
          <p:nvSpPr>
            <p:cNvPr id="50" name="Freeform 50" descr="icons/cart.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6"/>
              <a:stretch>
                <a:fillRect/>
              </a:stretch>
            </a:blipFill>
          </p:spPr>
          <p:txBody>
            <a:bodyPr/>
            <a:lstStyle/>
            <a:p>
              <a:endParaRPr lang="es-CO"/>
            </a:p>
          </p:txBody>
        </p:sp>
      </p:grpSp>
      <p:grpSp>
        <p:nvGrpSpPr>
          <p:cNvPr id="51" name="Group 51"/>
          <p:cNvGrpSpPr/>
          <p:nvPr/>
        </p:nvGrpSpPr>
        <p:grpSpPr>
          <a:xfrm>
            <a:off x="8615896" y="5457345"/>
            <a:ext cx="329184" cy="329184"/>
            <a:chOff x="0" y="0"/>
            <a:chExt cx="438912" cy="438912"/>
          </a:xfrm>
        </p:grpSpPr>
        <p:sp>
          <p:nvSpPr>
            <p:cNvPr id="52" name="Freeform 52" descr="icons/boxes.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7"/>
              <a:stretch>
                <a:fillRect/>
              </a:stretch>
            </a:blipFill>
          </p:spPr>
          <p:txBody>
            <a:bodyPr/>
            <a:lstStyle/>
            <a:p>
              <a:endParaRPr lang="es-CO"/>
            </a:p>
          </p:txBody>
        </p:sp>
      </p:grpSp>
      <p:grpSp>
        <p:nvGrpSpPr>
          <p:cNvPr id="53" name="Group 53"/>
          <p:cNvGrpSpPr/>
          <p:nvPr/>
        </p:nvGrpSpPr>
        <p:grpSpPr>
          <a:xfrm>
            <a:off x="7445045" y="6172200"/>
            <a:ext cx="2666248" cy="754199"/>
            <a:chOff x="0" y="0"/>
            <a:chExt cx="3554997" cy="1005599"/>
          </a:xfrm>
        </p:grpSpPr>
        <p:sp>
          <p:nvSpPr>
            <p:cNvPr id="54" name="Freeform 54"/>
            <p:cNvSpPr/>
            <p:nvPr/>
          </p:nvSpPr>
          <p:spPr>
            <a:xfrm>
              <a:off x="0" y="0"/>
              <a:ext cx="3555000" cy="1005600"/>
            </a:xfrm>
            <a:custGeom>
              <a:avLst/>
              <a:gdLst/>
              <a:ahLst/>
              <a:cxnLst/>
              <a:rect l="l" t="t" r="r" b="b"/>
              <a:pathLst>
                <a:path w="3555000" h="1005600">
                  <a:moveTo>
                    <a:pt x="0" y="0"/>
                  </a:moveTo>
                  <a:lnTo>
                    <a:pt x="3555000" y="0"/>
                  </a:lnTo>
                  <a:lnTo>
                    <a:pt x="3555000" y="1005600"/>
                  </a:lnTo>
                  <a:lnTo>
                    <a:pt x="0" y="1005600"/>
                  </a:lnTo>
                  <a:close/>
                </a:path>
              </a:pathLst>
            </a:custGeom>
            <a:blipFill>
              <a:blip r:embed="rId3">
                <a:alphaModFix amt="0"/>
              </a:blip>
              <a:stretch>
                <a:fillRect t="-18883" b="-18883"/>
              </a:stretch>
            </a:blipFill>
          </p:spPr>
          <p:txBody>
            <a:bodyPr/>
            <a:lstStyle/>
            <a:p>
              <a:endParaRPr lang="es-CO"/>
            </a:p>
          </p:txBody>
        </p:sp>
        <p:sp>
          <p:nvSpPr>
            <p:cNvPr id="55" name="TextBox 55"/>
            <p:cNvSpPr txBox="1"/>
            <p:nvPr/>
          </p:nvSpPr>
          <p:spPr>
            <a:xfrm>
              <a:off x="0" y="-38100"/>
              <a:ext cx="3554997" cy="10436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Gestionar productos</a:t>
              </a:r>
            </a:p>
          </p:txBody>
        </p:sp>
      </p:grpSp>
      <p:grpSp>
        <p:nvGrpSpPr>
          <p:cNvPr id="56" name="Group 56"/>
          <p:cNvGrpSpPr/>
          <p:nvPr/>
        </p:nvGrpSpPr>
        <p:grpSpPr>
          <a:xfrm>
            <a:off x="7472477" y="6926580"/>
            <a:ext cx="2611345" cy="1165950"/>
            <a:chOff x="0" y="0"/>
            <a:chExt cx="3481794" cy="1554600"/>
          </a:xfrm>
        </p:grpSpPr>
        <p:sp>
          <p:nvSpPr>
            <p:cNvPr id="57" name="Freeform 57"/>
            <p:cNvSpPr/>
            <p:nvPr/>
          </p:nvSpPr>
          <p:spPr>
            <a:xfrm>
              <a:off x="0" y="0"/>
              <a:ext cx="3481800" cy="1554606"/>
            </a:xfrm>
            <a:custGeom>
              <a:avLst/>
              <a:gdLst/>
              <a:ahLst/>
              <a:cxnLst/>
              <a:rect l="l" t="t" r="r" b="b"/>
              <a:pathLst>
                <a:path w="3481800" h="1554606">
                  <a:moveTo>
                    <a:pt x="0" y="0"/>
                  </a:moveTo>
                  <a:lnTo>
                    <a:pt x="3481800" y="0"/>
                  </a:lnTo>
                  <a:lnTo>
                    <a:pt x="3481800" y="1554606"/>
                  </a:lnTo>
                  <a:lnTo>
                    <a:pt x="0" y="1554606"/>
                  </a:lnTo>
                  <a:close/>
                </a:path>
              </a:pathLst>
            </a:custGeom>
            <a:blipFill>
              <a:blip r:embed="rId3">
                <a:alphaModFix amt="0"/>
              </a:blip>
              <a:stretch>
                <a:fillRect l="-7286" r="-7286"/>
              </a:stretch>
            </a:blipFill>
          </p:spPr>
          <p:txBody>
            <a:bodyPr/>
            <a:lstStyle/>
            <a:p>
              <a:endParaRPr lang="es-CO"/>
            </a:p>
          </p:txBody>
        </p:sp>
        <p:sp>
          <p:nvSpPr>
            <p:cNvPr id="58" name="TextBox 58"/>
            <p:cNvSpPr txBox="1"/>
            <p:nvPr/>
          </p:nvSpPr>
          <p:spPr>
            <a:xfrm>
              <a:off x="0" y="-19050"/>
              <a:ext cx="3481794" cy="1573650"/>
            </a:xfrm>
            <a:prstGeom prst="rect">
              <a:avLst/>
            </a:prstGeom>
          </p:spPr>
          <p:txBody>
            <a:bodyPr lIns="0" tIns="0" rIns="0" bIns="0" rtlCol="0" anchor="ctr"/>
            <a:lstStyle/>
            <a:p>
              <a:pPr algn="ctr">
                <a:lnSpc>
                  <a:spcPts val="1889"/>
                </a:lnSpc>
              </a:pPr>
              <a:r>
                <a:rPr lang="en-US" sz="1575">
                  <a:solidFill>
                    <a:srgbClr val="000000"/>
                  </a:solidFill>
                  <a:latin typeface="Calibri (MS)"/>
                  <a:ea typeface="Calibri (MS)"/>
                  <a:cs typeface="Calibri (MS)"/>
                  <a:sym typeface="Calibri (MS)"/>
                </a:rPr>
                <a:t>Registrar, modificar y eliminar piezas</a:t>
              </a:r>
            </a:p>
          </p:txBody>
        </p:sp>
      </p:grpSp>
      <p:grpSp>
        <p:nvGrpSpPr>
          <p:cNvPr id="59" name="Group 59"/>
          <p:cNvGrpSpPr/>
          <p:nvPr/>
        </p:nvGrpSpPr>
        <p:grpSpPr>
          <a:xfrm>
            <a:off x="10550347" y="5006340"/>
            <a:ext cx="2940748" cy="3223346"/>
            <a:chOff x="0" y="0"/>
            <a:chExt cx="3920998" cy="4297794"/>
          </a:xfrm>
        </p:grpSpPr>
        <p:sp>
          <p:nvSpPr>
            <p:cNvPr id="60" name="Freeform 60"/>
            <p:cNvSpPr/>
            <p:nvPr/>
          </p:nvSpPr>
          <p:spPr>
            <a:xfrm>
              <a:off x="0" y="0"/>
              <a:ext cx="3920998" cy="4297807"/>
            </a:xfrm>
            <a:custGeom>
              <a:avLst/>
              <a:gdLst/>
              <a:ahLst/>
              <a:cxnLst/>
              <a:rect l="l" t="t" r="r" b="b"/>
              <a:pathLst>
                <a:path w="3920998" h="4297807">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txBody>
            <a:bodyPr/>
            <a:lstStyle/>
            <a:p>
              <a:endParaRPr lang="es-CO"/>
            </a:p>
          </p:txBody>
        </p:sp>
      </p:grpSp>
      <p:grpSp>
        <p:nvGrpSpPr>
          <p:cNvPr id="61" name="Group 61"/>
          <p:cNvGrpSpPr/>
          <p:nvPr/>
        </p:nvGrpSpPr>
        <p:grpSpPr>
          <a:xfrm>
            <a:off x="11677802" y="5280660"/>
            <a:ext cx="685800" cy="685800"/>
            <a:chOff x="0" y="0"/>
            <a:chExt cx="914400" cy="914400"/>
          </a:xfrm>
        </p:grpSpPr>
        <p:sp>
          <p:nvSpPr>
            <p:cNvPr id="62" name="Freeform 62"/>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63" name="Group 63"/>
          <p:cNvGrpSpPr/>
          <p:nvPr/>
        </p:nvGrpSpPr>
        <p:grpSpPr>
          <a:xfrm>
            <a:off x="11856110" y="5458968"/>
            <a:ext cx="329184" cy="329184"/>
            <a:chOff x="0" y="0"/>
            <a:chExt cx="438912" cy="438912"/>
          </a:xfrm>
        </p:grpSpPr>
        <p:sp>
          <p:nvSpPr>
            <p:cNvPr id="64" name="Freeform 64" descr="icons/mobile.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8"/>
              <a:stretch>
                <a:fillRect/>
              </a:stretch>
            </a:blipFill>
          </p:spPr>
          <p:txBody>
            <a:bodyPr/>
            <a:lstStyle/>
            <a:p>
              <a:endParaRPr lang="es-CO"/>
            </a:p>
          </p:txBody>
        </p:sp>
      </p:grpSp>
      <p:grpSp>
        <p:nvGrpSpPr>
          <p:cNvPr id="65" name="Group 65"/>
          <p:cNvGrpSpPr/>
          <p:nvPr/>
        </p:nvGrpSpPr>
        <p:grpSpPr>
          <a:xfrm>
            <a:off x="10687507" y="6172200"/>
            <a:ext cx="2666248" cy="754199"/>
            <a:chOff x="0" y="0"/>
            <a:chExt cx="3554997" cy="1005599"/>
          </a:xfrm>
        </p:grpSpPr>
        <p:sp>
          <p:nvSpPr>
            <p:cNvPr id="66" name="Freeform 66"/>
            <p:cNvSpPr/>
            <p:nvPr/>
          </p:nvSpPr>
          <p:spPr>
            <a:xfrm>
              <a:off x="0" y="0"/>
              <a:ext cx="3555000" cy="1005600"/>
            </a:xfrm>
            <a:custGeom>
              <a:avLst/>
              <a:gdLst/>
              <a:ahLst/>
              <a:cxnLst/>
              <a:rect l="l" t="t" r="r" b="b"/>
              <a:pathLst>
                <a:path w="3555000" h="1005600">
                  <a:moveTo>
                    <a:pt x="0" y="0"/>
                  </a:moveTo>
                  <a:lnTo>
                    <a:pt x="3555000" y="0"/>
                  </a:lnTo>
                  <a:lnTo>
                    <a:pt x="3555000" y="1005600"/>
                  </a:lnTo>
                  <a:lnTo>
                    <a:pt x="0" y="1005600"/>
                  </a:lnTo>
                  <a:close/>
                </a:path>
              </a:pathLst>
            </a:custGeom>
            <a:blipFill>
              <a:blip r:embed="rId3">
                <a:alphaModFix amt="0"/>
              </a:blip>
              <a:stretch>
                <a:fillRect t="-18883" b="-18883"/>
              </a:stretch>
            </a:blipFill>
          </p:spPr>
          <p:txBody>
            <a:bodyPr/>
            <a:lstStyle/>
            <a:p>
              <a:endParaRPr lang="es-CO"/>
            </a:p>
          </p:txBody>
        </p:sp>
        <p:sp>
          <p:nvSpPr>
            <p:cNvPr id="67" name="TextBox 67"/>
            <p:cNvSpPr txBox="1"/>
            <p:nvPr/>
          </p:nvSpPr>
          <p:spPr>
            <a:xfrm>
              <a:off x="0" y="-38100"/>
              <a:ext cx="3554997" cy="10436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Mejorar la experiencia</a:t>
              </a:r>
            </a:p>
          </p:txBody>
        </p:sp>
      </p:grpSp>
      <p:grpSp>
        <p:nvGrpSpPr>
          <p:cNvPr id="68" name="Group 68"/>
          <p:cNvGrpSpPr/>
          <p:nvPr/>
        </p:nvGrpSpPr>
        <p:grpSpPr>
          <a:xfrm>
            <a:off x="10714939" y="6926580"/>
            <a:ext cx="2611345" cy="1165950"/>
            <a:chOff x="0" y="0"/>
            <a:chExt cx="3481794" cy="1554600"/>
          </a:xfrm>
        </p:grpSpPr>
        <p:sp>
          <p:nvSpPr>
            <p:cNvPr id="69" name="Freeform 69"/>
            <p:cNvSpPr/>
            <p:nvPr/>
          </p:nvSpPr>
          <p:spPr>
            <a:xfrm>
              <a:off x="0" y="0"/>
              <a:ext cx="3481800" cy="1554606"/>
            </a:xfrm>
            <a:custGeom>
              <a:avLst/>
              <a:gdLst/>
              <a:ahLst/>
              <a:cxnLst/>
              <a:rect l="l" t="t" r="r" b="b"/>
              <a:pathLst>
                <a:path w="3481800" h="1554606">
                  <a:moveTo>
                    <a:pt x="0" y="0"/>
                  </a:moveTo>
                  <a:lnTo>
                    <a:pt x="3481800" y="0"/>
                  </a:lnTo>
                  <a:lnTo>
                    <a:pt x="3481800" y="1554606"/>
                  </a:lnTo>
                  <a:lnTo>
                    <a:pt x="0" y="1554606"/>
                  </a:lnTo>
                  <a:close/>
                </a:path>
              </a:pathLst>
            </a:custGeom>
            <a:blipFill>
              <a:blip r:embed="rId3">
                <a:alphaModFix amt="0"/>
              </a:blip>
              <a:stretch>
                <a:fillRect l="-7286" r="-7286"/>
              </a:stretch>
            </a:blipFill>
          </p:spPr>
          <p:txBody>
            <a:bodyPr/>
            <a:lstStyle/>
            <a:p>
              <a:endParaRPr lang="es-CO"/>
            </a:p>
          </p:txBody>
        </p:sp>
        <p:sp>
          <p:nvSpPr>
            <p:cNvPr id="70" name="TextBox 70"/>
            <p:cNvSpPr txBox="1"/>
            <p:nvPr/>
          </p:nvSpPr>
          <p:spPr>
            <a:xfrm>
              <a:off x="0" y="-19050"/>
              <a:ext cx="3481794" cy="1573650"/>
            </a:xfrm>
            <a:prstGeom prst="rect">
              <a:avLst/>
            </a:prstGeom>
          </p:spPr>
          <p:txBody>
            <a:bodyPr lIns="0" tIns="0" rIns="0" bIns="0" rtlCol="0" anchor="ctr"/>
            <a:lstStyle/>
            <a:p>
              <a:pPr algn="ctr">
                <a:lnSpc>
                  <a:spcPts val="1889"/>
                </a:lnSpc>
              </a:pPr>
              <a:r>
                <a:rPr lang="en-US" sz="1575">
                  <a:solidFill>
                    <a:srgbClr val="000000"/>
                  </a:solidFill>
                  <a:latin typeface="Calibri (MS)"/>
                  <a:ea typeface="Calibri (MS)"/>
                  <a:cs typeface="Calibri (MS)"/>
                  <a:sym typeface="Calibri (MS)"/>
                </a:rPr>
                <a:t>Interfaz dinamica y adaptable</a:t>
              </a:r>
            </a:p>
          </p:txBody>
        </p:sp>
      </p:grpSp>
      <p:grpSp>
        <p:nvGrpSpPr>
          <p:cNvPr id="71" name="Group 71"/>
          <p:cNvGrpSpPr/>
          <p:nvPr/>
        </p:nvGrpSpPr>
        <p:grpSpPr>
          <a:xfrm>
            <a:off x="13792810" y="5006340"/>
            <a:ext cx="2940748" cy="3223346"/>
            <a:chOff x="0" y="0"/>
            <a:chExt cx="3920998" cy="4297794"/>
          </a:xfrm>
        </p:grpSpPr>
        <p:sp>
          <p:nvSpPr>
            <p:cNvPr id="72" name="Freeform 72"/>
            <p:cNvSpPr/>
            <p:nvPr/>
          </p:nvSpPr>
          <p:spPr>
            <a:xfrm>
              <a:off x="0" y="0"/>
              <a:ext cx="3920998" cy="4297807"/>
            </a:xfrm>
            <a:custGeom>
              <a:avLst/>
              <a:gdLst/>
              <a:ahLst/>
              <a:cxnLst/>
              <a:rect l="l" t="t" r="r" b="b"/>
              <a:pathLst>
                <a:path w="3920998" h="4297807">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txBody>
            <a:bodyPr/>
            <a:lstStyle/>
            <a:p>
              <a:endParaRPr lang="es-CO"/>
            </a:p>
          </p:txBody>
        </p:sp>
      </p:grpSp>
      <p:grpSp>
        <p:nvGrpSpPr>
          <p:cNvPr id="73" name="Group 73"/>
          <p:cNvGrpSpPr/>
          <p:nvPr/>
        </p:nvGrpSpPr>
        <p:grpSpPr>
          <a:xfrm>
            <a:off x="14920265" y="5280660"/>
            <a:ext cx="685800" cy="685800"/>
            <a:chOff x="0" y="0"/>
            <a:chExt cx="914400" cy="914400"/>
          </a:xfrm>
        </p:grpSpPr>
        <p:sp>
          <p:nvSpPr>
            <p:cNvPr id="74" name="Freeform 74"/>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75" name="Group 75"/>
          <p:cNvGrpSpPr/>
          <p:nvPr/>
        </p:nvGrpSpPr>
        <p:grpSpPr>
          <a:xfrm>
            <a:off x="15098573" y="5458968"/>
            <a:ext cx="329184" cy="329184"/>
            <a:chOff x="0" y="0"/>
            <a:chExt cx="438912" cy="438912"/>
          </a:xfrm>
        </p:grpSpPr>
        <p:sp>
          <p:nvSpPr>
            <p:cNvPr id="76" name="Freeform 76" descr="icons/leaf.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9"/>
              <a:stretch>
                <a:fillRect/>
              </a:stretch>
            </a:blipFill>
          </p:spPr>
          <p:txBody>
            <a:bodyPr/>
            <a:lstStyle/>
            <a:p>
              <a:endParaRPr lang="es-CO"/>
            </a:p>
          </p:txBody>
        </p:sp>
      </p:grpSp>
      <p:grpSp>
        <p:nvGrpSpPr>
          <p:cNvPr id="77" name="Group 77"/>
          <p:cNvGrpSpPr/>
          <p:nvPr/>
        </p:nvGrpSpPr>
        <p:grpSpPr>
          <a:xfrm>
            <a:off x="13929970" y="6172200"/>
            <a:ext cx="2666248" cy="754199"/>
            <a:chOff x="0" y="0"/>
            <a:chExt cx="3554997" cy="1005599"/>
          </a:xfrm>
        </p:grpSpPr>
        <p:sp>
          <p:nvSpPr>
            <p:cNvPr id="78" name="Freeform 78"/>
            <p:cNvSpPr/>
            <p:nvPr/>
          </p:nvSpPr>
          <p:spPr>
            <a:xfrm>
              <a:off x="0" y="0"/>
              <a:ext cx="3555000" cy="1005600"/>
            </a:xfrm>
            <a:custGeom>
              <a:avLst/>
              <a:gdLst/>
              <a:ahLst/>
              <a:cxnLst/>
              <a:rect l="l" t="t" r="r" b="b"/>
              <a:pathLst>
                <a:path w="3555000" h="1005600">
                  <a:moveTo>
                    <a:pt x="0" y="0"/>
                  </a:moveTo>
                  <a:lnTo>
                    <a:pt x="3555000" y="0"/>
                  </a:lnTo>
                  <a:lnTo>
                    <a:pt x="3555000" y="1005600"/>
                  </a:lnTo>
                  <a:lnTo>
                    <a:pt x="0" y="1005600"/>
                  </a:lnTo>
                  <a:close/>
                </a:path>
              </a:pathLst>
            </a:custGeom>
            <a:blipFill>
              <a:blip r:embed="rId3">
                <a:alphaModFix amt="0"/>
              </a:blip>
              <a:stretch>
                <a:fillRect t="-18883" b="-18883"/>
              </a:stretch>
            </a:blipFill>
          </p:spPr>
          <p:txBody>
            <a:bodyPr/>
            <a:lstStyle/>
            <a:p>
              <a:endParaRPr lang="es-CO"/>
            </a:p>
          </p:txBody>
        </p:sp>
        <p:sp>
          <p:nvSpPr>
            <p:cNvPr id="79" name="TextBox 79"/>
            <p:cNvSpPr txBox="1"/>
            <p:nvPr/>
          </p:nvSpPr>
          <p:spPr>
            <a:xfrm>
              <a:off x="0" y="-38100"/>
              <a:ext cx="3554997" cy="10436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Visualizar inventario</a:t>
              </a:r>
            </a:p>
          </p:txBody>
        </p:sp>
      </p:grpSp>
      <p:grpSp>
        <p:nvGrpSpPr>
          <p:cNvPr id="80" name="Group 80"/>
          <p:cNvGrpSpPr/>
          <p:nvPr/>
        </p:nvGrpSpPr>
        <p:grpSpPr>
          <a:xfrm>
            <a:off x="13971137" y="6926313"/>
            <a:ext cx="2611345" cy="1165950"/>
            <a:chOff x="0" y="0"/>
            <a:chExt cx="3481794" cy="1554600"/>
          </a:xfrm>
        </p:grpSpPr>
        <p:sp>
          <p:nvSpPr>
            <p:cNvPr id="81" name="Freeform 81"/>
            <p:cNvSpPr/>
            <p:nvPr/>
          </p:nvSpPr>
          <p:spPr>
            <a:xfrm>
              <a:off x="0" y="0"/>
              <a:ext cx="3481800" cy="1554606"/>
            </a:xfrm>
            <a:custGeom>
              <a:avLst/>
              <a:gdLst/>
              <a:ahLst/>
              <a:cxnLst/>
              <a:rect l="l" t="t" r="r" b="b"/>
              <a:pathLst>
                <a:path w="3481800" h="1554606">
                  <a:moveTo>
                    <a:pt x="0" y="0"/>
                  </a:moveTo>
                  <a:lnTo>
                    <a:pt x="3481800" y="0"/>
                  </a:lnTo>
                  <a:lnTo>
                    <a:pt x="3481800" y="1554606"/>
                  </a:lnTo>
                  <a:lnTo>
                    <a:pt x="0" y="1554606"/>
                  </a:lnTo>
                  <a:close/>
                </a:path>
              </a:pathLst>
            </a:custGeom>
            <a:blipFill>
              <a:blip r:embed="rId3">
                <a:alphaModFix amt="0"/>
              </a:blip>
              <a:stretch>
                <a:fillRect l="-7286" r="-7286"/>
              </a:stretch>
            </a:blipFill>
          </p:spPr>
          <p:txBody>
            <a:bodyPr/>
            <a:lstStyle/>
            <a:p>
              <a:endParaRPr lang="es-CO"/>
            </a:p>
          </p:txBody>
        </p:sp>
        <p:sp>
          <p:nvSpPr>
            <p:cNvPr id="82" name="TextBox 82"/>
            <p:cNvSpPr txBox="1"/>
            <p:nvPr/>
          </p:nvSpPr>
          <p:spPr>
            <a:xfrm>
              <a:off x="0" y="-19050"/>
              <a:ext cx="3481794" cy="1573650"/>
            </a:xfrm>
            <a:prstGeom prst="rect">
              <a:avLst/>
            </a:prstGeom>
          </p:spPr>
          <p:txBody>
            <a:bodyPr lIns="0" tIns="0" rIns="0" bIns="0" rtlCol="0" anchor="ctr"/>
            <a:lstStyle/>
            <a:p>
              <a:pPr algn="ctr">
                <a:lnSpc>
                  <a:spcPts val="1889"/>
                </a:lnSpc>
              </a:pPr>
              <a:r>
                <a:rPr lang="en-US" sz="1575">
                  <a:solidFill>
                    <a:srgbClr val="000000"/>
                  </a:solidFill>
                  <a:latin typeface="Calibri (MS)"/>
                  <a:ea typeface="Calibri (MS)"/>
                  <a:cs typeface="Calibri (MS)"/>
                  <a:sym typeface="Calibri (MS)"/>
                </a:rPr>
                <a:t>Observar codigos de producto, stock y precio</a:t>
              </a:r>
            </a:p>
          </p:txBody>
        </p:sp>
      </p:grpSp>
      <p:sp>
        <p:nvSpPr>
          <p:cNvPr id="84" name="Rectángulo: esquinas superiores redondeadas 83">
            <a:extLst>
              <a:ext uri="{FF2B5EF4-FFF2-40B4-BE49-F238E27FC236}">
                <a16:creationId xmlns:a16="http://schemas.microsoft.com/office/drawing/2014/main" id="{EE13AC22-BBAF-3FE3-D74D-5E08DA360919}"/>
              </a:ext>
            </a:extLst>
          </p:cNvPr>
          <p:cNvSpPr/>
          <p:nvPr/>
        </p:nvSpPr>
        <p:spPr>
          <a:xfrm>
            <a:off x="7848600" y="9765506"/>
            <a:ext cx="2590800" cy="152400"/>
          </a:xfrm>
          <a:prstGeom prst="round2SameRect">
            <a:avLst/>
          </a:prstGeom>
          <a:solidFill>
            <a:srgbClr val="00B05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576072"/>
            <a:ext cx="13716000" cy="480146"/>
            <a:chOff x="0" y="0"/>
            <a:chExt cx="18288000" cy="640194"/>
          </a:xfrm>
        </p:grpSpPr>
        <p:sp>
          <p:nvSpPr>
            <p:cNvPr id="4" name="Freeform 4"/>
            <p:cNvSpPr/>
            <p:nvPr/>
          </p:nvSpPr>
          <p:spPr>
            <a:xfrm>
              <a:off x="0" y="0"/>
              <a:ext cx="18288000" cy="640200"/>
            </a:xfrm>
            <a:custGeom>
              <a:avLst/>
              <a:gdLst/>
              <a:ahLst/>
              <a:cxnLst/>
              <a:rect l="l" t="t" r="r" b="b"/>
              <a:pathLst>
                <a:path w="18288000" h="640200">
                  <a:moveTo>
                    <a:pt x="0" y="0"/>
                  </a:moveTo>
                  <a:lnTo>
                    <a:pt x="18288000" y="0"/>
                  </a:lnTo>
                  <a:lnTo>
                    <a:pt x="18288000" y="640200"/>
                  </a:lnTo>
                  <a:lnTo>
                    <a:pt x="0" y="640200"/>
                  </a:lnTo>
                  <a:close/>
                </a:path>
              </a:pathLst>
            </a:custGeom>
            <a:blipFill>
              <a:blip r:embed="rId4">
                <a:alphaModFix amt="0"/>
              </a:blip>
              <a:stretch>
                <a:fillRect t="-506611" b="-506610"/>
              </a:stretch>
            </a:blipFill>
          </p:spPr>
          <p:txBody>
            <a:bodyPr/>
            <a:lstStyle/>
            <a:p>
              <a:endParaRPr lang="es-CO"/>
            </a:p>
          </p:txBody>
        </p:sp>
        <p:sp>
          <p:nvSpPr>
            <p:cNvPr id="5" name="TextBox 5"/>
            <p:cNvSpPr txBox="1"/>
            <p:nvPr/>
          </p:nvSpPr>
          <p:spPr>
            <a:xfrm>
              <a:off x="0" y="-47625"/>
              <a:ext cx="18288000" cy="687819"/>
            </a:xfrm>
            <a:prstGeom prst="rect">
              <a:avLst/>
            </a:prstGeom>
          </p:spPr>
          <p:txBody>
            <a:bodyPr lIns="0" tIns="0" rIns="0" bIns="0" rtlCol="0" anchor="ctr"/>
            <a:lstStyle/>
            <a:p>
              <a:pPr algn="l">
                <a:lnSpc>
                  <a:spcPts val="2340"/>
                </a:lnSpc>
              </a:pPr>
              <a:r>
                <a:rPr lang="en-US" sz="1950" b="1">
                  <a:solidFill>
                    <a:srgbClr val="39A900"/>
                  </a:solidFill>
                  <a:latin typeface="Calibri (MS) Bold"/>
                  <a:ea typeface="Calibri (MS) Bold"/>
                  <a:cs typeface="Calibri (MS) Bold"/>
                  <a:sym typeface="Calibri (MS) Bold"/>
                </a:rPr>
                <a:t>DELIMITACIÓN</a:t>
              </a:r>
            </a:p>
          </p:txBody>
        </p:sp>
      </p:grpSp>
      <p:grpSp>
        <p:nvGrpSpPr>
          <p:cNvPr id="6" name="Group 6"/>
          <p:cNvGrpSpPr/>
          <p:nvPr/>
        </p:nvGrpSpPr>
        <p:grpSpPr>
          <a:xfrm>
            <a:off x="822960" y="987552"/>
            <a:ext cx="16184699" cy="1165946"/>
            <a:chOff x="0" y="0"/>
            <a:chExt cx="21579599" cy="1554594"/>
          </a:xfrm>
        </p:grpSpPr>
        <p:sp>
          <p:nvSpPr>
            <p:cNvPr id="7" name="Freeform 7"/>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8" name="TextBox 8"/>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Alcance del proyecto</a:t>
              </a:r>
            </a:p>
          </p:txBody>
        </p:sp>
      </p:grpSp>
      <p:grpSp>
        <p:nvGrpSpPr>
          <p:cNvPr id="9" name="Group 9"/>
          <p:cNvGrpSpPr/>
          <p:nvPr/>
        </p:nvGrpSpPr>
        <p:grpSpPr>
          <a:xfrm>
            <a:off x="822960" y="2468880"/>
            <a:ext cx="5075101" cy="6720754"/>
            <a:chOff x="0" y="0"/>
            <a:chExt cx="6766801" cy="8961006"/>
          </a:xfrm>
        </p:grpSpPr>
        <p:sp>
          <p:nvSpPr>
            <p:cNvPr id="10" name="Freeform 10"/>
            <p:cNvSpPr/>
            <p:nvPr/>
          </p:nvSpPr>
          <p:spPr>
            <a:xfrm>
              <a:off x="0" y="0"/>
              <a:ext cx="6766814" cy="8960993"/>
            </a:xfrm>
            <a:custGeom>
              <a:avLst/>
              <a:gdLst/>
              <a:ahLst/>
              <a:cxnLst/>
              <a:rect l="l" t="t" r="r" b="b"/>
              <a:pathLst>
                <a:path w="6766814" h="8960993">
                  <a:moveTo>
                    <a:pt x="0" y="146304"/>
                  </a:moveTo>
                  <a:cubicBezTo>
                    <a:pt x="0" y="65532"/>
                    <a:pt x="65532" y="0"/>
                    <a:pt x="146304" y="0"/>
                  </a:cubicBezTo>
                  <a:lnTo>
                    <a:pt x="6620510" y="0"/>
                  </a:lnTo>
                  <a:cubicBezTo>
                    <a:pt x="6701282" y="0"/>
                    <a:pt x="6766814" y="65532"/>
                    <a:pt x="6766814" y="146304"/>
                  </a:cubicBezTo>
                  <a:lnTo>
                    <a:pt x="6766814" y="8814689"/>
                  </a:lnTo>
                  <a:cubicBezTo>
                    <a:pt x="6766814" y="8895461"/>
                    <a:pt x="6701282" y="8960993"/>
                    <a:pt x="6620510" y="8960993"/>
                  </a:cubicBezTo>
                  <a:lnTo>
                    <a:pt x="146304" y="8960993"/>
                  </a:lnTo>
                  <a:cubicBezTo>
                    <a:pt x="65532" y="8960993"/>
                    <a:pt x="0" y="8895461"/>
                    <a:pt x="0" y="8814689"/>
                  </a:cubicBezTo>
                  <a:close/>
                </a:path>
              </a:pathLst>
            </a:custGeom>
            <a:solidFill>
              <a:srgbClr val="EDF6E8"/>
            </a:solidFill>
          </p:spPr>
          <p:txBody>
            <a:bodyPr/>
            <a:lstStyle/>
            <a:p>
              <a:endParaRPr lang="es-CO"/>
            </a:p>
          </p:txBody>
        </p:sp>
      </p:grpSp>
      <p:grpSp>
        <p:nvGrpSpPr>
          <p:cNvPr id="11" name="Group 11"/>
          <p:cNvGrpSpPr/>
          <p:nvPr/>
        </p:nvGrpSpPr>
        <p:grpSpPr>
          <a:xfrm>
            <a:off x="1303020" y="2880360"/>
            <a:ext cx="823046" cy="823046"/>
            <a:chOff x="0" y="0"/>
            <a:chExt cx="1097394" cy="1097394"/>
          </a:xfrm>
        </p:grpSpPr>
        <p:sp>
          <p:nvSpPr>
            <p:cNvPr id="12" name="Freeform 12"/>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39A900"/>
            </a:solidFill>
          </p:spPr>
          <p:txBody>
            <a:bodyPr/>
            <a:lstStyle/>
            <a:p>
              <a:endParaRPr lang="es-CO"/>
            </a:p>
          </p:txBody>
        </p:sp>
      </p:grpSp>
      <p:grpSp>
        <p:nvGrpSpPr>
          <p:cNvPr id="13" name="Group 13"/>
          <p:cNvGrpSpPr/>
          <p:nvPr/>
        </p:nvGrpSpPr>
        <p:grpSpPr>
          <a:xfrm>
            <a:off x="1516990" y="3094330"/>
            <a:ext cx="395021" cy="395021"/>
            <a:chOff x="0" y="0"/>
            <a:chExt cx="526694" cy="526694"/>
          </a:xfrm>
        </p:grpSpPr>
        <p:sp>
          <p:nvSpPr>
            <p:cNvPr id="14" name="Freeform 14" descr="icons/users.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5"/>
              <a:stretch>
                <a:fillRect r="-4" b="-4"/>
              </a:stretch>
            </a:blipFill>
          </p:spPr>
          <p:txBody>
            <a:bodyPr/>
            <a:lstStyle/>
            <a:p>
              <a:endParaRPr lang="es-CO"/>
            </a:p>
          </p:txBody>
        </p:sp>
      </p:grpSp>
      <p:grpSp>
        <p:nvGrpSpPr>
          <p:cNvPr id="15" name="Group 15"/>
          <p:cNvGrpSpPr/>
          <p:nvPr/>
        </p:nvGrpSpPr>
        <p:grpSpPr>
          <a:xfrm>
            <a:off x="2331720" y="2990088"/>
            <a:ext cx="3291754" cy="617401"/>
            <a:chOff x="0" y="0"/>
            <a:chExt cx="4389006" cy="823201"/>
          </a:xfrm>
        </p:grpSpPr>
        <p:sp>
          <p:nvSpPr>
            <p:cNvPr id="16" name="Freeform 16"/>
            <p:cNvSpPr/>
            <p:nvPr/>
          </p:nvSpPr>
          <p:spPr>
            <a:xfrm>
              <a:off x="0" y="0"/>
              <a:ext cx="4389000" cy="823200"/>
            </a:xfrm>
            <a:custGeom>
              <a:avLst/>
              <a:gdLst/>
              <a:ahLst/>
              <a:cxnLst/>
              <a:rect l="l" t="t" r="r" b="b"/>
              <a:pathLst>
                <a:path w="4389000" h="823200">
                  <a:moveTo>
                    <a:pt x="0" y="0"/>
                  </a:moveTo>
                  <a:lnTo>
                    <a:pt x="4389000" y="0"/>
                  </a:lnTo>
                  <a:lnTo>
                    <a:pt x="4389000" y="823200"/>
                  </a:lnTo>
                  <a:lnTo>
                    <a:pt x="0" y="823200"/>
                  </a:lnTo>
                  <a:close/>
                </a:path>
              </a:pathLst>
            </a:custGeom>
            <a:blipFill>
              <a:blip r:embed="rId4">
                <a:alphaModFix amt="0"/>
              </a:blip>
              <a:stretch>
                <a:fillRect t="-53887" b="-53887"/>
              </a:stretch>
            </a:blipFill>
          </p:spPr>
          <p:txBody>
            <a:bodyPr/>
            <a:lstStyle/>
            <a:p>
              <a:endParaRPr lang="es-CO"/>
            </a:p>
          </p:txBody>
        </p:sp>
        <p:sp>
          <p:nvSpPr>
            <p:cNvPr id="17" name="TextBox 17"/>
            <p:cNvSpPr txBox="1"/>
            <p:nvPr/>
          </p:nvSpPr>
          <p:spPr>
            <a:xfrm>
              <a:off x="0" y="-38100"/>
              <a:ext cx="4389006" cy="861301"/>
            </a:xfrm>
            <a:prstGeom prst="rect">
              <a:avLst/>
            </a:prstGeom>
          </p:spPr>
          <p:txBody>
            <a:bodyPr lIns="0" tIns="0" rIns="0" bIns="0" rtlCol="0" anchor="ctr"/>
            <a:lstStyle/>
            <a:p>
              <a:pPr algn="l">
                <a:lnSpc>
                  <a:spcPts val="2879"/>
                </a:lnSpc>
              </a:pPr>
              <a:r>
                <a:rPr lang="en-US" sz="2400" b="1">
                  <a:solidFill>
                    <a:srgbClr val="00304D"/>
                  </a:solidFill>
                  <a:latin typeface="Calibri (MS) Bold"/>
                  <a:ea typeface="Calibri (MS) Bold"/>
                  <a:cs typeface="Calibri (MS) Bold"/>
                  <a:sym typeface="Calibri (MS) Bold"/>
                </a:rPr>
                <a:t>Cliente</a:t>
              </a:r>
            </a:p>
          </p:txBody>
        </p:sp>
      </p:grpSp>
      <p:sp>
        <p:nvSpPr>
          <p:cNvPr id="18" name="TextBox 18"/>
          <p:cNvSpPr txBox="1"/>
          <p:nvPr/>
        </p:nvSpPr>
        <p:spPr>
          <a:xfrm>
            <a:off x="1303020" y="3870960"/>
            <a:ext cx="4183199" cy="723900"/>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Registro e inicio de sesión</a:t>
            </a:r>
          </a:p>
        </p:txBody>
      </p:sp>
      <p:sp>
        <p:nvSpPr>
          <p:cNvPr id="19" name="TextBox 19"/>
          <p:cNvSpPr txBox="1"/>
          <p:nvPr/>
        </p:nvSpPr>
        <p:spPr>
          <a:xfrm>
            <a:off x="1303020" y="4803648"/>
            <a:ext cx="4183199" cy="295275"/>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Ver perfil, registrar vehiculo</a:t>
            </a:r>
          </a:p>
        </p:txBody>
      </p:sp>
      <p:sp>
        <p:nvSpPr>
          <p:cNvPr id="20" name="TextBox 20"/>
          <p:cNvSpPr txBox="1"/>
          <p:nvPr/>
        </p:nvSpPr>
        <p:spPr>
          <a:xfrm>
            <a:off x="1303020" y="5736336"/>
            <a:ext cx="4183199" cy="295275"/>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Seleccionar caracteristicas del vehiculo</a:t>
            </a:r>
          </a:p>
        </p:txBody>
      </p:sp>
      <p:sp>
        <p:nvSpPr>
          <p:cNvPr id="21" name="TextBox 21"/>
          <p:cNvSpPr txBox="1"/>
          <p:nvPr/>
        </p:nvSpPr>
        <p:spPr>
          <a:xfrm>
            <a:off x="1303020" y="6669024"/>
            <a:ext cx="4183199" cy="295275"/>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Seleccionar servicio y agendar</a:t>
            </a:r>
          </a:p>
        </p:txBody>
      </p:sp>
      <p:sp>
        <p:nvSpPr>
          <p:cNvPr id="22" name="TextBox 22"/>
          <p:cNvSpPr txBox="1"/>
          <p:nvPr/>
        </p:nvSpPr>
        <p:spPr>
          <a:xfrm>
            <a:off x="1303020" y="7601712"/>
            <a:ext cx="4183199" cy="295275"/>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Consultar estado del servicio y cotizacion</a:t>
            </a:r>
          </a:p>
        </p:txBody>
      </p:sp>
      <p:grpSp>
        <p:nvGrpSpPr>
          <p:cNvPr id="23" name="Group 23"/>
          <p:cNvGrpSpPr/>
          <p:nvPr/>
        </p:nvGrpSpPr>
        <p:grpSpPr>
          <a:xfrm>
            <a:off x="6240780" y="2468880"/>
            <a:ext cx="5075101" cy="6720754"/>
            <a:chOff x="0" y="0"/>
            <a:chExt cx="6766801" cy="8961006"/>
          </a:xfrm>
        </p:grpSpPr>
        <p:sp>
          <p:nvSpPr>
            <p:cNvPr id="24" name="Freeform 24"/>
            <p:cNvSpPr/>
            <p:nvPr/>
          </p:nvSpPr>
          <p:spPr>
            <a:xfrm>
              <a:off x="0" y="0"/>
              <a:ext cx="6766814" cy="8960993"/>
            </a:xfrm>
            <a:custGeom>
              <a:avLst/>
              <a:gdLst/>
              <a:ahLst/>
              <a:cxnLst/>
              <a:rect l="l" t="t" r="r" b="b"/>
              <a:pathLst>
                <a:path w="6766814" h="8960993">
                  <a:moveTo>
                    <a:pt x="0" y="146304"/>
                  </a:moveTo>
                  <a:cubicBezTo>
                    <a:pt x="0" y="65532"/>
                    <a:pt x="65532" y="0"/>
                    <a:pt x="146304" y="0"/>
                  </a:cubicBezTo>
                  <a:lnTo>
                    <a:pt x="6620510" y="0"/>
                  </a:lnTo>
                  <a:cubicBezTo>
                    <a:pt x="6701282" y="0"/>
                    <a:pt x="6766814" y="65532"/>
                    <a:pt x="6766814" y="146304"/>
                  </a:cubicBezTo>
                  <a:lnTo>
                    <a:pt x="6766814" y="8814689"/>
                  </a:lnTo>
                  <a:cubicBezTo>
                    <a:pt x="6766814" y="8895461"/>
                    <a:pt x="6701282" y="8960993"/>
                    <a:pt x="6620510" y="8960993"/>
                  </a:cubicBezTo>
                  <a:lnTo>
                    <a:pt x="146304" y="8960993"/>
                  </a:lnTo>
                  <a:cubicBezTo>
                    <a:pt x="65532" y="8960993"/>
                    <a:pt x="0" y="8895461"/>
                    <a:pt x="0" y="8814689"/>
                  </a:cubicBezTo>
                  <a:close/>
                </a:path>
              </a:pathLst>
            </a:custGeom>
            <a:solidFill>
              <a:srgbClr val="EDF6E8"/>
            </a:solidFill>
          </p:spPr>
          <p:txBody>
            <a:bodyPr/>
            <a:lstStyle/>
            <a:p>
              <a:endParaRPr lang="es-CO"/>
            </a:p>
          </p:txBody>
        </p:sp>
      </p:grpSp>
      <p:grpSp>
        <p:nvGrpSpPr>
          <p:cNvPr id="25" name="Group 25"/>
          <p:cNvGrpSpPr/>
          <p:nvPr/>
        </p:nvGrpSpPr>
        <p:grpSpPr>
          <a:xfrm>
            <a:off x="6720840" y="2880360"/>
            <a:ext cx="823046" cy="823046"/>
            <a:chOff x="0" y="0"/>
            <a:chExt cx="1097394" cy="1097394"/>
          </a:xfrm>
        </p:grpSpPr>
        <p:sp>
          <p:nvSpPr>
            <p:cNvPr id="26" name="Freeform 26"/>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39A900"/>
            </a:solidFill>
          </p:spPr>
          <p:txBody>
            <a:bodyPr/>
            <a:lstStyle/>
            <a:p>
              <a:endParaRPr lang="es-CO"/>
            </a:p>
          </p:txBody>
        </p:sp>
      </p:grpSp>
      <p:grpSp>
        <p:nvGrpSpPr>
          <p:cNvPr id="27" name="Group 27"/>
          <p:cNvGrpSpPr/>
          <p:nvPr/>
        </p:nvGrpSpPr>
        <p:grpSpPr>
          <a:xfrm>
            <a:off x="6934810" y="3094330"/>
            <a:ext cx="395021" cy="395021"/>
            <a:chOff x="0" y="0"/>
            <a:chExt cx="526694" cy="526694"/>
          </a:xfrm>
        </p:grpSpPr>
        <p:sp>
          <p:nvSpPr>
            <p:cNvPr id="28" name="Freeform 28" descr="icons/cogs.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6"/>
              <a:stretch>
                <a:fillRect r="-4" b="-4"/>
              </a:stretch>
            </a:blipFill>
          </p:spPr>
          <p:txBody>
            <a:bodyPr/>
            <a:lstStyle/>
            <a:p>
              <a:endParaRPr lang="es-CO"/>
            </a:p>
          </p:txBody>
        </p:sp>
      </p:grpSp>
      <p:grpSp>
        <p:nvGrpSpPr>
          <p:cNvPr id="29" name="Group 29"/>
          <p:cNvGrpSpPr/>
          <p:nvPr/>
        </p:nvGrpSpPr>
        <p:grpSpPr>
          <a:xfrm>
            <a:off x="7749540" y="2990088"/>
            <a:ext cx="3429000" cy="617401"/>
            <a:chOff x="0" y="0"/>
            <a:chExt cx="4572000" cy="823201"/>
          </a:xfrm>
        </p:grpSpPr>
        <p:sp>
          <p:nvSpPr>
            <p:cNvPr id="30" name="Freeform 30"/>
            <p:cNvSpPr/>
            <p:nvPr/>
          </p:nvSpPr>
          <p:spPr>
            <a:xfrm>
              <a:off x="0" y="0"/>
              <a:ext cx="4572000" cy="823200"/>
            </a:xfrm>
            <a:custGeom>
              <a:avLst/>
              <a:gdLst/>
              <a:ahLst/>
              <a:cxnLst/>
              <a:rect l="l" t="t" r="r" b="b"/>
              <a:pathLst>
                <a:path w="4572000" h="823200">
                  <a:moveTo>
                    <a:pt x="0" y="0"/>
                  </a:moveTo>
                  <a:lnTo>
                    <a:pt x="4572000" y="0"/>
                  </a:lnTo>
                  <a:lnTo>
                    <a:pt x="4572000" y="823200"/>
                  </a:lnTo>
                  <a:lnTo>
                    <a:pt x="0" y="823200"/>
                  </a:lnTo>
                  <a:close/>
                </a:path>
              </a:pathLst>
            </a:custGeom>
            <a:blipFill>
              <a:blip r:embed="rId4">
                <a:alphaModFix amt="0"/>
              </a:blip>
              <a:stretch>
                <a:fillRect t="-58218" b="-58218"/>
              </a:stretch>
            </a:blipFill>
          </p:spPr>
          <p:txBody>
            <a:bodyPr/>
            <a:lstStyle/>
            <a:p>
              <a:endParaRPr lang="es-CO"/>
            </a:p>
          </p:txBody>
        </p:sp>
        <p:sp>
          <p:nvSpPr>
            <p:cNvPr id="31" name="TextBox 31"/>
            <p:cNvSpPr txBox="1"/>
            <p:nvPr/>
          </p:nvSpPr>
          <p:spPr>
            <a:xfrm>
              <a:off x="0" y="-38100"/>
              <a:ext cx="4572000" cy="861301"/>
            </a:xfrm>
            <a:prstGeom prst="rect">
              <a:avLst/>
            </a:prstGeom>
          </p:spPr>
          <p:txBody>
            <a:bodyPr lIns="0" tIns="0" rIns="0" bIns="0" rtlCol="0" anchor="ctr"/>
            <a:lstStyle/>
            <a:p>
              <a:pPr algn="l">
                <a:lnSpc>
                  <a:spcPts val="2879"/>
                </a:lnSpc>
              </a:pPr>
              <a:r>
                <a:rPr lang="en-US" sz="2400" b="1">
                  <a:solidFill>
                    <a:srgbClr val="00304D"/>
                  </a:solidFill>
                  <a:latin typeface="Calibri (MS) Bold"/>
                  <a:ea typeface="Calibri (MS) Bold"/>
                  <a:cs typeface="Calibri (MS) Bold"/>
                  <a:sym typeface="Calibri (MS) Bold"/>
                </a:rPr>
                <a:t>Administrador</a:t>
              </a:r>
            </a:p>
          </p:txBody>
        </p:sp>
      </p:grpSp>
      <p:sp>
        <p:nvSpPr>
          <p:cNvPr id="32" name="TextBox 32"/>
          <p:cNvSpPr txBox="1"/>
          <p:nvPr/>
        </p:nvSpPr>
        <p:spPr>
          <a:xfrm>
            <a:off x="6720840" y="3870960"/>
            <a:ext cx="4183199" cy="295275"/>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Gestionar productos </a:t>
            </a:r>
          </a:p>
        </p:txBody>
      </p:sp>
      <p:sp>
        <p:nvSpPr>
          <p:cNvPr id="33" name="TextBox 33"/>
          <p:cNvSpPr txBox="1"/>
          <p:nvPr/>
        </p:nvSpPr>
        <p:spPr>
          <a:xfrm>
            <a:off x="6720840" y="4803648"/>
            <a:ext cx="4183199" cy="723900"/>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Administrar inventario</a:t>
            </a:r>
          </a:p>
        </p:txBody>
      </p:sp>
      <p:sp>
        <p:nvSpPr>
          <p:cNvPr id="34" name="TextBox 34"/>
          <p:cNvSpPr txBox="1"/>
          <p:nvPr/>
        </p:nvSpPr>
        <p:spPr>
          <a:xfrm>
            <a:off x="6720840" y="5736336"/>
            <a:ext cx="4183199" cy="723900"/>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Gestionar usuarios y roles</a:t>
            </a:r>
          </a:p>
        </p:txBody>
      </p:sp>
      <p:sp>
        <p:nvSpPr>
          <p:cNvPr id="35" name="TextBox 35"/>
          <p:cNvSpPr txBox="1"/>
          <p:nvPr/>
        </p:nvSpPr>
        <p:spPr>
          <a:xfrm>
            <a:off x="6720840" y="6669024"/>
            <a:ext cx="4183199" cy="723900"/>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Ver y gestionar pedidos</a:t>
            </a:r>
          </a:p>
        </p:txBody>
      </p:sp>
      <p:sp>
        <p:nvSpPr>
          <p:cNvPr id="36" name="TextBox 36"/>
          <p:cNvSpPr txBox="1"/>
          <p:nvPr/>
        </p:nvSpPr>
        <p:spPr>
          <a:xfrm>
            <a:off x="6720840" y="7601712"/>
            <a:ext cx="4183199" cy="723900"/>
          </a:xfrm>
          <a:prstGeom prst="rect">
            <a:avLst/>
          </a:prstGeom>
        </p:spPr>
        <p:txBody>
          <a:bodyPr lIns="0" tIns="0" rIns="0" bIns="0" rtlCol="0" anchor="t">
            <a:spAutoFit/>
          </a:bodyPr>
          <a:lstStyle/>
          <a:p>
            <a:pPr algn="l">
              <a:lnSpc>
                <a:spcPts val="2070"/>
              </a:lnSpc>
            </a:pPr>
            <a:r>
              <a:rPr lang="en-US" sz="1725" b="1">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Notificaciones en tiempo real</a:t>
            </a:r>
          </a:p>
        </p:txBody>
      </p:sp>
      <p:grpSp>
        <p:nvGrpSpPr>
          <p:cNvPr id="37" name="Group 37"/>
          <p:cNvGrpSpPr/>
          <p:nvPr/>
        </p:nvGrpSpPr>
        <p:grpSpPr>
          <a:xfrm>
            <a:off x="11658600" y="2468880"/>
            <a:ext cx="5897699" cy="6720754"/>
            <a:chOff x="0" y="0"/>
            <a:chExt cx="7863599" cy="8961006"/>
          </a:xfrm>
        </p:grpSpPr>
        <p:sp>
          <p:nvSpPr>
            <p:cNvPr id="38" name="Freeform 38"/>
            <p:cNvSpPr/>
            <p:nvPr/>
          </p:nvSpPr>
          <p:spPr>
            <a:xfrm>
              <a:off x="0" y="0"/>
              <a:ext cx="7863586" cy="8960993"/>
            </a:xfrm>
            <a:custGeom>
              <a:avLst/>
              <a:gdLst/>
              <a:ahLst/>
              <a:cxnLst/>
              <a:rect l="l" t="t" r="r" b="b"/>
              <a:pathLst>
                <a:path w="7863586" h="8960993">
                  <a:moveTo>
                    <a:pt x="0" y="146304"/>
                  </a:moveTo>
                  <a:cubicBezTo>
                    <a:pt x="0" y="65532"/>
                    <a:pt x="65532" y="0"/>
                    <a:pt x="146304" y="0"/>
                  </a:cubicBezTo>
                  <a:lnTo>
                    <a:pt x="7717282" y="0"/>
                  </a:lnTo>
                  <a:cubicBezTo>
                    <a:pt x="7798053" y="0"/>
                    <a:pt x="7863586" y="65532"/>
                    <a:pt x="7863586" y="146304"/>
                  </a:cubicBezTo>
                  <a:lnTo>
                    <a:pt x="7863586" y="8814689"/>
                  </a:lnTo>
                  <a:cubicBezTo>
                    <a:pt x="7863586" y="8895461"/>
                    <a:pt x="7798053" y="8960993"/>
                    <a:pt x="7717282" y="8960993"/>
                  </a:cubicBezTo>
                  <a:lnTo>
                    <a:pt x="146304" y="8960993"/>
                  </a:lnTo>
                  <a:cubicBezTo>
                    <a:pt x="65532" y="8960993"/>
                    <a:pt x="0" y="8895461"/>
                    <a:pt x="0" y="8814689"/>
                  </a:cubicBezTo>
                  <a:close/>
                </a:path>
              </a:pathLst>
            </a:custGeom>
            <a:solidFill>
              <a:srgbClr val="00304D"/>
            </a:solidFill>
          </p:spPr>
          <p:txBody>
            <a:bodyPr/>
            <a:lstStyle/>
            <a:p>
              <a:endParaRPr lang="es-CO"/>
            </a:p>
          </p:txBody>
        </p:sp>
      </p:grpSp>
      <p:grpSp>
        <p:nvGrpSpPr>
          <p:cNvPr id="39" name="Group 39"/>
          <p:cNvGrpSpPr/>
          <p:nvPr/>
        </p:nvGrpSpPr>
        <p:grpSpPr>
          <a:xfrm>
            <a:off x="12138660" y="2880360"/>
            <a:ext cx="823046" cy="823046"/>
            <a:chOff x="0" y="0"/>
            <a:chExt cx="1097394" cy="1097394"/>
          </a:xfrm>
        </p:grpSpPr>
        <p:sp>
          <p:nvSpPr>
            <p:cNvPr id="40" name="Freeform 40"/>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FDC300"/>
            </a:solidFill>
          </p:spPr>
          <p:txBody>
            <a:bodyPr/>
            <a:lstStyle/>
            <a:p>
              <a:endParaRPr lang="es-CO"/>
            </a:p>
          </p:txBody>
        </p:sp>
      </p:grpSp>
      <p:grpSp>
        <p:nvGrpSpPr>
          <p:cNvPr id="41" name="Group 41"/>
          <p:cNvGrpSpPr/>
          <p:nvPr/>
        </p:nvGrpSpPr>
        <p:grpSpPr>
          <a:xfrm>
            <a:off x="12352630" y="3094330"/>
            <a:ext cx="395021" cy="395021"/>
            <a:chOff x="0" y="0"/>
            <a:chExt cx="526694" cy="526694"/>
          </a:xfrm>
        </p:grpSpPr>
        <p:sp>
          <p:nvSpPr>
            <p:cNvPr id="42" name="Freeform 42" descr="icons/cloud.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7"/>
              <a:stretch>
                <a:fillRect r="-4" b="-4"/>
              </a:stretch>
            </a:blipFill>
          </p:spPr>
          <p:txBody>
            <a:bodyPr/>
            <a:lstStyle/>
            <a:p>
              <a:endParaRPr lang="es-CO"/>
            </a:p>
          </p:txBody>
        </p:sp>
      </p:grpSp>
      <p:grpSp>
        <p:nvGrpSpPr>
          <p:cNvPr id="43" name="Group 43"/>
          <p:cNvGrpSpPr/>
          <p:nvPr/>
        </p:nvGrpSpPr>
        <p:grpSpPr>
          <a:xfrm>
            <a:off x="13167360" y="2990088"/>
            <a:ext cx="4114800" cy="617401"/>
            <a:chOff x="0" y="0"/>
            <a:chExt cx="5486400" cy="823201"/>
          </a:xfrm>
        </p:grpSpPr>
        <p:sp>
          <p:nvSpPr>
            <p:cNvPr id="44" name="Freeform 44"/>
            <p:cNvSpPr/>
            <p:nvPr/>
          </p:nvSpPr>
          <p:spPr>
            <a:xfrm>
              <a:off x="0" y="0"/>
              <a:ext cx="5486400" cy="823200"/>
            </a:xfrm>
            <a:custGeom>
              <a:avLst/>
              <a:gdLst/>
              <a:ahLst/>
              <a:cxnLst/>
              <a:rect l="l" t="t" r="r" b="b"/>
              <a:pathLst>
                <a:path w="5486400" h="823200">
                  <a:moveTo>
                    <a:pt x="0" y="0"/>
                  </a:moveTo>
                  <a:lnTo>
                    <a:pt x="5486400" y="0"/>
                  </a:lnTo>
                  <a:lnTo>
                    <a:pt x="5486400" y="823200"/>
                  </a:lnTo>
                  <a:lnTo>
                    <a:pt x="0" y="823200"/>
                  </a:lnTo>
                  <a:close/>
                </a:path>
              </a:pathLst>
            </a:custGeom>
            <a:blipFill>
              <a:blip r:embed="rId4">
                <a:alphaModFix amt="0"/>
              </a:blip>
              <a:stretch>
                <a:fillRect t="-79862" b="-79862"/>
              </a:stretch>
            </a:blipFill>
          </p:spPr>
          <p:txBody>
            <a:bodyPr/>
            <a:lstStyle/>
            <a:p>
              <a:endParaRPr lang="es-CO"/>
            </a:p>
          </p:txBody>
        </p:sp>
        <p:sp>
          <p:nvSpPr>
            <p:cNvPr id="45" name="TextBox 45"/>
            <p:cNvSpPr txBox="1"/>
            <p:nvPr/>
          </p:nvSpPr>
          <p:spPr>
            <a:xfrm>
              <a:off x="0" y="-57150"/>
              <a:ext cx="5486400" cy="880351"/>
            </a:xfrm>
            <a:prstGeom prst="rect">
              <a:avLst/>
            </a:prstGeom>
          </p:spPr>
          <p:txBody>
            <a:bodyPr lIns="0" tIns="0" rIns="0" bIns="0" rtlCol="0" anchor="ctr"/>
            <a:lstStyle/>
            <a:p>
              <a:pPr algn="l">
                <a:lnSpc>
                  <a:spcPts val="2700"/>
                </a:lnSpc>
              </a:pPr>
              <a:r>
                <a:rPr lang="en-US" sz="2250" b="1">
                  <a:solidFill>
                    <a:srgbClr val="FFFFFF"/>
                  </a:solidFill>
                  <a:latin typeface="Calibri (MS) Bold"/>
                  <a:ea typeface="Calibri (MS) Bold"/>
                  <a:cs typeface="Calibri (MS) Bold"/>
                  <a:sym typeface="Calibri (MS) Bold"/>
                </a:rPr>
                <a:t>Alcance tecnológico</a:t>
              </a:r>
            </a:p>
          </p:txBody>
        </p:sp>
      </p:grpSp>
      <p:sp>
        <p:nvSpPr>
          <p:cNvPr id="46" name="TextBox 46"/>
          <p:cNvSpPr txBox="1"/>
          <p:nvPr/>
        </p:nvSpPr>
        <p:spPr>
          <a:xfrm>
            <a:off x="12138660" y="3870960"/>
            <a:ext cx="5143500" cy="792299"/>
          </a:xfrm>
          <a:prstGeom prst="rect">
            <a:avLst/>
          </a:prstGeom>
        </p:spPr>
        <p:txBody>
          <a:bodyPr lIns="0" tIns="0" rIns="0" bIns="0" rtlCol="0" anchor="t">
            <a:spAutoFit/>
          </a:bodyPr>
          <a:lstStyle/>
          <a:p>
            <a:pPr algn="l">
              <a:lnSpc>
                <a:spcPts val="2070"/>
              </a:lnSpc>
            </a:pPr>
            <a:r>
              <a:rPr lang="en-US" sz="1725" b="1">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Plataforma web adaptable (responsive)</a:t>
            </a:r>
          </a:p>
        </p:txBody>
      </p:sp>
      <p:sp>
        <p:nvSpPr>
          <p:cNvPr id="47" name="TextBox 47"/>
          <p:cNvSpPr txBox="1"/>
          <p:nvPr/>
        </p:nvSpPr>
        <p:spPr>
          <a:xfrm>
            <a:off x="12138660" y="4803648"/>
            <a:ext cx="5143500" cy="295275"/>
          </a:xfrm>
          <a:prstGeom prst="rect">
            <a:avLst/>
          </a:prstGeom>
        </p:spPr>
        <p:txBody>
          <a:bodyPr lIns="0" tIns="0" rIns="0" bIns="0" rtlCol="0" anchor="t">
            <a:spAutoFit/>
          </a:bodyPr>
          <a:lstStyle/>
          <a:p>
            <a:pPr algn="l">
              <a:lnSpc>
                <a:spcPts val="2070"/>
              </a:lnSpc>
            </a:pPr>
            <a:r>
              <a:rPr lang="en-US" sz="1725" b="1">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Unificacion de procesos</a:t>
            </a:r>
          </a:p>
        </p:txBody>
      </p:sp>
      <p:sp>
        <p:nvSpPr>
          <p:cNvPr id="48" name="TextBox 48"/>
          <p:cNvSpPr txBox="1"/>
          <p:nvPr/>
        </p:nvSpPr>
        <p:spPr>
          <a:xfrm>
            <a:off x="12138660" y="5736336"/>
            <a:ext cx="5143500" cy="295275"/>
          </a:xfrm>
          <a:prstGeom prst="rect">
            <a:avLst/>
          </a:prstGeom>
        </p:spPr>
        <p:txBody>
          <a:bodyPr lIns="0" tIns="0" rIns="0" bIns="0" rtlCol="0" anchor="t">
            <a:spAutoFit/>
          </a:bodyPr>
          <a:lstStyle/>
          <a:p>
            <a:pPr algn="l">
              <a:lnSpc>
                <a:spcPts val="2070"/>
              </a:lnSpc>
            </a:pPr>
            <a:r>
              <a:rPr lang="en-US" sz="1725" b="1">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Base de datos relacional</a:t>
            </a:r>
          </a:p>
        </p:txBody>
      </p:sp>
      <p:sp>
        <p:nvSpPr>
          <p:cNvPr id="49" name="TextBox 49"/>
          <p:cNvSpPr txBox="1"/>
          <p:nvPr/>
        </p:nvSpPr>
        <p:spPr>
          <a:xfrm>
            <a:off x="12138660" y="6669024"/>
            <a:ext cx="5143500" cy="295275"/>
          </a:xfrm>
          <a:prstGeom prst="rect">
            <a:avLst/>
          </a:prstGeom>
        </p:spPr>
        <p:txBody>
          <a:bodyPr lIns="0" tIns="0" rIns="0" bIns="0" rtlCol="0" anchor="t">
            <a:spAutoFit/>
          </a:bodyPr>
          <a:lstStyle/>
          <a:p>
            <a:pPr algn="l">
              <a:lnSpc>
                <a:spcPts val="2070"/>
              </a:lnSpc>
            </a:pPr>
            <a:r>
              <a:rPr lang="en-US" sz="1725" b="1">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Integración con servicios en la nube (Supabase)</a:t>
            </a:r>
          </a:p>
        </p:txBody>
      </p:sp>
      <p:sp>
        <p:nvSpPr>
          <p:cNvPr id="50" name="TextBox 50"/>
          <p:cNvSpPr txBox="1"/>
          <p:nvPr/>
        </p:nvSpPr>
        <p:spPr>
          <a:xfrm>
            <a:off x="12138660" y="7601712"/>
            <a:ext cx="5143500" cy="295275"/>
          </a:xfrm>
          <a:prstGeom prst="rect">
            <a:avLst/>
          </a:prstGeom>
        </p:spPr>
        <p:txBody>
          <a:bodyPr lIns="0" tIns="0" rIns="0" bIns="0" rtlCol="0" anchor="t">
            <a:spAutoFit/>
          </a:bodyPr>
          <a:lstStyle/>
          <a:p>
            <a:pPr algn="l">
              <a:lnSpc>
                <a:spcPts val="2070"/>
              </a:lnSpc>
            </a:pPr>
            <a:r>
              <a:rPr lang="en-US" sz="1725" b="1">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Enfoque en una sola mecanica</a:t>
            </a:r>
          </a:p>
        </p:txBody>
      </p:sp>
      <p:sp>
        <p:nvSpPr>
          <p:cNvPr id="52" name="Rectángulo: esquinas superiores redondeadas 51">
            <a:extLst>
              <a:ext uri="{FF2B5EF4-FFF2-40B4-BE49-F238E27FC236}">
                <a16:creationId xmlns:a16="http://schemas.microsoft.com/office/drawing/2014/main" id="{FA186C65-C303-6205-7E4B-D055A805C27B}"/>
              </a:ext>
            </a:extLst>
          </p:cNvPr>
          <p:cNvSpPr/>
          <p:nvPr/>
        </p:nvSpPr>
        <p:spPr>
          <a:xfrm>
            <a:off x="7848600" y="9765506"/>
            <a:ext cx="2590800" cy="152400"/>
          </a:xfrm>
          <a:prstGeom prst="round2SameRect">
            <a:avLst/>
          </a:prstGeom>
          <a:solidFill>
            <a:srgbClr val="C0000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576072"/>
            <a:ext cx="13716000" cy="480146"/>
            <a:chOff x="0" y="0"/>
            <a:chExt cx="18288000" cy="640194"/>
          </a:xfrm>
        </p:grpSpPr>
        <p:sp>
          <p:nvSpPr>
            <p:cNvPr id="4" name="Freeform 4"/>
            <p:cNvSpPr/>
            <p:nvPr/>
          </p:nvSpPr>
          <p:spPr>
            <a:xfrm>
              <a:off x="0" y="0"/>
              <a:ext cx="18288000" cy="640200"/>
            </a:xfrm>
            <a:custGeom>
              <a:avLst/>
              <a:gdLst/>
              <a:ahLst/>
              <a:cxnLst/>
              <a:rect l="l" t="t" r="r" b="b"/>
              <a:pathLst>
                <a:path w="18288000" h="640200">
                  <a:moveTo>
                    <a:pt x="0" y="0"/>
                  </a:moveTo>
                  <a:lnTo>
                    <a:pt x="18288000" y="0"/>
                  </a:lnTo>
                  <a:lnTo>
                    <a:pt x="18288000" y="640200"/>
                  </a:lnTo>
                  <a:lnTo>
                    <a:pt x="0" y="640200"/>
                  </a:lnTo>
                  <a:close/>
                </a:path>
              </a:pathLst>
            </a:custGeom>
            <a:blipFill>
              <a:blip r:embed="rId4">
                <a:alphaModFix amt="0"/>
              </a:blip>
              <a:stretch>
                <a:fillRect t="-506611" b="-506610"/>
              </a:stretch>
            </a:blipFill>
          </p:spPr>
          <p:txBody>
            <a:bodyPr/>
            <a:lstStyle/>
            <a:p>
              <a:endParaRPr lang="es-CO"/>
            </a:p>
          </p:txBody>
        </p:sp>
        <p:sp>
          <p:nvSpPr>
            <p:cNvPr id="5" name="TextBox 5"/>
            <p:cNvSpPr txBox="1"/>
            <p:nvPr/>
          </p:nvSpPr>
          <p:spPr>
            <a:xfrm>
              <a:off x="0" y="-47625"/>
              <a:ext cx="18288000" cy="687819"/>
            </a:xfrm>
            <a:prstGeom prst="rect">
              <a:avLst/>
            </a:prstGeom>
          </p:spPr>
          <p:txBody>
            <a:bodyPr lIns="0" tIns="0" rIns="0" bIns="0" rtlCol="0" anchor="ctr"/>
            <a:lstStyle/>
            <a:p>
              <a:pPr algn="l">
                <a:lnSpc>
                  <a:spcPts val="2340"/>
                </a:lnSpc>
              </a:pPr>
              <a:r>
                <a:rPr lang="en-US" sz="1950" b="1">
                  <a:solidFill>
                    <a:srgbClr val="39A900"/>
                  </a:solidFill>
                  <a:latin typeface="Calibri (MS) Bold"/>
                  <a:ea typeface="Calibri (MS) Bold"/>
                  <a:cs typeface="Calibri (MS) Bold"/>
                  <a:sym typeface="Calibri (MS) Bold"/>
                </a:rPr>
                <a:t>CÓMO TRABAJAMOS</a:t>
              </a:r>
            </a:p>
          </p:txBody>
        </p:sp>
      </p:grpSp>
      <p:grpSp>
        <p:nvGrpSpPr>
          <p:cNvPr id="6" name="Group 6"/>
          <p:cNvGrpSpPr/>
          <p:nvPr/>
        </p:nvGrpSpPr>
        <p:grpSpPr>
          <a:xfrm>
            <a:off x="822960" y="987552"/>
            <a:ext cx="16184699" cy="1165946"/>
            <a:chOff x="0" y="0"/>
            <a:chExt cx="21579599" cy="1554594"/>
          </a:xfrm>
        </p:grpSpPr>
        <p:sp>
          <p:nvSpPr>
            <p:cNvPr id="7" name="Freeform 7"/>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8" name="TextBox 8"/>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Metodología ágil: Scrum</a:t>
              </a:r>
            </a:p>
          </p:txBody>
        </p:sp>
      </p:grpSp>
      <p:grpSp>
        <p:nvGrpSpPr>
          <p:cNvPr id="9" name="Group 9"/>
          <p:cNvGrpSpPr/>
          <p:nvPr/>
        </p:nvGrpSpPr>
        <p:grpSpPr>
          <a:xfrm>
            <a:off x="822960" y="2400300"/>
            <a:ext cx="15910646" cy="891454"/>
            <a:chOff x="0" y="0"/>
            <a:chExt cx="21214194" cy="1188606"/>
          </a:xfrm>
        </p:grpSpPr>
        <p:sp>
          <p:nvSpPr>
            <p:cNvPr id="10" name="Freeform 10"/>
            <p:cNvSpPr/>
            <p:nvPr/>
          </p:nvSpPr>
          <p:spPr>
            <a:xfrm>
              <a:off x="0" y="0"/>
              <a:ext cx="21214200" cy="1188600"/>
            </a:xfrm>
            <a:custGeom>
              <a:avLst/>
              <a:gdLst/>
              <a:ahLst/>
              <a:cxnLst/>
              <a:rect l="l" t="t" r="r" b="b"/>
              <a:pathLst>
                <a:path w="21214200" h="1188600">
                  <a:moveTo>
                    <a:pt x="0" y="0"/>
                  </a:moveTo>
                  <a:lnTo>
                    <a:pt x="21214200" y="0"/>
                  </a:lnTo>
                  <a:lnTo>
                    <a:pt x="21214200" y="1188600"/>
                  </a:lnTo>
                  <a:lnTo>
                    <a:pt x="0" y="1188600"/>
                  </a:lnTo>
                  <a:close/>
                </a:path>
              </a:pathLst>
            </a:custGeom>
            <a:blipFill>
              <a:blip r:embed="rId4">
                <a:alphaModFix amt="0"/>
              </a:blip>
              <a:stretch>
                <a:fillRect t="-297769" b="-297770"/>
              </a:stretch>
            </a:blipFill>
          </p:spPr>
          <p:txBody>
            <a:bodyPr/>
            <a:lstStyle/>
            <a:p>
              <a:endParaRPr lang="es-CO"/>
            </a:p>
          </p:txBody>
        </p:sp>
        <p:sp>
          <p:nvSpPr>
            <p:cNvPr id="11" name="TextBox 11"/>
            <p:cNvSpPr txBox="1"/>
            <p:nvPr/>
          </p:nvSpPr>
          <p:spPr>
            <a:xfrm>
              <a:off x="0" y="-38100"/>
              <a:ext cx="21214194" cy="1226706"/>
            </a:xfrm>
            <a:prstGeom prst="rect">
              <a:avLst/>
            </a:prstGeom>
          </p:spPr>
          <p:txBody>
            <a:bodyPr lIns="0" tIns="0" rIns="0" bIns="0" rtlCol="0" anchor="ctr"/>
            <a:lstStyle/>
            <a:p>
              <a:pPr algn="l">
                <a:lnSpc>
                  <a:spcPts val="2430"/>
                </a:lnSpc>
              </a:pPr>
              <a:r>
                <a:rPr lang="en-US" sz="2025">
                  <a:solidFill>
                    <a:srgbClr val="22292E"/>
                  </a:solidFill>
                  <a:latin typeface="Calibri (MS)"/>
                  <a:ea typeface="Calibri (MS)"/>
                  <a:cs typeface="Calibri (MS)"/>
                  <a:sym typeface="Calibri (MS)"/>
                </a:rPr>
                <a:t>El proyecto se desarrolló bajo un ciclo de vida iterativo e incremental (Scrum), permitiendo incorporar mejoras y nuevas funcionalidades de forma progresiva a lo largo de 6 meses.</a:t>
              </a:r>
            </a:p>
          </p:txBody>
        </p:sp>
      </p:grpSp>
      <p:grpSp>
        <p:nvGrpSpPr>
          <p:cNvPr id="12" name="Group 12"/>
          <p:cNvGrpSpPr/>
          <p:nvPr/>
        </p:nvGrpSpPr>
        <p:grpSpPr>
          <a:xfrm>
            <a:off x="822960" y="3634740"/>
            <a:ext cx="5143500" cy="1851746"/>
            <a:chOff x="0" y="0"/>
            <a:chExt cx="6858000" cy="2468994"/>
          </a:xfrm>
        </p:grpSpPr>
        <p:sp>
          <p:nvSpPr>
            <p:cNvPr id="13" name="Freeform 13"/>
            <p:cNvSpPr/>
            <p:nvPr/>
          </p:nvSpPr>
          <p:spPr>
            <a:xfrm>
              <a:off x="0" y="0"/>
              <a:ext cx="6858000" cy="2469007"/>
            </a:xfrm>
            <a:custGeom>
              <a:avLst/>
              <a:gdLst/>
              <a:ahLst/>
              <a:cxnLst/>
              <a:rect l="l" t="t" r="r" b="b"/>
              <a:pathLst>
                <a:path w="6858000" h="2469007">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txBody>
            <a:bodyPr/>
            <a:lstStyle/>
            <a:p>
              <a:endParaRPr lang="es-CO"/>
            </a:p>
          </p:txBody>
        </p:sp>
      </p:grpSp>
      <p:grpSp>
        <p:nvGrpSpPr>
          <p:cNvPr id="14" name="Group 14"/>
          <p:cNvGrpSpPr/>
          <p:nvPr/>
        </p:nvGrpSpPr>
        <p:grpSpPr>
          <a:xfrm>
            <a:off x="1069848" y="3881628"/>
            <a:ext cx="823046" cy="823046"/>
            <a:chOff x="0" y="0"/>
            <a:chExt cx="1097394" cy="1097394"/>
          </a:xfrm>
        </p:grpSpPr>
        <p:sp>
          <p:nvSpPr>
            <p:cNvPr id="15" name="Freeform 15"/>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txBody>
            <a:bodyPr/>
            <a:lstStyle/>
            <a:p>
              <a:endParaRPr lang="es-CO"/>
            </a:p>
          </p:txBody>
        </p:sp>
      </p:grpSp>
      <p:grpSp>
        <p:nvGrpSpPr>
          <p:cNvPr id="16" name="Group 16"/>
          <p:cNvGrpSpPr/>
          <p:nvPr/>
        </p:nvGrpSpPr>
        <p:grpSpPr>
          <a:xfrm>
            <a:off x="1283818" y="4095598"/>
            <a:ext cx="395021" cy="395021"/>
            <a:chOff x="0" y="0"/>
            <a:chExt cx="526694" cy="526694"/>
          </a:xfrm>
        </p:grpSpPr>
        <p:sp>
          <p:nvSpPr>
            <p:cNvPr id="17" name="Freeform 17" descr="icons/users.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5"/>
              <a:stretch>
                <a:fillRect r="-4" b="-4"/>
              </a:stretch>
            </a:blipFill>
          </p:spPr>
          <p:txBody>
            <a:bodyPr/>
            <a:lstStyle/>
            <a:p>
              <a:endParaRPr lang="es-CO"/>
            </a:p>
          </p:txBody>
        </p:sp>
      </p:grpSp>
      <p:grpSp>
        <p:nvGrpSpPr>
          <p:cNvPr id="18" name="Group 18"/>
          <p:cNvGrpSpPr/>
          <p:nvPr/>
        </p:nvGrpSpPr>
        <p:grpSpPr>
          <a:xfrm>
            <a:off x="2125980" y="3813048"/>
            <a:ext cx="3634654" cy="438750"/>
            <a:chOff x="0" y="0"/>
            <a:chExt cx="4846206" cy="585000"/>
          </a:xfrm>
        </p:grpSpPr>
        <p:sp>
          <p:nvSpPr>
            <p:cNvPr id="19" name="Freeform 19"/>
            <p:cNvSpPr/>
            <p:nvPr/>
          </p:nvSpPr>
          <p:spPr>
            <a:xfrm>
              <a:off x="0" y="0"/>
              <a:ext cx="4846200" cy="585000"/>
            </a:xfrm>
            <a:custGeom>
              <a:avLst/>
              <a:gdLst/>
              <a:ahLst/>
              <a:cxnLst/>
              <a:rect l="l" t="t" r="r" b="b"/>
              <a:pathLst>
                <a:path w="4846200" h="585000">
                  <a:moveTo>
                    <a:pt x="0" y="0"/>
                  </a:moveTo>
                  <a:lnTo>
                    <a:pt x="4846200" y="0"/>
                  </a:lnTo>
                  <a:lnTo>
                    <a:pt x="4846200" y="585000"/>
                  </a:lnTo>
                  <a:lnTo>
                    <a:pt x="0" y="585000"/>
                  </a:lnTo>
                  <a:close/>
                </a:path>
              </a:pathLst>
            </a:custGeom>
            <a:blipFill>
              <a:blip r:embed="rId4">
                <a:alphaModFix amt="0"/>
              </a:blip>
              <a:stretch>
                <a:fillRect t="-111416" b="-111416"/>
              </a:stretch>
            </a:blipFill>
          </p:spPr>
          <p:txBody>
            <a:bodyPr/>
            <a:lstStyle/>
            <a:p>
              <a:endParaRPr lang="es-CO"/>
            </a:p>
          </p:txBody>
        </p:sp>
        <p:sp>
          <p:nvSpPr>
            <p:cNvPr id="20" name="TextBox 20"/>
            <p:cNvSpPr txBox="1"/>
            <p:nvPr/>
          </p:nvSpPr>
          <p:spPr>
            <a:xfrm>
              <a:off x="0" y="-38100"/>
              <a:ext cx="4846206" cy="623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Kevin Barreto</a:t>
              </a:r>
            </a:p>
          </p:txBody>
        </p:sp>
      </p:grpSp>
      <p:grpSp>
        <p:nvGrpSpPr>
          <p:cNvPr id="21" name="Group 21"/>
          <p:cNvGrpSpPr/>
          <p:nvPr/>
        </p:nvGrpSpPr>
        <p:grpSpPr>
          <a:xfrm>
            <a:off x="2125980" y="4197096"/>
            <a:ext cx="3634654" cy="411299"/>
            <a:chOff x="0" y="0"/>
            <a:chExt cx="4846206" cy="548399"/>
          </a:xfrm>
        </p:grpSpPr>
        <p:sp>
          <p:nvSpPr>
            <p:cNvPr id="22" name="Freeform 22"/>
            <p:cNvSpPr/>
            <p:nvPr/>
          </p:nvSpPr>
          <p:spPr>
            <a:xfrm>
              <a:off x="0" y="0"/>
              <a:ext cx="4846200" cy="548400"/>
            </a:xfrm>
            <a:custGeom>
              <a:avLst/>
              <a:gdLst/>
              <a:ahLst/>
              <a:cxnLst/>
              <a:rect l="l" t="t" r="r" b="b"/>
              <a:pathLst>
                <a:path w="4846200" h="548400">
                  <a:moveTo>
                    <a:pt x="0" y="0"/>
                  </a:moveTo>
                  <a:lnTo>
                    <a:pt x="4846200" y="0"/>
                  </a:lnTo>
                  <a:lnTo>
                    <a:pt x="4846200" y="548400"/>
                  </a:lnTo>
                  <a:lnTo>
                    <a:pt x="0" y="548400"/>
                  </a:lnTo>
                  <a:close/>
                </a:path>
              </a:pathLst>
            </a:custGeom>
            <a:blipFill>
              <a:blip r:embed="rId4">
                <a:alphaModFix amt="0"/>
              </a:blip>
              <a:stretch>
                <a:fillRect t="-122189" b="-122188"/>
              </a:stretch>
            </a:blipFill>
          </p:spPr>
          <p:txBody>
            <a:bodyPr/>
            <a:lstStyle/>
            <a:p>
              <a:endParaRPr lang="es-CO"/>
            </a:p>
          </p:txBody>
        </p:sp>
        <p:sp>
          <p:nvSpPr>
            <p:cNvPr id="23" name="TextBox 23"/>
            <p:cNvSpPr txBox="1"/>
            <p:nvPr/>
          </p:nvSpPr>
          <p:spPr>
            <a:xfrm>
              <a:off x="0" y="-19050"/>
              <a:ext cx="4846206" cy="567449"/>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Product Owner</a:t>
              </a:r>
            </a:p>
          </p:txBody>
        </p:sp>
      </p:grpSp>
      <p:grpSp>
        <p:nvGrpSpPr>
          <p:cNvPr id="24" name="Group 24"/>
          <p:cNvGrpSpPr/>
          <p:nvPr/>
        </p:nvGrpSpPr>
        <p:grpSpPr>
          <a:xfrm>
            <a:off x="1069848" y="4869180"/>
            <a:ext cx="4663354" cy="548554"/>
            <a:chOff x="0" y="0"/>
            <a:chExt cx="6217806" cy="731406"/>
          </a:xfrm>
        </p:grpSpPr>
        <p:sp>
          <p:nvSpPr>
            <p:cNvPr id="25" name="Freeform 25"/>
            <p:cNvSpPr/>
            <p:nvPr/>
          </p:nvSpPr>
          <p:spPr>
            <a:xfrm>
              <a:off x="0" y="0"/>
              <a:ext cx="6217800" cy="731400"/>
            </a:xfrm>
            <a:custGeom>
              <a:avLst/>
              <a:gdLst/>
              <a:ahLst/>
              <a:cxnLst/>
              <a:rect l="l" t="t" r="r" b="b"/>
              <a:pathLst>
                <a:path w="6217800" h="731400">
                  <a:moveTo>
                    <a:pt x="0" y="0"/>
                  </a:moveTo>
                  <a:lnTo>
                    <a:pt x="6217800" y="0"/>
                  </a:lnTo>
                  <a:lnTo>
                    <a:pt x="6217800" y="731400"/>
                  </a:lnTo>
                  <a:lnTo>
                    <a:pt x="0" y="731400"/>
                  </a:lnTo>
                  <a:close/>
                </a:path>
              </a:pathLst>
            </a:custGeom>
            <a:blipFill>
              <a:blip r:embed="rId4">
                <a:alphaModFix amt="0"/>
              </a:blip>
              <a:stretch>
                <a:fillRect t="-115646" b="-115647"/>
              </a:stretch>
            </a:blipFill>
          </p:spPr>
          <p:txBody>
            <a:bodyPr/>
            <a:lstStyle/>
            <a:p>
              <a:endParaRPr lang="es-CO"/>
            </a:p>
          </p:txBody>
        </p:sp>
        <p:sp>
          <p:nvSpPr>
            <p:cNvPr id="26" name="TextBox 26"/>
            <p:cNvSpPr txBox="1"/>
            <p:nvPr/>
          </p:nvSpPr>
          <p:spPr>
            <a:xfrm>
              <a:off x="0" y="-28575"/>
              <a:ext cx="6217806" cy="759981"/>
            </a:xfrm>
            <a:prstGeom prst="rect">
              <a:avLst/>
            </a:prstGeom>
          </p:spPr>
          <p:txBody>
            <a:bodyPr lIns="0" tIns="0" rIns="0" bIns="0" rtlCol="0" anchor="ctr"/>
            <a:lstStyle/>
            <a:p>
              <a:pPr algn="l">
                <a:lnSpc>
                  <a:spcPts val="1764"/>
                </a:lnSpc>
              </a:pPr>
              <a:r>
                <a:rPr lang="en-US" sz="1470">
                  <a:solidFill>
                    <a:srgbClr val="5B6670"/>
                  </a:solidFill>
                  <a:latin typeface="Calibri (MS)"/>
                  <a:ea typeface="Calibri (MS)"/>
                  <a:cs typeface="Calibri (MS)"/>
                  <a:sym typeface="Calibri (MS)"/>
                </a:rPr>
                <a:t>Define y prioriza el backlog</a:t>
              </a:r>
            </a:p>
          </p:txBody>
        </p:sp>
      </p:grpSp>
      <p:grpSp>
        <p:nvGrpSpPr>
          <p:cNvPr id="27" name="Group 27"/>
          <p:cNvGrpSpPr/>
          <p:nvPr/>
        </p:nvGrpSpPr>
        <p:grpSpPr>
          <a:xfrm>
            <a:off x="6199632" y="3634740"/>
            <a:ext cx="5143500" cy="1851746"/>
            <a:chOff x="0" y="0"/>
            <a:chExt cx="6858000" cy="2468994"/>
          </a:xfrm>
        </p:grpSpPr>
        <p:sp>
          <p:nvSpPr>
            <p:cNvPr id="28" name="Freeform 28"/>
            <p:cNvSpPr/>
            <p:nvPr/>
          </p:nvSpPr>
          <p:spPr>
            <a:xfrm>
              <a:off x="0" y="0"/>
              <a:ext cx="6858000" cy="2469007"/>
            </a:xfrm>
            <a:custGeom>
              <a:avLst/>
              <a:gdLst/>
              <a:ahLst/>
              <a:cxnLst/>
              <a:rect l="l" t="t" r="r" b="b"/>
              <a:pathLst>
                <a:path w="6858000" h="2469007">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txBody>
            <a:bodyPr/>
            <a:lstStyle/>
            <a:p>
              <a:endParaRPr lang="es-CO"/>
            </a:p>
          </p:txBody>
        </p:sp>
      </p:grpSp>
      <p:grpSp>
        <p:nvGrpSpPr>
          <p:cNvPr id="29" name="Group 29"/>
          <p:cNvGrpSpPr/>
          <p:nvPr/>
        </p:nvGrpSpPr>
        <p:grpSpPr>
          <a:xfrm>
            <a:off x="6446520" y="3881628"/>
            <a:ext cx="823046" cy="823046"/>
            <a:chOff x="0" y="0"/>
            <a:chExt cx="1097394" cy="1097394"/>
          </a:xfrm>
        </p:grpSpPr>
        <p:sp>
          <p:nvSpPr>
            <p:cNvPr id="30" name="Freeform 30"/>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txBody>
            <a:bodyPr/>
            <a:lstStyle/>
            <a:p>
              <a:endParaRPr lang="es-CO"/>
            </a:p>
          </p:txBody>
        </p:sp>
      </p:grpSp>
      <p:grpSp>
        <p:nvGrpSpPr>
          <p:cNvPr id="31" name="Group 31"/>
          <p:cNvGrpSpPr/>
          <p:nvPr/>
        </p:nvGrpSpPr>
        <p:grpSpPr>
          <a:xfrm>
            <a:off x="6660490" y="4095598"/>
            <a:ext cx="395021" cy="395021"/>
            <a:chOff x="0" y="0"/>
            <a:chExt cx="526694" cy="526694"/>
          </a:xfrm>
        </p:grpSpPr>
        <p:sp>
          <p:nvSpPr>
            <p:cNvPr id="32" name="Freeform 32" descr="icons/users.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5"/>
              <a:stretch>
                <a:fillRect r="-4" b="-4"/>
              </a:stretch>
            </a:blipFill>
          </p:spPr>
          <p:txBody>
            <a:bodyPr/>
            <a:lstStyle/>
            <a:p>
              <a:endParaRPr lang="es-CO"/>
            </a:p>
          </p:txBody>
        </p:sp>
      </p:grpSp>
      <p:grpSp>
        <p:nvGrpSpPr>
          <p:cNvPr id="33" name="Group 33"/>
          <p:cNvGrpSpPr/>
          <p:nvPr/>
        </p:nvGrpSpPr>
        <p:grpSpPr>
          <a:xfrm>
            <a:off x="7502652" y="3813048"/>
            <a:ext cx="3634654" cy="438750"/>
            <a:chOff x="0" y="0"/>
            <a:chExt cx="4846206" cy="585000"/>
          </a:xfrm>
        </p:grpSpPr>
        <p:sp>
          <p:nvSpPr>
            <p:cNvPr id="34" name="Freeform 34"/>
            <p:cNvSpPr/>
            <p:nvPr/>
          </p:nvSpPr>
          <p:spPr>
            <a:xfrm>
              <a:off x="0" y="0"/>
              <a:ext cx="4846200" cy="585000"/>
            </a:xfrm>
            <a:custGeom>
              <a:avLst/>
              <a:gdLst/>
              <a:ahLst/>
              <a:cxnLst/>
              <a:rect l="l" t="t" r="r" b="b"/>
              <a:pathLst>
                <a:path w="4846200" h="585000">
                  <a:moveTo>
                    <a:pt x="0" y="0"/>
                  </a:moveTo>
                  <a:lnTo>
                    <a:pt x="4846200" y="0"/>
                  </a:lnTo>
                  <a:lnTo>
                    <a:pt x="4846200" y="585000"/>
                  </a:lnTo>
                  <a:lnTo>
                    <a:pt x="0" y="585000"/>
                  </a:lnTo>
                  <a:close/>
                </a:path>
              </a:pathLst>
            </a:custGeom>
            <a:blipFill>
              <a:blip r:embed="rId4">
                <a:alphaModFix amt="0"/>
              </a:blip>
              <a:stretch>
                <a:fillRect t="-111416" b="-111416"/>
              </a:stretch>
            </a:blipFill>
          </p:spPr>
          <p:txBody>
            <a:bodyPr/>
            <a:lstStyle/>
            <a:p>
              <a:endParaRPr lang="es-CO"/>
            </a:p>
          </p:txBody>
        </p:sp>
        <p:sp>
          <p:nvSpPr>
            <p:cNvPr id="35" name="TextBox 35"/>
            <p:cNvSpPr txBox="1"/>
            <p:nvPr/>
          </p:nvSpPr>
          <p:spPr>
            <a:xfrm>
              <a:off x="0" y="-38100"/>
              <a:ext cx="4846206" cy="623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Joseph Zapata</a:t>
              </a:r>
            </a:p>
          </p:txBody>
        </p:sp>
      </p:grpSp>
      <p:grpSp>
        <p:nvGrpSpPr>
          <p:cNvPr id="36" name="Group 36"/>
          <p:cNvGrpSpPr/>
          <p:nvPr/>
        </p:nvGrpSpPr>
        <p:grpSpPr>
          <a:xfrm>
            <a:off x="7502652" y="4197096"/>
            <a:ext cx="3634654" cy="411299"/>
            <a:chOff x="0" y="0"/>
            <a:chExt cx="4846206" cy="548399"/>
          </a:xfrm>
        </p:grpSpPr>
        <p:sp>
          <p:nvSpPr>
            <p:cNvPr id="37" name="Freeform 37"/>
            <p:cNvSpPr/>
            <p:nvPr/>
          </p:nvSpPr>
          <p:spPr>
            <a:xfrm>
              <a:off x="0" y="0"/>
              <a:ext cx="4846200" cy="548400"/>
            </a:xfrm>
            <a:custGeom>
              <a:avLst/>
              <a:gdLst/>
              <a:ahLst/>
              <a:cxnLst/>
              <a:rect l="l" t="t" r="r" b="b"/>
              <a:pathLst>
                <a:path w="4846200" h="548400">
                  <a:moveTo>
                    <a:pt x="0" y="0"/>
                  </a:moveTo>
                  <a:lnTo>
                    <a:pt x="4846200" y="0"/>
                  </a:lnTo>
                  <a:lnTo>
                    <a:pt x="4846200" y="548400"/>
                  </a:lnTo>
                  <a:lnTo>
                    <a:pt x="0" y="548400"/>
                  </a:lnTo>
                  <a:close/>
                </a:path>
              </a:pathLst>
            </a:custGeom>
            <a:blipFill>
              <a:blip r:embed="rId4">
                <a:alphaModFix amt="0"/>
              </a:blip>
              <a:stretch>
                <a:fillRect t="-122189" b="-122188"/>
              </a:stretch>
            </a:blipFill>
          </p:spPr>
          <p:txBody>
            <a:bodyPr/>
            <a:lstStyle/>
            <a:p>
              <a:endParaRPr lang="es-CO"/>
            </a:p>
          </p:txBody>
        </p:sp>
        <p:sp>
          <p:nvSpPr>
            <p:cNvPr id="38" name="TextBox 38"/>
            <p:cNvSpPr txBox="1"/>
            <p:nvPr/>
          </p:nvSpPr>
          <p:spPr>
            <a:xfrm>
              <a:off x="0" y="-19050"/>
              <a:ext cx="4846206" cy="567449"/>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Scrum Master</a:t>
              </a:r>
            </a:p>
          </p:txBody>
        </p:sp>
      </p:grpSp>
      <p:grpSp>
        <p:nvGrpSpPr>
          <p:cNvPr id="39" name="Group 39"/>
          <p:cNvGrpSpPr/>
          <p:nvPr/>
        </p:nvGrpSpPr>
        <p:grpSpPr>
          <a:xfrm>
            <a:off x="6446520" y="4869180"/>
            <a:ext cx="4663354" cy="548554"/>
            <a:chOff x="0" y="0"/>
            <a:chExt cx="6217806" cy="731406"/>
          </a:xfrm>
        </p:grpSpPr>
        <p:sp>
          <p:nvSpPr>
            <p:cNvPr id="40" name="Freeform 40"/>
            <p:cNvSpPr/>
            <p:nvPr/>
          </p:nvSpPr>
          <p:spPr>
            <a:xfrm>
              <a:off x="0" y="0"/>
              <a:ext cx="6217800" cy="731400"/>
            </a:xfrm>
            <a:custGeom>
              <a:avLst/>
              <a:gdLst/>
              <a:ahLst/>
              <a:cxnLst/>
              <a:rect l="l" t="t" r="r" b="b"/>
              <a:pathLst>
                <a:path w="6217800" h="731400">
                  <a:moveTo>
                    <a:pt x="0" y="0"/>
                  </a:moveTo>
                  <a:lnTo>
                    <a:pt x="6217800" y="0"/>
                  </a:lnTo>
                  <a:lnTo>
                    <a:pt x="6217800" y="731400"/>
                  </a:lnTo>
                  <a:lnTo>
                    <a:pt x="0" y="731400"/>
                  </a:lnTo>
                  <a:close/>
                </a:path>
              </a:pathLst>
            </a:custGeom>
            <a:blipFill>
              <a:blip r:embed="rId4">
                <a:alphaModFix amt="0"/>
              </a:blip>
              <a:stretch>
                <a:fillRect t="-115646" b="-115647"/>
              </a:stretch>
            </a:blipFill>
          </p:spPr>
          <p:txBody>
            <a:bodyPr/>
            <a:lstStyle/>
            <a:p>
              <a:endParaRPr lang="es-CO"/>
            </a:p>
          </p:txBody>
        </p:sp>
        <p:sp>
          <p:nvSpPr>
            <p:cNvPr id="41" name="TextBox 41"/>
            <p:cNvSpPr txBox="1"/>
            <p:nvPr/>
          </p:nvSpPr>
          <p:spPr>
            <a:xfrm>
              <a:off x="0" y="-28575"/>
              <a:ext cx="6217806" cy="759981"/>
            </a:xfrm>
            <a:prstGeom prst="rect">
              <a:avLst/>
            </a:prstGeom>
          </p:spPr>
          <p:txBody>
            <a:bodyPr lIns="0" tIns="0" rIns="0" bIns="0" rtlCol="0" anchor="ctr"/>
            <a:lstStyle/>
            <a:p>
              <a:pPr algn="l">
                <a:lnSpc>
                  <a:spcPts val="1764"/>
                </a:lnSpc>
              </a:pPr>
              <a:r>
                <a:rPr lang="en-US" sz="1470">
                  <a:solidFill>
                    <a:srgbClr val="5B6670"/>
                  </a:solidFill>
                  <a:latin typeface="Calibri (MS)"/>
                  <a:ea typeface="Calibri (MS)"/>
                  <a:cs typeface="Calibri (MS)"/>
                  <a:sym typeface="Calibri (MS)"/>
                </a:rPr>
                <a:t>Facilita el proceso ágil del equipo</a:t>
              </a:r>
            </a:p>
          </p:txBody>
        </p:sp>
      </p:grpSp>
      <p:grpSp>
        <p:nvGrpSpPr>
          <p:cNvPr id="42" name="Group 42"/>
          <p:cNvGrpSpPr/>
          <p:nvPr/>
        </p:nvGrpSpPr>
        <p:grpSpPr>
          <a:xfrm>
            <a:off x="11576304" y="3634740"/>
            <a:ext cx="5143500" cy="1851746"/>
            <a:chOff x="0" y="0"/>
            <a:chExt cx="6858000" cy="2468994"/>
          </a:xfrm>
        </p:grpSpPr>
        <p:sp>
          <p:nvSpPr>
            <p:cNvPr id="43" name="Freeform 43"/>
            <p:cNvSpPr/>
            <p:nvPr/>
          </p:nvSpPr>
          <p:spPr>
            <a:xfrm>
              <a:off x="0" y="0"/>
              <a:ext cx="6858000" cy="2469007"/>
            </a:xfrm>
            <a:custGeom>
              <a:avLst/>
              <a:gdLst/>
              <a:ahLst/>
              <a:cxnLst/>
              <a:rect l="l" t="t" r="r" b="b"/>
              <a:pathLst>
                <a:path w="6858000" h="2469007">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txBody>
            <a:bodyPr/>
            <a:lstStyle/>
            <a:p>
              <a:endParaRPr lang="es-CO"/>
            </a:p>
          </p:txBody>
        </p:sp>
      </p:grpSp>
      <p:grpSp>
        <p:nvGrpSpPr>
          <p:cNvPr id="44" name="Group 44"/>
          <p:cNvGrpSpPr/>
          <p:nvPr/>
        </p:nvGrpSpPr>
        <p:grpSpPr>
          <a:xfrm>
            <a:off x="11823192" y="3881628"/>
            <a:ext cx="823046" cy="823046"/>
            <a:chOff x="0" y="0"/>
            <a:chExt cx="1097394" cy="1097394"/>
          </a:xfrm>
        </p:grpSpPr>
        <p:sp>
          <p:nvSpPr>
            <p:cNvPr id="45" name="Freeform 45"/>
            <p:cNvSpPr/>
            <p:nvPr/>
          </p:nvSpPr>
          <p:spPr>
            <a:xfrm>
              <a:off x="0" y="0"/>
              <a:ext cx="1097280" cy="1097280"/>
            </a:xfrm>
            <a:custGeom>
              <a:avLst/>
              <a:gdLst/>
              <a:ahLst/>
              <a:cxnLst/>
              <a:rect l="l" t="t" r="r" b="b"/>
              <a:pathLst>
                <a:path w="1097280" h="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txBody>
            <a:bodyPr/>
            <a:lstStyle/>
            <a:p>
              <a:endParaRPr lang="es-CO"/>
            </a:p>
          </p:txBody>
        </p:sp>
      </p:grpSp>
      <p:grpSp>
        <p:nvGrpSpPr>
          <p:cNvPr id="46" name="Group 46"/>
          <p:cNvGrpSpPr/>
          <p:nvPr/>
        </p:nvGrpSpPr>
        <p:grpSpPr>
          <a:xfrm>
            <a:off x="12037162" y="4095598"/>
            <a:ext cx="395021" cy="395021"/>
            <a:chOff x="0" y="0"/>
            <a:chExt cx="526694" cy="526694"/>
          </a:xfrm>
        </p:grpSpPr>
        <p:sp>
          <p:nvSpPr>
            <p:cNvPr id="47" name="Freeform 47" descr="icons/users.png"/>
            <p:cNvSpPr/>
            <p:nvPr/>
          </p:nvSpPr>
          <p:spPr>
            <a:xfrm>
              <a:off x="0" y="0"/>
              <a:ext cx="526669" cy="526669"/>
            </a:xfrm>
            <a:custGeom>
              <a:avLst/>
              <a:gdLst/>
              <a:ahLst/>
              <a:cxnLst/>
              <a:rect l="l" t="t" r="r" b="b"/>
              <a:pathLst>
                <a:path w="526669" h="526669">
                  <a:moveTo>
                    <a:pt x="0" y="0"/>
                  </a:moveTo>
                  <a:lnTo>
                    <a:pt x="526669" y="0"/>
                  </a:lnTo>
                  <a:lnTo>
                    <a:pt x="526669" y="526669"/>
                  </a:lnTo>
                  <a:lnTo>
                    <a:pt x="0" y="526669"/>
                  </a:lnTo>
                  <a:lnTo>
                    <a:pt x="0" y="0"/>
                  </a:lnTo>
                  <a:close/>
                </a:path>
              </a:pathLst>
            </a:custGeom>
            <a:blipFill>
              <a:blip r:embed="rId5"/>
              <a:stretch>
                <a:fillRect r="-4" b="-4"/>
              </a:stretch>
            </a:blipFill>
          </p:spPr>
          <p:txBody>
            <a:bodyPr/>
            <a:lstStyle/>
            <a:p>
              <a:endParaRPr lang="es-CO"/>
            </a:p>
          </p:txBody>
        </p:sp>
      </p:grpSp>
      <p:grpSp>
        <p:nvGrpSpPr>
          <p:cNvPr id="48" name="Group 48"/>
          <p:cNvGrpSpPr/>
          <p:nvPr/>
        </p:nvGrpSpPr>
        <p:grpSpPr>
          <a:xfrm>
            <a:off x="12879324" y="3813048"/>
            <a:ext cx="3634654" cy="438750"/>
            <a:chOff x="0" y="0"/>
            <a:chExt cx="4846206" cy="585000"/>
          </a:xfrm>
        </p:grpSpPr>
        <p:sp>
          <p:nvSpPr>
            <p:cNvPr id="49" name="Freeform 49"/>
            <p:cNvSpPr/>
            <p:nvPr/>
          </p:nvSpPr>
          <p:spPr>
            <a:xfrm>
              <a:off x="0" y="0"/>
              <a:ext cx="4846200" cy="585000"/>
            </a:xfrm>
            <a:custGeom>
              <a:avLst/>
              <a:gdLst/>
              <a:ahLst/>
              <a:cxnLst/>
              <a:rect l="l" t="t" r="r" b="b"/>
              <a:pathLst>
                <a:path w="4846200" h="585000">
                  <a:moveTo>
                    <a:pt x="0" y="0"/>
                  </a:moveTo>
                  <a:lnTo>
                    <a:pt x="4846200" y="0"/>
                  </a:lnTo>
                  <a:lnTo>
                    <a:pt x="4846200" y="585000"/>
                  </a:lnTo>
                  <a:lnTo>
                    <a:pt x="0" y="585000"/>
                  </a:lnTo>
                  <a:close/>
                </a:path>
              </a:pathLst>
            </a:custGeom>
            <a:blipFill>
              <a:blip r:embed="rId4">
                <a:alphaModFix amt="0"/>
              </a:blip>
              <a:stretch>
                <a:fillRect t="-111416" b="-111416"/>
              </a:stretch>
            </a:blipFill>
          </p:spPr>
          <p:txBody>
            <a:bodyPr/>
            <a:lstStyle/>
            <a:p>
              <a:endParaRPr lang="es-CO"/>
            </a:p>
          </p:txBody>
        </p:sp>
        <p:sp>
          <p:nvSpPr>
            <p:cNvPr id="50" name="TextBox 50"/>
            <p:cNvSpPr txBox="1"/>
            <p:nvPr/>
          </p:nvSpPr>
          <p:spPr>
            <a:xfrm>
              <a:off x="0" y="-38100"/>
              <a:ext cx="4846206" cy="623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Sneider Plata</a:t>
              </a:r>
            </a:p>
          </p:txBody>
        </p:sp>
      </p:grpSp>
      <p:grpSp>
        <p:nvGrpSpPr>
          <p:cNvPr id="51" name="Group 51"/>
          <p:cNvGrpSpPr/>
          <p:nvPr/>
        </p:nvGrpSpPr>
        <p:grpSpPr>
          <a:xfrm>
            <a:off x="12879324" y="4197096"/>
            <a:ext cx="3634654" cy="411299"/>
            <a:chOff x="0" y="0"/>
            <a:chExt cx="4846206" cy="548399"/>
          </a:xfrm>
        </p:grpSpPr>
        <p:sp>
          <p:nvSpPr>
            <p:cNvPr id="52" name="Freeform 52"/>
            <p:cNvSpPr/>
            <p:nvPr/>
          </p:nvSpPr>
          <p:spPr>
            <a:xfrm>
              <a:off x="0" y="0"/>
              <a:ext cx="4846200" cy="548400"/>
            </a:xfrm>
            <a:custGeom>
              <a:avLst/>
              <a:gdLst/>
              <a:ahLst/>
              <a:cxnLst/>
              <a:rect l="l" t="t" r="r" b="b"/>
              <a:pathLst>
                <a:path w="4846200" h="548400">
                  <a:moveTo>
                    <a:pt x="0" y="0"/>
                  </a:moveTo>
                  <a:lnTo>
                    <a:pt x="4846200" y="0"/>
                  </a:lnTo>
                  <a:lnTo>
                    <a:pt x="4846200" y="548400"/>
                  </a:lnTo>
                  <a:lnTo>
                    <a:pt x="0" y="548400"/>
                  </a:lnTo>
                  <a:close/>
                </a:path>
              </a:pathLst>
            </a:custGeom>
            <a:blipFill>
              <a:blip r:embed="rId4">
                <a:alphaModFix amt="0"/>
              </a:blip>
              <a:stretch>
                <a:fillRect t="-122189" b="-122188"/>
              </a:stretch>
            </a:blipFill>
          </p:spPr>
          <p:txBody>
            <a:bodyPr/>
            <a:lstStyle/>
            <a:p>
              <a:endParaRPr lang="es-CO"/>
            </a:p>
          </p:txBody>
        </p:sp>
        <p:sp>
          <p:nvSpPr>
            <p:cNvPr id="53" name="TextBox 53"/>
            <p:cNvSpPr txBox="1"/>
            <p:nvPr/>
          </p:nvSpPr>
          <p:spPr>
            <a:xfrm>
              <a:off x="0" y="-19050"/>
              <a:ext cx="4846206" cy="567449"/>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Development Leader</a:t>
              </a:r>
            </a:p>
          </p:txBody>
        </p:sp>
      </p:grpSp>
      <p:grpSp>
        <p:nvGrpSpPr>
          <p:cNvPr id="54" name="Group 54"/>
          <p:cNvGrpSpPr/>
          <p:nvPr/>
        </p:nvGrpSpPr>
        <p:grpSpPr>
          <a:xfrm>
            <a:off x="11823192" y="4869180"/>
            <a:ext cx="4663354" cy="548554"/>
            <a:chOff x="0" y="0"/>
            <a:chExt cx="6217806" cy="731406"/>
          </a:xfrm>
        </p:grpSpPr>
        <p:sp>
          <p:nvSpPr>
            <p:cNvPr id="55" name="Freeform 55"/>
            <p:cNvSpPr/>
            <p:nvPr/>
          </p:nvSpPr>
          <p:spPr>
            <a:xfrm>
              <a:off x="0" y="0"/>
              <a:ext cx="6217800" cy="731400"/>
            </a:xfrm>
            <a:custGeom>
              <a:avLst/>
              <a:gdLst/>
              <a:ahLst/>
              <a:cxnLst/>
              <a:rect l="l" t="t" r="r" b="b"/>
              <a:pathLst>
                <a:path w="6217800" h="731400">
                  <a:moveTo>
                    <a:pt x="0" y="0"/>
                  </a:moveTo>
                  <a:lnTo>
                    <a:pt x="6217800" y="0"/>
                  </a:lnTo>
                  <a:lnTo>
                    <a:pt x="6217800" y="731400"/>
                  </a:lnTo>
                  <a:lnTo>
                    <a:pt x="0" y="731400"/>
                  </a:lnTo>
                  <a:close/>
                </a:path>
              </a:pathLst>
            </a:custGeom>
            <a:blipFill>
              <a:blip r:embed="rId4">
                <a:alphaModFix amt="0"/>
              </a:blip>
              <a:stretch>
                <a:fillRect t="-115646" b="-115647"/>
              </a:stretch>
            </a:blipFill>
          </p:spPr>
          <p:txBody>
            <a:bodyPr/>
            <a:lstStyle/>
            <a:p>
              <a:endParaRPr lang="es-CO"/>
            </a:p>
          </p:txBody>
        </p:sp>
        <p:sp>
          <p:nvSpPr>
            <p:cNvPr id="56" name="TextBox 56"/>
            <p:cNvSpPr txBox="1"/>
            <p:nvPr/>
          </p:nvSpPr>
          <p:spPr>
            <a:xfrm>
              <a:off x="0" y="-28575"/>
              <a:ext cx="6217806" cy="759981"/>
            </a:xfrm>
            <a:prstGeom prst="rect">
              <a:avLst/>
            </a:prstGeom>
          </p:spPr>
          <p:txBody>
            <a:bodyPr lIns="0" tIns="0" rIns="0" bIns="0" rtlCol="0" anchor="ctr"/>
            <a:lstStyle/>
            <a:p>
              <a:pPr algn="l">
                <a:lnSpc>
                  <a:spcPts val="1764"/>
                </a:lnSpc>
              </a:pPr>
              <a:r>
                <a:rPr lang="en-US" sz="1470">
                  <a:solidFill>
                    <a:srgbClr val="5B6670"/>
                  </a:solidFill>
                  <a:latin typeface="Calibri (MS)"/>
                  <a:ea typeface="Calibri (MS)"/>
                  <a:cs typeface="Calibri (MS)"/>
                  <a:sym typeface="Calibri (MS)"/>
                </a:rPr>
                <a:t>Lidera la construcción técnica</a:t>
              </a:r>
            </a:p>
          </p:txBody>
        </p:sp>
      </p:grpSp>
      <p:grpSp>
        <p:nvGrpSpPr>
          <p:cNvPr id="57" name="Group 57"/>
          <p:cNvGrpSpPr/>
          <p:nvPr/>
        </p:nvGrpSpPr>
        <p:grpSpPr>
          <a:xfrm>
            <a:off x="822960" y="5966460"/>
            <a:ext cx="8229600" cy="480146"/>
            <a:chOff x="0" y="0"/>
            <a:chExt cx="10972800" cy="640194"/>
          </a:xfrm>
        </p:grpSpPr>
        <p:sp>
          <p:nvSpPr>
            <p:cNvPr id="58" name="Freeform 58"/>
            <p:cNvSpPr/>
            <p:nvPr/>
          </p:nvSpPr>
          <p:spPr>
            <a:xfrm>
              <a:off x="0" y="0"/>
              <a:ext cx="10972800" cy="640200"/>
            </a:xfrm>
            <a:custGeom>
              <a:avLst/>
              <a:gdLst/>
              <a:ahLst/>
              <a:cxnLst/>
              <a:rect l="l" t="t" r="r" b="b"/>
              <a:pathLst>
                <a:path w="10972800" h="640200">
                  <a:moveTo>
                    <a:pt x="0" y="0"/>
                  </a:moveTo>
                  <a:lnTo>
                    <a:pt x="10972800" y="0"/>
                  </a:lnTo>
                  <a:lnTo>
                    <a:pt x="10972800" y="640200"/>
                  </a:lnTo>
                  <a:lnTo>
                    <a:pt x="0" y="640200"/>
                  </a:lnTo>
                  <a:close/>
                </a:path>
              </a:pathLst>
            </a:custGeom>
            <a:blipFill>
              <a:blip r:embed="rId4">
                <a:alphaModFix amt="0"/>
              </a:blip>
              <a:stretch>
                <a:fillRect t="-283967" b="-283966"/>
              </a:stretch>
            </a:blipFill>
          </p:spPr>
          <p:txBody>
            <a:bodyPr/>
            <a:lstStyle/>
            <a:p>
              <a:endParaRPr lang="es-CO"/>
            </a:p>
          </p:txBody>
        </p:sp>
        <p:sp>
          <p:nvSpPr>
            <p:cNvPr id="59" name="TextBox 59"/>
            <p:cNvSpPr txBox="1"/>
            <p:nvPr/>
          </p:nvSpPr>
          <p:spPr>
            <a:xfrm>
              <a:off x="0" y="-57150"/>
              <a:ext cx="10972800" cy="697344"/>
            </a:xfrm>
            <a:prstGeom prst="rect">
              <a:avLst/>
            </a:prstGeom>
          </p:spPr>
          <p:txBody>
            <a:bodyPr lIns="0" tIns="0" rIns="0" bIns="0" rtlCol="0" anchor="ctr"/>
            <a:lstStyle/>
            <a:p>
              <a:pPr algn="l">
                <a:lnSpc>
                  <a:spcPts val="2700"/>
                </a:lnSpc>
              </a:pPr>
              <a:r>
                <a:rPr lang="en-US" sz="2250" b="1">
                  <a:solidFill>
                    <a:srgbClr val="00304D"/>
                  </a:solidFill>
                  <a:latin typeface="Calibri (MS) Bold"/>
                  <a:ea typeface="Calibri (MS) Bold"/>
                  <a:cs typeface="Calibri (MS) Bold"/>
                  <a:sym typeface="Calibri (MS) Bold"/>
                </a:rPr>
                <a:t>Fases del proyecto (6 meses)</a:t>
              </a:r>
            </a:p>
          </p:txBody>
        </p:sp>
      </p:grpSp>
      <p:grpSp>
        <p:nvGrpSpPr>
          <p:cNvPr id="60" name="Group 60"/>
          <p:cNvGrpSpPr/>
          <p:nvPr/>
        </p:nvGrpSpPr>
        <p:grpSpPr>
          <a:xfrm>
            <a:off x="822960" y="6652260"/>
            <a:ext cx="2423246" cy="891454"/>
            <a:chOff x="0" y="0"/>
            <a:chExt cx="3230994" cy="1188606"/>
          </a:xfrm>
        </p:grpSpPr>
        <p:sp>
          <p:nvSpPr>
            <p:cNvPr id="61" name="Freeform 61"/>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txBody>
            <a:bodyPr/>
            <a:lstStyle/>
            <a:p>
              <a:endParaRPr lang="es-CO"/>
            </a:p>
          </p:txBody>
        </p:sp>
      </p:grpSp>
      <p:grpSp>
        <p:nvGrpSpPr>
          <p:cNvPr id="62" name="Group 62"/>
          <p:cNvGrpSpPr/>
          <p:nvPr/>
        </p:nvGrpSpPr>
        <p:grpSpPr>
          <a:xfrm>
            <a:off x="822960" y="6652260"/>
            <a:ext cx="2423246" cy="891454"/>
            <a:chOff x="0" y="0"/>
            <a:chExt cx="3230994" cy="1188606"/>
          </a:xfrm>
        </p:grpSpPr>
        <p:sp>
          <p:nvSpPr>
            <p:cNvPr id="63" name="Freeform 63"/>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64" name="TextBox 64"/>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Requisitos</a:t>
              </a:r>
            </a:p>
          </p:txBody>
        </p:sp>
      </p:grpSp>
      <p:grpSp>
        <p:nvGrpSpPr>
          <p:cNvPr id="65" name="Group 65"/>
          <p:cNvGrpSpPr/>
          <p:nvPr/>
        </p:nvGrpSpPr>
        <p:grpSpPr>
          <a:xfrm>
            <a:off x="3246120" y="6652260"/>
            <a:ext cx="274501" cy="891454"/>
            <a:chOff x="0" y="0"/>
            <a:chExt cx="366001" cy="1188606"/>
          </a:xfrm>
        </p:grpSpPr>
        <p:sp>
          <p:nvSpPr>
            <p:cNvPr id="66" name="Freeform 66"/>
            <p:cNvSpPr/>
            <p:nvPr/>
          </p:nvSpPr>
          <p:spPr>
            <a:xfrm>
              <a:off x="0" y="0"/>
              <a:ext cx="366000" cy="1188600"/>
            </a:xfrm>
            <a:custGeom>
              <a:avLst/>
              <a:gdLst/>
              <a:ahLst/>
              <a:cxnLst/>
              <a:rect l="l" t="t" r="r" b="b"/>
              <a:pathLst>
                <a:path w="366000" h="1188600">
                  <a:moveTo>
                    <a:pt x="0" y="0"/>
                  </a:moveTo>
                  <a:lnTo>
                    <a:pt x="366000" y="0"/>
                  </a:lnTo>
                  <a:lnTo>
                    <a:pt x="366000" y="1188600"/>
                  </a:lnTo>
                  <a:lnTo>
                    <a:pt x="0" y="1188600"/>
                  </a:lnTo>
                  <a:close/>
                </a:path>
              </a:pathLst>
            </a:custGeom>
            <a:blipFill>
              <a:blip r:embed="rId4">
                <a:alphaModFix amt="0"/>
              </a:blip>
              <a:stretch>
                <a:fillRect l="-366672" r="-366673"/>
              </a:stretch>
            </a:blipFill>
          </p:spPr>
          <p:txBody>
            <a:bodyPr/>
            <a:lstStyle/>
            <a:p>
              <a:endParaRPr lang="es-CO"/>
            </a:p>
          </p:txBody>
        </p:sp>
        <p:sp>
          <p:nvSpPr>
            <p:cNvPr id="67" name="TextBox 67"/>
            <p:cNvSpPr txBox="1"/>
            <p:nvPr/>
          </p:nvSpPr>
          <p:spPr>
            <a:xfrm>
              <a:off x="0" y="-47625"/>
              <a:ext cx="366001" cy="1236231"/>
            </a:xfrm>
            <a:prstGeom prst="rect">
              <a:avLst/>
            </a:prstGeom>
          </p:spPr>
          <p:txBody>
            <a:bodyPr lIns="0" tIns="0" rIns="0" bIns="0" rtlCol="0" anchor="ctr"/>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id="68" name="Group 68"/>
          <p:cNvGrpSpPr/>
          <p:nvPr/>
        </p:nvGrpSpPr>
        <p:grpSpPr>
          <a:xfrm>
            <a:off x="3520440" y="6652260"/>
            <a:ext cx="2423246" cy="891454"/>
            <a:chOff x="0" y="0"/>
            <a:chExt cx="3230994" cy="1188606"/>
          </a:xfrm>
        </p:grpSpPr>
        <p:sp>
          <p:nvSpPr>
            <p:cNvPr id="69" name="Freeform 69"/>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txBody>
            <a:bodyPr/>
            <a:lstStyle/>
            <a:p>
              <a:endParaRPr lang="es-CO"/>
            </a:p>
          </p:txBody>
        </p:sp>
      </p:grpSp>
      <p:grpSp>
        <p:nvGrpSpPr>
          <p:cNvPr id="70" name="Group 70"/>
          <p:cNvGrpSpPr/>
          <p:nvPr/>
        </p:nvGrpSpPr>
        <p:grpSpPr>
          <a:xfrm>
            <a:off x="3520440" y="6652260"/>
            <a:ext cx="2423246" cy="891454"/>
            <a:chOff x="0" y="0"/>
            <a:chExt cx="3230994" cy="1188606"/>
          </a:xfrm>
        </p:grpSpPr>
        <p:sp>
          <p:nvSpPr>
            <p:cNvPr id="71" name="Freeform 71"/>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72" name="TextBox 72"/>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Diseño</a:t>
              </a:r>
            </a:p>
          </p:txBody>
        </p:sp>
      </p:grpSp>
      <p:grpSp>
        <p:nvGrpSpPr>
          <p:cNvPr id="73" name="Group 73"/>
          <p:cNvGrpSpPr/>
          <p:nvPr/>
        </p:nvGrpSpPr>
        <p:grpSpPr>
          <a:xfrm>
            <a:off x="5943600" y="6652260"/>
            <a:ext cx="274501" cy="891454"/>
            <a:chOff x="0" y="0"/>
            <a:chExt cx="366001" cy="1188606"/>
          </a:xfrm>
        </p:grpSpPr>
        <p:sp>
          <p:nvSpPr>
            <p:cNvPr id="74" name="Freeform 74"/>
            <p:cNvSpPr/>
            <p:nvPr/>
          </p:nvSpPr>
          <p:spPr>
            <a:xfrm>
              <a:off x="0" y="0"/>
              <a:ext cx="366000" cy="1188600"/>
            </a:xfrm>
            <a:custGeom>
              <a:avLst/>
              <a:gdLst/>
              <a:ahLst/>
              <a:cxnLst/>
              <a:rect l="l" t="t" r="r" b="b"/>
              <a:pathLst>
                <a:path w="366000" h="1188600">
                  <a:moveTo>
                    <a:pt x="0" y="0"/>
                  </a:moveTo>
                  <a:lnTo>
                    <a:pt x="366000" y="0"/>
                  </a:lnTo>
                  <a:lnTo>
                    <a:pt x="366000" y="1188600"/>
                  </a:lnTo>
                  <a:lnTo>
                    <a:pt x="0" y="1188600"/>
                  </a:lnTo>
                  <a:close/>
                </a:path>
              </a:pathLst>
            </a:custGeom>
            <a:blipFill>
              <a:blip r:embed="rId4">
                <a:alphaModFix amt="0"/>
              </a:blip>
              <a:stretch>
                <a:fillRect l="-366672" r="-366673"/>
              </a:stretch>
            </a:blipFill>
          </p:spPr>
          <p:txBody>
            <a:bodyPr/>
            <a:lstStyle/>
            <a:p>
              <a:endParaRPr lang="es-CO"/>
            </a:p>
          </p:txBody>
        </p:sp>
        <p:sp>
          <p:nvSpPr>
            <p:cNvPr id="75" name="TextBox 75"/>
            <p:cNvSpPr txBox="1"/>
            <p:nvPr/>
          </p:nvSpPr>
          <p:spPr>
            <a:xfrm>
              <a:off x="0" y="-47625"/>
              <a:ext cx="366001" cy="1236231"/>
            </a:xfrm>
            <a:prstGeom prst="rect">
              <a:avLst/>
            </a:prstGeom>
          </p:spPr>
          <p:txBody>
            <a:bodyPr lIns="0" tIns="0" rIns="0" bIns="0" rtlCol="0" anchor="ctr"/>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id="76" name="Group 76"/>
          <p:cNvGrpSpPr/>
          <p:nvPr/>
        </p:nvGrpSpPr>
        <p:grpSpPr>
          <a:xfrm>
            <a:off x="6217920" y="6652260"/>
            <a:ext cx="2423246" cy="891454"/>
            <a:chOff x="0" y="0"/>
            <a:chExt cx="3230994" cy="1188606"/>
          </a:xfrm>
        </p:grpSpPr>
        <p:sp>
          <p:nvSpPr>
            <p:cNvPr id="77" name="Freeform 77"/>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txBody>
            <a:bodyPr/>
            <a:lstStyle/>
            <a:p>
              <a:endParaRPr lang="es-CO"/>
            </a:p>
          </p:txBody>
        </p:sp>
      </p:grpSp>
      <p:grpSp>
        <p:nvGrpSpPr>
          <p:cNvPr id="78" name="Group 78"/>
          <p:cNvGrpSpPr/>
          <p:nvPr/>
        </p:nvGrpSpPr>
        <p:grpSpPr>
          <a:xfrm>
            <a:off x="6217920" y="6652260"/>
            <a:ext cx="2423246" cy="891454"/>
            <a:chOff x="0" y="0"/>
            <a:chExt cx="3230994" cy="1188606"/>
          </a:xfrm>
        </p:grpSpPr>
        <p:sp>
          <p:nvSpPr>
            <p:cNvPr id="79" name="Freeform 79"/>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80" name="TextBox 80"/>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Implementación</a:t>
              </a:r>
            </a:p>
          </p:txBody>
        </p:sp>
      </p:grpSp>
      <p:grpSp>
        <p:nvGrpSpPr>
          <p:cNvPr id="81" name="Group 81"/>
          <p:cNvGrpSpPr/>
          <p:nvPr/>
        </p:nvGrpSpPr>
        <p:grpSpPr>
          <a:xfrm>
            <a:off x="8641080" y="6652260"/>
            <a:ext cx="274501" cy="891454"/>
            <a:chOff x="0" y="0"/>
            <a:chExt cx="366001" cy="1188606"/>
          </a:xfrm>
        </p:grpSpPr>
        <p:sp>
          <p:nvSpPr>
            <p:cNvPr id="82" name="Freeform 82"/>
            <p:cNvSpPr/>
            <p:nvPr/>
          </p:nvSpPr>
          <p:spPr>
            <a:xfrm>
              <a:off x="0" y="0"/>
              <a:ext cx="366000" cy="1188600"/>
            </a:xfrm>
            <a:custGeom>
              <a:avLst/>
              <a:gdLst/>
              <a:ahLst/>
              <a:cxnLst/>
              <a:rect l="l" t="t" r="r" b="b"/>
              <a:pathLst>
                <a:path w="366000" h="1188600">
                  <a:moveTo>
                    <a:pt x="0" y="0"/>
                  </a:moveTo>
                  <a:lnTo>
                    <a:pt x="366000" y="0"/>
                  </a:lnTo>
                  <a:lnTo>
                    <a:pt x="366000" y="1188600"/>
                  </a:lnTo>
                  <a:lnTo>
                    <a:pt x="0" y="1188600"/>
                  </a:lnTo>
                  <a:close/>
                </a:path>
              </a:pathLst>
            </a:custGeom>
            <a:blipFill>
              <a:blip r:embed="rId4">
                <a:alphaModFix amt="0"/>
              </a:blip>
              <a:stretch>
                <a:fillRect l="-366672" r="-366673"/>
              </a:stretch>
            </a:blipFill>
          </p:spPr>
          <p:txBody>
            <a:bodyPr/>
            <a:lstStyle/>
            <a:p>
              <a:endParaRPr lang="es-CO"/>
            </a:p>
          </p:txBody>
        </p:sp>
        <p:sp>
          <p:nvSpPr>
            <p:cNvPr id="83" name="TextBox 83"/>
            <p:cNvSpPr txBox="1"/>
            <p:nvPr/>
          </p:nvSpPr>
          <p:spPr>
            <a:xfrm>
              <a:off x="0" y="-47625"/>
              <a:ext cx="366001" cy="1236231"/>
            </a:xfrm>
            <a:prstGeom prst="rect">
              <a:avLst/>
            </a:prstGeom>
          </p:spPr>
          <p:txBody>
            <a:bodyPr lIns="0" tIns="0" rIns="0" bIns="0" rtlCol="0" anchor="ctr"/>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id="84" name="Group 84"/>
          <p:cNvGrpSpPr/>
          <p:nvPr/>
        </p:nvGrpSpPr>
        <p:grpSpPr>
          <a:xfrm>
            <a:off x="8915400" y="6652260"/>
            <a:ext cx="2423246" cy="891454"/>
            <a:chOff x="0" y="0"/>
            <a:chExt cx="3230994" cy="1188606"/>
          </a:xfrm>
        </p:grpSpPr>
        <p:sp>
          <p:nvSpPr>
            <p:cNvPr id="85" name="Freeform 85"/>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txBody>
            <a:bodyPr/>
            <a:lstStyle/>
            <a:p>
              <a:endParaRPr lang="es-CO"/>
            </a:p>
          </p:txBody>
        </p:sp>
      </p:grpSp>
      <p:grpSp>
        <p:nvGrpSpPr>
          <p:cNvPr id="86" name="Group 86"/>
          <p:cNvGrpSpPr/>
          <p:nvPr/>
        </p:nvGrpSpPr>
        <p:grpSpPr>
          <a:xfrm>
            <a:off x="8915400" y="6652260"/>
            <a:ext cx="2423246" cy="891454"/>
            <a:chOff x="0" y="0"/>
            <a:chExt cx="3230994" cy="1188606"/>
          </a:xfrm>
        </p:grpSpPr>
        <p:sp>
          <p:nvSpPr>
            <p:cNvPr id="87" name="Freeform 87"/>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88" name="TextBox 88"/>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Integración</a:t>
              </a:r>
            </a:p>
          </p:txBody>
        </p:sp>
      </p:grpSp>
      <p:grpSp>
        <p:nvGrpSpPr>
          <p:cNvPr id="89" name="Group 89"/>
          <p:cNvGrpSpPr/>
          <p:nvPr/>
        </p:nvGrpSpPr>
        <p:grpSpPr>
          <a:xfrm>
            <a:off x="11338560" y="6652260"/>
            <a:ext cx="274501" cy="891454"/>
            <a:chOff x="0" y="0"/>
            <a:chExt cx="366001" cy="1188606"/>
          </a:xfrm>
        </p:grpSpPr>
        <p:sp>
          <p:nvSpPr>
            <p:cNvPr id="90" name="Freeform 90"/>
            <p:cNvSpPr/>
            <p:nvPr/>
          </p:nvSpPr>
          <p:spPr>
            <a:xfrm>
              <a:off x="0" y="0"/>
              <a:ext cx="366000" cy="1188600"/>
            </a:xfrm>
            <a:custGeom>
              <a:avLst/>
              <a:gdLst/>
              <a:ahLst/>
              <a:cxnLst/>
              <a:rect l="l" t="t" r="r" b="b"/>
              <a:pathLst>
                <a:path w="366000" h="1188600">
                  <a:moveTo>
                    <a:pt x="0" y="0"/>
                  </a:moveTo>
                  <a:lnTo>
                    <a:pt x="366000" y="0"/>
                  </a:lnTo>
                  <a:lnTo>
                    <a:pt x="366000" y="1188600"/>
                  </a:lnTo>
                  <a:lnTo>
                    <a:pt x="0" y="1188600"/>
                  </a:lnTo>
                  <a:close/>
                </a:path>
              </a:pathLst>
            </a:custGeom>
            <a:blipFill>
              <a:blip r:embed="rId4">
                <a:alphaModFix amt="0"/>
              </a:blip>
              <a:stretch>
                <a:fillRect l="-366672" r="-366673"/>
              </a:stretch>
            </a:blipFill>
          </p:spPr>
          <p:txBody>
            <a:bodyPr/>
            <a:lstStyle/>
            <a:p>
              <a:endParaRPr lang="es-CO"/>
            </a:p>
          </p:txBody>
        </p:sp>
        <p:sp>
          <p:nvSpPr>
            <p:cNvPr id="91" name="TextBox 91"/>
            <p:cNvSpPr txBox="1"/>
            <p:nvPr/>
          </p:nvSpPr>
          <p:spPr>
            <a:xfrm>
              <a:off x="0" y="-47625"/>
              <a:ext cx="366001" cy="1236231"/>
            </a:xfrm>
            <a:prstGeom prst="rect">
              <a:avLst/>
            </a:prstGeom>
          </p:spPr>
          <p:txBody>
            <a:bodyPr lIns="0" tIns="0" rIns="0" bIns="0" rtlCol="0" anchor="ctr"/>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id="92" name="Group 92"/>
          <p:cNvGrpSpPr/>
          <p:nvPr/>
        </p:nvGrpSpPr>
        <p:grpSpPr>
          <a:xfrm>
            <a:off x="11612880" y="6652260"/>
            <a:ext cx="2423246" cy="891454"/>
            <a:chOff x="0" y="0"/>
            <a:chExt cx="3230994" cy="1188606"/>
          </a:xfrm>
        </p:grpSpPr>
        <p:sp>
          <p:nvSpPr>
            <p:cNvPr id="93" name="Freeform 93"/>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txBody>
            <a:bodyPr/>
            <a:lstStyle/>
            <a:p>
              <a:endParaRPr lang="es-CO"/>
            </a:p>
          </p:txBody>
        </p:sp>
      </p:grpSp>
      <p:grpSp>
        <p:nvGrpSpPr>
          <p:cNvPr id="94" name="Group 94"/>
          <p:cNvGrpSpPr/>
          <p:nvPr/>
        </p:nvGrpSpPr>
        <p:grpSpPr>
          <a:xfrm>
            <a:off x="11612880" y="6652260"/>
            <a:ext cx="2423246" cy="891454"/>
            <a:chOff x="0" y="0"/>
            <a:chExt cx="3230994" cy="1188606"/>
          </a:xfrm>
        </p:grpSpPr>
        <p:sp>
          <p:nvSpPr>
            <p:cNvPr id="95" name="Freeform 95"/>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96" name="TextBox 96"/>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Pruebas</a:t>
              </a:r>
            </a:p>
          </p:txBody>
        </p:sp>
      </p:grpSp>
      <p:grpSp>
        <p:nvGrpSpPr>
          <p:cNvPr id="97" name="Group 97"/>
          <p:cNvGrpSpPr/>
          <p:nvPr/>
        </p:nvGrpSpPr>
        <p:grpSpPr>
          <a:xfrm>
            <a:off x="14036040" y="6652260"/>
            <a:ext cx="274501" cy="891454"/>
            <a:chOff x="0" y="0"/>
            <a:chExt cx="366001" cy="1188606"/>
          </a:xfrm>
        </p:grpSpPr>
        <p:sp>
          <p:nvSpPr>
            <p:cNvPr id="98" name="Freeform 98"/>
            <p:cNvSpPr/>
            <p:nvPr/>
          </p:nvSpPr>
          <p:spPr>
            <a:xfrm>
              <a:off x="0" y="0"/>
              <a:ext cx="366000" cy="1188600"/>
            </a:xfrm>
            <a:custGeom>
              <a:avLst/>
              <a:gdLst/>
              <a:ahLst/>
              <a:cxnLst/>
              <a:rect l="l" t="t" r="r" b="b"/>
              <a:pathLst>
                <a:path w="366000" h="1188600">
                  <a:moveTo>
                    <a:pt x="0" y="0"/>
                  </a:moveTo>
                  <a:lnTo>
                    <a:pt x="366000" y="0"/>
                  </a:lnTo>
                  <a:lnTo>
                    <a:pt x="366000" y="1188600"/>
                  </a:lnTo>
                  <a:lnTo>
                    <a:pt x="0" y="1188600"/>
                  </a:lnTo>
                  <a:close/>
                </a:path>
              </a:pathLst>
            </a:custGeom>
            <a:blipFill>
              <a:blip r:embed="rId4">
                <a:alphaModFix amt="0"/>
              </a:blip>
              <a:stretch>
                <a:fillRect l="-366672" r="-366673"/>
              </a:stretch>
            </a:blipFill>
          </p:spPr>
          <p:txBody>
            <a:bodyPr/>
            <a:lstStyle/>
            <a:p>
              <a:endParaRPr lang="es-CO"/>
            </a:p>
          </p:txBody>
        </p:sp>
        <p:sp>
          <p:nvSpPr>
            <p:cNvPr id="99" name="TextBox 99"/>
            <p:cNvSpPr txBox="1"/>
            <p:nvPr/>
          </p:nvSpPr>
          <p:spPr>
            <a:xfrm>
              <a:off x="0" y="-47625"/>
              <a:ext cx="366001" cy="1236231"/>
            </a:xfrm>
            <a:prstGeom prst="rect">
              <a:avLst/>
            </a:prstGeom>
          </p:spPr>
          <p:txBody>
            <a:bodyPr lIns="0" tIns="0" rIns="0" bIns="0" rtlCol="0" anchor="ctr"/>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id="100" name="Group 100"/>
          <p:cNvGrpSpPr/>
          <p:nvPr/>
        </p:nvGrpSpPr>
        <p:grpSpPr>
          <a:xfrm>
            <a:off x="14310360" y="6652260"/>
            <a:ext cx="2423246" cy="891454"/>
            <a:chOff x="0" y="0"/>
            <a:chExt cx="3230994" cy="1188606"/>
          </a:xfrm>
        </p:grpSpPr>
        <p:sp>
          <p:nvSpPr>
            <p:cNvPr id="101" name="Freeform 101"/>
            <p:cNvSpPr/>
            <p:nvPr/>
          </p:nvSpPr>
          <p:spPr>
            <a:xfrm>
              <a:off x="0" y="0"/>
              <a:ext cx="3231007" cy="1188593"/>
            </a:xfrm>
            <a:custGeom>
              <a:avLst/>
              <a:gdLst/>
              <a:ahLst/>
              <a:cxnLst/>
              <a:rect l="l" t="t" r="r" b="b"/>
              <a:pathLst>
                <a:path w="3231007" h="1188593">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txBody>
            <a:bodyPr/>
            <a:lstStyle/>
            <a:p>
              <a:endParaRPr lang="es-CO"/>
            </a:p>
          </p:txBody>
        </p:sp>
      </p:grpSp>
      <p:grpSp>
        <p:nvGrpSpPr>
          <p:cNvPr id="102" name="Group 102"/>
          <p:cNvGrpSpPr/>
          <p:nvPr/>
        </p:nvGrpSpPr>
        <p:grpSpPr>
          <a:xfrm>
            <a:off x="14310360" y="6652260"/>
            <a:ext cx="2423246" cy="891454"/>
            <a:chOff x="0" y="0"/>
            <a:chExt cx="3230994" cy="1188606"/>
          </a:xfrm>
        </p:grpSpPr>
        <p:sp>
          <p:nvSpPr>
            <p:cNvPr id="103" name="Freeform 103"/>
            <p:cNvSpPr/>
            <p:nvPr/>
          </p:nvSpPr>
          <p:spPr>
            <a:xfrm>
              <a:off x="0" y="0"/>
              <a:ext cx="3231000" cy="1188600"/>
            </a:xfrm>
            <a:custGeom>
              <a:avLst/>
              <a:gdLst/>
              <a:ahLst/>
              <a:cxnLst/>
              <a:rect l="l" t="t" r="r" b="b"/>
              <a:pathLst>
                <a:path w="3231000" h="1188600">
                  <a:moveTo>
                    <a:pt x="0" y="0"/>
                  </a:moveTo>
                  <a:lnTo>
                    <a:pt x="3231000" y="0"/>
                  </a:lnTo>
                  <a:lnTo>
                    <a:pt x="3231000" y="1188600"/>
                  </a:lnTo>
                  <a:lnTo>
                    <a:pt x="0" y="1188600"/>
                  </a:lnTo>
                  <a:close/>
                </a:path>
              </a:pathLst>
            </a:custGeom>
            <a:blipFill>
              <a:blip r:embed="rId4">
                <a:alphaModFix amt="0"/>
              </a:blip>
              <a:stretch>
                <a:fillRect t="-2966" b="-2966"/>
              </a:stretch>
            </a:blipFill>
          </p:spPr>
          <p:txBody>
            <a:bodyPr/>
            <a:lstStyle/>
            <a:p>
              <a:endParaRPr lang="es-CO"/>
            </a:p>
          </p:txBody>
        </p:sp>
        <p:sp>
          <p:nvSpPr>
            <p:cNvPr id="104" name="TextBox 104"/>
            <p:cNvSpPr txBox="1"/>
            <p:nvPr/>
          </p:nvSpPr>
          <p:spPr>
            <a:xfrm>
              <a:off x="0" y="-28575"/>
              <a:ext cx="3230994" cy="1217181"/>
            </a:xfrm>
            <a:prstGeom prst="rect">
              <a:avLst/>
            </a:prstGeom>
          </p:spPr>
          <p:txBody>
            <a:bodyPr lIns="0" tIns="0" rIns="0" bIns="0" rtlCol="0" anchor="ctr"/>
            <a:lstStyle/>
            <a:p>
              <a:pPr algn="ctr">
                <a:lnSpc>
                  <a:spcPts val="1980"/>
                </a:lnSpc>
              </a:pPr>
              <a:r>
                <a:rPr lang="en-US" sz="1650" b="1">
                  <a:solidFill>
                    <a:srgbClr val="FFFFFF"/>
                  </a:solidFill>
                  <a:latin typeface="Calibri (MS) Bold"/>
                  <a:ea typeface="Calibri (MS) Bold"/>
                  <a:cs typeface="Calibri (MS) Bold"/>
                  <a:sym typeface="Calibri (MS) Bold"/>
                </a:rPr>
                <a:t>Despliegue</a:t>
              </a:r>
            </a:p>
          </p:txBody>
        </p:sp>
      </p:grpSp>
      <p:grpSp>
        <p:nvGrpSpPr>
          <p:cNvPr id="105" name="Group 105"/>
          <p:cNvGrpSpPr/>
          <p:nvPr/>
        </p:nvGrpSpPr>
        <p:grpSpPr>
          <a:xfrm>
            <a:off x="822960" y="8023860"/>
            <a:ext cx="15910646" cy="1165946"/>
            <a:chOff x="0" y="0"/>
            <a:chExt cx="21214194" cy="1554594"/>
          </a:xfrm>
        </p:grpSpPr>
        <p:sp>
          <p:nvSpPr>
            <p:cNvPr id="106" name="Freeform 106"/>
            <p:cNvSpPr/>
            <p:nvPr/>
          </p:nvSpPr>
          <p:spPr>
            <a:xfrm>
              <a:off x="0" y="0"/>
              <a:ext cx="21214207" cy="1554607"/>
            </a:xfrm>
            <a:custGeom>
              <a:avLst/>
              <a:gdLst/>
              <a:ahLst/>
              <a:cxnLst/>
              <a:rect l="l" t="t" r="r" b="b"/>
              <a:pathLst>
                <a:path w="21214207" h="1554607">
                  <a:moveTo>
                    <a:pt x="0" y="146304"/>
                  </a:moveTo>
                  <a:cubicBezTo>
                    <a:pt x="0" y="65532"/>
                    <a:pt x="65532" y="0"/>
                    <a:pt x="146304" y="0"/>
                  </a:cubicBezTo>
                  <a:lnTo>
                    <a:pt x="21067903" y="0"/>
                  </a:lnTo>
                  <a:cubicBezTo>
                    <a:pt x="21148675" y="0"/>
                    <a:pt x="21214207" y="65532"/>
                    <a:pt x="21214207" y="146304"/>
                  </a:cubicBezTo>
                  <a:lnTo>
                    <a:pt x="21214207" y="1408303"/>
                  </a:lnTo>
                  <a:cubicBezTo>
                    <a:pt x="21214207" y="1489075"/>
                    <a:pt x="21148675" y="1554607"/>
                    <a:pt x="21067903" y="1554607"/>
                  </a:cubicBezTo>
                  <a:lnTo>
                    <a:pt x="146304" y="1554607"/>
                  </a:lnTo>
                  <a:cubicBezTo>
                    <a:pt x="65532" y="1554607"/>
                    <a:pt x="0" y="1489075"/>
                    <a:pt x="0" y="1408303"/>
                  </a:cubicBezTo>
                  <a:close/>
                </a:path>
              </a:pathLst>
            </a:custGeom>
            <a:solidFill>
              <a:srgbClr val="FFF3D6"/>
            </a:solidFill>
          </p:spPr>
          <p:txBody>
            <a:bodyPr/>
            <a:lstStyle/>
            <a:p>
              <a:endParaRPr lang="es-CO"/>
            </a:p>
          </p:txBody>
        </p:sp>
      </p:grpSp>
      <p:grpSp>
        <p:nvGrpSpPr>
          <p:cNvPr id="107" name="Group 107"/>
          <p:cNvGrpSpPr/>
          <p:nvPr/>
        </p:nvGrpSpPr>
        <p:grpSpPr>
          <a:xfrm>
            <a:off x="1234440" y="8023860"/>
            <a:ext cx="15087600" cy="1165950"/>
            <a:chOff x="0" y="0"/>
            <a:chExt cx="20116800" cy="1554600"/>
          </a:xfrm>
        </p:grpSpPr>
        <p:sp>
          <p:nvSpPr>
            <p:cNvPr id="108" name="Freeform 108"/>
            <p:cNvSpPr/>
            <p:nvPr/>
          </p:nvSpPr>
          <p:spPr>
            <a:xfrm>
              <a:off x="0" y="0"/>
              <a:ext cx="20116800" cy="1554606"/>
            </a:xfrm>
            <a:custGeom>
              <a:avLst/>
              <a:gdLst/>
              <a:ahLst/>
              <a:cxnLst/>
              <a:rect l="l" t="t" r="r" b="b"/>
              <a:pathLst>
                <a:path w="20116800" h="1554606">
                  <a:moveTo>
                    <a:pt x="0" y="0"/>
                  </a:moveTo>
                  <a:lnTo>
                    <a:pt x="20116800" y="0"/>
                  </a:lnTo>
                  <a:lnTo>
                    <a:pt x="20116800" y="1554606"/>
                  </a:lnTo>
                  <a:lnTo>
                    <a:pt x="0" y="1554606"/>
                  </a:lnTo>
                  <a:close/>
                </a:path>
              </a:pathLst>
            </a:custGeom>
            <a:blipFill>
              <a:blip r:embed="rId4">
                <a:alphaModFix amt="0"/>
              </a:blip>
              <a:stretch>
                <a:fillRect t="-202139" b="-202138"/>
              </a:stretch>
            </a:blipFill>
          </p:spPr>
          <p:txBody>
            <a:bodyPr/>
            <a:lstStyle/>
            <a:p>
              <a:endParaRPr lang="es-CO"/>
            </a:p>
          </p:txBody>
        </p:sp>
        <p:sp>
          <p:nvSpPr>
            <p:cNvPr id="109" name="TextBox 109"/>
            <p:cNvSpPr txBox="1"/>
            <p:nvPr/>
          </p:nvSpPr>
          <p:spPr>
            <a:xfrm>
              <a:off x="0" y="-38100"/>
              <a:ext cx="20116800" cy="15927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Control de versiones:  </a:t>
              </a:r>
              <a:r>
                <a:rPr lang="en-US" sz="1875">
                  <a:solidFill>
                    <a:srgbClr val="22292E"/>
                  </a:solidFill>
                  <a:latin typeface="Calibri (MS)"/>
                  <a:ea typeface="Calibri (MS)"/>
                  <a:cs typeface="Calibri (MS)"/>
                  <a:sym typeface="Calibri (MS)"/>
                </a:rPr>
                <a:t>Git + GitHub Desktop, con sincronización a la nube y despliegue continuo hacia Vercel/Render.</a:t>
              </a:r>
            </a:p>
          </p:txBody>
        </p:sp>
      </p:grpSp>
      <p:sp>
        <p:nvSpPr>
          <p:cNvPr id="111" name="Rectángulo: esquinas superiores redondeadas 110">
            <a:extLst>
              <a:ext uri="{FF2B5EF4-FFF2-40B4-BE49-F238E27FC236}">
                <a16:creationId xmlns:a16="http://schemas.microsoft.com/office/drawing/2014/main" id="{05774D14-BE1A-B19F-DE4F-7677CDC0EE0B}"/>
              </a:ext>
            </a:extLst>
          </p:cNvPr>
          <p:cNvSpPr/>
          <p:nvPr/>
        </p:nvSpPr>
        <p:spPr>
          <a:xfrm>
            <a:off x="7848600" y="9765506"/>
            <a:ext cx="2590800" cy="152400"/>
          </a:xfrm>
          <a:prstGeom prst="round2SameRect">
            <a:avLst/>
          </a:prstGeom>
          <a:solidFill>
            <a:srgbClr val="00B05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5246" y="576072"/>
            <a:ext cx="13716000" cy="480146"/>
            <a:chOff x="0" y="0"/>
            <a:chExt cx="18288000" cy="640194"/>
          </a:xfrm>
        </p:grpSpPr>
        <p:sp>
          <p:nvSpPr>
            <p:cNvPr id="4" name="Freeform 4"/>
            <p:cNvSpPr/>
            <p:nvPr/>
          </p:nvSpPr>
          <p:spPr>
            <a:xfrm>
              <a:off x="0" y="0"/>
              <a:ext cx="18288000" cy="640200"/>
            </a:xfrm>
            <a:custGeom>
              <a:avLst/>
              <a:gdLst/>
              <a:ahLst/>
              <a:cxnLst/>
              <a:rect l="l" t="t" r="r" b="b"/>
              <a:pathLst>
                <a:path w="18288000" h="640200">
                  <a:moveTo>
                    <a:pt x="0" y="0"/>
                  </a:moveTo>
                  <a:lnTo>
                    <a:pt x="18288000" y="0"/>
                  </a:lnTo>
                  <a:lnTo>
                    <a:pt x="18288000" y="640200"/>
                  </a:lnTo>
                  <a:lnTo>
                    <a:pt x="0" y="640200"/>
                  </a:lnTo>
                  <a:close/>
                </a:path>
              </a:pathLst>
            </a:custGeom>
            <a:blipFill>
              <a:blip r:embed="rId4">
                <a:alphaModFix amt="0"/>
              </a:blip>
              <a:stretch>
                <a:fillRect t="-506611" b="-506610"/>
              </a:stretch>
            </a:blipFill>
          </p:spPr>
          <p:txBody>
            <a:bodyPr/>
            <a:lstStyle/>
            <a:p>
              <a:endParaRPr lang="es-CO"/>
            </a:p>
          </p:txBody>
        </p:sp>
        <p:sp>
          <p:nvSpPr>
            <p:cNvPr id="5" name="TextBox 5"/>
            <p:cNvSpPr txBox="1"/>
            <p:nvPr/>
          </p:nvSpPr>
          <p:spPr>
            <a:xfrm>
              <a:off x="0" y="-47625"/>
              <a:ext cx="18288000" cy="687819"/>
            </a:xfrm>
            <a:prstGeom prst="rect">
              <a:avLst/>
            </a:prstGeom>
          </p:spPr>
          <p:txBody>
            <a:bodyPr lIns="0" tIns="0" rIns="0" bIns="0" rtlCol="0" anchor="ctr"/>
            <a:lstStyle/>
            <a:p>
              <a:pPr algn="l">
                <a:lnSpc>
                  <a:spcPts val="2340"/>
                </a:lnSpc>
              </a:pPr>
              <a:r>
                <a:rPr lang="en-US" sz="1950" b="1">
                  <a:solidFill>
                    <a:srgbClr val="39A900"/>
                  </a:solidFill>
                  <a:latin typeface="Calibri (MS) Bold"/>
                  <a:ea typeface="Calibri (MS) Bold"/>
                  <a:cs typeface="Calibri (MS) Bold"/>
                  <a:sym typeface="Calibri (MS) Bold"/>
                </a:rPr>
                <a:t>ESPECIFICACIÓN DE REQUISITOS · IEEE 830</a:t>
              </a:r>
            </a:p>
          </p:txBody>
        </p:sp>
      </p:grpSp>
      <p:grpSp>
        <p:nvGrpSpPr>
          <p:cNvPr id="6" name="Group 6"/>
          <p:cNvGrpSpPr/>
          <p:nvPr/>
        </p:nvGrpSpPr>
        <p:grpSpPr>
          <a:xfrm>
            <a:off x="825246" y="987552"/>
            <a:ext cx="16184699" cy="1165946"/>
            <a:chOff x="0" y="0"/>
            <a:chExt cx="21579599" cy="1554594"/>
          </a:xfrm>
        </p:grpSpPr>
        <p:sp>
          <p:nvSpPr>
            <p:cNvPr id="7" name="Freeform 7"/>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8" name="TextBox 8"/>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Funcionalidades esenciales</a:t>
              </a:r>
            </a:p>
          </p:txBody>
        </p:sp>
      </p:grpSp>
      <p:grpSp>
        <p:nvGrpSpPr>
          <p:cNvPr id="9" name="Group 9"/>
          <p:cNvGrpSpPr/>
          <p:nvPr/>
        </p:nvGrpSpPr>
        <p:grpSpPr>
          <a:xfrm>
            <a:off x="825246" y="2359152"/>
            <a:ext cx="15910646" cy="548554"/>
            <a:chOff x="0" y="0"/>
            <a:chExt cx="21214194" cy="731406"/>
          </a:xfrm>
        </p:grpSpPr>
        <p:sp>
          <p:nvSpPr>
            <p:cNvPr id="10" name="Freeform 10"/>
            <p:cNvSpPr/>
            <p:nvPr/>
          </p:nvSpPr>
          <p:spPr>
            <a:xfrm>
              <a:off x="0" y="0"/>
              <a:ext cx="21214200" cy="731400"/>
            </a:xfrm>
            <a:custGeom>
              <a:avLst/>
              <a:gdLst/>
              <a:ahLst/>
              <a:cxnLst/>
              <a:rect l="l" t="t" r="r" b="b"/>
              <a:pathLst>
                <a:path w="21214200" h="731400">
                  <a:moveTo>
                    <a:pt x="0" y="0"/>
                  </a:moveTo>
                  <a:lnTo>
                    <a:pt x="21214200" y="0"/>
                  </a:lnTo>
                  <a:lnTo>
                    <a:pt x="21214200" y="731400"/>
                  </a:lnTo>
                  <a:lnTo>
                    <a:pt x="0" y="731400"/>
                  </a:lnTo>
                  <a:close/>
                </a:path>
              </a:pathLst>
            </a:custGeom>
            <a:blipFill>
              <a:blip r:embed="rId4">
                <a:alphaModFix amt="0"/>
              </a:blip>
              <a:stretch>
                <a:fillRect t="-515161" b="-515162"/>
              </a:stretch>
            </a:blipFill>
          </p:spPr>
          <p:txBody>
            <a:bodyPr/>
            <a:lstStyle/>
            <a:p>
              <a:endParaRPr lang="es-CO"/>
            </a:p>
          </p:txBody>
        </p:sp>
        <p:sp>
          <p:nvSpPr>
            <p:cNvPr id="11" name="TextBox 11"/>
            <p:cNvSpPr txBox="1"/>
            <p:nvPr/>
          </p:nvSpPr>
          <p:spPr>
            <a:xfrm>
              <a:off x="0" y="-47625"/>
              <a:ext cx="21214194" cy="779031"/>
            </a:xfrm>
            <a:prstGeom prst="rect">
              <a:avLst/>
            </a:prstGeom>
          </p:spPr>
          <p:txBody>
            <a:bodyPr lIns="0" tIns="0" rIns="0" bIns="0" rtlCol="0" anchor="ctr"/>
            <a:lstStyle/>
            <a:p>
              <a:pPr algn="l">
                <a:lnSpc>
                  <a:spcPts val="2340"/>
                </a:lnSpc>
              </a:pPr>
              <a:r>
                <a:rPr lang="en-US" sz="1950" i="1">
                  <a:solidFill>
                    <a:srgbClr val="5B6670"/>
                  </a:solidFill>
                  <a:latin typeface="Calibri (MS) Italics"/>
                  <a:ea typeface="Calibri (MS) Italics"/>
                  <a:cs typeface="Calibri (MS) Italics"/>
                  <a:sym typeface="Calibri (MS) Italics"/>
                </a:rPr>
                <a:t>Los requisitos se documentaron bajo la norma IEEE 830, garantizando que cada funcionalidad fuera clara, completa y verificable.</a:t>
              </a:r>
            </a:p>
          </p:txBody>
        </p:sp>
      </p:grpSp>
      <p:grpSp>
        <p:nvGrpSpPr>
          <p:cNvPr id="12" name="Group 12"/>
          <p:cNvGrpSpPr/>
          <p:nvPr/>
        </p:nvGrpSpPr>
        <p:grpSpPr>
          <a:xfrm>
            <a:off x="825246" y="3154680"/>
            <a:ext cx="5257800" cy="3154499"/>
            <a:chOff x="0" y="0"/>
            <a:chExt cx="7010400" cy="4205999"/>
          </a:xfrm>
        </p:grpSpPr>
        <p:sp>
          <p:nvSpPr>
            <p:cNvPr id="13" name="Freeform 13"/>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14" name="Group 14"/>
          <p:cNvGrpSpPr/>
          <p:nvPr/>
        </p:nvGrpSpPr>
        <p:grpSpPr>
          <a:xfrm>
            <a:off x="1072134" y="3401568"/>
            <a:ext cx="685800" cy="685800"/>
            <a:chOff x="0" y="0"/>
            <a:chExt cx="914400" cy="914400"/>
          </a:xfrm>
        </p:grpSpPr>
        <p:sp>
          <p:nvSpPr>
            <p:cNvPr id="15" name="Freeform 1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16" name="Group 16"/>
          <p:cNvGrpSpPr/>
          <p:nvPr/>
        </p:nvGrpSpPr>
        <p:grpSpPr>
          <a:xfrm>
            <a:off x="1250442" y="3579876"/>
            <a:ext cx="329184" cy="329184"/>
            <a:chOff x="0" y="0"/>
            <a:chExt cx="438912" cy="438912"/>
          </a:xfrm>
        </p:grpSpPr>
        <p:sp>
          <p:nvSpPr>
            <p:cNvPr id="17" name="Freeform 17" descr="icons/search.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5"/>
              <a:stretch>
                <a:fillRect/>
              </a:stretch>
            </a:blipFill>
          </p:spPr>
          <p:txBody>
            <a:bodyPr/>
            <a:lstStyle/>
            <a:p>
              <a:endParaRPr lang="es-CO"/>
            </a:p>
          </p:txBody>
        </p:sp>
      </p:grpSp>
      <p:grpSp>
        <p:nvGrpSpPr>
          <p:cNvPr id="18" name="Group 18"/>
          <p:cNvGrpSpPr/>
          <p:nvPr/>
        </p:nvGrpSpPr>
        <p:grpSpPr>
          <a:xfrm>
            <a:off x="1922526" y="3429000"/>
            <a:ext cx="3954599" cy="383848"/>
            <a:chOff x="0" y="0"/>
            <a:chExt cx="5272799" cy="511797"/>
          </a:xfrm>
        </p:grpSpPr>
        <p:sp>
          <p:nvSpPr>
            <p:cNvPr id="19" name="Freeform 19"/>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20" name="TextBox 20"/>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REQ 01–03</a:t>
              </a:r>
            </a:p>
          </p:txBody>
        </p:sp>
      </p:grpSp>
      <p:grpSp>
        <p:nvGrpSpPr>
          <p:cNvPr id="21" name="Group 21"/>
          <p:cNvGrpSpPr/>
          <p:nvPr/>
        </p:nvGrpSpPr>
        <p:grpSpPr>
          <a:xfrm>
            <a:off x="1072134" y="4251960"/>
            <a:ext cx="4764148" cy="576000"/>
            <a:chOff x="0" y="0"/>
            <a:chExt cx="6352197" cy="768000"/>
          </a:xfrm>
        </p:grpSpPr>
        <p:sp>
          <p:nvSpPr>
            <p:cNvPr id="22" name="Freeform 22"/>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23" name="TextBox 23"/>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Búsqueda y paginación</a:t>
              </a:r>
            </a:p>
          </p:txBody>
        </p:sp>
      </p:grpSp>
      <p:grpSp>
        <p:nvGrpSpPr>
          <p:cNvPr id="24" name="Group 24"/>
          <p:cNvGrpSpPr/>
          <p:nvPr/>
        </p:nvGrpSpPr>
        <p:grpSpPr>
          <a:xfrm>
            <a:off x="1072134" y="4855464"/>
            <a:ext cx="4764148" cy="1371600"/>
            <a:chOff x="0" y="0"/>
            <a:chExt cx="6352197" cy="1828800"/>
          </a:xfrm>
        </p:grpSpPr>
        <p:sp>
          <p:nvSpPr>
            <p:cNvPr id="25" name="Freeform 25"/>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26" name="TextBox 26"/>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Permitir buscar repuestos por nombre, referencia, código u otros criterios disponibles y navegar por páginas.</a:t>
              </a:r>
            </a:p>
          </p:txBody>
        </p:sp>
      </p:grpSp>
      <p:grpSp>
        <p:nvGrpSpPr>
          <p:cNvPr id="27" name="Group 27"/>
          <p:cNvGrpSpPr/>
          <p:nvPr/>
        </p:nvGrpSpPr>
        <p:grpSpPr>
          <a:xfrm>
            <a:off x="6494526" y="3154680"/>
            <a:ext cx="5257800" cy="3154499"/>
            <a:chOff x="0" y="0"/>
            <a:chExt cx="7010400" cy="4205999"/>
          </a:xfrm>
        </p:grpSpPr>
        <p:sp>
          <p:nvSpPr>
            <p:cNvPr id="28" name="Freeform 28"/>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29" name="Group 29"/>
          <p:cNvGrpSpPr/>
          <p:nvPr/>
        </p:nvGrpSpPr>
        <p:grpSpPr>
          <a:xfrm>
            <a:off x="6741414" y="3401568"/>
            <a:ext cx="685800" cy="685800"/>
            <a:chOff x="0" y="0"/>
            <a:chExt cx="914400" cy="914400"/>
          </a:xfrm>
        </p:grpSpPr>
        <p:sp>
          <p:nvSpPr>
            <p:cNvPr id="30" name="Freeform 3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31" name="Group 31"/>
          <p:cNvGrpSpPr/>
          <p:nvPr/>
        </p:nvGrpSpPr>
        <p:grpSpPr>
          <a:xfrm>
            <a:off x="6919722" y="3579876"/>
            <a:ext cx="329184" cy="329184"/>
            <a:chOff x="0" y="0"/>
            <a:chExt cx="438912" cy="438912"/>
          </a:xfrm>
        </p:grpSpPr>
        <p:sp>
          <p:nvSpPr>
            <p:cNvPr id="32" name="Freeform 32" descr="icons/image.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6"/>
              <a:stretch>
                <a:fillRect/>
              </a:stretch>
            </a:blipFill>
          </p:spPr>
          <p:txBody>
            <a:bodyPr/>
            <a:lstStyle/>
            <a:p>
              <a:endParaRPr lang="es-CO"/>
            </a:p>
          </p:txBody>
        </p:sp>
      </p:grpSp>
      <p:grpSp>
        <p:nvGrpSpPr>
          <p:cNvPr id="33" name="Group 33"/>
          <p:cNvGrpSpPr/>
          <p:nvPr/>
        </p:nvGrpSpPr>
        <p:grpSpPr>
          <a:xfrm>
            <a:off x="7591806" y="3429000"/>
            <a:ext cx="3954599" cy="383848"/>
            <a:chOff x="0" y="0"/>
            <a:chExt cx="5272799" cy="511797"/>
          </a:xfrm>
        </p:grpSpPr>
        <p:sp>
          <p:nvSpPr>
            <p:cNvPr id="34" name="Freeform 34"/>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35" name="TextBox 35"/>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REQ 04</a:t>
              </a:r>
            </a:p>
          </p:txBody>
        </p:sp>
      </p:grpSp>
      <p:grpSp>
        <p:nvGrpSpPr>
          <p:cNvPr id="36" name="Group 36"/>
          <p:cNvGrpSpPr/>
          <p:nvPr/>
        </p:nvGrpSpPr>
        <p:grpSpPr>
          <a:xfrm>
            <a:off x="6741414" y="4251960"/>
            <a:ext cx="4764148" cy="576000"/>
            <a:chOff x="0" y="0"/>
            <a:chExt cx="6352197" cy="768000"/>
          </a:xfrm>
        </p:grpSpPr>
        <p:sp>
          <p:nvSpPr>
            <p:cNvPr id="37" name="Freeform 37"/>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38" name="TextBox 38"/>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Control de existencias</a:t>
              </a:r>
            </a:p>
          </p:txBody>
        </p:sp>
      </p:grpSp>
      <p:grpSp>
        <p:nvGrpSpPr>
          <p:cNvPr id="39" name="Group 39"/>
          <p:cNvGrpSpPr/>
          <p:nvPr/>
        </p:nvGrpSpPr>
        <p:grpSpPr>
          <a:xfrm>
            <a:off x="6741414" y="4855464"/>
            <a:ext cx="4764148" cy="1371600"/>
            <a:chOff x="0" y="0"/>
            <a:chExt cx="6352197" cy="1828800"/>
          </a:xfrm>
        </p:grpSpPr>
        <p:sp>
          <p:nvSpPr>
            <p:cNvPr id="40" name="Freeform 40"/>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41" name="TextBox 41"/>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Mantener cantidades disponibles para apoyar el catálogo y las ventas.</a:t>
              </a:r>
            </a:p>
          </p:txBody>
        </p:sp>
      </p:grpSp>
      <p:grpSp>
        <p:nvGrpSpPr>
          <p:cNvPr id="42" name="Group 42"/>
          <p:cNvGrpSpPr/>
          <p:nvPr/>
        </p:nvGrpSpPr>
        <p:grpSpPr>
          <a:xfrm>
            <a:off x="12163806" y="3154680"/>
            <a:ext cx="5257800" cy="3154499"/>
            <a:chOff x="0" y="0"/>
            <a:chExt cx="7010400" cy="4205999"/>
          </a:xfrm>
        </p:grpSpPr>
        <p:sp>
          <p:nvSpPr>
            <p:cNvPr id="43" name="Freeform 43"/>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44" name="Group 44"/>
          <p:cNvGrpSpPr/>
          <p:nvPr/>
        </p:nvGrpSpPr>
        <p:grpSpPr>
          <a:xfrm>
            <a:off x="12410694" y="3401568"/>
            <a:ext cx="685800" cy="685800"/>
            <a:chOff x="0" y="0"/>
            <a:chExt cx="914400" cy="914400"/>
          </a:xfrm>
        </p:grpSpPr>
        <p:sp>
          <p:nvSpPr>
            <p:cNvPr id="45" name="Freeform 4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46" name="Group 46"/>
          <p:cNvGrpSpPr/>
          <p:nvPr/>
        </p:nvGrpSpPr>
        <p:grpSpPr>
          <a:xfrm>
            <a:off x="12589002" y="3579876"/>
            <a:ext cx="329184" cy="329184"/>
            <a:chOff x="0" y="0"/>
            <a:chExt cx="438912" cy="438912"/>
          </a:xfrm>
        </p:grpSpPr>
        <p:sp>
          <p:nvSpPr>
            <p:cNvPr id="47" name="Freeform 47" descr="icons/cart.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7"/>
              <a:stretch>
                <a:fillRect/>
              </a:stretch>
            </a:blipFill>
          </p:spPr>
          <p:txBody>
            <a:bodyPr/>
            <a:lstStyle/>
            <a:p>
              <a:endParaRPr lang="es-CO"/>
            </a:p>
          </p:txBody>
        </p:sp>
      </p:grpSp>
      <p:grpSp>
        <p:nvGrpSpPr>
          <p:cNvPr id="48" name="Group 48"/>
          <p:cNvGrpSpPr/>
          <p:nvPr/>
        </p:nvGrpSpPr>
        <p:grpSpPr>
          <a:xfrm>
            <a:off x="13261086" y="3429000"/>
            <a:ext cx="3954599" cy="383848"/>
            <a:chOff x="0" y="0"/>
            <a:chExt cx="5272799" cy="511797"/>
          </a:xfrm>
        </p:grpSpPr>
        <p:sp>
          <p:nvSpPr>
            <p:cNvPr id="49" name="Freeform 49"/>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50" name="TextBox 50"/>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REQ 05</a:t>
              </a:r>
            </a:p>
          </p:txBody>
        </p:sp>
      </p:grpSp>
      <p:grpSp>
        <p:nvGrpSpPr>
          <p:cNvPr id="51" name="Group 51"/>
          <p:cNvGrpSpPr/>
          <p:nvPr/>
        </p:nvGrpSpPr>
        <p:grpSpPr>
          <a:xfrm>
            <a:off x="12410694" y="4251960"/>
            <a:ext cx="4764148" cy="576000"/>
            <a:chOff x="0" y="0"/>
            <a:chExt cx="6352197" cy="768000"/>
          </a:xfrm>
        </p:grpSpPr>
        <p:sp>
          <p:nvSpPr>
            <p:cNvPr id="52" name="Freeform 52"/>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53" name="TextBox 53"/>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Gestión de vehículos</a:t>
              </a:r>
            </a:p>
          </p:txBody>
        </p:sp>
      </p:grpSp>
      <p:grpSp>
        <p:nvGrpSpPr>
          <p:cNvPr id="54" name="Group 54"/>
          <p:cNvGrpSpPr/>
          <p:nvPr/>
        </p:nvGrpSpPr>
        <p:grpSpPr>
          <a:xfrm>
            <a:off x="12410694" y="4855464"/>
            <a:ext cx="4764148" cy="1371600"/>
            <a:chOff x="0" y="0"/>
            <a:chExt cx="6352197" cy="1828800"/>
          </a:xfrm>
        </p:grpSpPr>
        <p:sp>
          <p:nvSpPr>
            <p:cNvPr id="55" name="Freeform 55"/>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56" name="TextBox 56"/>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Permitir registrar y consultar vehículos asociados al cliente.</a:t>
              </a:r>
            </a:p>
          </p:txBody>
        </p:sp>
      </p:grpSp>
      <p:grpSp>
        <p:nvGrpSpPr>
          <p:cNvPr id="57" name="Group 57"/>
          <p:cNvGrpSpPr/>
          <p:nvPr/>
        </p:nvGrpSpPr>
        <p:grpSpPr>
          <a:xfrm>
            <a:off x="825246" y="6583680"/>
            <a:ext cx="5257800" cy="3154499"/>
            <a:chOff x="0" y="0"/>
            <a:chExt cx="7010400" cy="4205999"/>
          </a:xfrm>
        </p:grpSpPr>
        <p:sp>
          <p:nvSpPr>
            <p:cNvPr id="58" name="Freeform 58"/>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59" name="Group 59"/>
          <p:cNvGrpSpPr/>
          <p:nvPr/>
        </p:nvGrpSpPr>
        <p:grpSpPr>
          <a:xfrm>
            <a:off x="1072134" y="6830568"/>
            <a:ext cx="685800" cy="685800"/>
            <a:chOff x="0" y="0"/>
            <a:chExt cx="914400" cy="914400"/>
          </a:xfrm>
        </p:grpSpPr>
        <p:sp>
          <p:nvSpPr>
            <p:cNvPr id="60" name="Freeform 6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61" name="Group 61"/>
          <p:cNvGrpSpPr/>
          <p:nvPr/>
        </p:nvGrpSpPr>
        <p:grpSpPr>
          <a:xfrm>
            <a:off x="1250442" y="7008876"/>
            <a:ext cx="329184" cy="329184"/>
            <a:chOff x="0" y="0"/>
            <a:chExt cx="438912" cy="438912"/>
          </a:xfrm>
        </p:grpSpPr>
        <p:sp>
          <p:nvSpPr>
            <p:cNvPr id="62" name="Freeform 62" descr="icons/tags.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8"/>
              <a:stretch>
                <a:fillRect/>
              </a:stretch>
            </a:blipFill>
          </p:spPr>
          <p:txBody>
            <a:bodyPr/>
            <a:lstStyle/>
            <a:p>
              <a:endParaRPr lang="es-CO"/>
            </a:p>
          </p:txBody>
        </p:sp>
      </p:grpSp>
      <p:grpSp>
        <p:nvGrpSpPr>
          <p:cNvPr id="63" name="Group 63"/>
          <p:cNvGrpSpPr/>
          <p:nvPr/>
        </p:nvGrpSpPr>
        <p:grpSpPr>
          <a:xfrm>
            <a:off x="1922526" y="6858000"/>
            <a:ext cx="3954599" cy="383848"/>
            <a:chOff x="0" y="0"/>
            <a:chExt cx="5272799" cy="511797"/>
          </a:xfrm>
        </p:grpSpPr>
        <p:sp>
          <p:nvSpPr>
            <p:cNvPr id="64" name="Freeform 64"/>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65" name="TextBox 65"/>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REQ 06</a:t>
              </a:r>
            </a:p>
          </p:txBody>
        </p:sp>
      </p:grpSp>
      <p:grpSp>
        <p:nvGrpSpPr>
          <p:cNvPr id="66" name="Group 66"/>
          <p:cNvGrpSpPr/>
          <p:nvPr/>
        </p:nvGrpSpPr>
        <p:grpSpPr>
          <a:xfrm>
            <a:off x="1072134" y="7680960"/>
            <a:ext cx="4764148" cy="576000"/>
            <a:chOff x="0" y="0"/>
            <a:chExt cx="6352197" cy="768000"/>
          </a:xfrm>
        </p:grpSpPr>
        <p:sp>
          <p:nvSpPr>
            <p:cNvPr id="67" name="Freeform 67"/>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68" name="TextBox 68"/>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Gestion de inventario</a:t>
              </a:r>
            </a:p>
          </p:txBody>
        </p:sp>
      </p:grpSp>
      <p:grpSp>
        <p:nvGrpSpPr>
          <p:cNvPr id="69" name="Group 69"/>
          <p:cNvGrpSpPr/>
          <p:nvPr/>
        </p:nvGrpSpPr>
        <p:grpSpPr>
          <a:xfrm>
            <a:off x="1072134" y="8284464"/>
            <a:ext cx="4764148" cy="1371600"/>
            <a:chOff x="0" y="0"/>
            <a:chExt cx="6352197" cy="1828800"/>
          </a:xfrm>
        </p:grpSpPr>
        <p:sp>
          <p:nvSpPr>
            <p:cNvPr id="70" name="Freeform 70"/>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71" name="TextBox 71"/>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Permitir registrar, editar, consultar y eliminar productos.</a:t>
              </a:r>
            </a:p>
            <a:p>
              <a:pPr algn="l">
                <a:lnSpc>
                  <a:spcPts val="1800"/>
                </a:lnSpc>
              </a:pPr>
              <a:endParaRPr lang="en-US" sz="1500">
                <a:solidFill>
                  <a:srgbClr val="5B6670"/>
                </a:solidFill>
                <a:latin typeface="Calibri (MS)"/>
                <a:ea typeface="Calibri (MS)"/>
                <a:cs typeface="Calibri (MS)"/>
                <a:sym typeface="Calibri (MS)"/>
              </a:endParaRPr>
            </a:p>
          </p:txBody>
        </p:sp>
      </p:grpSp>
      <p:grpSp>
        <p:nvGrpSpPr>
          <p:cNvPr id="72" name="Group 72"/>
          <p:cNvGrpSpPr/>
          <p:nvPr/>
        </p:nvGrpSpPr>
        <p:grpSpPr>
          <a:xfrm>
            <a:off x="6494526" y="6583680"/>
            <a:ext cx="5257800" cy="3154499"/>
            <a:chOff x="0" y="0"/>
            <a:chExt cx="7010400" cy="4205999"/>
          </a:xfrm>
        </p:grpSpPr>
        <p:sp>
          <p:nvSpPr>
            <p:cNvPr id="73" name="Freeform 73"/>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74" name="Group 74"/>
          <p:cNvGrpSpPr/>
          <p:nvPr/>
        </p:nvGrpSpPr>
        <p:grpSpPr>
          <a:xfrm>
            <a:off x="6741414" y="6830568"/>
            <a:ext cx="685800" cy="685800"/>
            <a:chOff x="0" y="0"/>
            <a:chExt cx="914400" cy="914400"/>
          </a:xfrm>
        </p:grpSpPr>
        <p:sp>
          <p:nvSpPr>
            <p:cNvPr id="75" name="Freeform 7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76" name="Group 76"/>
          <p:cNvGrpSpPr/>
          <p:nvPr/>
        </p:nvGrpSpPr>
        <p:grpSpPr>
          <a:xfrm>
            <a:off x="6919722" y="7008876"/>
            <a:ext cx="329184" cy="329184"/>
            <a:chOff x="0" y="0"/>
            <a:chExt cx="438912" cy="438912"/>
          </a:xfrm>
        </p:grpSpPr>
        <p:sp>
          <p:nvSpPr>
            <p:cNvPr id="77" name="Freeform 77" descr="icons/cogs.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9"/>
              <a:stretch>
                <a:fillRect/>
              </a:stretch>
            </a:blipFill>
          </p:spPr>
          <p:txBody>
            <a:bodyPr/>
            <a:lstStyle/>
            <a:p>
              <a:endParaRPr lang="es-CO"/>
            </a:p>
          </p:txBody>
        </p:sp>
      </p:grpSp>
      <p:grpSp>
        <p:nvGrpSpPr>
          <p:cNvPr id="78" name="Group 78"/>
          <p:cNvGrpSpPr/>
          <p:nvPr/>
        </p:nvGrpSpPr>
        <p:grpSpPr>
          <a:xfrm>
            <a:off x="7591806" y="6858000"/>
            <a:ext cx="3954599" cy="383848"/>
            <a:chOff x="0" y="0"/>
            <a:chExt cx="5272799" cy="511797"/>
          </a:xfrm>
        </p:grpSpPr>
        <p:sp>
          <p:nvSpPr>
            <p:cNvPr id="79" name="Freeform 79"/>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80" name="TextBox 80"/>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REQ 07</a:t>
              </a:r>
            </a:p>
          </p:txBody>
        </p:sp>
      </p:grpSp>
      <p:grpSp>
        <p:nvGrpSpPr>
          <p:cNvPr id="81" name="Group 81"/>
          <p:cNvGrpSpPr/>
          <p:nvPr/>
        </p:nvGrpSpPr>
        <p:grpSpPr>
          <a:xfrm>
            <a:off x="6741414" y="7680960"/>
            <a:ext cx="4764148" cy="576000"/>
            <a:chOff x="0" y="0"/>
            <a:chExt cx="6352197" cy="768000"/>
          </a:xfrm>
        </p:grpSpPr>
        <p:sp>
          <p:nvSpPr>
            <p:cNvPr id="82" name="Freeform 82"/>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83" name="TextBox 83"/>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nicio de sesión y control de acceso</a:t>
              </a:r>
            </a:p>
          </p:txBody>
        </p:sp>
      </p:grpSp>
      <p:grpSp>
        <p:nvGrpSpPr>
          <p:cNvPr id="84" name="Group 84"/>
          <p:cNvGrpSpPr/>
          <p:nvPr/>
        </p:nvGrpSpPr>
        <p:grpSpPr>
          <a:xfrm>
            <a:off x="6741414" y="8284464"/>
            <a:ext cx="4764148" cy="1371600"/>
            <a:chOff x="0" y="0"/>
            <a:chExt cx="6352197" cy="1828800"/>
          </a:xfrm>
        </p:grpSpPr>
        <p:sp>
          <p:nvSpPr>
            <p:cNvPr id="85" name="Freeform 85"/>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86" name="TextBox 86"/>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Permitir iniciar sesión y restringir funciones según rol.</a:t>
              </a:r>
            </a:p>
          </p:txBody>
        </p:sp>
      </p:grpSp>
      <p:grpSp>
        <p:nvGrpSpPr>
          <p:cNvPr id="87" name="Group 87"/>
          <p:cNvGrpSpPr/>
          <p:nvPr/>
        </p:nvGrpSpPr>
        <p:grpSpPr>
          <a:xfrm>
            <a:off x="12163806" y="6583680"/>
            <a:ext cx="5257800" cy="3154499"/>
            <a:chOff x="0" y="0"/>
            <a:chExt cx="7010400" cy="4205999"/>
          </a:xfrm>
        </p:grpSpPr>
        <p:sp>
          <p:nvSpPr>
            <p:cNvPr id="88" name="Freeform 88"/>
            <p:cNvSpPr/>
            <p:nvPr/>
          </p:nvSpPr>
          <p:spPr>
            <a:xfrm>
              <a:off x="0" y="0"/>
              <a:ext cx="7010400" cy="4205986"/>
            </a:xfrm>
            <a:custGeom>
              <a:avLst/>
              <a:gdLst/>
              <a:ahLst/>
              <a:cxnLst/>
              <a:rect l="l" t="t" r="r" b="b"/>
              <a:pathLst>
                <a:path w="7010400" h="4205986">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txBody>
            <a:bodyPr/>
            <a:lstStyle/>
            <a:p>
              <a:endParaRPr lang="es-CO"/>
            </a:p>
          </p:txBody>
        </p:sp>
      </p:grpSp>
      <p:grpSp>
        <p:nvGrpSpPr>
          <p:cNvPr id="89" name="Group 89"/>
          <p:cNvGrpSpPr/>
          <p:nvPr/>
        </p:nvGrpSpPr>
        <p:grpSpPr>
          <a:xfrm>
            <a:off x="12410694" y="6830568"/>
            <a:ext cx="685800" cy="685800"/>
            <a:chOff x="0" y="0"/>
            <a:chExt cx="914400" cy="914400"/>
          </a:xfrm>
        </p:grpSpPr>
        <p:sp>
          <p:nvSpPr>
            <p:cNvPr id="90" name="Freeform 9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91" name="Group 91"/>
          <p:cNvGrpSpPr/>
          <p:nvPr/>
        </p:nvGrpSpPr>
        <p:grpSpPr>
          <a:xfrm>
            <a:off x="12589002" y="7008876"/>
            <a:ext cx="329184" cy="329184"/>
            <a:chOff x="0" y="0"/>
            <a:chExt cx="438912" cy="438912"/>
          </a:xfrm>
        </p:grpSpPr>
        <p:sp>
          <p:nvSpPr>
            <p:cNvPr id="92" name="Freeform 92" descr="icons/bell.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10"/>
              <a:stretch>
                <a:fillRect/>
              </a:stretch>
            </a:blipFill>
          </p:spPr>
          <p:txBody>
            <a:bodyPr/>
            <a:lstStyle/>
            <a:p>
              <a:endParaRPr lang="es-CO"/>
            </a:p>
          </p:txBody>
        </p:sp>
      </p:grpSp>
      <p:grpSp>
        <p:nvGrpSpPr>
          <p:cNvPr id="93" name="Group 93"/>
          <p:cNvGrpSpPr/>
          <p:nvPr/>
        </p:nvGrpSpPr>
        <p:grpSpPr>
          <a:xfrm>
            <a:off x="13261086" y="6858000"/>
            <a:ext cx="3954599" cy="383848"/>
            <a:chOff x="0" y="0"/>
            <a:chExt cx="5272799" cy="511797"/>
          </a:xfrm>
        </p:grpSpPr>
        <p:sp>
          <p:nvSpPr>
            <p:cNvPr id="94" name="Freeform 94"/>
            <p:cNvSpPr/>
            <p:nvPr/>
          </p:nvSpPr>
          <p:spPr>
            <a:xfrm>
              <a:off x="0" y="0"/>
              <a:ext cx="5272800" cy="511800"/>
            </a:xfrm>
            <a:custGeom>
              <a:avLst/>
              <a:gdLst/>
              <a:ahLst/>
              <a:cxnLst/>
              <a:rect l="l" t="t" r="r" b="b"/>
              <a:pathLst>
                <a:path w="5272800" h="511800">
                  <a:moveTo>
                    <a:pt x="0" y="0"/>
                  </a:moveTo>
                  <a:lnTo>
                    <a:pt x="5272800" y="0"/>
                  </a:lnTo>
                  <a:lnTo>
                    <a:pt x="5272800" y="511800"/>
                  </a:lnTo>
                  <a:lnTo>
                    <a:pt x="0" y="511800"/>
                  </a:lnTo>
                  <a:close/>
                </a:path>
              </a:pathLst>
            </a:custGeom>
            <a:blipFill>
              <a:blip r:embed="rId4">
                <a:alphaModFix amt="0"/>
              </a:blip>
              <a:stretch>
                <a:fillRect t="-150744" b="-150743"/>
              </a:stretch>
            </a:blipFill>
          </p:spPr>
          <p:txBody>
            <a:bodyPr/>
            <a:lstStyle/>
            <a:p>
              <a:endParaRPr lang="es-CO"/>
            </a:p>
          </p:txBody>
        </p:sp>
        <p:sp>
          <p:nvSpPr>
            <p:cNvPr id="95" name="TextBox 95"/>
            <p:cNvSpPr txBox="1"/>
            <p:nvPr/>
          </p:nvSpPr>
          <p:spPr>
            <a:xfrm>
              <a:off x="0" y="-19050"/>
              <a:ext cx="5272799" cy="530847"/>
            </a:xfrm>
            <a:prstGeom prst="rect">
              <a:avLst/>
            </a:prstGeom>
          </p:spPr>
          <p:txBody>
            <a:bodyPr lIns="0" tIns="0" rIns="0" bIns="0" rtlCol="0" anchor="ctr"/>
            <a:lstStyle/>
            <a:p>
              <a:pPr algn="l">
                <a:lnSpc>
                  <a:spcPts val="1889"/>
                </a:lnSpc>
              </a:pPr>
              <a:r>
                <a:rPr lang="en-US" sz="1575" b="1">
                  <a:solidFill>
                    <a:srgbClr val="39A900"/>
                  </a:solidFill>
                  <a:latin typeface="Calibri (MS) Bold"/>
                  <a:ea typeface="Calibri (MS) Bold"/>
                  <a:cs typeface="Calibri (MS) Bold"/>
                  <a:sym typeface="Calibri (MS) Bold"/>
                </a:rPr>
                <a:t>No funcional</a:t>
              </a:r>
            </a:p>
          </p:txBody>
        </p:sp>
      </p:grpSp>
      <p:grpSp>
        <p:nvGrpSpPr>
          <p:cNvPr id="96" name="Group 96"/>
          <p:cNvGrpSpPr/>
          <p:nvPr/>
        </p:nvGrpSpPr>
        <p:grpSpPr>
          <a:xfrm>
            <a:off x="12410694" y="7680960"/>
            <a:ext cx="4764148" cy="576000"/>
            <a:chOff x="0" y="0"/>
            <a:chExt cx="6352197" cy="768000"/>
          </a:xfrm>
        </p:grpSpPr>
        <p:sp>
          <p:nvSpPr>
            <p:cNvPr id="97" name="Freeform 97"/>
            <p:cNvSpPr/>
            <p:nvPr/>
          </p:nvSpPr>
          <p:spPr>
            <a:xfrm>
              <a:off x="0" y="0"/>
              <a:ext cx="6352200" cy="768006"/>
            </a:xfrm>
            <a:custGeom>
              <a:avLst/>
              <a:gdLst/>
              <a:ahLst/>
              <a:cxnLst/>
              <a:rect l="l" t="t" r="r" b="b"/>
              <a:pathLst>
                <a:path w="6352200" h="768006">
                  <a:moveTo>
                    <a:pt x="0" y="0"/>
                  </a:moveTo>
                  <a:lnTo>
                    <a:pt x="6352200" y="0"/>
                  </a:lnTo>
                  <a:lnTo>
                    <a:pt x="6352200" y="768006"/>
                  </a:lnTo>
                  <a:lnTo>
                    <a:pt x="0" y="768006"/>
                  </a:lnTo>
                  <a:close/>
                </a:path>
              </a:pathLst>
            </a:custGeom>
            <a:blipFill>
              <a:blip r:embed="rId4">
                <a:alphaModFix amt="0"/>
              </a:blip>
              <a:stretch>
                <a:fillRect t="-111162" b="-111160"/>
              </a:stretch>
            </a:blipFill>
          </p:spPr>
          <p:txBody>
            <a:bodyPr/>
            <a:lstStyle/>
            <a:p>
              <a:endParaRPr lang="es-CO"/>
            </a:p>
          </p:txBody>
        </p:sp>
        <p:sp>
          <p:nvSpPr>
            <p:cNvPr id="98" name="TextBox 98"/>
            <p:cNvSpPr txBox="1"/>
            <p:nvPr/>
          </p:nvSpPr>
          <p:spPr>
            <a:xfrm>
              <a:off x="0" y="-38100"/>
              <a:ext cx="6352197" cy="8061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Registro de usuario</a:t>
              </a:r>
            </a:p>
          </p:txBody>
        </p:sp>
      </p:grpSp>
      <p:grpSp>
        <p:nvGrpSpPr>
          <p:cNvPr id="99" name="Group 99"/>
          <p:cNvGrpSpPr/>
          <p:nvPr/>
        </p:nvGrpSpPr>
        <p:grpSpPr>
          <a:xfrm>
            <a:off x="12410694" y="8284464"/>
            <a:ext cx="4764148" cy="1371600"/>
            <a:chOff x="0" y="0"/>
            <a:chExt cx="6352197" cy="1828800"/>
          </a:xfrm>
        </p:grpSpPr>
        <p:sp>
          <p:nvSpPr>
            <p:cNvPr id="100" name="Freeform 100"/>
            <p:cNvSpPr/>
            <p:nvPr/>
          </p:nvSpPr>
          <p:spPr>
            <a:xfrm>
              <a:off x="0" y="0"/>
              <a:ext cx="6352200" cy="1828800"/>
            </a:xfrm>
            <a:custGeom>
              <a:avLst/>
              <a:gdLst/>
              <a:ahLst/>
              <a:cxnLst/>
              <a:rect l="l" t="t" r="r" b="b"/>
              <a:pathLst>
                <a:path w="6352200" h="1828800">
                  <a:moveTo>
                    <a:pt x="0" y="0"/>
                  </a:moveTo>
                  <a:lnTo>
                    <a:pt x="6352200" y="0"/>
                  </a:lnTo>
                  <a:lnTo>
                    <a:pt x="6352200" y="1828800"/>
                  </a:lnTo>
                  <a:lnTo>
                    <a:pt x="0" y="1828800"/>
                  </a:lnTo>
                  <a:close/>
                </a:path>
              </a:pathLst>
            </a:custGeom>
            <a:blipFill>
              <a:blip r:embed="rId4">
                <a:alphaModFix amt="0"/>
              </a:blip>
              <a:stretch>
                <a:fillRect t="-17679" b="-17679"/>
              </a:stretch>
            </a:blipFill>
          </p:spPr>
          <p:txBody>
            <a:bodyPr/>
            <a:lstStyle/>
            <a:p>
              <a:endParaRPr lang="es-CO"/>
            </a:p>
          </p:txBody>
        </p:sp>
        <p:sp>
          <p:nvSpPr>
            <p:cNvPr id="101" name="TextBox 101"/>
            <p:cNvSpPr txBox="1"/>
            <p:nvPr/>
          </p:nvSpPr>
          <p:spPr>
            <a:xfrm>
              <a:off x="0" y="-38100"/>
              <a:ext cx="6352197" cy="1866900"/>
            </a:xfrm>
            <a:prstGeom prst="rect">
              <a:avLst/>
            </a:prstGeom>
          </p:spPr>
          <p:txBody>
            <a:bodyPr lIns="0" tIns="0" rIns="0" bIns="0" rtlCol="0" anchor="ctr"/>
            <a:lstStyle/>
            <a:p>
              <a:pPr algn="l">
                <a:lnSpc>
                  <a:spcPts val="1800"/>
                </a:lnSpc>
              </a:pPr>
              <a:r>
                <a:rPr lang="en-US" sz="1500">
                  <a:solidFill>
                    <a:srgbClr val="5B6670"/>
                  </a:solidFill>
                  <a:latin typeface="Calibri (MS)"/>
                  <a:ea typeface="Calibri (MS)"/>
                  <a:cs typeface="Calibri (MS)"/>
                  <a:sym typeface="Calibri (MS)"/>
                </a:rPr>
                <a:t>Permitir registrar una cuenta para acceder a las funciones autenticadas.</a:t>
              </a:r>
            </a:p>
          </p:txBody>
        </p:sp>
      </p:grpSp>
      <p:sp>
        <p:nvSpPr>
          <p:cNvPr id="103" name="Rectángulo: esquinas superiores redondeadas 102">
            <a:extLst>
              <a:ext uri="{FF2B5EF4-FFF2-40B4-BE49-F238E27FC236}">
                <a16:creationId xmlns:a16="http://schemas.microsoft.com/office/drawing/2014/main" id="{22805914-C7FF-C406-8141-224622F82521}"/>
              </a:ext>
            </a:extLst>
          </p:cNvPr>
          <p:cNvSpPr/>
          <p:nvPr/>
        </p:nvSpPr>
        <p:spPr>
          <a:xfrm>
            <a:off x="7848600" y="9765506"/>
            <a:ext cx="2590800" cy="152400"/>
          </a:xfrm>
          <a:prstGeom prst="round2SameRect">
            <a:avLst/>
          </a:prstGeom>
          <a:solidFill>
            <a:srgbClr val="C0000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987552"/>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Arquitectura y stack tecnológico</a:t>
              </a:r>
            </a:p>
          </p:txBody>
        </p:sp>
      </p:grpSp>
      <p:grpSp>
        <p:nvGrpSpPr>
          <p:cNvPr id="6" name="Group 6"/>
          <p:cNvGrpSpPr/>
          <p:nvPr/>
        </p:nvGrpSpPr>
        <p:grpSpPr>
          <a:xfrm>
            <a:off x="822960" y="2468880"/>
            <a:ext cx="5308197" cy="3429000"/>
            <a:chOff x="0" y="0"/>
            <a:chExt cx="7077596" cy="4572000"/>
          </a:xfrm>
        </p:grpSpPr>
        <p:sp>
          <p:nvSpPr>
            <p:cNvPr id="7" name="Freeform 7"/>
            <p:cNvSpPr/>
            <p:nvPr/>
          </p:nvSpPr>
          <p:spPr>
            <a:xfrm>
              <a:off x="0" y="0"/>
              <a:ext cx="7077583" cy="4572000"/>
            </a:xfrm>
            <a:custGeom>
              <a:avLst/>
              <a:gdLst/>
              <a:ahLst/>
              <a:cxnLst/>
              <a:rect l="l" t="t" r="r" b="b"/>
              <a:pathLst>
                <a:path w="7077583" h="4572000">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txBody>
            <a:bodyPr/>
            <a:lstStyle/>
            <a:p>
              <a:endParaRPr lang="es-CO"/>
            </a:p>
          </p:txBody>
        </p:sp>
      </p:grpSp>
      <p:grpSp>
        <p:nvGrpSpPr>
          <p:cNvPr id="8" name="Group 8"/>
          <p:cNvGrpSpPr/>
          <p:nvPr/>
        </p:nvGrpSpPr>
        <p:grpSpPr>
          <a:xfrm>
            <a:off x="2962656" y="2811780"/>
            <a:ext cx="1028700" cy="1028700"/>
            <a:chOff x="0" y="0"/>
            <a:chExt cx="1371600" cy="1371600"/>
          </a:xfrm>
        </p:grpSpPr>
        <p:sp>
          <p:nvSpPr>
            <p:cNvPr id="9" name="Freeform 9"/>
            <p:cNvSpPr/>
            <p:nvPr/>
          </p:nvSpPr>
          <p:spPr>
            <a:xfrm>
              <a:off x="0" y="0"/>
              <a:ext cx="1371600" cy="1371600"/>
            </a:xfrm>
            <a:custGeom>
              <a:avLst/>
              <a:gdLst/>
              <a:ahLst/>
              <a:cxnLst/>
              <a:rect l="l" t="t" r="r" b="b"/>
              <a:pathLst>
                <a:path w="1371600" h="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txBody>
            <a:bodyPr/>
            <a:lstStyle/>
            <a:p>
              <a:endParaRPr lang="es-CO"/>
            </a:p>
          </p:txBody>
        </p:sp>
      </p:grpSp>
      <p:grpSp>
        <p:nvGrpSpPr>
          <p:cNvPr id="10" name="Group 10"/>
          <p:cNvGrpSpPr/>
          <p:nvPr/>
        </p:nvGrpSpPr>
        <p:grpSpPr>
          <a:xfrm>
            <a:off x="3230118" y="3079242"/>
            <a:ext cx="493776" cy="493776"/>
            <a:chOff x="0" y="0"/>
            <a:chExt cx="658368" cy="658368"/>
          </a:xfrm>
        </p:grpSpPr>
        <p:sp>
          <p:nvSpPr>
            <p:cNvPr id="11" name="Freeform 11" descr="icons/code.png"/>
            <p:cNvSpPr/>
            <p:nvPr/>
          </p:nvSpPr>
          <p:spPr>
            <a:xfrm>
              <a:off x="0" y="0"/>
              <a:ext cx="658368" cy="658368"/>
            </a:xfrm>
            <a:custGeom>
              <a:avLst/>
              <a:gdLst/>
              <a:ahLst/>
              <a:cxnLst/>
              <a:rect l="l" t="t" r="r" b="b"/>
              <a:pathLst>
                <a:path w="658368" h="658368">
                  <a:moveTo>
                    <a:pt x="0" y="0"/>
                  </a:moveTo>
                  <a:lnTo>
                    <a:pt x="658368" y="0"/>
                  </a:lnTo>
                  <a:lnTo>
                    <a:pt x="658368" y="658368"/>
                  </a:lnTo>
                  <a:lnTo>
                    <a:pt x="0" y="658368"/>
                  </a:lnTo>
                  <a:lnTo>
                    <a:pt x="0" y="0"/>
                  </a:lnTo>
                  <a:close/>
                </a:path>
              </a:pathLst>
            </a:custGeom>
            <a:blipFill>
              <a:blip r:embed="rId5"/>
              <a:stretch>
                <a:fillRect/>
              </a:stretch>
            </a:blipFill>
          </p:spPr>
          <p:txBody>
            <a:bodyPr/>
            <a:lstStyle/>
            <a:p>
              <a:endParaRPr lang="es-CO"/>
            </a:p>
          </p:txBody>
        </p:sp>
      </p:grpSp>
      <p:grpSp>
        <p:nvGrpSpPr>
          <p:cNvPr id="12" name="Group 12"/>
          <p:cNvGrpSpPr/>
          <p:nvPr/>
        </p:nvGrpSpPr>
        <p:grpSpPr>
          <a:xfrm>
            <a:off x="1028700" y="3977640"/>
            <a:ext cx="4896450" cy="438750"/>
            <a:chOff x="0" y="0"/>
            <a:chExt cx="6528600" cy="585000"/>
          </a:xfrm>
        </p:grpSpPr>
        <p:sp>
          <p:nvSpPr>
            <p:cNvPr id="13" name="Freeform 13"/>
            <p:cNvSpPr/>
            <p:nvPr/>
          </p:nvSpPr>
          <p:spPr>
            <a:xfrm>
              <a:off x="0" y="0"/>
              <a:ext cx="6528600" cy="585000"/>
            </a:xfrm>
            <a:custGeom>
              <a:avLst/>
              <a:gdLst/>
              <a:ahLst/>
              <a:cxnLst/>
              <a:rect l="l" t="t" r="r" b="b"/>
              <a:pathLst>
                <a:path w="6528600" h="585000">
                  <a:moveTo>
                    <a:pt x="0" y="0"/>
                  </a:moveTo>
                  <a:lnTo>
                    <a:pt x="6528600" y="0"/>
                  </a:lnTo>
                  <a:lnTo>
                    <a:pt x="6528600" y="585000"/>
                  </a:lnTo>
                  <a:lnTo>
                    <a:pt x="0" y="585000"/>
                  </a:lnTo>
                  <a:close/>
                </a:path>
              </a:pathLst>
            </a:custGeom>
            <a:blipFill>
              <a:blip r:embed="rId4">
                <a:alphaModFix amt="0"/>
              </a:blip>
              <a:stretch>
                <a:fillRect t="-167453" b="-167453"/>
              </a:stretch>
            </a:blipFill>
          </p:spPr>
          <p:txBody>
            <a:bodyPr/>
            <a:lstStyle/>
            <a:p>
              <a:endParaRPr lang="es-CO"/>
            </a:p>
          </p:txBody>
        </p:sp>
        <p:sp>
          <p:nvSpPr>
            <p:cNvPr id="14" name="TextBox 14"/>
            <p:cNvSpPr txBox="1"/>
            <p:nvPr/>
          </p:nvSpPr>
          <p:spPr>
            <a:xfrm>
              <a:off x="0" y="-47625"/>
              <a:ext cx="6528600" cy="632625"/>
            </a:xfrm>
            <a:prstGeom prst="rect">
              <a:avLst/>
            </a:prstGeom>
          </p:spPr>
          <p:txBody>
            <a:bodyPr lIns="0" tIns="0" rIns="0" bIns="0" rtlCol="0" anchor="ctr"/>
            <a:lstStyle/>
            <a:p>
              <a:pPr algn="ctr">
                <a:lnSpc>
                  <a:spcPts val="2340"/>
                </a:lnSpc>
              </a:pPr>
              <a:r>
                <a:rPr lang="en-US" sz="1950" b="1">
                  <a:solidFill>
                    <a:srgbClr val="FDC300"/>
                  </a:solidFill>
                  <a:latin typeface="Calibri (MS) Bold"/>
                  <a:ea typeface="Calibri (MS) Bold"/>
                  <a:cs typeface="Calibri (MS) Bold"/>
                  <a:sym typeface="Calibri (MS) Bold"/>
                </a:rPr>
                <a:t>Frontend</a:t>
              </a:r>
            </a:p>
          </p:txBody>
        </p:sp>
      </p:grpSp>
      <p:grpSp>
        <p:nvGrpSpPr>
          <p:cNvPr id="15" name="Group 15"/>
          <p:cNvGrpSpPr/>
          <p:nvPr/>
        </p:nvGrpSpPr>
        <p:grpSpPr>
          <a:xfrm>
            <a:off x="1028700" y="4416552"/>
            <a:ext cx="4896450" cy="548550"/>
            <a:chOff x="0" y="0"/>
            <a:chExt cx="6528600" cy="731400"/>
          </a:xfrm>
        </p:grpSpPr>
        <p:sp>
          <p:nvSpPr>
            <p:cNvPr id="16" name="Freeform 16"/>
            <p:cNvSpPr/>
            <p:nvPr/>
          </p:nvSpPr>
          <p:spPr>
            <a:xfrm>
              <a:off x="0" y="0"/>
              <a:ext cx="6528600" cy="731394"/>
            </a:xfrm>
            <a:custGeom>
              <a:avLst/>
              <a:gdLst/>
              <a:ahLst/>
              <a:cxnLst/>
              <a:rect l="l" t="t" r="r" b="b"/>
              <a:pathLst>
                <a:path w="6528600" h="731394">
                  <a:moveTo>
                    <a:pt x="0" y="0"/>
                  </a:moveTo>
                  <a:lnTo>
                    <a:pt x="6528600" y="0"/>
                  </a:lnTo>
                  <a:lnTo>
                    <a:pt x="6528600" y="731394"/>
                  </a:lnTo>
                  <a:lnTo>
                    <a:pt x="0" y="731394"/>
                  </a:lnTo>
                  <a:close/>
                </a:path>
              </a:pathLst>
            </a:custGeom>
            <a:blipFill>
              <a:blip r:embed="rId4">
                <a:alphaModFix amt="0"/>
              </a:blip>
              <a:stretch>
                <a:fillRect t="-123927" b="-123928"/>
              </a:stretch>
            </a:blipFill>
          </p:spPr>
          <p:txBody>
            <a:bodyPr/>
            <a:lstStyle/>
            <a:p>
              <a:endParaRPr lang="es-CO"/>
            </a:p>
          </p:txBody>
        </p:sp>
        <p:sp>
          <p:nvSpPr>
            <p:cNvPr id="17" name="TextBox 17"/>
            <p:cNvSpPr txBox="1"/>
            <p:nvPr/>
          </p:nvSpPr>
          <p:spPr>
            <a:xfrm>
              <a:off x="0" y="-38100"/>
              <a:ext cx="6528600" cy="769500"/>
            </a:xfrm>
            <a:prstGeom prst="rect">
              <a:avLst/>
            </a:prstGeom>
          </p:spPr>
          <p:txBody>
            <a:bodyPr lIns="0" tIns="0" rIns="0" bIns="0" rtlCol="0" anchor="ctr"/>
            <a:lstStyle/>
            <a:p>
              <a:pPr algn="ctr">
                <a:lnSpc>
                  <a:spcPts val="2070"/>
                </a:lnSpc>
              </a:pPr>
              <a:r>
                <a:rPr lang="en-US" sz="1725" b="1">
                  <a:solidFill>
                    <a:srgbClr val="FFFFFF"/>
                  </a:solidFill>
                  <a:latin typeface="Calibri (MS) Bold"/>
                  <a:ea typeface="Calibri (MS) Bold"/>
                  <a:cs typeface="Calibri (MS) Bold"/>
                  <a:sym typeface="Calibri (MS) Bold"/>
                </a:rPr>
                <a:t>React + Boostrap</a:t>
              </a:r>
            </a:p>
          </p:txBody>
        </p:sp>
      </p:grpSp>
      <p:grpSp>
        <p:nvGrpSpPr>
          <p:cNvPr id="18" name="Group 18"/>
          <p:cNvGrpSpPr/>
          <p:nvPr/>
        </p:nvGrpSpPr>
        <p:grpSpPr>
          <a:xfrm>
            <a:off x="1097280" y="5006340"/>
            <a:ext cx="4759652" cy="823050"/>
            <a:chOff x="0" y="0"/>
            <a:chExt cx="6346203" cy="1097400"/>
          </a:xfrm>
        </p:grpSpPr>
        <p:sp>
          <p:nvSpPr>
            <p:cNvPr id="19" name="Freeform 19"/>
            <p:cNvSpPr/>
            <p:nvPr/>
          </p:nvSpPr>
          <p:spPr>
            <a:xfrm>
              <a:off x="0" y="0"/>
              <a:ext cx="6346200" cy="1097406"/>
            </a:xfrm>
            <a:custGeom>
              <a:avLst/>
              <a:gdLst/>
              <a:ahLst/>
              <a:cxnLst/>
              <a:rect l="l" t="t" r="r" b="b"/>
              <a:pathLst>
                <a:path w="6346200" h="1097406">
                  <a:moveTo>
                    <a:pt x="0" y="0"/>
                  </a:moveTo>
                  <a:lnTo>
                    <a:pt x="6346200" y="0"/>
                  </a:lnTo>
                  <a:lnTo>
                    <a:pt x="6346200" y="1097406"/>
                  </a:lnTo>
                  <a:lnTo>
                    <a:pt x="0" y="1097406"/>
                  </a:lnTo>
                  <a:close/>
                </a:path>
              </a:pathLst>
            </a:custGeom>
            <a:blipFill>
              <a:blip r:embed="rId4">
                <a:alphaModFix amt="0"/>
              </a:blip>
              <a:stretch>
                <a:fillRect t="-62680" b="-62679"/>
              </a:stretch>
            </a:blipFill>
          </p:spPr>
          <p:txBody>
            <a:bodyPr/>
            <a:lstStyle/>
            <a:p>
              <a:endParaRPr lang="es-CO"/>
            </a:p>
          </p:txBody>
        </p:sp>
        <p:sp>
          <p:nvSpPr>
            <p:cNvPr id="20" name="TextBox 20"/>
            <p:cNvSpPr txBox="1"/>
            <p:nvPr/>
          </p:nvSpPr>
          <p:spPr>
            <a:xfrm>
              <a:off x="0" y="-38100"/>
              <a:ext cx="6346203" cy="1135500"/>
            </a:xfrm>
            <a:prstGeom prst="rect">
              <a:avLst/>
            </a:prstGeom>
          </p:spPr>
          <p:txBody>
            <a:bodyPr lIns="0" tIns="0" rIns="0" bIns="0" rtlCol="0" anchor="ctr"/>
            <a:lstStyle/>
            <a:p>
              <a:pPr algn="ctr">
                <a:lnSpc>
                  <a:spcPts val="1709"/>
                </a:lnSpc>
              </a:pPr>
              <a:r>
                <a:rPr lang="en-US" sz="1425">
                  <a:solidFill>
                    <a:srgbClr val="B9CBD6"/>
                  </a:solidFill>
                  <a:latin typeface="Calibri (MS)"/>
                  <a:ea typeface="Calibri (MS)"/>
                  <a:cs typeface="Calibri (MS)"/>
                  <a:sym typeface="Calibri (MS)"/>
                </a:rPr>
                <a:t>SPA con Lazy Loading, diseño responsive y consumo de API REST desde el navegador del cliente.</a:t>
              </a:r>
            </a:p>
          </p:txBody>
        </p:sp>
      </p:grpSp>
      <p:grpSp>
        <p:nvGrpSpPr>
          <p:cNvPr id="21" name="Group 21"/>
          <p:cNvGrpSpPr/>
          <p:nvPr/>
        </p:nvGrpSpPr>
        <p:grpSpPr>
          <a:xfrm>
            <a:off x="6199632" y="2468880"/>
            <a:ext cx="5308197" cy="3429000"/>
            <a:chOff x="0" y="0"/>
            <a:chExt cx="7077596" cy="4572000"/>
          </a:xfrm>
        </p:grpSpPr>
        <p:sp>
          <p:nvSpPr>
            <p:cNvPr id="22" name="Freeform 22"/>
            <p:cNvSpPr/>
            <p:nvPr/>
          </p:nvSpPr>
          <p:spPr>
            <a:xfrm>
              <a:off x="0" y="0"/>
              <a:ext cx="7077583" cy="4572000"/>
            </a:xfrm>
            <a:custGeom>
              <a:avLst/>
              <a:gdLst/>
              <a:ahLst/>
              <a:cxnLst/>
              <a:rect l="l" t="t" r="r" b="b"/>
              <a:pathLst>
                <a:path w="7077583" h="4572000">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txBody>
            <a:bodyPr/>
            <a:lstStyle/>
            <a:p>
              <a:endParaRPr lang="es-CO"/>
            </a:p>
          </p:txBody>
        </p:sp>
      </p:grpSp>
      <p:grpSp>
        <p:nvGrpSpPr>
          <p:cNvPr id="23" name="Group 23"/>
          <p:cNvGrpSpPr/>
          <p:nvPr/>
        </p:nvGrpSpPr>
        <p:grpSpPr>
          <a:xfrm>
            <a:off x="8339328" y="2811780"/>
            <a:ext cx="1028700" cy="1028700"/>
            <a:chOff x="0" y="0"/>
            <a:chExt cx="1371600" cy="1371600"/>
          </a:xfrm>
        </p:grpSpPr>
        <p:sp>
          <p:nvSpPr>
            <p:cNvPr id="24" name="Freeform 24"/>
            <p:cNvSpPr/>
            <p:nvPr/>
          </p:nvSpPr>
          <p:spPr>
            <a:xfrm>
              <a:off x="0" y="0"/>
              <a:ext cx="1371600" cy="1371600"/>
            </a:xfrm>
            <a:custGeom>
              <a:avLst/>
              <a:gdLst/>
              <a:ahLst/>
              <a:cxnLst/>
              <a:rect l="l" t="t" r="r" b="b"/>
              <a:pathLst>
                <a:path w="1371600" h="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txBody>
            <a:bodyPr/>
            <a:lstStyle/>
            <a:p>
              <a:endParaRPr lang="es-CO"/>
            </a:p>
          </p:txBody>
        </p:sp>
      </p:grpSp>
      <p:grpSp>
        <p:nvGrpSpPr>
          <p:cNvPr id="25" name="Group 25"/>
          <p:cNvGrpSpPr/>
          <p:nvPr/>
        </p:nvGrpSpPr>
        <p:grpSpPr>
          <a:xfrm>
            <a:off x="8606790" y="3079242"/>
            <a:ext cx="493776" cy="493776"/>
            <a:chOff x="0" y="0"/>
            <a:chExt cx="658368" cy="658368"/>
          </a:xfrm>
        </p:grpSpPr>
        <p:sp>
          <p:nvSpPr>
            <p:cNvPr id="26" name="Freeform 26" descr="icons/server.png"/>
            <p:cNvSpPr/>
            <p:nvPr/>
          </p:nvSpPr>
          <p:spPr>
            <a:xfrm>
              <a:off x="0" y="0"/>
              <a:ext cx="658368" cy="658368"/>
            </a:xfrm>
            <a:custGeom>
              <a:avLst/>
              <a:gdLst/>
              <a:ahLst/>
              <a:cxnLst/>
              <a:rect l="l" t="t" r="r" b="b"/>
              <a:pathLst>
                <a:path w="658368" h="658368">
                  <a:moveTo>
                    <a:pt x="0" y="0"/>
                  </a:moveTo>
                  <a:lnTo>
                    <a:pt x="658368" y="0"/>
                  </a:lnTo>
                  <a:lnTo>
                    <a:pt x="658368" y="658368"/>
                  </a:lnTo>
                  <a:lnTo>
                    <a:pt x="0" y="658368"/>
                  </a:lnTo>
                  <a:lnTo>
                    <a:pt x="0" y="0"/>
                  </a:lnTo>
                  <a:close/>
                </a:path>
              </a:pathLst>
            </a:custGeom>
            <a:blipFill>
              <a:blip r:embed="rId6"/>
              <a:stretch>
                <a:fillRect/>
              </a:stretch>
            </a:blipFill>
          </p:spPr>
          <p:txBody>
            <a:bodyPr/>
            <a:lstStyle/>
            <a:p>
              <a:endParaRPr lang="es-CO"/>
            </a:p>
          </p:txBody>
        </p:sp>
      </p:grpSp>
      <p:grpSp>
        <p:nvGrpSpPr>
          <p:cNvPr id="27" name="Group 27"/>
          <p:cNvGrpSpPr/>
          <p:nvPr/>
        </p:nvGrpSpPr>
        <p:grpSpPr>
          <a:xfrm>
            <a:off x="6405372" y="3977640"/>
            <a:ext cx="4896450" cy="438750"/>
            <a:chOff x="0" y="0"/>
            <a:chExt cx="6528600" cy="585000"/>
          </a:xfrm>
        </p:grpSpPr>
        <p:sp>
          <p:nvSpPr>
            <p:cNvPr id="28" name="Freeform 28"/>
            <p:cNvSpPr/>
            <p:nvPr/>
          </p:nvSpPr>
          <p:spPr>
            <a:xfrm>
              <a:off x="0" y="0"/>
              <a:ext cx="6528600" cy="585000"/>
            </a:xfrm>
            <a:custGeom>
              <a:avLst/>
              <a:gdLst/>
              <a:ahLst/>
              <a:cxnLst/>
              <a:rect l="l" t="t" r="r" b="b"/>
              <a:pathLst>
                <a:path w="6528600" h="585000">
                  <a:moveTo>
                    <a:pt x="0" y="0"/>
                  </a:moveTo>
                  <a:lnTo>
                    <a:pt x="6528600" y="0"/>
                  </a:lnTo>
                  <a:lnTo>
                    <a:pt x="6528600" y="585000"/>
                  </a:lnTo>
                  <a:lnTo>
                    <a:pt x="0" y="585000"/>
                  </a:lnTo>
                  <a:close/>
                </a:path>
              </a:pathLst>
            </a:custGeom>
            <a:blipFill>
              <a:blip r:embed="rId4">
                <a:alphaModFix amt="0"/>
              </a:blip>
              <a:stretch>
                <a:fillRect t="-167453" b="-167453"/>
              </a:stretch>
            </a:blipFill>
          </p:spPr>
          <p:txBody>
            <a:bodyPr/>
            <a:lstStyle/>
            <a:p>
              <a:endParaRPr lang="es-CO"/>
            </a:p>
          </p:txBody>
        </p:sp>
        <p:sp>
          <p:nvSpPr>
            <p:cNvPr id="29" name="TextBox 29"/>
            <p:cNvSpPr txBox="1"/>
            <p:nvPr/>
          </p:nvSpPr>
          <p:spPr>
            <a:xfrm>
              <a:off x="0" y="-47625"/>
              <a:ext cx="6528600" cy="632625"/>
            </a:xfrm>
            <a:prstGeom prst="rect">
              <a:avLst/>
            </a:prstGeom>
          </p:spPr>
          <p:txBody>
            <a:bodyPr lIns="0" tIns="0" rIns="0" bIns="0" rtlCol="0" anchor="ctr"/>
            <a:lstStyle/>
            <a:p>
              <a:pPr algn="ctr">
                <a:lnSpc>
                  <a:spcPts val="2340"/>
                </a:lnSpc>
              </a:pPr>
              <a:r>
                <a:rPr lang="en-US" sz="1950" b="1">
                  <a:solidFill>
                    <a:srgbClr val="FDC300"/>
                  </a:solidFill>
                  <a:latin typeface="Calibri (MS) Bold"/>
                  <a:ea typeface="Calibri (MS) Bold"/>
                  <a:cs typeface="Calibri (MS) Bold"/>
                  <a:sym typeface="Calibri (MS) Bold"/>
                </a:rPr>
                <a:t>Backend</a:t>
              </a:r>
            </a:p>
          </p:txBody>
        </p:sp>
      </p:grpSp>
      <p:grpSp>
        <p:nvGrpSpPr>
          <p:cNvPr id="30" name="Group 30"/>
          <p:cNvGrpSpPr/>
          <p:nvPr/>
        </p:nvGrpSpPr>
        <p:grpSpPr>
          <a:xfrm>
            <a:off x="6405372" y="4416552"/>
            <a:ext cx="4896450" cy="548550"/>
            <a:chOff x="0" y="0"/>
            <a:chExt cx="6528600" cy="731400"/>
          </a:xfrm>
        </p:grpSpPr>
        <p:sp>
          <p:nvSpPr>
            <p:cNvPr id="31" name="Freeform 31"/>
            <p:cNvSpPr/>
            <p:nvPr/>
          </p:nvSpPr>
          <p:spPr>
            <a:xfrm>
              <a:off x="0" y="0"/>
              <a:ext cx="6528600" cy="731394"/>
            </a:xfrm>
            <a:custGeom>
              <a:avLst/>
              <a:gdLst/>
              <a:ahLst/>
              <a:cxnLst/>
              <a:rect l="l" t="t" r="r" b="b"/>
              <a:pathLst>
                <a:path w="6528600" h="731394">
                  <a:moveTo>
                    <a:pt x="0" y="0"/>
                  </a:moveTo>
                  <a:lnTo>
                    <a:pt x="6528600" y="0"/>
                  </a:lnTo>
                  <a:lnTo>
                    <a:pt x="6528600" y="731394"/>
                  </a:lnTo>
                  <a:lnTo>
                    <a:pt x="0" y="731394"/>
                  </a:lnTo>
                  <a:close/>
                </a:path>
              </a:pathLst>
            </a:custGeom>
            <a:blipFill>
              <a:blip r:embed="rId4">
                <a:alphaModFix amt="0"/>
              </a:blip>
              <a:stretch>
                <a:fillRect t="-123927" b="-123928"/>
              </a:stretch>
            </a:blipFill>
          </p:spPr>
          <p:txBody>
            <a:bodyPr/>
            <a:lstStyle/>
            <a:p>
              <a:endParaRPr lang="es-CO"/>
            </a:p>
          </p:txBody>
        </p:sp>
        <p:sp>
          <p:nvSpPr>
            <p:cNvPr id="32" name="TextBox 32"/>
            <p:cNvSpPr txBox="1"/>
            <p:nvPr/>
          </p:nvSpPr>
          <p:spPr>
            <a:xfrm>
              <a:off x="0" y="-38100"/>
              <a:ext cx="6528600" cy="769500"/>
            </a:xfrm>
            <a:prstGeom prst="rect">
              <a:avLst/>
            </a:prstGeom>
          </p:spPr>
          <p:txBody>
            <a:bodyPr lIns="0" tIns="0" rIns="0" bIns="0" rtlCol="0" anchor="ctr"/>
            <a:lstStyle/>
            <a:p>
              <a:pPr algn="ctr">
                <a:lnSpc>
                  <a:spcPts val="2070"/>
                </a:lnSpc>
              </a:pPr>
              <a:r>
                <a:rPr lang="en-US" sz="1725" b="1">
                  <a:solidFill>
                    <a:srgbClr val="FFFFFF"/>
                  </a:solidFill>
                  <a:latin typeface="Calibri (MS) Bold"/>
                  <a:ea typeface="Calibri (MS) Bold"/>
                  <a:cs typeface="Calibri (MS) Bold"/>
                  <a:sym typeface="Calibri (MS) Bold"/>
                </a:rPr>
                <a:t>Python FastAPI</a:t>
              </a:r>
            </a:p>
          </p:txBody>
        </p:sp>
      </p:grpSp>
      <p:grpSp>
        <p:nvGrpSpPr>
          <p:cNvPr id="33" name="Group 33"/>
          <p:cNvGrpSpPr/>
          <p:nvPr/>
        </p:nvGrpSpPr>
        <p:grpSpPr>
          <a:xfrm>
            <a:off x="6473952" y="5006340"/>
            <a:ext cx="4759652" cy="823050"/>
            <a:chOff x="0" y="0"/>
            <a:chExt cx="6346203" cy="1097400"/>
          </a:xfrm>
        </p:grpSpPr>
        <p:sp>
          <p:nvSpPr>
            <p:cNvPr id="34" name="Freeform 34"/>
            <p:cNvSpPr/>
            <p:nvPr/>
          </p:nvSpPr>
          <p:spPr>
            <a:xfrm>
              <a:off x="0" y="0"/>
              <a:ext cx="6346200" cy="1097406"/>
            </a:xfrm>
            <a:custGeom>
              <a:avLst/>
              <a:gdLst/>
              <a:ahLst/>
              <a:cxnLst/>
              <a:rect l="l" t="t" r="r" b="b"/>
              <a:pathLst>
                <a:path w="6346200" h="1097406">
                  <a:moveTo>
                    <a:pt x="0" y="0"/>
                  </a:moveTo>
                  <a:lnTo>
                    <a:pt x="6346200" y="0"/>
                  </a:lnTo>
                  <a:lnTo>
                    <a:pt x="6346200" y="1097406"/>
                  </a:lnTo>
                  <a:lnTo>
                    <a:pt x="0" y="1097406"/>
                  </a:lnTo>
                  <a:close/>
                </a:path>
              </a:pathLst>
            </a:custGeom>
            <a:blipFill>
              <a:blip r:embed="rId4">
                <a:alphaModFix amt="0"/>
              </a:blip>
              <a:stretch>
                <a:fillRect t="-62680" b="-62679"/>
              </a:stretch>
            </a:blipFill>
          </p:spPr>
          <p:txBody>
            <a:bodyPr/>
            <a:lstStyle/>
            <a:p>
              <a:endParaRPr lang="es-CO"/>
            </a:p>
          </p:txBody>
        </p:sp>
        <p:sp>
          <p:nvSpPr>
            <p:cNvPr id="35" name="TextBox 35"/>
            <p:cNvSpPr txBox="1"/>
            <p:nvPr/>
          </p:nvSpPr>
          <p:spPr>
            <a:xfrm>
              <a:off x="0" y="-38100"/>
              <a:ext cx="6346203" cy="1135500"/>
            </a:xfrm>
            <a:prstGeom prst="rect">
              <a:avLst/>
            </a:prstGeom>
          </p:spPr>
          <p:txBody>
            <a:bodyPr lIns="0" tIns="0" rIns="0" bIns="0" rtlCol="0" anchor="ctr"/>
            <a:lstStyle/>
            <a:p>
              <a:pPr algn="ctr">
                <a:lnSpc>
                  <a:spcPts val="1709"/>
                </a:lnSpc>
              </a:pPr>
              <a:r>
                <a:rPr lang="en-US" sz="1425">
                  <a:solidFill>
                    <a:srgbClr val="B9CBD6"/>
                  </a:solidFill>
                  <a:latin typeface="Calibri (MS)"/>
                  <a:ea typeface="Calibri (MS)"/>
                  <a:cs typeface="Calibri (MS)"/>
                  <a:sym typeface="Calibri (MS)"/>
                </a:rPr>
                <a:t>procesa las solicitudes del sistema, aplicar las reglas de negocio, gestionar la seguridad y conectar la aplicación con la base de datos y otros servicios externos.</a:t>
              </a:r>
            </a:p>
          </p:txBody>
        </p:sp>
      </p:grpSp>
      <p:grpSp>
        <p:nvGrpSpPr>
          <p:cNvPr id="36" name="Group 36"/>
          <p:cNvGrpSpPr/>
          <p:nvPr/>
        </p:nvGrpSpPr>
        <p:grpSpPr>
          <a:xfrm>
            <a:off x="11576304" y="2468880"/>
            <a:ext cx="5308197" cy="3429000"/>
            <a:chOff x="0" y="0"/>
            <a:chExt cx="7077596" cy="4572000"/>
          </a:xfrm>
        </p:grpSpPr>
        <p:sp>
          <p:nvSpPr>
            <p:cNvPr id="37" name="Freeform 37"/>
            <p:cNvSpPr/>
            <p:nvPr/>
          </p:nvSpPr>
          <p:spPr>
            <a:xfrm>
              <a:off x="0" y="0"/>
              <a:ext cx="7077583" cy="4572000"/>
            </a:xfrm>
            <a:custGeom>
              <a:avLst/>
              <a:gdLst/>
              <a:ahLst/>
              <a:cxnLst/>
              <a:rect l="l" t="t" r="r" b="b"/>
              <a:pathLst>
                <a:path w="7077583" h="4572000">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txBody>
            <a:bodyPr/>
            <a:lstStyle/>
            <a:p>
              <a:endParaRPr lang="es-CO"/>
            </a:p>
          </p:txBody>
        </p:sp>
      </p:grpSp>
      <p:grpSp>
        <p:nvGrpSpPr>
          <p:cNvPr id="38" name="Group 38"/>
          <p:cNvGrpSpPr/>
          <p:nvPr/>
        </p:nvGrpSpPr>
        <p:grpSpPr>
          <a:xfrm>
            <a:off x="13716000" y="2811780"/>
            <a:ext cx="1028700" cy="1028700"/>
            <a:chOff x="0" y="0"/>
            <a:chExt cx="1371600" cy="1371600"/>
          </a:xfrm>
        </p:grpSpPr>
        <p:sp>
          <p:nvSpPr>
            <p:cNvPr id="39" name="Freeform 39"/>
            <p:cNvSpPr/>
            <p:nvPr/>
          </p:nvSpPr>
          <p:spPr>
            <a:xfrm>
              <a:off x="0" y="0"/>
              <a:ext cx="1371600" cy="1371600"/>
            </a:xfrm>
            <a:custGeom>
              <a:avLst/>
              <a:gdLst/>
              <a:ahLst/>
              <a:cxnLst/>
              <a:rect l="l" t="t" r="r" b="b"/>
              <a:pathLst>
                <a:path w="1371600" h="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txBody>
            <a:bodyPr/>
            <a:lstStyle/>
            <a:p>
              <a:endParaRPr lang="es-CO"/>
            </a:p>
          </p:txBody>
        </p:sp>
      </p:grpSp>
      <p:grpSp>
        <p:nvGrpSpPr>
          <p:cNvPr id="40" name="Group 40"/>
          <p:cNvGrpSpPr/>
          <p:nvPr/>
        </p:nvGrpSpPr>
        <p:grpSpPr>
          <a:xfrm>
            <a:off x="13983462" y="3079242"/>
            <a:ext cx="493776" cy="493776"/>
            <a:chOff x="0" y="0"/>
            <a:chExt cx="658368" cy="658368"/>
          </a:xfrm>
        </p:grpSpPr>
        <p:sp>
          <p:nvSpPr>
            <p:cNvPr id="41" name="Freeform 41" descr="icons/database.png"/>
            <p:cNvSpPr/>
            <p:nvPr/>
          </p:nvSpPr>
          <p:spPr>
            <a:xfrm>
              <a:off x="0" y="0"/>
              <a:ext cx="658368" cy="658368"/>
            </a:xfrm>
            <a:custGeom>
              <a:avLst/>
              <a:gdLst/>
              <a:ahLst/>
              <a:cxnLst/>
              <a:rect l="l" t="t" r="r" b="b"/>
              <a:pathLst>
                <a:path w="658368" h="658368">
                  <a:moveTo>
                    <a:pt x="0" y="0"/>
                  </a:moveTo>
                  <a:lnTo>
                    <a:pt x="658368" y="0"/>
                  </a:lnTo>
                  <a:lnTo>
                    <a:pt x="658368" y="658368"/>
                  </a:lnTo>
                  <a:lnTo>
                    <a:pt x="0" y="658368"/>
                  </a:lnTo>
                  <a:lnTo>
                    <a:pt x="0" y="0"/>
                  </a:lnTo>
                  <a:close/>
                </a:path>
              </a:pathLst>
            </a:custGeom>
            <a:blipFill>
              <a:blip r:embed="rId7"/>
              <a:stretch>
                <a:fillRect/>
              </a:stretch>
            </a:blipFill>
          </p:spPr>
          <p:txBody>
            <a:bodyPr/>
            <a:lstStyle/>
            <a:p>
              <a:endParaRPr lang="es-CO"/>
            </a:p>
          </p:txBody>
        </p:sp>
      </p:grpSp>
      <p:grpSp>
        <p:nvGrpSpPr>
          <p:cNvPr id="42" name="Group 42"/>
          <p:cNvGrpSpPr/>
          <p:nvPr/>
        </p:nvGrpSpPr>
        <p:grpSpPr>
          <a:xfrm>
            <a:off x="11782044" y="3977640"/>
            <a:ext cx="4896450" cy="438750"/>
            <a:chOff x="0" y="0"/>
            <a:chExt cx="6528600" cy="585000"/>
          </a:xfrm>
        </p:grpSpPr>
        <p:sp>
          <p:nvSpPr>
            <p:cNvPr id="43" name="Freeform 43"/>
            <p:cNvSpPr/>
            <p:nvPr/>
          </p:nvSpPr>
          <p:spPr>
            <a:xfrm>
              <a:off x="0" y="0"/>
              <a:ext cx="6528600" cy="585000"/>
            </a:xfrm>
            <a:custGeom>
              <a:avLst/>
              <a:gdLst/>
              <a:ahLst/>
              <a:cxnLst/>
              <a:rect l="l" t="t" r="r" b="b"/>
              <a:pathLst>
                <a:path w="6528600" h="585000">
                  <a:moveTo>
                    <a:pt x="0" y="0"/>
                  </a:moveTo>
                  <a:lnTo>
                    <a:pt x="6528600" y="0"/>
                  </a:lnTo>
                  <a:lnTo>
                    <a:pt x="6528600" y="585000"/>
                  </a:lnTo>
                  <a:lnTo>
                    <a:pt x="0" y="585000"/>
                  </a:lnTo>
                  <a:close/>
                </a:path>
              </a:pathLst>
            </a:custGeom>
            <a:blipFill>
              <a:blip r:embed="rId4">
                <a:alphaModFix amt="0"/>
              </a:blip>
              <a:stretch>
                <a:fillRect t="-167453" b="-167453"/>
              </a:stretch>
            </a:blipFill>
          </p:spPr>
          <p:txBody>
            <a:bodyPr/>
            <a:lstStyle/>
            <a:p>
              <a:endParaRPr lang="es-CO"/>
            </a:p>
          </p:txBody>
        </p:sp>
        <p:sp>
          <p:nvSpPr>
            <p:cNvPr id="44" name="TextBox 44"/>
            <p:cNvSpPr txBox="1"/>
            <p:nvPr/>
          </p:nvSpPr>
          <p:spPr>
            <a:xfrm>
              <a:off x="0" y="-47625"/>
              <a:ext cx="6528600" cy="632625"/>
            </a:xfrm>
            <a:prstGeom prst="rect">
              <a:avLst/>
            </a:prstGeom>
          </p:spPr>
          <p:txBody>
            <a:bodyPr lIns="0" tIns="0" rIns="0" bIns="0" rtlCol="0" anchor="ctr"/>
            <a:lstStyle/>
            <a:p>
              <a:pPr algn="ctr">
                <a:lnSpc>
                  <a:spcPts val="2340"/>
                </a:lnSpc>
              </a:pPr>
              <a:r>
                <a:rPr lang="en-US" sz="1950" b="1">
                  <a:solidFill>
                    <a:srgbClr val="FDC300"/>
                  </a:solidFill>
                  <a:latin typeface="Calibri (MS) Bold"/>
                  <a:ea typeface="Calibri (MS) Bold"/>
                  <a:cs typeface="Calibri (MS) Bold"/>
                  <a:sym typeface="Calibri (MS) Bold"/>
                </a:rPr>
                <a:t>Base de datos</a:t>
              </a:r>
            </a:p>
          </p:txBody>
        </p:sp>
      </p:grpSp>
      <p:grpSp>
        <p:nvGrpSpPr>
          <p:cNvPr id="45" name="Group 45"/>
          <p:cNvGrpSpPr/>
          <p:nvPr/>
        </p:nvGrpSpPr>
        <p:grpSpPr>
          <a:xfrm>
            <a:off x="11782044" y="4416552"/>
            <a:ext cx="4896450" cy="548550"/>
            <a:chOff x="0" y="0"/>
            <a:chExt cx="6528600" cy="731400"/>
          </a:xfrm>
        </p:grpSpPr>
        <p:sp>
          <p:nvSpPr>
            <p:cNvPr id="46" name="Freeform 46"/>
            <p:cNvSpPr/>
            <p:nvPr/>
          </p:nvSpPr>
          <p:spPr>
            <a:xfrm>
              <a:off x="0" y="0"/>
              <a:ext cx="6528600" cy="731394"/>
            </a:xfrm>
            <a:custGeom>
              <a:avLst/>
              <a:gdLst/>
              <a:ahLst/>
              <a:cxnLst/>
              <a:rect l="l" t="t" r="r" b="b"/>
              <a:pathLst>
                <a:path w="6528600" h="731394">
                  <a:moveTo>
                    <a:pt x="0" y="0"/>
                  </a:moveTo>
                  <a:lnTo>
                    <a:pt x="6528600" y="0"/>
                  </a:lnTo>
                  <a:lnTo>
                    <a:pt x="6528600" y="731394"/>
                  </a:lnTo>
                  <a:lnTo>
                    <a:pt x="0" y="731394"/>
                  </a:lnTo>
                  <a:close/>
                </a:path>
              </a:pathLst>
            </a:custGeom>
            <a:blipFill>
              <a:blip r:embed="rId4">
                <a:alphaModFix amt="0"/>
              </a:blip>
              <a:stretch>
                <a:fillRect t="-123927" b="-123928"/>
              </a:stretch>
            </a:blipFill>
          </p:spPr>
          <p:txBody>
            <a:bodyPr/>
            <a:lstStyle/>
            <a:p>
              <a:endParaRPr lang="es-CO"/>
            </a:p>
          </p:txBody>
        </p:sp>
        <p:sp>
          <p:nvSpPr>
            <p:cNvPr id="47" name="TextBox 47"/>
            <p:cNvSpPr txBox="1"/>
            <p:nvPr/>
          </p:nvSpPr>
          <p:spPr>
            <a:xfrm>
              <a:off x="0" y="-38100"/>
              <a:ext cx="6528600" cy="769500"/>
            </a:xfrm>
            <a:prstGeom prst="rect">
              <a:avLst/>
            </a:prstGeom>
          </p:spPr>
          <p:txBody>
            <a:bodyPr lIns="0" tIns="0" rIns="0" bIns="0" rtlCol="0" anchor="ctr"/>
            <a:lstStyle/>
            <a:p>
              <a:pPr algn="ctr">
                <a:lnSpc>
                  <a:spcPts val="2070"/>
                </a:lnSpc>
              </a:pPr>
              <a:r>
                <a:rPr lang="en-US" sz="1725" b="1">
                  <a:solidFill>
                    <a:srgbClr val="FFFFFF"/>
                  </a:solidFill>
                  <a:latin typeface="Calibri (MS) Bold"/>
                  <a:ea typeface="Calibri (MS) Bold"/>
                  <a:cs typeface="Calibri (MS) Bold"/>
                  <a:sym typeface="Calibri (MS) Bold"/>
                </a:rPr>
                <a:t>Supabase (PostgreSQL)</a:t>
              </a:r>
            </a:p>
          </p:txBody>
        </p:sp>
      </p:grpSp>
      <p:grpSp>
        <p:nvGrpSpPr>
          <p:cNvPr id="48" name="Group 48"/>
          <p:cNvGrpSpPr/>
          <p:nvPr/>
        </p:nvGrpSpPr>
        <p:grpSpPr>
          <a:xfrm>
            <a:off x="11850624" y="5006340"/>
            <a:ext cx="4759652" cy="823050"/>
            <a:chOff x="0" y="0"/>
            <a:chExt cx="6346203" cy="1097400"/>
          </a:xfrm>
        </p:grpSpPr>
        <p:sp>
          <p:nvSpPr>
            <p:cNvPr id="49" name="Freeform 49"/>
            <p:cNvSpPr/>
            <p:nvPr/>
          </p:nvSpPr>
          <p:spPr>
            <a:xfrm>
              <a:off x="0" y="0"/>
              <a:ext cx="6346200" cy="1097406"/>
            </a:xfrm>
            <a:custGeom>
              <a:avLst/>
              <a:gdLst/>
              <a:ahLst/>
              <a:cxnLst/>
              <a:rect l="l" t="t" r="r" b="b"/>
              <a:pathLst>
                <a:path w="6346200" h="1097406">
                  <a:moveTo>
                    <a:pt x="0" y="0"/>
                  </a:moveTo>
                  <a:lnTo>
                    <a:pt x="6346200" y="0"/>
                  </a:lnTo>
                  <a:lnTo>
                    <a:pt x="6346200" y="1097406"/>
                  </a:lnTo>
                  <a:lnTo>
                    <a:pt x="0" y="1097406"/>
                  </a:lnTo>
                  <a:close/>
                </a:path>
              </a:pathLst>
            </a:custGeom>
            <a:blipFill>
              <a:blip r:embed="rId4">
                <a:alphaModFix amt="0"/>
              </a:blip>
              <a:stretch>
                <a:fillRect t="-62680" b="-62679"/>
              </a:stretch>
            </a:blipFill>
          </p:spPr>
          <p:txBody>
            <a:bodyPr/>
            <a:lstStyle/>
            <a:p>
              <a:endParaRPr lang="es-CO"/>
            </a:p>
          </p:txBody>
        </p:sp>
        <p:sp>
          <p:nvSpPr>
            <p:cNvPr id="50" name="TextBox 50"/>
            <p:cNvSpPr txBox="1"/>
            <p:nvPr/>
          </p:nvSpPr>
          <p:spPr>
            <a:xfrm>
              <a:off x="0" y="-38100"/>
              <a:ext cx="6346203" cy="1135500"/>
            </a:xfrm>
            <a:prstGeom prst="rect">
              <a:avLst/>
            </a:prstGeom>
          </p:spPr>
          <p:txBody>
            <a:bodyPr lIns="0" tIns="0" rIns="0" bIns="0" rtlCol="0" anchor="ctr"/>
            <a:lstStyle/>
            <a:p>
              <a:pPr algn="ctr">
                <a:lnSpc>
                  <a:spcPts val="1709"/>
                </a:lnSpc>
              </a:pPr>
              <a:r>
                <a:rPr lang="en-US" sz="1425">
                  <a:solidFill>
                    <a:srgbClr val="B9CBD6"/>
                  </a:solidFill>
                  <a:latin typeface="Calibri (MS)"/>
                  <a:ea typeface="Calibri (MS)"/>
                  <a:cs typeface="Calibri (MS)"/>
                  <a:sym typeface="Calibri (MS)"/>
                </a:rPr>
                <a:t>Centraliza y organiza los datos del sistema de forma segura y eficiente.</a:t>
              </a:r>
            </a:p>
          </p:txBody>
        </p:sp>
      </p:grpSp>
      <p:grpSp>
        <p:nvGrpSpPr>
          <p:cNvPr id="51" name="Group 51"/>
          <p:cNvGrpSpPr/>
          <p:nvPr/>
        </p:nvGrpSpPr>
        <p:grpSpPr>
          <a:xfrm>
            <a:off x="822960" y="6240780"/>
            <a:ext cx="8229600" cy="480146"/>
            <a:chOff x="0" y="0"/>
            <a:chExt cx="10972800" cy="640194"/>
          </a:xfrm>
        </p:grpSpPr>
        <p:sp>
          <p:nvSpPr>
            <p:cNvPr id="52" name="Freeform 52"/>
            <p:cNvSpPr/>
            <p:nvPr/>
          </p:nvSpPr>
          <p:spPr>
            <a:xfrm>
              <a:off x="0" y="0"/>
              <a:ext cx="10972800" cy="640200"/>
            </a:xfrm>
            <a:custGeom>
              <a:avLst/>
              <a:gdLst/>
              <a:ahLst/>
              <a:cxnLst/>
              <a:rect l="l" t="t" r="r" b="b"/>
              <a:pathLst>
                <a:path w="10972800" h="640200">
                  <a:moveTo>
                    <a:pt x="0" y="0"/>
                  </a:moveTo>
                  <a:lnTo>
                    <a:pt x="10972800" y="0"/>
                  </a:lnTo>
                  <a:lnTo>
                    <a:pt x="10972800" y="640200"/>
                  </a:lnTo>
                  <a:lnTo>
                    <a:pt x="0" y="640200"/>
                  </a:lnTo>
                  <a:close/>
                </a:path>
              </a:pathLst>
            </a:custGeom>
            <a:blipFill>
              <a:blip r:embed="rId4">
                <a:alphaModFix amt="0"/>
              </a:blip>
              <a:stretch>
                <a:fillRect t="-283967" b="-283966"/>
              </a:stretch>
            </a:blipFill>
          </p:spPr>
          <p:txBody>
            <a:bodyPr/>
            <a:lstStyle/>
            <a:p>
              <a:endParaRPr lang="es-CO"/>
            </a:p>
          </p:txBody>
        </p:sp>
        <p:sp>
          <p:nvSpPr>
            <p:cNvPr id="53" name="TextBox 53"/>
            <p:cNvSpPr txBox="1"/>
            <p:nvPr/>
          </p:nvSpPr>
          <p:spPr>
            <a:xfrm>
              <a:off x="0" y="-47625"/>
              <a:ext cx="10972800" cy="687819"/>
            </a:xfrm>
            <a:prstGeom prst="rect">
              <a:avLst/>
            </a:prstGeom>
          </p:spPr>
          <p:txBody>
            <a:bodyPr lIns="0" tIns="0" rIns="0" bIns="0" rtlCol="0" anchor="ctr"/>
            <a:lstStyle/>
            <a:p>
              <a:pPr algn="l">
                <a:lnSpc>
                  <a:spcPts val="2520"/>
                </a:lnSpc>
              </a:pPr>
              <a:r>
                <a:rPr lang="en-US" sz="2100" b="1">
                  <a:solidFill>
                    <a:srgbClr val="00304D"/>
                  </a:solidFill>
                  <a:latin typeface="Calibri (MS) Bold"/>
                  <a:ea typeface="Calibri (MS) Bold"/>
                  <a:cs typeface="Calibri (MS) Bold"/>
                  <a:sym typeface="Calibri (MS) Bold"/>
                </a:rPr>
                <a:t>Servicios externos integrados</a:t>
              </a:r>
            </a:p>
          </p:txBody>
        </p:sp>
      </p:grpSp>
      <p:grpSp>
        <p:nvGrpSpPr>
          <p:cNvPr id="54" name="Group 54"/>
          <p:cNvGrpSpPr/>
          <p:nvPr/>
        </p:nvGrpSpPr>
        <p:grpSpPr>
          <a:xfrm>
            <a:off x="822960" y="6854276"/>
            <a:ext cx="3755873" cy="2076906"/>
            <a:chOff x="0" y="0"/>
            <a:chExt cx="4960798" cy="2743200"/>
          </a:xfrm>
        </p:grpSpPr>
        <p:sp>
          <p:nvSpPr>
            <p:cNvPr id="55" name="Freeform 55"/>
            <p:cNvSpPr/>
            <p:nvPr/>
          </p:nvSpPr>
          <p:spPr>
            <a:xfrm>
              <a:off x="0" y="0"/>
              <a:ext cx="4960747" cy="2743200"/>
            </a:xfrm>
            <a:custGeom>
              <a:avLst/>
              <a:gdLst/>
              <a:ahLst/>
              <a:cxnLst/>
              <a:rect l="l" t="t" r="r" b="b"/>
              <a:pathLst>
                <a:path w="4960747" h="2743200">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txBody>
            <a:bodyPr/>
            <a:lstStyle/>
            <a:p>
              <a:endParaRPr lang="es-CO"/>
            </a:p>
          </p:txBody>
        </p:sp>
      </p:grpSp>
      <p:grpSp>
        <p:nvGrpSpPr>
          <p:cNvPr id="56" name="Group 56"/>
          <p:cNvGrpSpPr/>
          <p:nvPr/>
        </p:nvGrpSpPr>
        <p:grpSpPr>
          <a:xfrm>
            <a:off x="2354678" y="7131197"/>
            <a:ext cx="692302" cy="692302"/>
            <a:chOff x="0" y="0"/>
            <a:chExt cx="914400" cy="914400"/>
          </a:xfrm>
        </p:grpSpPr>
        <p:sp>
          <p:nvSpPr>
            <p:cNvPr id="57" name="Freeform 57"/>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58" name="Group 58"/>
          <p:cNvGrpSpPr/>
          <p:nvPr/>
        </p:nvGrpSpPr>
        <p:grpSpPr>
          <a:xfrm>
            <a:off x="2534677" y="7311195"/>
            <a:ext cx="332305" cy="332305"/>
            <a:chOff x="0" y="0"/>
            <a:chExt cx="438912" cy="438912"/>
          </a:xfrm>
        </p:grpSpPr>
        <p:sp>
          <p:nvSpPr>
            <p:cNvPr id="59" name="Freeform 59" descr="icons/cloud.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8"/>
              <a:stretch>
                <a:fillRect/>
              </a:stretch>
            </a:blipFill>
          </p:spPr>
          <p:txBody>
            <a:bodyPr/>
            <a:lstStyle/>
            <a:p>
              <a:endParaRPr lang="es-CO"/>
            </a:p>
          </p:txBody>
        </p:sp>
      </p:grpSp>
      <p:grpSp>
        <p:nvGrpSpPr>
          <p:cNvPr id="60" name="Group 60"/>
          <p:cNvGrpSpPr/>
          <p:nvPr/>
        </p:nvGrpSpPr>
        <p:grpSpPr>
          <a:xfrm>
            <a:off x="961420" y="7934267"/>
            <a:ext cx="3478769" cy="415199"/>
            <a:chOff x="0" y="0"/>
            <a:chExt cx="4594796" cy="548399"/>
          </a:xfrm>
        </p:grpSpPr>
        <p:sp>
          <p:nvSpPr>
            <p:cNvPr id="61" name="Freeform 61"/>
            <p:cNvSpPr/>
            <p:nvPr/>
          </p:nvSpPr>
          <p:spPr>
            <a:xfrm>
              <a:off x="0" y="0"/>
              <a:ext cx="4594800" cy="548400"/>
            </a:xfrm>
            <a:custGeom>
              <a:avLst/>
              <a:gdLst/>
              <a:ahLst/>
              <a:cxnLst/>
              <a:rect l="l" t="t" r="r" b="b"/>
              <a:pathLst>
                <a:path w="4594800" h="548400">
                  <a:moveTo>
                    <a:pt x="0" y="0"/>
                  </a:moveTo>
                  <a:lnTo>
                    <a:pt x="4594800" y="0"/>
                  </a:lnTo>
                  <a:lnTo>
                    <a:pt x="4594800" y="548400"/>
                  </a:lnTo>
                  <a:lnTo>
                    <a:pt x="0" y="548400"/>
                  </a:lnTo>
                  <a:close/>
                </a:path>
              </a:pathLst>
            </a:custGeom>
            <a:blipFill>
              <a:blip r:embed="rId4">
                <a:alphaModFix amt="0"/>
              </a:blip>
              <a:stretch>
                <a:fillRect t="-113256" b="-113256"/>
              </a:stretch>
            </a:blipFill>
          </p:spPr>
          <p:txBody>
            <a:bodyPr/>
            <a:lstStyle/>
            <a:p>
              <a:endParaRPr lang="es-CO"/>
            </a:p>
          </p:txBody>
        </p:sp>
        <p:sp>
          <p:nvSpPr>
            <p:cNvPr id="62" name="TextBox 62"/>
            <p:cNvSpPr txBox="1"/>
            <p:nvPr/>
          </p:nvSpPr>
          <p:spPr>
            <a:xfrm>
              <a:off x="0" y="-38100"/>
              <a:ext cx="4594796" cy="5864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Cloudinary</a:t>
              </a:r>
            </a:p>
          </p:txBody>
        </p:sp>
      </p:grpSp>
      <p:grpSp>
        <p:nvGrpSpPr>
          <p:cNvPr id="63" name="Group 63"/>
          <p:cNvGrpSpPr/>
          <p:nvPr/>
        </p:nvGrpSpPr>
        <p:grpSpPr>
          <a:xfrm>
            <a:off x="961420" y="8321956"/>
            <a:ext cx="3478769" cy="484698"/>
            <a:chOff x="0" y="0"/>
            <a:chExt cx="4594796" cy="640194"/>
          </a:xfrm>
        </p:grpSpPr>
        <p:sp>
          <p:nvSpPr>
            <p:cNvPr id="64" name="Freeform 64"/>
            <p:cNvSpPr/>
            <p:nvPr/>
          </p:nvSpPr>
          <p:spPr>
            <a:xfrm>
              <a:off x="0" y="0"/>
              <a:ext cx="4594800" cy="640200"/>
            </a:xfrm>
            <a:custGeom>
              <a:avLst/>
              <a:gdLst/>
              <a:ahLst/>
              <a:cxnLst/>
              <a:rect l="l" t="t" r="r" b="b"/>
              <a:pathLst>
                <a:path w="4594800" h="640200">
                  <a:moveTo>
                    <a:pt x="0" y="0"/>
                  </a:moveTo>
                  <a:lnTo>
                    <a:pt x="4594800" y="0"/>
                  </a:lnTo>
                  <a:lnTo>
                    <a:pt x="4594800" y="640200"/>
                  </a:lnTo>
                  <a:lnTo>
                    <a:pt x="0" y="640200"/>
                  </a:lnTo>
                  <a:close/>
                </a:path>
              </a:pathLst>
            </a:custGeom>
            <a:blipFill>
              <a:blip r:embed="rId4">
                <a:alphaModFix amt="0"/>
              </a:blip>
              <a:stretch>
                <a:fillRect t="-89847" b="-89846"/>
              </a:stretch>
            </a:blipFill>
          </p:spPr>
          <p:txBody>
            <a:bodyPr/>
            <a:lstStyle/>
            <a:p>
              <a:endParaRPr lang="es-CO"/>
            </a:p>
          </p:txBody>
        </p:sp>
        <p:sp>
          <p:nvSpPr>
            <p:cNvPr id="65" name="TextBox 65"/>
            <p:cNvSpPr txBox="1"/>
            <p:nvPr/>
          </p:nvSpPr>
          <p:spPr>
            <a:xfrm>
              <a:off x="0" y="-38100"/>
              <a:ext cx="4594796" cy="678294"/>
            </a:xfrm>
            <a:prstGeom prst="rect">
              <a:avLst/>
            </a:prstGeom>
          </p:spPr>
          <p:txBody>
            <a:bodyPr lIns="0" tIns="0" rIns="0" bIns="0" rtlCol="0" anchor="ctr"/>
            <a:lstStyle/>
            <a:p>
              <a:pPr algn="ctr">
                <a:lnSpc>
                  <a:spcPts val="1709"/>
                </a:lnSpc>
              </a:pPr>
              <a:r>
                <a:rPr lang="en-US" sz="1425">
                  <a:solidFill>
                    <a:srgbClr val="5B6670"/>
                  </a:solidFill>
                  <a:latin typeface="Calibri (MS)"/>
                  <a:ea typeface="Calibri (MS)"/>
                  <a:cs typeface="Calibri (MS)"/>
                  <a:sym typeface="Calibri (MS)"/>
                </a:rPr>
                <a:t>Imágenes de productos</a:t>
              </a:r>
            </a:p>
          </p:txBody>
        </p:sp>
      </p:grpSp>
      <p:grpSp>
        <p:nvGrpSpPr>
          <p:cNvPr id="66" name="Group 66"/>
          <p:cNvGrpSpPr/>
          <p:nvPr/>
        </p:nvGrpSpPr>
        <p:grpSpPr>
          <a:xfrm>
            <a:off x="4924849" y="6854276"/>
            <a:ext cx="3755873" cy="2076906"/>
            <a:chOff x="0" y="0"/>
            <a:chExt cx="4960798" cy="2743200"/>
          </a:xfrm>
        </p:grpSpPr>
        <p:sp>
          <p:nvSpPr>
            <p:cNvPr id="67" name="Freeform 67"/>
            <p:cNvSpPr/>
            <p:nvPr/>
          </p:nvSpPr>
          <p:spPr>
            <a:xfrm>
              <a:off x="0" y="0"/>
              <a:ext cx="4960747" cy="2743200"/>
            </a:xfrm>
            <a:custGeom>
              <a:avLst/>
              <a:gdLst/>
              <a:ahLst/>
              <a:cxnLst/>
              <a:rect l="l" t="t" r="r" b="b"/>
              <a:pathLst>
                <a:path w="4960747" h="2743200">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txBody>
            <a:bodyPr/>
            <a:lstStyle/>
            <a:p>
              <a:endParaRPr lang="es-CO"/>
            </a:p>
          </p:txBody>
        </p:sp>
      </p:grpSp>
      <p:grpSp>
        <p:nvGrpSpPr>
          <p:cNvPr id="68" name="Group 68"/>
          <p:cNvGrpSpPr/>
          <p:nvPr/>
        </p:nvGrpSpPr>
        <p:grpSpPr>
          <a:xfrm>
            <a:off x="6456567" y="7131197"/>
            <a:ext cx="692302" cy="692302"/>
            <a:chOff x="0" y="0"/>
            <a:chExt cx="914400" cy="914400"/>
          </a:xfrm>
        </p:grpSpPr>
        <p:sp>
          <p:nvSpPr>
            <p:cNvPr id="69" name="Freeform 69"/>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70" name="Group 70"/>
          <p:cNvGrpSpPr/>
          <p:nvPr/>
        </p:nvGrpSpPr>
        <p:grpSpPr>
          <a:xfrm>
            <a:off x="6636566" y="7311195"/>
            <a:ext cx="332305" cy="332305"/>
            <a:chOff x="0" y="0"/>
            <a:chExt cx="438912" cy="438912"/>
          </a:xfrm>
        </p:grpSpPr>
        <p:sp>
          <p:nvSpPr>
            <p:cNvPr id="71" name="Freeform 71" descr="icons/card.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9"/>
              <a:stretch>
                <a:fillRect/>
              </a:stretch>
            </a:blipFill>
          </p:spPr>
          <p:txBody>
            <a:bodyPr/>
            <a:lstStyle/>
            <a:p>
              <a:endParaRPr lang="es-CO"/>
            </a:p>
          </p:txBody>
        </p:sp>
      </p:grpSp>
      <p:grpSp>
        <p:nvGrpSpPr>
          <p:cNvPr id="72" name="Group 72"/>
          <p:cNvGrpSpPr/>
          <p:nvPr/>
        </p:nvGrpSpPr>
        <p:grpSpPr>
          <a:xfrm>
            <a:off x="5063310" y="7934267"/>
            <a:ext cx="3478769" cy="415199"/>
            <a:chOff x="0" y="0"/>
            <a:chExt cx="4594796" cy="548399"/>
          </a:xfrm>
        </p:grpSpPr>
        <p:sp>
          <p:nvSpPr>
            <p:cNvPr id="73" name="Freeform 73"/>
            <p:cNvSpPr/>
            <p:nvPr/>
          </p:nvSpPr>
          <p:spPr>
            <a:xfrm>
              <a:off x="0" y="0"/>
              <a:ext cx="4594800" cy="548400"/>
            </a:xfrm>
            <a:custGeom>
              <a:avLst/>
              <a:gdLst/>
              <a:ahLst/>
              <a:cxnLst/>
              <a:rect l="l" t="t" r="r" b="b"/>
              <a:pathLst>
                <a:path w="4594800" h="548400">
                  <a:moveTo>
                    <a:pt x="0" y="0"/>
                  </a:moveTo>
                  <a:lnTo>
                    <a:pt x="4594800" y="0"/>
                  </a:lnTo>
                  <a:lnTo>
                    <a:pt x="4594800" y="548400"/>
                  </a:lnTo>
                  <a:lnTo>
                    <a:pt x="0" y="548400"/>
                  </a:lnTo>
                  <a:close/>
                </a:path>
              </a:pathLst>
            </a:custGeom>
            <a:blipFill>
              <a:blip r:embed="rId4">
                <a:alphaModFix amt="0"/>
              </a:blip>
              <a:stretch>
                <a:fillRect t="-113256" b="-113256"/>
              </a:stretch>
            </a:blipFill>
          </p:spPr>
          <p:txBody>
            <a:bodyPr/>
            <a:lstStyle/>
            <a:p>
              <a:endParaRPr lang="es-CO"/>
            </a:p>
          </p:txBody>
        </p:sp>
        <p:sp>
          <p:nvSpPr>
            <p:cNvPr id="74" name="TextBox 74"/>
            <p:cNvSpPr txBox="1"/>
            <p:nvPr/>
          </p:nvSpPr>
          <p:spPr>
            <a:xfrm>
              <a:off x="0" y="-38100"/>
              <a:ext cx="4594796" cy="5864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Wompi</a:t>
              </a:r>
            </a:p>
          </p:txBody>
        </p:sp>
      </p:grpSp>
      <p:grpSp>
        <p:nvGrpSpPr>
          <p:cNvPr id="75" name="Group 75"/>
          <p:cNvGrpSpPr/>
          <p:nvPr/>
        </p:nvGrpSpPr>
        <p:grpSpPr>
          <a:xfrm>
            <a:off x="5063310" y="8321956"/>
            <a:ext cx="3478769" cy="484698"/>
            <a:chOff x="0" y="0"/>
            <a:chExt cx="4594796" cy="640194"/>
          </a:xfrm>
        </p:grpSpPr>
        <p:sp>
          <p:nvSpPr>
            <p:cNvPr id="76" name="Freeform 76"/>
            <p:cNvSpPr/>
            <p:nvPr/>
          </p:nvSpPr>
          <p:spPr>
            <a:xfrm>
              <a:off x="0" y="0"/>
              <a:ext cx="4594800" cy="640200"/>
            </a:xfrm>
            <a:custGeom>
              <a:avLst/>
              <a:gdLst/>
              <a:ahLst/>
              <a:cxnLst/>
              <a:rect l="l" t="t" r="r" b="b"/>
              <a:pathLst>
                <a:path w="4594800" h="640200">
                  <a:moveTo>
                    <a:pt x="0" y="0"/>
                  </a:moveTo>
                  <a:lnTo>
                    <a:pt x="4594800" y="0"/>
                  </a:lnTo>
                  <a:lnTo>
                    <a:pt x="4594800" y="640200"/>
                  </a:lnTo>
                  <a:lnTo>
                    <a:pt x="0" y="640200"/>
                  </a:lnTo>
                  <a:close/>
                </a:path>
              </a:pathLst>
            </a:custGeom>
            <a:blipFill>
              <a:blip r:embed="rId4">
                <a:alphaModFix amt="0"/>
              </a:blip>
              <a:stretch>
                <a:fillRect t="-89847" b="-89846"/>
              </a:stretch>
            </a:blipFill>
          </p:spPr>
          <p:txBody>
            <a:bodyPr/>
            <a:lstStyle/>
            <a:p>
              <a:endParaRPr lang="es-CO"/>
            </a:p>
          </p:txBody>
        </p:sp>
        <p:sp>
          <p:nvSpPr>
            <p:cNvPr id="77" name="TextBox 77"/>
            <p:cNvSpPr txBox="1"/>
            <p:nvPr/>
          </p:nvSpPr>
          <p:spPr>
            <a:xfrm>
              <a:off x="0" y="-38100"/>
              <a:ext cx="4594796" cy="678294"/>
            </a:xfrm>
            <a:prstGeom prst="rect">
              <a:avLst/>
            </a:prstGeom>
          </p:spPr>
          <p:txBody>
            <a:bodyPr lIns="0" tIns="0" rIns="0" bIns="0" rtlCol="0" anchor="ctr"/>
            <a:lstStyle/>
            <a:p>
              <a:pPr algn="ctr">
                <a:lnSpc>
                  <a:spcPts val="1709"/>
                </a:lnSpc>
              </a:pPr>
              <a:r>
                <a:rPr lang="en-US" sz="1425">
                  <a:solidFill>
                    <a:srgbClr val="5B6670"/>
                  </a:solidFill>
                  <a:latin typeface="Calibri (MS)"/>
                  <a:ea typeface="Calibri (MS)"/>
                  <a:cs typeface="Calibri (MS)"/>
                  <a:sym typeface="Calibri (MS)"/>
                </a:rPr>
                <a:t>Pagos (modo sandbox)</a:t>
              </a:r>
            </a:p>
          </p:txBody>
        </p:sp>
      </p:grpSp>
      <p:grpSp>
        <p:nvGrpSpPr>
          <p:cNvPr id="78" name="Group 78"/>
          <p:cNvGrpSpPr/>
          <p:nvPr/>
        </p:nvGrpSpPr>
        <p:grpSpPr>
          <a:xfrm>
            <a:off x="9026739" y="6854276"/>
            <a:ext cx="3755873" cy="2076906"/>
            <a:chOff x="0" y="0"/>
            <a:chExt cx="4960798" cy="2743200"/>
          </a:xfrm>
        </p:grpSpPr>
        <p:sp>
          <p:nvSpPr>
            <p:cNvPr id="79" name="Freeform 79"/>
            <p:cNvSpPr/>
            <p:nvPr/>
          </p:nvSpPr>
          <p:spPr>
            <a:xfrm>
              <a:off x="0" y="0"/>
              <a:ext cx="4960747" cy="2743200"/>
            </a:xfrm>
            <a:custGeom>
              <a:avLst/>
              <a:gdLst/>
              <a:ahLst/>
              <a:cxnLst/>
              <a:rect l="l" t="t" r="r" b="b"/>
              <a:pathLst>
                <a:path w="4960747" h="2743200">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txBody>
            <a:bodyPr/>
            <a:lstStyle/>
            <a:p>
              <a:endParaRPr lang="es-CO"/>
            </a:p>
          </p:txBody>
        </p:sp>
      </p:grpSp>
      <p:grpSp>
        <p:nvGrpSpPr>
          <p:cNvPr id="80" name="Group 80"/>
          <p:cNvGrpSpPr/>
          <p:nvPr/>
        </p:nvGrpSpPr>
        <p:grpSpPr>
          <a:xfrm>
            <a:off x="10558457" y="7131197"/>
            <a:ext cx="692302" cy="692302"/>
            <a:chOff x="0" y="0"/>
            <a:chExt cx="914400" cy="914400"/>
          </a:xfrm>
        </p:grpSpPr>
        <p:sp>
          <p:nvSpPr>
            <p:cNvPr id="81" name="Freeform 81"/>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82" name="Group 82"/>
          <p:cNvGrpSpPr/>
          <p:nvPr/>
        </p:nvGrpSpPr>
        <p:grpSpPr>
          <a:xfrm>
            <a:off x="10738455" y="7311195"/>
            <a:ext cx="332305" cy="332305"/>
            <a:chOff x="0" y="0"/>
            <a:chExt cx="438912" cy="438912"/>
          </a:xfrm>
        </p:grpSpPr>
        <p:sp>
          <p:nvSpPr>
            <p:cNvPr id="83" name="Freeform 83" descr="icons/envelope.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10"/>
              <a:stretch>
                <a:fillRect/>
              </a:stretch>
            </a:blipFill>
          </p:spPr>
          <p:txBody>
            <a:bodyPr/>
            <a:lstStyle/>
            <a:p>
              <a:endParaRPr lang="es-CO"/>
            </a:p>
          </p:txBody>
        </p:sp>
      </p:grpSp>
      <p:grpSp>
        <p:nvGrpSpPr>
          <p:cNvPr id="84" name="Group 84"/>
          <p:cNvGrpSpPr/>
          <p:nvPr/>
        </p:nvGrpSpPr>
        <p:grpSpPr>
          <a:xfrm>
            <a:off x="9165199" y="7934267"/>
            <a:ext cx="3478769" cy="415199"/>
            <a:chOff x="0" y="0"/>
            <a:chExt cx="4594796" cy="548400"/>
          </a:xfrm>
        </p:grpSpPr>
        <p:sp>
          <p:nvSpPr>
            <p:cNvPr id="85" name="Freeform 85"/>
            <p:cNvSpPr/>
            <p:nvPr/>
          </p:nvSpPr>
          <p:spPr>
            <a:xfrm>
              <a:off x="0" y="0"/>
              <a:ext cx="4594800" cy="548401"/>
            </a:xfrm>
            <a:custGeom>
              <a:avLst/>
              <a:gdLst/>
              <a:ahLst/>
              <a:cxnLst/>
              <a:rect l="l" t="t" r="r" b="b"/>
              <a:pathLst>
                <a:path w="4594800" h="548401">
                  <a:moveTo>
                    <a:pt x="0" y="0"/>
                  </a:moveTo>
                  <a:lnTo>
                    <a:pt x="4594800" y="0"/>
                  </a:lnTo>
                  <a:lnTo>
                    <a:pt x="4594800" y="548401"/>
                  </a:lnTo>
                  <a:lnTo>
                    <a:pt x="0" y="548401"/>
                  </a:lnTo>
                  <a:close/>
                </a:path>
              </a:pathLst>
            </a:custGeom>
            <a:blipFill>
              <a:blip r:embed="rId4">
                <a:alphaModFix amt="0"/>
              </a:blip>
              <a:stretch>
                <a:fillRect t="-113256" b="-113255"/>
              </a:stretch>
            </a:blipFill>
          </p:spPr>
          <p:txBody>
            <a:bodyPr/>
            <a:lstStyle/>
            <a:p>
              <a:endParaRPr lang="es-CO"/>
            </a:p>
          </p:txBody>
        </p:sp>
        <p:sp>
          <p:nvSpPr>
            <p:cNvPr id="86" name="TextBox 86"/>
            <p:cNvSpPr txBox="1"/>
            <p:nvPr/>
          </p:nvSpPr>
          <p:spPr>
            <a:xfrm>
              <a:off x="0" y="-38100"/>
              <a:ext cx="4594796" cy="586500"/>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Brevo</a:t>
              </a:r>
            </a:p>
          </p:txBody>
        </p:sp>
      </p:grpSp>
      <p:grpSp>
        <p:nvGrpSpPr>
          <p:cNvPr id="87" name="Group 87"/>
          <p:cNvGrpSpPr/>
          <p:nvPr/>
        </p:nvGrpSpPr>
        <p:grpSpPr>
          <a:xfrm>
            <a:off x="9165199" y="8321956"/>
            <a:ext cx="3478769" cy="484698"/>
            <a:chOff x="0" y="0"/>
            <a:chExt cx="4594796" cy="640194"/>
          </a:xfrm>
        </p:grpSpPr>
        <p:sp>
          <p:nvSpPr>
            <p:cNvPr id="88" name="Freeform 88"/>
            <p:cNvSpPr/>
            <p:nvPr/>
          </p:nvSpPr>
          <p:spPr>
            <a:xfrm>
              <a:off x="0" y="0"/>
              <a:ext cx="4594800" cy="640200"/>
            </a:xfrm>
            <a:custGeom>
              <a:avLst/>
              <a:gdLst/>
              <a:ahLst/>
              <a:cxnLst/>
              <a:rect l="l" t="t" r="r" b="b"/>
              <a:pathLst>
                <a:path w="4594800" h="640200">
                  <a:moveTo>
                    <a:pt x="0" y="0"/>
                  </a:moveTo>
                  <a:lnTo>
                    <a:pt x="4594800" y="0"/>
                  </a:lnTo>
                  <a:lnTo>
                    <a:pt x="4594800" y="640200"/>
                  </a:lnTo>
                  <a:lnTo>
                    <a:pt x="0" y="640200"/>
                  </a:lnTo>
                  <a:close/>
                </a:path>
              </a:pathLst>
            </a:custGeom>
            <a:blipFill>
              <a:blip r:embed="rId4">
                <a:alphaModFix amt="0"/>
              </a:blip>
              <a:stretch>
                <a:fillRect t="-89847" b="-89846"/>
              </a:stretch>
            </a:blipFill>
          </p:spPr>
          <p:txBody>
            <a:bodyPr/>
            <a:lstStyle/>
            <a:p>
              <a:endParaRPr lang="es-CO"/>
            </a:p>
          </p:txBody>
        </p:sp>
        <p:sp>
          <p:nvSpPr>
            <p:cNvPr id="89" name="TextBox 89"/>
            <p:cNvSpPr txBox="1"/>
            <p:nvPr/>
          </p:nvSpPr>
          <p:spPr>
            <a:xfrm>
              <a:off x="0" y="-38100"/>
              <a:ext cx="4594796" cy="678294"/>
            </a:xfrm>
            <a:prstGeom prst="rect">
              <a:avLst/>
            </a:prstGeom>
          </p:spPr>
          <p:txBody>
            <a:bodyPr lIns="0" tIns="0" rIns="0" bIns="0" rtlCol="0" anchor="ctr"/>
            <a:lstStyle/>
            <a:p>
              <a:pPr algn="ctr">
                <a:lnSpc>
                  <a:spcPts val="1709"/>
                </a:lnSpc>
              </a:pPr>
              <a:r>
                <a:rPr lang="en-US" sz="1425">
                  <a:solidFill>
                    <a:srgbClr val="5B6670"/>
                  </a:solidFill>
                  <a:latin typeface="Calibri (MS)"/>
                  <a:ea typeface="Calibri (MS)"/>
                  <a:cs typeface="Calibri (MS)"/>
                  <a:sym typeface="Calibri (MS)"/>
                </a:rPr>
                <a:t>Correo (recuperar contraseña)</a:t>
              </a:r>
            </a:p>
          </p:txBody>
        </p:sp>
      </p:grpSp>
      <p:grpSp>
        <p:nvGrpSpPr>
          <p:cNvPr id="90" name="Group 90"/>
          <p:cNvGrpSpPr/>
          <p:nvPr/>
        </p:nvGrpSpPr>
        <p:grpSpPr>
          <a:xfrm>
            <a:off x="13128628" y="6854276"/>
            <a:ext cx="3755873" cy="2076906"/>
            <a:chOff x="0" y="0"/>
            <a:chExt cx="4960798" cy="2743200"/>
          </a:xfrm>
        </p:grpSpPr>
        <p:sp>
          <p:nvSpPr>
            <p:cNvPr id="91" name="Freeform 91"/>
            <p:cNvSpPr/>
            <p:nvPr/>
          </p:nvSpPr>
          <p:spPr>
            <a:xfrm>
              <a:off x="0" y="0"/>
              <a:ext cx="4960747" cy="2743200"/>
            </a:xfrm>
            <a:custGeom>
              <a:avLst/>
              <a:gdLst/>
              <a:ahLst/>
              <a:cxnLst/>
              <a:rect l="l" t="t" r="r" b="b"/>
              <a:pathLst>
                <a:path w="4960747" h="2743200">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txBody>
            <a:bodyPr/>
            <a:lstStyle/>
            <a:p>
              <a:endParaRPr lang="es-CO"/>
            </a:p>
          </p:txBody>
        </p:sp>
      </p:grpSp>
      <p:grpSp>
        <p:nvGrpSpPr>
          <p:cNvPr id="92" name="Group 92"/>
          <p:cNvGrpSpPr/>
          <p:nvPr/>
        </p:nvGrpSpPr>
        <p:grpSpPr>
          <a:xfrm>
            <a:off x="14660346" y="7131197"/>
            <a:ext cx="692302" cy="692302"/>
            <a:chOff x="0" y="0"/>
            <a:chExt cx="914400" cy="914400"/>
          </a:xfrm>
        </p:grpSpPr>
        <p:sp>
          <p:nvSpPr>
            <p:cNvPr id="93" name="Freeform 93"/>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txBody>
            <a:bodyPr/>
            <a:lstStyle/>
            <a:p>
              <a:endParaRPr lang="es-CO"/>
            </a:p>
          </p:txBody>
        </p:sp>
      </p:grpSp>
      <p:grpSp>
        <p:nvGrpSpPr>
          <p:cNvPr id="94" name="Group 94"/>
          <p:cNvGrpSpPr/>
          <p:nvPr/>
        </p:nvGrpSpPr>
        <p:grpSpPr>
          <a:xfrm>
            <a:off x="14840345" y="7311195"/>
            <a:ext cx="332305" cy="332305"/>
            <a:chOff x="0" y="0"/>
            <a:chExt cx="438912" cy="438912"/>
          </a:xfrm>
        </p:grpSpPr>
        <p:sp>
          <p:nvSpPr>
            <p:cNvPr id="95" name="Freeform 95" descr="icons/sync.png"/>
            <p:cNvSpPr/>
            <p:nvPr/>
          </p:nvSpPr>
          <p:spPr>
            <a:xfrm>
              <a:off x="0" y="0"/>
              <a:ext cx="438912" cy="438912"/>
            </a:xfrm>
            <a:custGeom>
              <a:avLst/>
              <a:gdLst/>
              <a:ahLst/>
              <a:cxnLst/>
              <a:rect l="l" t="t" r="r" b="b"/>
              <a:pathLst>
                <a:path w="438912" h="438912">
                  <a:moveTo>
                    <a:pt x="0" y="0"/>
                  </a:moveTo>
                  <a:lnTo>
                    <a:pt x="438912" y="0"/>
                  </a:lnTo>
                  <a:lnTo>
                    <a:pt x="438912" y="438912"/>
                  </a:lnTo>
                  <a:lnTo>
                    <a:pt x="0" y="438912"/>
                  </a:lnTo>
                  <a:lnTo>
                    <a:pt x="0" y="0"/>
                  </a:lnTo>
                  <a:close/>
                </a:path>
              </a:pathLst>
            </a:custGeom>
            <a:blipFill>
              <a:blip r:embed="rId11"/>
              <a:stretch>
                <a:fillRect/>
              </a:stretch>
            </a:blipFill>
          </p:spPr>
          <p:txBody>
            <a:bodyPr/>
            <a:lstStyle/>
            <a:p>
              <a:endParaRPr lang="es-CO"/>
            </a:p>
          </p:txBody>
        </p:sp>
      </p:grpSp>
      <p:grpSp>
        <p:nvGrpSpPr>
          <p:cNvPr id="96" name="Group 96"/>
          <p:cNvGrpSpPr/>
          <p:nvPr/>
        </p:nvGrpSpPr>
        <p:grpSpPr>
          <a:xfrm>
            <a:off x="13267088" y="7934267"/>
            <a:ext cx="3478769" cy="415199"/>
            <a:chOff x="0" y="0"/>
            <a:chExt cx="4594796" cy="548399"/>
          </a:xfrm>
        </p:grpSpPr>
        <p:sp>
          <p:nvSpPr>
            <p:cNvPr id="97" name="Freeform 97"/>
            <p:cNvSpPr/>
            <p:nvPr/>
          </p:nvSpPr>
          <p:spPr>
            <a:xfrm>
              <a:off x="0" y="0"/>
              <a:ext cx="4594800" cy="548400"/>
            </a:xfrm>
            <a:custGeom>
              <a:avLst/>
              <a:gdLst/>
              <a:ahLst/>
              <a:cxnLst/>
              <a:rect l="l" t="t" r="r" b="b"/>
              <a:pathLst>
                <a:path w="4594800" h="548400">
                  <a:moveTo>
                    <a:pt x="0" y="0"/>
                  </a:moveTo>
                  <a:lnTo>
                    <a:pt x="4594800" y="0"/>
                  </a:lnTo>
                  <a:lnTo>
                    <a:pt x="4594800" y="548400"/>
                  </a:lnTo>
                  <a:lnTo>
                    <a:pt x="0" y="548400"/>
                  </a:lnTo>
                  <a:close/>
                </a:path>
              </a:pathLst>
            </a:custGeom>
            <a:blipFill>
              <a:blip r:embed="rId4">
                <a:alphaModFix amt="0"/>
              </a:blip>
              <a:stretch>
                <a:fillRect t="-113256" b="-113256"/>
              </a:stretch>
            </a:blipFill>
          </p:spPr>
          <p:txBody>
            <a:bodyPr/>
            <a:lstStyle/>
            <a:p>
              <a:endParaRPr lang="es-CO"/>
            </a:p>
          </p:txBody>
        </p:sp>
        <p:sp>
          <p:nvSpPr>
            <p:cNvPr id="98" name="TextBox 98"/>
            <p:cNvSpPr txBox="1"/>
            <p:nvPr/>
          </p:nvSpPr>
          <p:spPr>
            <a:xfrm>
              <a:off x="0" y="-38100"/>
              <a:ext cx="4594796" cy="586499"/>
            </a:xfrm>
            <a:prstGeom prst="rect">
              <a:avLst/>
            </a:prstGeom>
          </p:spPr>
          <p:txBody>
            <a:bodyPr lIns="0" tIns="0" rIns="0" bIns="0" rtlCol="0" anchor="ctr"/>
            <a:lstStyle/>
            <a:p>
              <a:pPr algn="ctr">
                <a:lnSpc>
                  <a:spcPts val="2160"/>
                </a:lnSpc>
              </a:pPr>
              <a:r>
                <a:rPr lang="en-US" sz="1800" b="1">
                  <a:solidFill>
                    <a:srgbClr val="00304D"/>
                  </a:solidFill>
                  <a:latin typeface="Calibri (MS) Bold"/>
                  <a:ea typeface="Calibri (MS) Bold"/>
                  <a:cs typeface="Calibri (MS) Bold"/>
                  <a:sym typeface="Calibri (MS) Bold"/>
                </a:rPr>
                <a:t>CronJob</a:t>
              </a:r>
            </a:p>
          </p:txBody>
        </p:sp>
      </p:grpSp>
      <p:grpSp>
        <p:nvGrpSpPr>
          <p:cNvPr id="99" name="Group 99"/>
          <p:cNvGrpSpPr/>
          <p:nvPr/>
        </p:nvGrpSpPr>
        <p:grpSpPr>
          <a:xfrm>
            <a:off x="13267088" y="8321956"/>
            <a:ext cx="3478769" cy="484698"/>
            <a:chOff x="0" y="0"/>
            <a:chExt cx="4594796" cy="640194"/>
          </a:xfrm>
        </p:grpSpPr>
        <p:sp>
          <p:nvSpPr>
            <p:cNvPr id="100" name="Freeform 100"/>
            <p:cNvSpPr/>
            <p:nvPr/>
          </p:nvSpPr>
          <p:spPr>
            <a:xfrm>
              <a:off x="0" y="0"/>
              <a:ext cx="4594800" cy="640200"/>
            </a:xfrm>
            <a:custGeom>
              <a:avLst/>
              <a:gdLst/>
              <a:ahLst/>
              <a:cxnLst/>
              <a:rect l="l" t="t" r="r" b="b"/>
              <a:pathLst>
                <a:path w="4594800" h="640200">
                  <a:moveTo>
                    <a:pt x="0" y="0"/>
                  </a:moveTo>
                  <a:lnTo>
                    <a:pt x="4594800" y="0"/>
                  </a:lnTo>
                  <a:lnTo>
                    <a:pt x="4594800" y="640200"/>
                  </a:lnTo>
                  <a:lnTo>
                    <a:pt x="0" y="640200"/>
                  </a:lnTo>
                  <a:close/>
                </a:path>
              </a:pathLst>
            </a:custGeom>
            <a:blipFill>
              <a:blip r:embed="rId4">
                <a:alphaModFix amt="0"/>
              </a:blip>
              <a:stretch>
                <a:fillRect t="-89847" b="-89846"/>
              </a:stretch>
            </a:blipFill>
          </p:spPr>
          <p:txBody>
            <a:bodyPr/>
            <a:lstStyle/>
            <a:p>
              <a:endParaRPr lang="es-CO"/>
            </a:p>
          </p:txBody>
        </p:sp>
        <p:sp>
          <p:nvSpPr>
            <p:cNvPr id="101" name="TextBox 101"/>
            <p:cNvSpPr txBox="1"/>
            <p:nvPr/>
          </p:nvSpPr>
          <p:spPr>
            <a:xfrm>
              <a:off x="0" y="-38100"/>
              <a:ext cx="4594796" cy="678294"/>
            </a:xfrm>
            <a:prstGeom prst="rect">
              <a:avLst/>
            </a:prstGeom>
          </p:spPr>
          <p:txBody>
            <a:bodyPr lIns="0" tIns="0" rIns="0" bIns="0" rtlCol="0" anchor="ctr"/>
            <a:lstStyle/>
            <a:p>
              <a:pPr algn="ctr">
                <a:lnSpc>
                  <a:spcPts val="1709"/>
                </a:lnSpc>
              </a:pPr>
              <a:r>
                <a:rPr lang="en-US" sz="1425">
                  <a:solidFill>
                    <a:srgbClr val="5B6670"/>
                  </a:solidFill>
                  <a:latin typeface="Calibri (MS)"/>
                  <a:ea typeface="Calibri (MS)"/>
                  <a:cs typeface="Calibri (MS)"/>
                  <a:sym typeface="Calibri (MS)"/>
                </a:rPr>
                <a:t>Notificaciones en tiempo real</a:t>
              </a:r>
            </a:p>
          </p:txBody>
        </p:sp>
      </p:grpSp>
      <p:sp>
        <p:nvSpPr>
          <p:cNvPr id="103" name="Rectángulo: esquinas superiores redondeadas 102">
            <a:extLst>
              <a:ext uri="{FF2B5EF4-FFF2-40B4-BE49-F238E27FC236}">
                <a16:creationId xmlns:a16="http://schemas.microsoft.com/office/drawing/2014/main" id="{5D7B5906-6934-7BF2-BF55-C10460CF37DC}"/>
              </a:ext>
            </a:extLst>
          </p:cNvPr>
          <p:cNvSpPr/>
          <p:nvPr/>
        </p:nvSpPr>
        <p:spPr>
          <a:xfrm>
            <a:off x="7848600" y="9765506"/>
            <a:ext cx="2590800" cy="152400"/>
          </a:xfrm>
          <a:prstGeom prst="round2SameRect">
            <a:avLst/>
          </a:prstGeom>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132378" y="111395"/>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Modelo Logico</a:t>
              </a:r>
            </a:p>
          </p:txBody>
        </p:sp>
      </p:grpSp>
      <p:pic>
        <p:nvPicPr>
          <p:cNvPr id="11" name="Imagen 10">
            <a:extLst>
              <a:ext uri="{FF2B5EF4-FFF2-40B4-BE49-F238E27FC236}">
                <a16:creationId xmlns:a16="http://schemas.microsoft.com/office/drawing/2014/main" id="{A076E9F1-8667-B0FA-071E-295869DC31F2}"/>
              </a:ext>
            </a:extLst>
          </p:cNvPr>
          <p:cNvPicPr>
            <a:picLocks noChangeAspect="1"/>
          </p:cNvPicPr>
          <p:nvPr/>
        </p:nvPicPr>
        <p:blipFill>
          <a:blip r:embed="rId5"/>
          <a:stretch>
            <a:fillRect/>
          </a:stretch>
        </p:blipFill>
        <p:spPr>
          <a:xfrm>
            <a:off x="-34881" y="1383481"/>
            <a:ext cx="18322881" cy="8792124"/>
          </a:xfrm>
          <a:prstGeom prst="rect">
            <a:avLst/>
          </a:prstGeom>
        </p:spPr>
      </p:pic>
      <p:sp>
        <p:nvSpPr>
          <p:cNvPr id="9" name="Rectángulo: esquinas superiores redondeadas 8">
            <a:extLst>
              <a:ext uri="{FF2B5EF4-FFF2-40B4-BE49-F238E27FC236}">
                <a16:creationId xmlns:a16="http://schemas.microsoft.com/office/drawing/2014/main" id="{7AA279F7-B78C-E02F-EDCF-20943CEDA00D}"/>
              </a:ext>
            </a:extLst>
          </p:cNvPr>
          <p:cNvSpPr/>
          <p:nvPr/>
        </p:nvSpPr>
        <p:spPr>
          <a:xfrm>
            <a:off x="7848600" y="9765506"/>
            <a:ext cx="2590800" cy="152400"/>
          </a:xfrm>
          <a:prstGeom prst="round2SameRect">
            <a:avLst/>
          </a:prstGeom>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323612" y="250898"/>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Diagrama Casos de Uso</a:t>
              </a:r>
            </a:p>
          </p:txBody>
        </p:sp>
      </p:grpSp>
      <p:grpSp>
        <p:nvGrpSpPr>
          <p:cNvPr id="6" name="Group 6"/>
          <p:cNvGrpSpPr/>
          <p:nvPr/>
        </p:nvGrpSpPr>
        <p:grpSpPr>
          <a:xfrm>
            <a:off x="2792085" y="1181427"/>
            <a:ext cx="12703830" cy="8730224"/>
            <a:chOff x="0" y="0"/>
            <a:chExt cx="16938441" cy="11640299"/>
          </a:xfrm>
        </p:grpSpPr>
        <p:sp>
          <p:nvSpPr>
            <p:cNvPr id="7" name="Freeform 7"/>
            <p:cNvSpPr/>
            <p:nvPr/>
          </p:nvSpPr>
          <p:spPr>
            <a:xfrm>
              <a:off x="0" y="0"/>
              <a:ext cx="16938408" cy="11640312"/>
            </a:xfrm>
            <a:custGeom>
              <a:avLst/>
              <a:gdLst/>
              <a:ahLst/>
              <a:cxnLst/>
              <a:rect l="l" t="t" r="r" b="b"/>
              <a:pathLst>
                <a:path w="16938408" h="11640312">
                  <a:moveTo>
                    <a:pt x="0" y="0"/>
                  </a:moveTo>
                  <a:lnTo>
                    <a:pt x="16938408" y="0"/>
                  </a:lnTo>
                  <a:lnTo>
                    <a:pt x="16938408" y="11640312"/>
                  </a:lnTo>
                  <a:lnTo>
                    <a:pt x="0" y="11640312"/>
                  </a:lnTo>
                  <a:lnTo>
                    <a:pt x="0" y="0"/>
                  </a:lnTo>
                  <a:close/>
                </a:path>
              </a:pathLst>
            </a:custGeom>
            <a:blipFill>
              <a:blip r:embed="rId5"/>
              <a:stretch>
                <a:fillRect l="-160" r="-160"/>
              </a:stretch>
            </a:blipFill>
          </p:spPr>
          <p:txBody>
            <a:bodyPr/>
            <a:lstStyle/>
            <a:p>
              <a:endParaRPr lang="es-CO"/>
            </a:p>
          </p:txBody>
        </p:sp>
      </p:grpSp>
      <p:sp>
        <p:nvSpPr>
          <p:cNvPr id="9" name="Rectángulo: esquinas superiores redondeadas 8">
            <a:extLst>
              <a:ext uri="{FF2B5EF4-FFF2-40B4-BE49-F238E27FC236}">
                <a16:creationId xmlns:a16="http://schemas.microsoft.com/office/drawing/2014/main" id="{8B3E5C82-6832-9FDC-62EA-5D005C878869}"/>
              </a:ext>
            </a:extLst>
          </p:cNvPr>
          <p:cNvSpPr/>
          <p:nvPr/>
        </p:nvSpPr>
        <p:spPr>
          <a:xfrm>
            <a:off x="7848600" y="9765506"/>
            <a:ext cx="2590800" cy="152400"/>
          </a:xfrm>
          <a:prstGeom prst="round2SameRect">
            <a:avLst/>
          </a:prstGeom>
          <a:solidFill>
            <a:srgbClr val="92D05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987552"/>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Pruebas de software</a:t>
              </a:r>
            </a:p>
          </p:txBody>
        </p:sp>
      </p:grpSp>
      <p:grpSp>
        <p:nvGrpSpPr>
          <p:cNvPr id="6" name="Group 6"/>
          <p:cNvGrpSpPr/>
          <p:nvPr/>
        </p:nvGrpSpPr>
        <p:grpSpPr>
          <a:xfrm>
            <a:off x="822960" y="2468880"/>
            <a:ext cx="7681046" cy="6720754"/>
            <a:chOff x="0" y="0"/>
            <a:chExt cx="10241394" cy="8961006"/>
          </a:xfrm>
        </p:grpSpPr>
        <p:sp>
          <p:nvSpPr>
            <p:cNvPr id="7" name="Freeform 7"/>
            <p:cNvSpPr/>
            <p:nvPr/>
          </p:nvSpPr>
          <p:spPr>
            <a:xfrm>
              <a:off x="0" y="0"/>
              <a:ext cx="10241407" cy="8960993"/>
            </a:xfrm>
            <a:custGeom>
              <a:avLst/>
              <a:gdLst/>
              <a:ahLst/>
              <a:cxnLst/>
              <a:rect l="l" t="t" r="r" b="b"/>
              <a:pathLst>
                <a:path w="10241407" h="8960993">
                  <a:moveTo>
                    <a:pt x="0" y="146304"/>
                  </a:moveTo>
                  <a:cubicBezTo>
                    <a:pt x="0" y="65532"/>
                    <a:pt x="65532" y="0"/>
                    <a:pt x="146304" y="0"/>
                  </a:cubicBezTo>
                  <a:lnTo>
                    <a:pt x="10095103" y="0"/>
                  </a:lnTo>
                  <a:cubicBezTo>
                    <a:pt x="10175875" y="0"/>
                    <a:pt x="10241407" y="65532"/>
                    <a:pt x="10241407" y="146304"/>
                  </a:cubicBezTo>
                  <a:lnTo>
                    <a:pt x="10241407" y="8814689"/>
                  </a:lnTo>
                  <a:cubicBezTo>
                    <a:pt x="10241407" y="8895461"/>
                    <a:pt x="10175875" y="8960993"/>
                    <a:pt x="10095103" y="8960993"/>
                  </a:cubicBezTo>
                  <a:lnTo>
                    <a:pt x="146304" y="8960993"/>
                  </a:lnTo>
                  <a:cubicBezTo>
                    <a:pt x="65532" y="8960993"/>
                    <a:pt x="0" y="8895461"/>
                    <a:pt x="0" y="8814689"/>
                  </a:cubicBezTo>
                  <a:close/>
                </a:path>
              </a:pathLst>
            </a:custGeom>
            <a:solidFill>
              <a:srgbClr val="EDF6E8"/>
            </a:solidFill>
          </p:spPr>
          <p:txBody>
            <a:bodyPr/>
            <a:lstStyle/>
            <a:p>
              <a:endParaRPr lang="es-CO"/>
            </a:p>
          </p:txBody>
        </p:sp>
      </p:grpSp>
      <p:grpSp>
        <p:nvGrpSpPr>
          <p:cNvPr id="8" name="Group 8"/>
          <p:cNvGrpSpPr/>
          <p:nvPr/>
        </p:nvGrpSpPr>
        <p:grpSpPr>
          <a:xfrm>
            <a:off x="1303020" y="2880360"/>
            <a:ext cx="891454" cy="891454"/>
            <a:chOff x="0" y="0"/>
            <a:chExt cx="1188606" cy="1188606"/>
          </a:xfrm>
        </p:grpSpPr>
        <p:sp>
          <p:nvSpPr>
            <p:cNvPr id="9" name="Freeform 9"/>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txBody>
            <a:bodyPr/>
            <a:lstStyle/>
            <a:p>
              <a:endParaRPr lang="es-CO"/>
            </a:p>
          </p:txBody>
        </p:sp>
      </p:grpSp>
      <p:grpSp>
        <p:nvGrpSpPr>
          <p:cNvPr id="10" name="Group 10"/>
          <p:cNvGrpSpPr/>
          <p:nvPr/>
        </p:nvGrpSpPr>
        <p:grpSpPr>
          <a:xfrm>
            <a:off x="1534820" y="3112160"/>
            <a:ext cx="427939" cy="427939"/>
            <a:chOff x="0" y="0"/>
            <a:chExt cx="570586" cy="570586"/>
          </a:xfrm>
        </p:grpSpPr>
        <p:sp>
          <p:nvSpPr>
            <p:cNvPr id="11" name="Freeform 11" descr="icons/vial.png"/>
            <p:cNvSpPr/>
            <p:nvPr/>
          </p:nvSpPr>
          <p:spPr>
            <a:xfrm>
              <a:off x="0" y="0"/>
              <a:ext cx="570611" cy="570611"/>
            </a:xfrm>
            <a:custGeom>
              <a:avLst/>
              <a:gdLst/>
              <a:ahLst/>
              <a:cxnLst/>
              <a:rect l="l" t="t" r="r" b="b"/>
              <a:pathLst>
                <a:path w="570611" h="570611">
                  <a:moveTo>
                    <a:pt x="0" y="0"/>
                  </a:moveTo>
                  <a:lnTo>
                    <a:pt x="570611" y="0"/>
                  </a:lnTo>
                  <a:lnTo>
                    <a:pt x="570611" y="570611"/>
                  </a:lnTo>
                  <a:lnTo>
                    <a:pt x="0" y="570611"/>
                  </a:lnTo>
                  <a:lnTo>
                    <a:pt x="0" y="0"/>
                  </a:lnTo>
                  <a:close/>
                </a:path>
              </a:pathLst>
            </a:custGeom>
            <a:blipFill>
              <a:blip r:embed="rId5"/>
              <a:stretch>
                <a:fillRect r="4" b="4"/>
              </a:stretch>
            </a:blipFill>
          </p:spPr>
          <p:txBody>
            <a:bodyPr/>
            <a:lstStyle/>
            <a:p>
              <a:endParaRPr lang="es-CO"/>
            </a:p>
          </p:txBody>
        </p:sp>
      </p:grpSp>
      <p:grpSp>
        <p:nvGrpSpPr>
          <p:cNvPr id="12" name="Group 12"/>
          <p:cNvGrpSpPr/>
          <p:nvPr/>
        </p:nvGrpSpPr>
        <p:grpSpPr>
          <a:xfrm>
            <a:off x="2400300" y="3017520"/>
            <a:ext cx="5486400" cy="548550"/>
            <a:chOff x="0" y="0"/>
            <a:chExt cx="7315200" cy="731400"/>
          </a:xfrm>
        </p:grpSpPr>
        <p:sp>
          <p:nvSpPr>
            <p:cNvPr id="13" name="Freeform 13"/>
            <p:cNvSpPr/>
            <p:nvPr/>
          </p:nvSpPr>
          <p:spPr>
            <a:xfrm>
              <a:off x="0" y="0"/>
              <a:ext cx="7315200" cy="731394"/>
            </a:xfrm>
            <a:custGeom>
              <a:avLst/>
              <a:gdLst/>
              <a:ahLst/>
              <a:cxnLst/>
              <a:rect l="l" t="t" r="r" b="b"/>
              <a:pathLst>
                <a:path w="7315200" h="731394">
                  <a:moveTo>
                    <a:pt x="0" y="0"/>
                  </a:moveTo>
                  <a:lnTo>
                    <a:pt x="7315200" y="0"/>
                  </a:lnTo>
                  <a:lnTo>
                    <a:pt x="7315200" y="731394"/>
                  </a:lnTo>
                  <a:lnTo>
                    <a:pt x="0" y="731394"/>
                  </a:lnTo>
                  <a:close/>
                </a:path>
              </a:pathLst>
            </a:custGeom>
            <a:blipFill>
              <a:blip r:embed="rId4">
                <a:alphaModFix amt="0"/>
              </a:blip>
              <a:stretch>
                <a:fillRect t="-144883" b="-144884"/>
              </a:stretch>
            </a:blipFill>
          </p:spPr>
          <p:txBody>
            <a:bodyPr/>
            <a:lstStyle/>
            <a:p>
              <a:endParaRPr lang="es-CO"/>
            </a:p>
          </p:txBody>
        </p:sp>
        <p:sp>
          <p:nvSpPr>
            <p:cNvPr id="14" name="TextBox 14"/>
            <p:cNvSpPr txBox="1"/>
            <p:nvPr/>
          </p:nvSpPr>
          <p:spPr>
            <a:xfrm>
              <a:off x="0" y="-47625"/>
              <a:ext cx="7315200" cy="779025"/>
            </a:xfrm>
            <a:prstGeom prst="rect">
              <a:avLst/>
            </a:prstGeom>
          </p:spPr>
          <p:txBody>
            <a:bodyPr lIns="0" tIns="0" rIns="0" bIns="0" rtlCol="0" anchor="ctr"/>
            <a:lstStyle/>
            <a:p>
              <a:pPr algn="l">
                <a:lnSpc>
                  <a:spcPts val="3060"/>
                </a:lnSpc>
              </a:pPr>
              <a:r>
                <a:rPr lang="en-US" sz="2550" b="1">
                  <a:solidFill>
                    <a:srgbClr val="00304D"/>
                  </a:solidFill>
                  <a:latin typeface="Calibri (MS) Bold"/>
                  <a:ea typeface="Calibri (MS) Bold"/>
                  <a:cs typeface="Calibri (MS) Bold"/>
                  <a:sym typeface="Calibri (MS) Bold"/>
                </a:rPr>
                <a:t>Caja blanca (backend, con JUnit)</a:t>
              </a:r>
            </a:p>
          </p:txBody>
        </p:sp>
      </p:grpSp>
      <p:grpSp>
        <p:nvGrpSpPr>
          <p:cNvPr id="15" name="Group 15"/>
          <p:cNvGrpSpPr/>
          <p:nvPr/>
        </p:nvGrpSpPr>
        <p:grpSpPr>
          <a:xfrm>
            <a:off x="1303020" y="3771900"/>
            <a:ext cx="6858000" cy="754199"/>
            <a:chOff x="0" y="0"/>
            <a:chExt cx="9144000" cy="1005599"/>
          </a:xfrm>
        </p:grpSpPr>
        <p:sp>
          <p:nvSpPr>
            <p:cNvPr id="16" name="Freeform 16"/>
            <p:cNvSpPr/>
            <p:nvPr/>
          </p:nvSpPr>
          <p:spPr>
            <a:xfrm>
              <a:off x="0" y="0"/>
              <a:ext cx="9144000" cy="1005600"/>
            </a:xfrm>
            <a:custGeom>
              <a:avLst/>
              <a:gdLst/>
              <a:ahLst/>
              <a:cxnLst/>
              <a:rect l="l" t="t" r="r" b="b"/>
              <a:pathLst>
                <a:path w="9144000" h="1005600">
                  <a:moveTo>
                    <a:pt x="0" y="0"/>
                  </a:moveTo>
                  <a:lnTo>
                    <a:pt x="9144000" y="0"/>
                  </a:lnTo>
                  <a:lnTo>
                    <a:pt x="9144000" y="1005600"/>
                  </a:lnTo>
                  <a:lnTo>
                    <a:pt x="0" y="1005600"/>
                  </a:lnTo>
                  <a:close/>
                </a:path>
              </a:pathLst>
            </a:custGeom>
            <a:blipFill>
              <a:blip r:embed="rId4">
                <a:alphaModFix amt="0"/>
              </a:blip>
              <a:stretch>
                <a:fillRect t="-127179" b="-127178"/>
              </a:stretch>
            </a:blipFill>
          </p:spPr>
          <p:txBody>
            <a:bodyPr/>
            <a:lstStyle/>
            <a:p>
              <a:endParaRPr lang="es-CO"/>
            </a:p>
          </p:txBody>
        </p:sp>
        <p:sp>
          <p:nvSpPr>
            <p:cNvPr id="17" name="TextBox 17"/>
            <p:cNvSpPr txBox="1"/>
            <p:nvPr/>
          </p:nvSpPr>
          <p:spPr>
            <a:xfrm>
              <a:off x="0" y="-38100"/>
              <a:ext cx="9144000" cy="1043699"/>
            </a:xfrm>
            <a:prstGeom prst="rect">
              <a:avLst/>
            </a:prstGeom>
          </p:spPr>
          <p:txBody>
            <a:bodyPr lIns="0" tIns="0" rIns="0" bIns="0" rtlCol="0" anchor="ctr"/>
            <a:lstStyle/>
            <a:p>
              <a:pPr algn="l">
                <a:lnSpc>
                  <a:spcPts val="2160"/>
                </a:lnSpc>
              </a:pPr>
              <a:r>
                <a:rPr lang="en-US" sz="1800">
                  <a:solidFill>
                    <a:srgbClr val="22292E"/>
                  </a:solidFill>
                  <a:latin typeface="Calibri (MS)"/>
                  <a:ea typeface="Calibri (MS)"/>
                  <a:cs typeface="Calibri (MS)"/>
                  <a:sym typeface="Calibri (MS)"/>
                </a:rPr>
                <a:t>Se valida la lógica interna del código del backend (mocking de datos).</a:t>
              </a:r>
            </a:p>
          </p:txBody>
        </p:sp>
      </p:grpSp>
      <p:grpSp>
        <p:nvGrpSpPr>
          <p:cNvPr id="18" name="Group 18"/>
          <p:cNvGrpSpPr/>
          <p:nvPr/>
        </p:nvGrpSpPr>
        <p:grpSpPr>
          <a:xfrm>
            <a:off x="1303020" y="4663440"/>
            <a:ext cx="6858000" cy="548554"/>
            <a:chOff x="0" y="0"/>
            <a:chExt cx="9144000" cy="731406"/>
          </a:xfrm>
        </p:grpSpPr>
        <p:sp>
          <p:nvSpPr>
            <p:cNvPr id="19" name="Freeform 19"/>
            <p:cNvSpPr/>
            <p:nvPr/>
          </p:nvSpPr>
          <p:spPr>
            <a:xfrm>
              <a:off x="0" y="0"/>
              <a:ext cx="9144000" cy="731400"/>
            </a:xfrm>
            <a:custGeom>
              <a:avLst/>
              <a:gdLst/>
              <a:ahLst/>
              <a:cxnLst/>
              <a:rect l="l" t="t" r="r" b="b"/>
              <a:pathLst>
                <a:path w="9144000" h="731400">
                  <a:moveTo>
                    <a:pt x="0" y="0"/>
                  </a:moveTo>
                  <a:lnTo>
                    <a:pt x="9144000" y="0"/>
                  </a:lnTo>
                  <a:lnTo>
                    <a:pt x="9144000" y="731400"/>
                  </a:lnTo>
                  <a:lnTo>
                    <a:pt x="0" y="731400"/>
                  </a:lnTo>
                  <a:close/>
                </a:path>
              </a:pathLst>
            </a:custGeom>
            <a:blipFill>
              <a:blip r:embed="rId4">
                <a:alphaModFix amt="0"/>
              </a:blip>
              <a:stretch>
                <a:fillRect t="-193602" b="-193603"/>
              </a:stretch>
            </a:blipFill>
          </p:spPr>
          <p:txBody>
            <a:bodyPr/>
            <a:lstStyle/>
            <a:p>
              <a:endParaRPr lang="es-CO"/>
            </a:p>
          </p:txBody>
        </p:sp>
        <p:sp>
          <p:nvSpPr>
            <p:cNvPr id="20" name="TextBox 20"/>
            <p:cNvSpPr txBox="1"/>
            <p:nvPr/>
          </p:nvSpPr>
          <p:spPr>
            <a:xfrm>
              <a:off x="0" y="-38100"/>
              <a:ext cx="9144000" cy="769506"/>
            </a:xfrm>
            <a:prstGeom prst="rect">
              <a:avLst/>
            </a:prstGeom>
          </p:spPr>
          <p:txBody>
            <a:bodyPr lIns="0" tIns="0" rIns="0" bIns="0" rtlCol="0" anchor="ctr"/>
            <a:lstStyle/>
            <a:p>
              <a:pPr algn="l">
                <a:lnSpc>
                  <a:spcPts val="2160"/>
                </a:lnSpc>
              </a:pPr>
              <a:r>
                <a:rPr lang="en-US" sz="1800" b="1">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PU-1  Registro de usuarios</a:t>
              </a:r>
            </a:p>
          </p:txBody>
        </p:sp>
      </p:grpSp>
      <p:grpSp>
        <p:nvGrpSpPr>
          <p:cNvPr id="21" name="Group 21"/>
          <p:cNvGrpSpPr/>
          <p:nvPr/>
        </p:nvGrpSpPr>
        <p:grpSpPr>
          <a:xfrm>
            <a:off x="1303020" y="5321808"/>
            <a:ext cx="6858000" cy="548550"/>
            <a:chOff x="0" y="0"/>
            <a:chExt cx="9144000" cy="731400"/>
          </a:xfrm>
        </p:grpSpPr>
        <p:sp>
          <p:nvSpPr>
            <p:cNvPr id="22" name="Freeform 22"/>
            <p:cNvSpPr/>
            <p:nvPr/>
          </p:nvSpPr>
          <p:spPr>
            <a:xfrm>
              <a:off x="0" y="0"/>
              <a:ext cx="9144000" cy="731394"/>
            </a:xfrm>
            <a:custGeom>
              <a:avLst/>
              <a:gdLst/>
              <a:ahLst/>
              <a:cxnLst/>
              <a:rect l="l" t="t" r="r" b="b"/>
              <a:pathLst>
                <a:path w="9144000" h="731394">
                  <a:moveTo>
                    <a:pt x="0" y="0"/>
                  </a:moveTo>
                  <a:lnTo>
                    <a:pt x="9144000" y="0"/>
                  </a:lnTo>
                  <a:lnTo>
                    <a:pt x="9144000" y="731394"/>
                  </a:lnTo>
                  <a:lnTo>
                    <a:pt x="0" y="731394"/>
                  </a:lnTo>
                  <a:close/>
                </a:path>
              </a:pathLst>
            </a:custGeom>
            <a:blipFill>
              <a:blip r:embed="rId4">
                <a:alphaModFix amt="0"/>
              </a:blip>
              <a:stretch>
                <a:fillRect t="-193604" b="-193605"/>
              </a:stretch>
            </a:blipFill>
          </p:spPr>
          <p:txBody>
            <a:bodyPr/>
            <a:lstStyle/>
            <a:p>
              <a:endParaRPr lang="es-CO"/>
            </a:p>
          </p:txBody>
        </p:sp>
        <p:sp>
          <p:nvSpPr>
            <p:cNvPr id="23" name="TextBox 23"/>
            <p:cNvSpPr txBox="1"/>
            <p:nvPr/>
          </p:nvSpPr>
          <p:spPr>
            <a:xfrm>
              <a:off x="0" y="-38100"/>
              <a:ext cx="9144000" cy="769500"/>
            </a:xfrm>
            <a:prstGeom prst="rect">
              <a:avLst/>
            </a:prstGeom>
          </p:spPr>
          <p:txBody>
            <a:bodyPr lIns="0" tIns="0" rIns="0" bIns="0" rtlCol="0" anchor="ctr"/>
            <a:lstStyle/>
            <a:p>
              <a:pPr algn="l">
                <a:lnSpc>
                  <a:spcPts val="2160"/>
                </a:lnSpc>
              </a:pPr>
              <a:r>
                <a:rPr lang="en-US" sz="1800" b="1">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PU-2  Autenticación de usuarios (Login/Roles)</a:t>
              </a:r>
            </a:p>
          </p:txBody>
        </p:sp>
      </p:grpSp>
      <p:grpSp>
        <p:nvGrpSpPr>
          <p:cNvPr id="24" name="Group 24"/>
          <p:cNvGrpSpPr/>
          <p:nvPr/>
        </p:nvGrpSpPr>
        <p:grpSpPr>
          <a:xfrm>
            <a:off x="1303020" y="5980176"/>
            <a:ext cx="6858000" cy="548554"/>
            <a:chOff x="0" y="0"/>
            <a:chExt cx="9144000" cy="731406"/>
          </a:xfrm>
        </p:grpSpPr>
        <p:sp>
          <p:nvSpPr>
            <p:cNvPr id="25" name="Freeform 25"/>
            <p:cNvSpPr/>
            <p:nvPr/>
          </p:nvSpPr>
          <p:spPr>
            <a:xfrm>
              <a:off x="0" y="0"/>
              <a:ext cx="9144000" cy="731400"/>
            </a:xfrm>
            <a:custGeom>
              <a:avLst/>
              <a:gdLst/>
              <a:ahLst/>
              <a:cxnLst/>
              <a:rect l="l" t="t" r="r" b="b"/>
              <a:pathLst>
                <a:path w="9144000" h="731400">
                  <a:moveTo>
                    <a:pt x="0" y="0"/>
                  </a:moveTo>
                  <a:lnTo>
                    <a:pt x="9144000" y="0"/>
                  </a:lnTo>
                  <a:lnTo>
                    <a:pt x="9144000" y="731400"/>
                  </a:lnTo>
                  <a:lnTo>
                    <a:pt x="0" y="731400"/>
                  </a:lnTo>
                  <a:close/>
                </a:path>
              </a:pathLst>
            </a:custGeom>
            <a:blipFill>
              <a:blip r:embed="rId4">
                <a:alphaModFix amt="0"/>
              </a:blip>
              <a:stretch>
                <a:fillRect t="-193602" b="-193603"/>
              </a:stretch>
            </a:blipFill>
          </p:spPr>
          <p:txBody>
            <a:bodyPr/>
            <a:lstStyle/>
            <a:p>
              <a:endParaRPr lang="es-CO"/>
            </a:p>
          </p:txBody>
        </p:sp>
        <p:sp>
          <p:nvSpPr>
            <p:cNvPr id="26" name="TextBox 26"/>
            <p:cNvSpPr txBox="1"/>
            <p:nvPr/>
          </p:nvSpPr>
          <p:spPr>
            <a:xfrm>
              <a:off x="0" y="-38100"/>
              <a:ext cx="9144000" cy="769506"/>
            </a:xfrm>
            <a:prstGeom prst="rect">
              <a:avLst/>
            </a:prstGeom>
          </p:spPr>
          <p:txBody>
            <a:bodyPr lIns="0" tIns="0" rIns="0" bIns="0" rtlCol="0" anchor="ctr"/>
            <a:lstStyle/>
            <a:p>
              <a:pPr algn="l">
                <a:lnSpc>
                  <a:spcPts val="2160"/>
                </a:lnSpc>
              </a:pPr>
              <a:r>
                <a:rPr lang="en-US" sz="1800" b="1">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PU-3  Gestión de productos (CRUD)</a:t>
              </a:r>
            </a:p>
          </p:txBody>
        </p:sp>
      </p:grpSp>
      <p:grpSp>
        <p:nvGrpSpPr>
          <p:cNvPr id="27" name="Group 27"/>
          <p:cNvGrpSpPr/>
          <p:nvPr/>
        </p:nvGrpSpPr>
        <p:grpSpPr>
          <a:xfrm>
            <a:off x="1303020" y="6638544"/>
            <a:ext cx="6858000" cy="548550"/>
            <a:chOff x="0" y="0"/>
            <a:chExt cx="9144000" cy="731400"/>
          </a:xfrm>
        </p:grpSpPr>
        <p:sp>
          <p:nvSpPr>
            <p:cNvPr id="28" name="Freeform 28"/>
            <p:cNvSpPr/>
            <p:nvPr/>
          </p:nvSpPr>
          <p:spPr>
            <a:xfrm>
              <a:off x="0" y="0"/>
              <a:ext cx="9144000" cy="731394"/>
            </a:xfrm>
            <a:custGeom>
              <a:avLst/>
              <a:gdLst/>
              <a:ahLst/>
              <a:cxnLst/>
              <a:rect l="l" t="t" r="r" b="b"/>
              <a:pathLst>
                <a:path w="9144000" h="731394">
                  <a:moveTo>
                    <a:pt x="0" y="0"/>
                  </a:moveTo>
                  <a:lnTo>
                    <a:pt x="9144000" y="0"/>
                  </a:lnTo>
                  <a:lnTo>
                    <a:pt x="9144000" y="731394"/>
                  </a:lnTo>
                  <a:lnTo>
                    <a:pt x="0" y="731394"/>
                  </a:lnTo>
                  <a:close/>
                </a:path>
              </a:pathLst>
            </a:custGeom>
            <a:blipFill>
              <a:blip r:embed="rId4">
                <a:alphaModFix amt="0"/>
              </a:blip>
              <a:stretch>
                <a:fillRect t="-193604" b="-193605"/>
              </a:stretch>
            </a:blipFill>
          </p:spPr>
          <p:txBody>
            <a:bodyPr/>
            <a:lstStyle/>
            <a:p>
              <a:endParaRPr lang="es-CO"/>
            </a:p>
          </p:txBody>
        </p:sp>
        <p:sp>
          <p:nvSpPr>
            <p:cNvPr id="29" name="TextBox 29"/>
            <p:cNvSpPr txBox="1"/>
            <p:nvPr/>
          </p:nvSpPr>
          <p:spPr>
            <a:xfrm>
              <a:off x="0" y="-38100"/>
              <a:ext cx="9144000" cy="769500"/>
            </a:xfrm>
            <a:prstGeom prst="rect">
              <a:avLst/>
            </a:prstGeom>
          </p:spPr>
          <p:txBody>
            <a:bodyPr lIns="0" tIns="0" rIns="0" bIns="0" rtlCol="0" anchor="ctr"/>
            <a:lstStyle/>
            <a:p>
              <a:pPr algn="l">
                <a:lnSpc>
                  <a:spcPts val="2160"/>
                </a:lnSpc>
              </a:pPr>
              <a:r>
                <a:rPr lang="en-US" sz="1800" b="1">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PU-4  Gestión de ordenes de trabajo / servicios</a:t>
              </a:r>
            </a:p>
          </p:txBody>
        </p:sp>
      </p:grpSp>
      <p:grpSp>
        <p:nvGrpSpPr>
          <p:cNvPr id="30" name="Group 30"/>
          <p:cNvGrpSpPr/>
          <p:nvPr/>
        </p:nvGrpSpPr>
        <p:grpSpPr>
          <a:xfrm>
            <a:off x="1303020" y="7296912"/>
            <a:ext cx="6858000" cy="548550"/>
            <a:chOff x="0" y="0"/>
            <a:chExt cx="9144000" cy="731400"/>
          </a:xfrm>
        </p:grpSpPr>
        <p:sp>
          <p:nvSpPr>
            <p:cNvPr id="31" name="Freeform 31"/>
            <p:cNvSpPr/>
            <p:nvPr/>
          </p:nvSpPr>
          <p:spPr>
            <a:xfrm>
              <a:off x="0" y="0"/>
              <a:ext cx="9144000" cy="731394"/>
            </a:xfrm>
            <a:custGeom>
              <a:avLst/>
              <a:gdLst/>
              <a:ahLst/>
              <a:cxnLst/>
              <a:rect l="l" t="t" r="r" b="b"/>
              <a:pathLst>
                <a:path w="9144000" h="731394">
                  <a:moveTo>
                    <a:pt x="0" y="0"/>
                  </a:moveTo>
                  <a:lnTo>
                    <a:pt x="9144000" y="0"/>
                  </a:lnTo>
                  <a:lnTo>
                    <a:pt x="9144000" y="731394"/>
                  </a:lnTo>
                  <a:lnTo>
                    <a:pt x="0" y="731394"/>
                  </a:lnTo>
                  <a:close/>
                </a:path>
              </a:pathLst>
            </a:custGeom>
            <a:blipFill>
              <a:blip r:embed="rId4">
                <a:alphaModFix amt="0"/>
              </a:blip>
              <a:stretch>
                <a:fillRect t="-193604" b="-193605"/>
              </a:stretch>
            </a:blipFill>
          </p:spPr>
          <p:txBody>
            <a:bodyPr/>
            <a:lstStyle/>
            <a:p>
              <a:endParaRPr lang="es-CO"/>
            </a:p>
          </p:txBody>
        </p:sp>
        <p:sp>
          <p:nvSpPr>
            <p:cNvPr id="32" name="TextBox 32"/>
            <p:cNvSpPr txBox="1"/>
            <p:nvPr/>
          </p:nvSpPr>
          <p:spPr>
            <a:xfrm>
              <a:off x="0" y="-38100"/>
              <a:ext cx="9144000" cy="769500"/>
            </a:xfrm>
            <a:prstGeom prst="rect">
              <a:avLst/>
            </a:prstGeom>
          </p:spPr>
          <p:txBody>
            <a:bodyPr lIns="0" tIns="0" rIns="0" bIns="0" rtlCol="0" anchor="ctr"/>
            <a:lstStyle/>
            <a:p>
              <a:pPr algn="l">
                <a:lnSpc>
                  <a:spcPts val="2160"/>
                </a:lnSpc>
              </a:pPr>
              <a:r>
                <a:rPr lang="en-US" sz="1800" b="1">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PU-5  Gestion de facturacion y cotizaciones</a:t>
              </a:r>
            </a:p>
          </p:txBody>
        </p:sp>
      </p:grpSp>
      <p:grpSp>
        <p:nvGrpSpPr>
          <p:cNvPr id="33" name="Group 33"/>
          <p:cNvGrpSpPr/>
          <p:nvPr/>
        </p:nvGrpSpPr>
        <p:grpSpPr>
          <a:xfrm>
            <a:off x="8915400" y="2468880"/>
            <a:ext cx="8545049" cy="6720754"/>
            <a:chOff x="0" y="0"/>
            <a:chExt cx="11393399" cy="8961006"/>
          </a:xfrm>
        </p:grpSpPr>
        <p:sp>
          <p:nvSpPr>
            <p:cNvPr id="34" name="Freeform 34"/>
            <p:cNvSpPr/>
            <p:nvPr/>
          </p:nvSpPr>
          <p:spPr>
            <a:xfrm>
              <a:off x="0" y="0"/>
              <a:ext cx="11393424" cy="8960993"/>
            </a:xfrm>
            <a:custGeom>
              <a:avLst/>
              <a:gdLst/>
              <a:ahLst/>
              <a:cxnLst/>
              <a:rect l="l" t="t" r="r" b="b"/>
              <a:pathLst>
                <a:path w="11393424" h="8960993">
                  <a:moveTo>
                    <a:pt x="0" y="146304"/>
                  </a:moveTo>
                  <a:cubicBezTo>
                    <a:pt x="0" y="65532"/>
                    <a:pt x="65532" y="0"/>
                    <a:pt x="146304" y="0"/>
                  </a:cubicBezTo>
                  <a:lnTo>
                    <a:pt x="11247120" y="0"/>
                  </a:lnTo>
                  <a:cubicBezTo>
                    <a:pt x="11327892" y="0"/>
                    <a:pt x="11393424" y="65532"/>
                    <a:pt x="11393424" y="146304"/>
                  </a:cubicBezTo>
                  <a:lnTo>
                    <a:pt x="11393424" y="8814689"/>
                  </a:lnTo>
                  <a:cubicBezTo>
                    <a:pt x="11393424" y="8895461"/>
                    <a:pt x="11327892" y="8960993"/>
                    <a:pt x="11247120" y="8960993"/>
                  </a:cubicBezTo>
                  <a:lnTo>
                    <a:pt x="146304" y="8960993"/>
                  </a:lnTo>
                  <a:cubicBezTo>
                    <a:pt x="65532" y="8960993"/>
                    <a:pt x="0" y="8895461"/>
                    <a:pt x="0" y="8814689"/>
                  </a:cubicBezTo>
                  <a:close/>
                </a:path>
              </a:pathLst>
            </a:custGeom>
            <a:solidFill>
              <a:srgbClr val="00304D"/>
            </a:solidFill>
          </p:spPr>
          <p:txBody>
            <a:bodyPr/>
            <a:lstStyle/>
            <a:p>
              <a:endParaRPr lang="es-CO"/>
            </a:p>
          </p:txBody>
        </p:sp>
      </p:grpSp>
      <p:grpSp>
        <p:nvGrpSpPr>
          <p:cNvPr id="35" name="Group 35"/>
          <p:cNvGrpSpPr/>
          <p:nvPr/>
        </p:nvGrpSpPr>
        <p:grpSpPr>
          <a:xfrm>
            <a:off x="9395460" y="2880360"/>
            <a:ext cx="891454" cy="891454"/>
            <a:chOff x="0" y="0"/>
            <a:chExt cx="1188606" cy="1188606"/>
          </a:xfrm>
        </p:grpSpPr>
        <p:sp>
          <p:nvSpPr>
            <p:cNvPr id="36" name="Freeform 36"/>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FDC300"/>
            </a:solidFill>
          </p:spPr>
          <p:txBody>
            <a:bodyPr/>
            <a:lstStyle/>
            <a:p>
              <a:endParaRPr lang="es-CO"/>
            </a:p>
          </p:txBody>
        </p:sp>
      </p:grpSp>
      <p:grpSp>
        <p:nvGrpSpPr>
          <p:cNvPr id="37" name="Group 37"/>
          <p:cNvGrpSpPr/>
          <p:nvPr/>
        </p:nvGrpSpPr>
        <p:grpSpPr>
          <a:xfrm>
            <a:off x="9627260" y="3112160"/>
            <a:ext cx="427939" cy="427939"/>
            <a:chOff x="0" y="0"/>
            <a:chExt cx="570586" cy="570586"/>
          </a:xfrm>
        </p:grpSpPr>
        <p:sp>
          <p:nvSpPr>
            <p:cNvPr id="38" name="Freeform 38" descr="icons/check.png"/>
            <p:cNvSpPr/>
            <p:nvPr/>
          </p:nvSpPr>
          <p:spPr>
            <a:xfrm>
              <a:off x="0" y="0"/>
              <a:ext cx="570611" cy="570611"/>
            </a:xfrm>
            <a:custGeom>
              <a:avLst/>
              <a:gdLst/>
              <a:ahLst/>
              <a:cxnLst/>
              <a:rect l="l" t="t" r="r" b="b"/>
              <a:pathLst>
                <a:path w="570611" h="570611">
                  <a:moveTo>
                    <a:pt x="0" y="0"/>
                  </a:moveTo>
                  <a:lnTo>
                    <a:pt x="570611" y="0"/>
                  </a:lnTo>
                  <a:lnTo>
                    <a:pt x="570611" y="570611"/>
                  </a:lnTo>
                  <a:lnTo>
                    <a:pt x="0" y="570611"/>
                  </a:lnTo>
                  <a:lnTo>
                    <a:pt x="0" y="0"/>
                  </a:lnTo>
                  <a:close/>
                </a:path>
              </a:pathLst>
            </a:custGeom>
            <a:blipFill>
              <a:blip r:embed="rId6"/>
              <a:stretch>
                <a:fillRect r="4" b="4"/>
              </a:stretch>
            </a:blipFill>
          </p:spPr>
          <p:txBody>
            <a:bodyPr/>
            <a:lstStyle/>
            <a:p>
              <a:endParaRPr lang="es-CO"/>
            </a:p>
          </p:txBody>
        </p:sp>
      </p:grpSp>
      <p:grpSp>
        <p:nvGrpSpPr>
          <p:cNvPr id="39" name="Group 39"/>
          <p:cNvGrpSpPr/>
          <p:nvPr/>
        </p:nvGrpSpPr>
        <p:grpSpPr>
          <a:xfrm>
            <a:off x="10492740" y="3017520"/>
            <a:ext cx="5486400" cy="548550"/>
            <a:chOff x="0" y="0"/>
            <a:chExt cx="7315200" cy="731400"/>
          </a:xfrm>
        </p:grpSpPr>
        <p:sp>
          <p:nvSpPr>
            <p:cNvPr id="40" name="Freeform 40"/>
            <p:cNvSpPr/>
            <p:nvPr/>
          </p:nvSpPr>
          <p:spPr>
            <a:xfrm>
              <a:off x="0" y="0"/>
              <a:ext cx="7315200" cy="731394"/>
            </a:xfrm>
            <a:custGeom>
              <a:avLst/>
              <a:gdLst/>
              <a:ahLst/>
              <a:cxnLst/>
              <a:rect l="l" t="t" r="r" b="b"/>
              <a:pathLst>
                <a:path w="7315200" h="731394">
                  <a:moveTo>
                    <a:pt x="0" y="0"/>
                  </a:moveTo>
                  <a:lnTo>
                    <a:pt x="7315200" y="0"/>
                  </a:lnTo>
                  <a:lnTo>
                    <a:pt x="7315200" y="731394"/>
                  </a:lnTo>
                  <a:lnTo>
                    <a:pt x="0" y="731394"/>
                  </a:lnTo>
                  <a:close/>
                </a:path>
              </a:pathLst>
            </a:custGeom>
            <a:blipFill>
              <a:blip r:embed="rId4">
                <a:alphaModFix amt="0"/>
              </a:blip>
              <a:stretch>
                <a:fillRect t="-144883" b="-144884"/>
              </a:stretch>
            </a:blipFill>
          </p:spPr>
          <p:txBody>
            <a:bodyPr/>
            <a:lstStyle/>
            <a:p>
              <a:endParaRPr lang="es-CO"/>
            </a:p>
          </p:txBody>
        </p:sp>
        <p:sp>
          <p:nvSpPr>
            <p:cNvPr id="41" name="TextBox 41"/>
            <p:cNvSpPr txBox="1"/>
            <p:nvPr/>
          </p:nvSpPr>
          <p:spPr>
            <a:xfrm>
              <a:off x="0" y="-47625"/>
              <a:ext cx="7315200" cy="779025"/>
            </a:xfrm>
            <a:prstGeom prst="rect">
              <a:avLst/>
            </a:prstGeom>
          </p:spPr>
          <p:txBody>
            <a:bodyPr lIns="0" tIns="0" rIns="0" bIns="0" rtlCol="0" anchor="ctr"/>
            <a:lstStyle/>
            <a:p>
              <a:pPr algn="l">
                <a:lnSpc>
                  <a:spcPts val="3060"/>
                </a:lnSpc>
              </a:pPr>
              <a:r>
                <a:rPr lang="en-US" sz="2550" b="1">
                  <a:solidFill>
                    <a:srgbClr val="FFFFFF"/>
                  </a:solidFill>
                  <a:latin typeface="Calibri (MS) Bold"/>
                  <a:ea typeface="Calibri (MS) Bold"/>
                  <a:cs typeface="Calibri (MS) Bold"/>
                  <a:sym typeface="Calibri (MS) Bold"/>
                </a:rPr>
                <a:t>Caja negra (Selenium/TestNG)</a:t>
              </a:r>
            </a:p>
          </p:txBody>
        </p:sp>
      </p:grpSp>
      <p:grpSp>
        <p:nvGrpSpPr>
          <p:cNvPr id="42" name="Group 42"/>
          <p:cNvGrpSpPr/>
          <p:nvPr/>
        </p:nvGrpSpPr>
        <p:grpSpPr>
          <a:xfrm>
            <a:off x="9395460" y="3771900"/>
            <a:ext cx="7681046" cy="1028700"/>
            <a:chOff x="0" y="0"/>
            <a:chExt cx="10241394" cy="1371600"/>
          </a:xfrm>
        </p:grpSpPr>
        <p:sp>
          <p:nvSpPr>
            <p:cNvPr id="43" name="Freeform 43"/>
            <p:cNvSpPr/>
            <p:nvPr/>
          </p:nvSpPr>
          <p:spPr>
            <a:xfrm>
              <a:off x="0" y="0"/>
              <a:ext cx="10241400" cy="1371600"/>
            </a:xfrm>
            <a:custGeom>
              <a:avLst/>
              <a:gdLst/>
              <a:ahLst/>
              <a:cxnLst/>
              <a:rect l="l" t="t" r="r" b="b"/>
              <a:pathLst>
                <a:path w="10241400" h="1371600">
                  <a:moveTo>
                    <a:pt x="0" y="0"/>
                  </a:moveTo>
                  <a:lnTo>
                    <a:pt x="10241400" y="0"/>
                  </a:lnTo>
                  <a:lnTo>
                    <a:pt x="10241400" y="1371600"/>
                  </a:lnTo>
                  <a:lnTo>
                    <a:pt x="0" y="1371600"/>
                  </a:lnTo>
                  <a:close/>
                </a:path>
              </a:pathLst>
            </a:custGeom>
            <a:blipFill>
              <a:blip r:embed="rId4">
                <a:alphaModFix amt="0"/>
              </a:blip>
              <a:stretch>
                <a:fillRect t="-95489" b="-95489"/>
              </a:stretch>
            </a:blipFill>
          </p:spPr>
          <p:txBody>
            <a:bodyPr/>
            <a:lstStyle/>
            <a:p>
              <a:endParaRPr lang="es-CO"/>
            </a:p>
          </p:txBody>
        </p:sp>
        <p:sp>
          <p:nvSpPr>
            <p:cNvPr id="44" name="TextBox 44"/>
            <p:cNvSpPr txBox="1"/>
            <p:nvPr/>
          </p:nvSpPr>
          <p:spPr>
            <a:xfrm>
              <a:off x="0" y="-38100"/>
              <a:ext cx="10241394" cy="1409700"/>
            </a:xfrm>
            <a:prstGeom prst="rect">
              <a:avLst/>
            </a:prstGeom>
          </p:spPr>
          <p:txBody>
            <a:bodyPr lIns="0" tIns="0" rIns="0" bIns="0" rtlCol="0" anchor="ctr"/>
            <a:lstStyle/>
            <a:p>
              <a:pPr algn="l">
                <a:lnSpc>
                  <a:spcPts val="2160"/>
                </a:lnSpc>
              </a:pPr>
              <a:r>
                <a:rPr lang="en-US" sz="1800">
                  <a:solidFill>
                    <a:srgbClr val="E4EEF3"/>
                  </a:solidFill>
                  <a:latin typeface="Calibri (MS)"/>
                  <a:ea typeface="Calibri (MS)"/>
                  <a:cs typeface="Calibri (MS)"/>
                  <a:sym typeface="Calibri (MS)"/>
                </a:rPr>
                <a:t>Se navega el sistema como lo haría un usuario real, verificando que cada requisito funcional (REQ) se cumpla sin mirar el código.</a:t>
              </a:r>
            </a:p>
          </p:txBody>
        </p:sp>
      </p:grpSp>
      <p:grpSp>
        <p:nvGrpSpPr>
          <p:cNvPr id="45" name="Group 45"/>
          <p:cNvGrpSpPr/>
          <p:nvPr/>
        </p:nvGrpSpPr>
        <p:grpSpPr>
          <a:xfrm>
            <a:off x="9395460" y="5074920"/>
            <a:ext cx="7681046" cy="548554"/>
            <a:chOff x="0" y="0"/>
            <a:chExt cx="10241394" cy="731406"/>
          </a:xfrm>
        </p:grpSpPr>
        <p:sp>
          <p:nvSpPr>
            <p:cNvPr id="46" name="Freeform 46"/>
            <p:cNvSpPr/>
            <p:nvPr/>
          </p:nvSpPr>
          <p:spPr>
            <a:xfrm>
              <a:off x="0" y="0"/>
              <a:ext cx="10241400" cy="731400"/>
            </a:xfrm>
            <a:custGeom>
              <a:avLst/>
              <a:gdLst/>
              <a:ahLst/>
              <a:cxnLst/>
              <a:rect l="l" t="t" r="r" b="b"/>
              <a:pathLst>
                <a:path w="10241400" h="731400">
                  <a:moveTo>
                    <a:pt x="0" y="0"/>
                  </a:moveTo>
                  <a:lnTo>
                    <a:pt x="10241400" y="0"/>
                  </a:lnTo>
                  <a:lnTo>
                    <a:pt x="10241400" y="731400"/>
                  </a:lnTo>
                  <a:lnTo>
                    <a:pt x="0" y="731400"/>
                  </a:lnTo>
                  <a:close/>
                </a:path>
              </a:pathLst>
            </a:custGeom>
            <a:blipFill>
              <a:blip r:embed="rId4">
                <a:alphaModFix amt="0"/>
              </a:blip>
              <a:stretch>
                <a:fillRect t="-222837" b="-222838"/>
              </a:stretch>
            </a:blipFill>
          </p:spPr>
          <p:txBody>
            <a:bodyPr/>
            <a:lstStyle/>
            <a:p>
              <a:endParaRPr lang="es-CO"/>
            </a:p>
          </p:txBody>
        </p:sp>
        <p:sp>
          <p:nvSpPr>
            <p:cNvPr id="47" name="TextBox 47"/>
            <p:cNvSpPr txBox="1"/>
            <p:nvPr/>
          </p:nvSpPr>
          <p:spPr>
            <a:xfrm>
              <a:off x="0" y="-38100"/>
              <a:ext cx="10241394" cy="769506"/>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Registro e inicio de sesión</a:t>
              </a:r>
            </a:p>
          </p:txBody>
        </p:sp>
      </p:grpSp>
      <p:grpSp>
        <p:nvGrpSpPr>
          <p:cNvPr id="48" name="Group 48"/>
          <p:cNvGrpSpPr/>
          <p:nvPr/>
        </p:nvGrpSpPr>
        <p:grpSpPr>
          <a:xfrm>
            <a:off x="9395460" y="5733288"/>
            <a:ext cx="7681046" cy="548550"/>
            <a:chOff x="0" y="0"/>
            <a:chExt cx="10241394" cy="731400"/>
          </a:xfrm>
        </p:grpSpPr>
        <p:sp>
          <p:nvSpPr>
            <p:cNvPr id="49" name="Freeform 49"/>
            <p:cNvSpPr/>
            <p:nvPr/>
          </p:nvSpPr>
          <p:spPr>
            <a:xfrm>
              <a:off x="0" y="0"/>
              <a:ext cx="10241400" cy="731394"/>
            </a:xfrm>
            <a:custGeom>
              <a:avLst/>
              <a:gdLst/>
              <a:ahLst/>
              <a:cxnLst/>
              <a:rect l="l" t="t" r="r" b="b"/>
              <a:pathLst>
                <a:path w="10241400" h="731394">
                  <a:moveTo>
                    <a:pt x="0" y="0"/>
                  </a:moveTo>
                  <a:lnTo>
                    <a:pt x="10241400" y="0"/>
                  </a:lnTo>
                  <a:lnTo>
                    <a:pt x="10241400" y="731394"/>
                  </a:lnTo>
                  <a:lnTo>
                    <a:pt x="0" y="731394"/>
                  </a:lnTo>
                  <a:close/>
                </a:path>
              </a:pathLst>
            </a:custGeom>
            <a:blipFill>
              <a:blip r:embed="rId4">
                <a:alphaModFix amt="0"/>
              </a:blip>
              <a:stretch>
                <a:fillRect t="-222839" b="-222841"/>
              </a:stretch>
            </a:blipFill>
          </p:spPr>
          <p:txBody>
            <a:bodyPr/>
            <a:lstStyle/>
            <a:p>
              <a:endParaRPr lang="es-CO"/>
            </a:p>
          </p:txBody>
        </p:sp>
        <p:sp>
          <p:nvSpPr>
            <p:cNvPr id="50" name="TextBox 50"/>
            <p:cNvSpPr txBox="1"/>
            <p:nvPr/>
          </p:nvSpPr>
          <p:spPr>
            <a:xfrm>
              <a:off x="0" y="-38100"/>
              <a:ext cx="10241394" cy="769500"/>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Búsqueda y filtros de servicios/productos en el catálogo</a:t>
              </a:r>
            </a:p>
          </p:txBody>
        </p:sp>
      </p:grpSp>
      <p:grpSp>
        <p:nvGrpSpPr>
          <p:cNvPr id="51" name="Group 51"/>
          <p:cNvGrpSpPr/>
          <p:nvPr/>
        </p:nvGrpSpPr>
        <p:grpSpPr>
          <a:xfrm>
            <a:off x="9395460" y="6391656"/>
            <a:ext cx="7681046" cy="548550"/>
            <a:chOff x="0" y="0"/>
            <a:chExt cx="10241394" cy="731400"/>
          </a:xfrm>
        </p:grpSpPr>
        <p:sp>
          <p:nvSpPr>
            <p:cNvPr id="52" name="Freeform 52"/>
            <p:cNvSpPr/>
            <p:nvPr/>
          </p:nvSpPr>
          <p:spPr>
            <a:xfrm>
              <a:off x="0" y="0"/>
              <a:ext cx="10241400" cy="731394"/>
            </a:xfrm>
            <a:custGeom>
              <a:avLst/>
              <a:gdLst/>
              <a:ahLst/>
              <a:cxnLst/>
              <a:rect l="l" t="t" r="r" b="b"/>
              <a:pathLst>
                <a:path w="10241400" h="731394">
                  <a:moveTo>
                    <a:pt x="0" y="0"/>
                  </a:moveTo>
                  <a:lnTo>
                    <a:pt x="10241400" y="0"/>
                  </a:lnTo>
                  <a:lnTo>
                    <a:pt x="10241400" y="731394"/>
                  </a:lnTo>
                  <a:lnTo>
                    <a:pt x="0" y="731394"/>
                  </a:lnTo>
                  <a:close/>
                </a:path>
              </a:pathLst>
            </a:custGeom>
            <a:blipFill>
              <a:blip r:embed="rId4">
                <a:alphaModFix amt="0"/>
              </a:blip>
              <a:stretch>
                <a:fillRect t="-222839" b="-222841"/>
              </a:stretch>
            </a:blipFill>
          </p:spPr>
          <p:txBody>
            <a:bodyPr/>
            <a:lstStyle/>
            <a:p>
              <a:endParaRPr lang="es-CO"/>
            </a:p>
          </p:txBody>
        </p:sp>
        <p:sp>
          <p:nvSpPr>
            <p:cNvPr id="53" name="TextBox 53"/>
            <p:cNvSpPr txBox="1"/>
            <p:nvPr/>
          </p:nvSpPr>
          <p:spPr>
            <a:xfrm>
              <a:off x="0" y="-38100"/>
              <a:ext cx="10241394" cy="769500"/>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Agendamiento de citas y creación de orden de trabajo</a:t>
              </a:r>
            </a:p>
          </p:txBody>
        </p:sp>
      </p:grpSp>
      <p:grpSp>
        <p:nvGrpSpPr>
          <p:cNvPr id="54" name="Group 54"/>
          <p:cNvGrpSpPr/>
          <p:nvPr/>
        </p:nvGrpSpPr>
        <p:grpSpPr>
          <a:xfrm>
            <a:off x="9395460" y="7708392"/>
            <a:ext cx="7681046" cy="548550"/>
            <a:chOff x="0" y="0"/>
            <a:chExt cx="10241394" cy="731400"/>
          </a:xfrm>
        </p:grpSpPr>
        <p:sp>
          <p:nvSpPr>
            <p:cNvPr id="55" name="Freeform 55"/>
            <p:cNvSpPr/>
            <p:nvPr/>
          </p:nvSpPr>
          <p:spPr>
            <a:xfrm>
              <a:off x="0" y="0"/>
              <a:ext cx="10241400" cy="731394"/>
            </a:xfrm>
            <a:custGeom>
              <a:avLst/>
              <a:gdLst/>
              <a:ahLst/>
              <a:cxnLst/>
              <a:rect l="l" t="t" r="r" b="b"/>
              <a:pathLst>
                <a:path w="10241400" h="731394">
                  <a:moveTo>
                    <a:pt x="0" y="0"/>
                  </a:moveTo>
                  <a:lnTo>
                    <a:pt x="10241400" y="0"/>
                  </a:lnTo>
                  <a:lnTo>
                    <a:pt x="10241400" y="731394"/>
                  </a:lnTo>
                  <a:lnTo>
                    <a:pt x="0" y="731394"/>
                  </a:lnTo>
                  <a:close/>
                </a:path>
              </a:pathLst>
            </a:custGeom>
            <a:blipFill>
              <a:blip r:embed="rId4">
                <a:alphaModFix amt="0"/>
              </a:blip>
              <a:stretch>
                <a:fillRect t="-222839" b="-222841"/>
              </a:stretch>
            </a:blipFill>
          </p:spPr>
          <p:txBody>
            <a:bodyPr/>
            <a:lstStyle/>
            <a:p>
              <a:endParaRPr lang="es-CO"/>
            </a:p>
          </p:txBody>
        </p:sp>
        <p:sp>
          <p:nvSpPr>
            <p:cNvPr id="56" name="TextBox 56"/>
            <p:cNvSpPr txBox="1"/>
            <p:nvPr/>
          </p:nvSpPr>
          <p:spPr>
            <a:xfrm>
              <a:off x="0" y="-38100"/>
              <a:ext cx="10241394" cy="769500"/>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Panel administrativo, pedidos y facturas</a:t>
              </a:r>
            </a:p>
          </p:txBody>
        </p:sp>
      </p:grpSp>
      <p:grpSp>
        <p:nvGrpSpPr>
          <p:cNvPr id="57" name="Group 57"/>
          <p:cNvGrpSpPr/>
          <p:nvPr/>
        </p:nvGrpSpPr>
        <p:grpSpPr>
          <a:xfrm>
            <a:off x="9395460" y="7054510"/>
            <a:ext cx="7681046" cy="548550"/>
            <a:chOff x="0" y="0"/>
            <a:chExt cx="10241394" cy="731400"/>
          </a:xfrm>
        </p:grpSpPr>
        <p:sp>
          <p:nvSpPr>
            <p:cNvPr id="58" name="Freeform 58"/>
            <p:cNvSpPr/>
            <p:nvPr/>
          </p:nvSpPr>
          <p:spPr>
            <a:xfrm>
              <a:off x="0" y="0"/>
              <a:ext cx="10241400" cy="731394"/>
            </a:xfrm>
            <a:custGeom>
              <a:avLst/>
              <a:gdLst/>
              <a:ahLst/>
              <a:cxnLst/>
              <a:rect l="l" t="t" r="r" b="b"/>
              <a:pathLst>
                <a:path w="10241400" h="731394">
                  <a:moveTo>
                    <a:pt x="0" y="0"/>
                  </a:moveTo>
                  <a:lnTo>
                    <a:pt x="10241400" y="0"/>
                  </a:lnTo>
                  <a:lnTo>
                    <a:pt x="10241400" y="731394"/>
                  </a:lnTo>
                  <a:lnTo>
                    <a:pt x="0" y="731394"/>
                  </a:lnTo>
                  <a:close/>
                </a:path>
              </a:pathLst>
            </a:custGeom>
            <a:blipFill>
              <a:blip r:embed="rId4">
                <a:alphaModFix amt="0"/>
              </a:blip>
              <a:stretch>
                <a:fillRect t="-222839" b="-222841"/>
              </a:stretch>
            </a:blipFill>
          </p:spPr>
          <p:txBody>
            <a:bodyPr/>
            <a:lstStyle/>
            <a:p>
              <a:endParaRPr lang="es-CO"/>
            </a:p>
          </p:txBody>
        </p:sp>
        <p:sp>
          <p:nvSpPr>
            <p:cNvPr id="59" name="TextBox 59"/>
            <p:cNvSpPr txBox="1"/>
            <p:nvPr/>
          </p:nvSpPr>
          <p:spPr>
            <a:xfrm>
              <a:off x="0" y="-38100"/>
              <a:ext cx="10241394" cy="769500"/>
            </a:xfrm>
            <a:prstGeom prst="rect">
              <a:avLst/>
            </a:prstGeom>
          </p:spPr>
          <p:txBody>
            <a:bodyPr lIns="0" tIns="0" rIns="0" bIns="0" rtlCol="0" anchor="ctr"/>
            <a:lstStyle/>
            <a:p>
              <a:pPr algn="l">
                <a:lnSpc>
                  <a:spcPts val="2160"/>
                </a:lnSpc>
              </a:pPr>
              <a:r>
                <a:rPr lang="en-US" sz="1800" b="1">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Gestión de inventario y precios (panel admin)</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grpSp>
        <p:nvGrpSpPr>
          <p:cNvPr id="3" name="Group 3"/>
          <p:cNvGrpSpPr/>
          <p:nvPr/>
        </p:nvGrpSpPr>
        <p:grpSpPr>
          <a:xfrm>
            <a:off x="822960" y="987552"/>
            <a:ext cx="16184699" cy="1165946"/>
            <a:chOff x="0" y="0"/>
            <a:chExt cx="21579599" cy="1554594"/>
          </a:xfrm>
        </p:grpSpPr>
        <p:sp>
          <p:nvSpPr>
            <p:cNvPr id="4" name="Freeform 4"/>
            <p:cNvSpPr/>
            <p:nvPr/>
          </p:nvSpPr>
          <p:spPr>
            <a:xfrm>
              <a:off x="0" y="0"/>
              <a:ext cx="21579601" cy="1554600"/>
            </a:xfrm>
            <a:custGeom>
              <a:avLst/>
              <a:gdLst/>
              <a:ahLst/>
              <a:cxnLst/>
              <a:rect l="l" t="t" r="r" b="b"/>
              <a:pathLst>
                <a:path w="21579601" h="1554600">
                  <a:moveTo>
                    <a:pt x="0" y="0"/>
                  </a:moveTo>
                  <a:lnTo>
                    <a:pt x="21579601" y="0"/>
                  </a:lnTo>
                  <a:lnTo>
                    <a:pt x="21579601" y="1554600"/>
                  </a:lnTo>
                  <a:lnTo>
                    <a:pt x="0" y="1554600"/>
                  </a:lnTo>
                  <a:close/>
                </a:path>
              </a:pathLst>
            </a:custGeom>
            <a:blipFill>
              <a:blip r:embed="rId4">
                <a:alphaModFix amt="0"/>
              </a:blip>
              <a:stretch>
                <a:fillRect t="-220474" b="-220474"/>
              </a:stretch>
            </a:blipFill>
          </p:spPr>
          <p:txBody>
            <a:bodyPr/>
            <a:lstStyle/>
            <a:p>
              <a:endParaRPr lang="es-CO"/>
            </a:p>
          </p:txBody>
        </p:sp>
        <p:sp>
          <p:nvSpPr>
            <p:cNvPr id="5" name="TextBox 5"/>
            <p:cNvSpPr txBox="1"/>
            <p:nvPr/>
          </p:nvSpPr>
          <p:spPr>
            <a:xfrm>
              <a:off x="0" y="0"/>
              <a:ext cx="21579599" cy="1554594"/>
            </a:xfrm>
            <a:prstGeom prst="rect">
              <a:avLst/>
            </a:prstGeom>
          </p:spPr>
          <p:txBody>
            <a:bodyPr lIns="0" tIns="0" rIns="0" bIns="0" rtlCol="0" anchor="ctr"/>
            <a:lstStyle/>
            <a:p>
              <a:pPr algn="l">
                <a:lnSpc>
                  <a:spcPts val="6480"/>
                </a:lnSpc>
              </a:pPr>
              <a:r>
                <a:rPr lang="en-US" sz="5400" b="1">
                  <a:solidFill>
                    <a:srgbClr val="38AA00"/>
                  </a:solidFill>
                  <a:latin typeface="Work Sans Bold"/>
                  <a:ea typeface="Work Sans Bold"/>
                  <a:cs typeface="Work Sans Bold"/>
                  <a:sym typeface="Work Sans Bold"/>
                </a:rPr>
                <a:t>Conclusiones</a:t>
              </a:r>
            </a:p>
          </p:txBody>
        </p:sp>
      </p:grpSp>
      <p:grpSp>
        <p:nvGrpSpPr>
          <p:cNvPr id="6" name="Group 6"/>
          <p:cNvGrpSpPr/>
          <p:nvPr/>
        </p:nvGrpSpPr>
        <p:grpSpPr>
          <a:xfrm>
            <a:off x="9144000" y="5074920"/>
            <a:ext cx="7715250" cy="2125799"/>
            <a:chOff x="0" y="0"/>
            <a:chExt cx="10287000" cy="2834399"/>
          </a:xfrm>
        </p:grpSpPr>
        <p:sp>
          <p:nvSpPr>
            <p:cNvPr id="7" name="Freeform 7"/>
            <p:cNvSpPr/>
            <p:nvPr/>
          </p:nvSpPr>
          <p:spPr>
            <a:xfrm>
              <a:off x="0" y="0"/>
              <a:ext cx="10287000" cy="2834386"/>
            </a:xfrm>
            <a:custGeom>
              <a:avLst/>
              <a:gdLst/>
              <a:ahLst/>
              <a:cxnLst/>
              <a:rect l="l" t="t" r="r" b="b"/>
              <a:pathLst>
                <a:path w="10287000" h="2834386">
                  <a:moveTo>
                    <a:pt x="0" y="146304"/>
                  </a:moveTo>
                  <a:cubicBezTo>
                    <a:pt x="0" y="65532"/>
                    <a:pt x="65532" y="0"/>
                    <a:pt x="146304" y="0"/>
                  </a:cubicBezTo>
                  <a:lnTo>
                    <a:pt x="10140696" y="0"/>
                  </a:lnTo>
                  <a:cubicBezTo>
                    <a:pt x="10221468" y="0"/>
                    <a:pt x="10287000" y="65532"/>
                    <a:pt x="10287000" y="146304"/>
                  </a:cubicBezTo>
                  <a:lnTo>
                    <a:pt x="10287000" y="2688082"/>
                  </a:lnTo>
                  <a:cubicBezTo>
                    <a:pt x="10287000" y="2768854"/>
                    <a:pt x="10221468" y="2834386"/>
                    <a:pt x="10140696" y="2834386"/>
                  </a:cubicBezTo>
                  <a:lnTo>
                    <a:pt x="146304" y="2834386"/>
                  </a:lnTo>
                  <a:cubicBezTo>
                    <a:pt x="65532" y="2834386"/>
                    <a:pt x="0" y="2768854"/>
                    <a:pt x="0" y="2688082"/>
                  </a:cubicBezTo>
                  <a:close/>
                </a:path>
              </a:pathLst>
            </a:custGeom>
            <a:solidFill>
              <a:srgbClr val="F6F6F6"/>
            </a:solidFill>
          </p:spPr>
          <p:txBody>
            <a:bodyPr/>
            <a:lstStyle/>
            <a:p>
              <a:endParaRPr lang="es-CO"/>
            </a:p>
          </p:txBody>
        </p:sp>
      </p:grpSp>
      <p:grpSp>
        <p:nvGrpSpPr>
          <p:cNvPr id="8" name="Group 8"/>
          <p:cNvGrpSpPr/>
          <p:nvPr/>
        </p:nvGrpSpPr>
        <p:grpSpPr>
          <a:xfrm>
            <a:off x="9418320" y="5692140"/>
            <a:ext cx="891454" cy="891454"/>
            <a:chOff x="0" y="0"/>
            <a:chExt cx="1188606" cy="1188606"/>
          </a:xfrm>
        </p:grpSpPr>
        <p:sp>
          <p:nvSpPr>
            <p:cNvPr id="9" name="Freeform 9"/>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txBody>
            <a:bodyPr/>
            <a:lstStyle/>
            <a:p>
              <a:endParaRPr lang="es-CO"/>
            </a:p>
          </p:txBody>
        </p:sp>
      </p:grpSp>
      <p:grpSp>
        <p:nvGrpSpPr>
          <p:cNvPr id="10" name="Group 10"/>
          <p:cNvGrpSpPr/>
          <p:nvPr/>
        </p:nvGrpSpPr>
        <p:grpSpPr>
          <a:xfrm>
            <a:off x="9650120" y="5923940"/>
            <a:ext cx="427939" cy="427939"/>
            <a:chOff x="0" y="0"/>
            <a:chExt cx="570586" cy="570586"/>
          </a:xfrm>
        </p:grpSpPr>
        <p:sp>
          <p:nvSpPr>
            <p:cNvPr id="11" name="Freeform 11" descr="icons/check.png"/>
            <p:cNvSpPr/>
            <p:nvPr/>
          </p:nvSpPr>
          <p:spPr>
            <a:xfrm>
              <a:off x="0" y="0"/>
              <a:ext cx="570611" cy="570611"/>
            </a:xfrm>
            <a:custGeom>
              <a:avLst/>
              <a:gdLst/>
              <a:ahLst/>
              <a:cxnLst/>
              <a:rect l="l" t="t" r="r" b="b"/>
              <a:pathLst>
                <a:path w="570611" h="570611">
                  <a:moveTo>
                    <a:pt x="0" y="0"/>
                  </a:moveTo>
                  <a:lnTo>
                    <a:pt x="570611" y="0"/>
                  </a:lnTo>
                  <a:lnTo>
                    <a:pt x="570611" y="570611"/>
                  </a:lnTo>
                  <a:lnTo>
                    <a:pt x="0" y="570611"/>
                  </a:lnTo>
                  <a:lnTo>
                    <a:pt x="0" y="0"/>
                  </a:lnTo>
                  <a:close/>
                </a:path>
              </a:pathLst>
            </a:custGeom>
            <a:blipFill>
              <a:blip r:embed="rId5"/>
              <a:stretch>
                <a:fillRect r="4" b="4"/>
              </a:stretch>
            </a:blipFill>
          </p:spPr>
          <p:txBody>
            <a:bodyPr/>
            <a:lstStyle/>
            <a:p>
              <a:endParaRPr lang="es-CO"/>
            </a:p>
          </p:txBody>
        </p:sp>
      </p:grpSp>
      <p:grpSp>
        <p:nvGrpSpPr>
          <p:cNvPr id="12" name="Group 12"/>
          <p:cNvGrpSpPr/>
          <p:nvPr/>
        </p:nvGrpSpPr>
        <p:grpSpPr>
          <a:xfrm>
            <a:off x="10584180" y="5321808"/>
            <a:ext cx="6069149" cy="480146"/>
            <a:chOff x="0" y="0"/>
            <a:chExt cx="8092199" cy="640194"/>
          </a:xfrm>
        </p:grpSpPr>
        <p:sp>
          <p:nvSpPr>
            <p:cNvPr id="13" name="Freeform 13"/>
            <p:cNvSpPr/>
            <p:nvPr/>
          </p:nvSpPr>
          <p:spPr>
            <a:xfrm>
              <a:off x="0" y="0"/>
              <a:ext cx="8092200" cy="640200"/>
            </a:xfrm>
            <a:custGeom>
              <a:avLst/>
              <a:gdLst/>
              <a:ahLst/>
              <a:cxnLst/>
              <a:rect l="l" t="t" r="r" b="b"/>
              <a:pathLst>
                <a:path w="8092200" h="640200">
                  <a:moveTo>
                    <a:pt x="0" y="0"/>
                  </a:moveTo>
                  <a:lnTo>
                    <a:pt x="8092200" y="0"/>
                  </a:lnTo>
                  <a:lnTo>
                    <a:pt x="8092200" y="640200"/>
                  </a:lnTo>
                  <a:lnTo>
                    <a:pt x="0" y="640200"/>
                  </a:lnTo>
                  <a:close/>
                </a:path>
              </a:pathLst>
            </a:custGeom>
            <a:blipFill>
              <a:blip r:embed="rId4">
                <a:alphaModFix amt="0"/>
              </a:blip>
              <a:stretch>
                <a:fillRect t="-196293" b="-196292"/>
              </a:stretch>
            </a:blipFill>
          </p:spPr>
          <p:txBody>
            <a:bodyPr/>
            <a:lstStyle/>
            <a:p>
              <a:endParaRPr lang="es-CO"/>
            </a:p>
          </p:txBody>
        </p:sp>
        <p:sp>
          <p:nvSpPr>
            <p:cNvPr id="14" name="TextBox 14"/>
            <p:cNvSpPr txBox="1"/>
            <p:nvPr/>
          </p:nvSpPr>
          <p:spPr>
            <a:xfrm>
              <a:off x="0" y="-47625"/>
              <a:ext cx="8092199" cy="687819"/>
            </a:xfrm>
            <a:prstGeom prst="rect">
              <a:avLst/>
            </a:prstGeom>
          </p:spPr>
          <p:txBody>
            <a:bodyPr lIns="0" tIns="0" rIns="0" bIns="0" rtlCol="0" anchor="ctr"/>
            <a:lstStyle/>
            <a:p>
              <a:pPr algn="l">
                <a:lnSpc>
                  <a:spcPts val="2520"/>
                </a:lnSpc>
              </a:pPr>
              <a:r>
                <a:rPr lang="en-US" sz="2100" b="1">
                  <a:solidFill>
                    <a:srgbClr val="00304D"/>
                  </a:solidFill>
                  <a:latin typeface="Calibri (MS) Bold"/>
                  <a:ea typeface="Calibri (MS) Bold"/>
                  <a:cs typeface="Calibri (MS) Bold"/>
                  <a:sym typeface="Calibri (MS) Bold"/>
                </a:rPr>
                <a:t>Gestión de productos</a:t>
              </a:r>
            </a:p>
          </p:txBody>
        </p:sp>
      </p:grpSp>
      <p:grpSp>
        <p:nvGrpSpPr>
          <p:cNvPr id="15" name="Group 15"/>
          <p:cNvGrpSpPr/>
          <p:nvPr/>
        </p:nvGrpSpPr>
        <p:grpSpPr>
          <a:xfrm>
            <a:off x="10584180" y="5734705"/>
            <a:ext cx="6069149" cy="1234350"/>
            <a:chOff x="0" y="0"/>
            <a:chExt cx="8092199" cy="1645800"/>
          </a:xfrm>
        </p:grpSpPr>
        <p:sp>
          <p:nvSpPr>
            <p:cNvPr id="16" name="Freeform 16"/>
            <p:cNvSpPr/>
            <p:nvPr/>
          </p:nvSpPr>
          <p:spPr>
            <a:xfrm>
              <a:off x="0" y="0"/>
              <a:ext cx="8092200" cy="1645794"/>
            </a:xfrm>
            <a:custGeom>
              <a:avLst/>
              <a:gdLst/>
              <a:ahLst/>
              <a:cxnLst/>
              <a:rect l="l" t="t" r="r" b="b"/>
              <a:pathLst>
                <a:path w="8092200" h="1645794">
                  <a:moveTo>
                    <a:pt x="0" y="0"/>
                  </a:moveTo>
                  <a:lnTo>
                    <a:pt x="8092200" y="0"/>
                  </a:lnTo>
                  <a:lnTo>
                    <a:pt x="8092200" y="1645794"/>
                  </a:lnTo>
                  <a:lnTo>
                    <a:pt x="0" y="1645794"/>
                  </a:lnTo>
                  <a:close/>
                </a:path>
              </a:pathLst>
            </a:custGeom>
            <a:blipFill>
              <a:blip r:embed="rId4">
                <a:alphaModFix amt="0"/>
              </a:blip>
              <a:stretch>
                <a:fillRect t="-45805" b="-45806"/>
              </a:stretch>
            </a:blipFill>
          </p:spPr>
          <p:txBody>
            <a:bodyPr/>
            <a:lstStyle/>
            <a:p>
              <a:endParaRPr lang="es-CO"/>
            </a:p>
          </p:txBody>
        </p:sp>
        <p:sp>
          <p:nvSpPr>
            <p:cNvPr id="17" name="TextBox 17"/>
            <p:cNvSpPr txBox="1"/>
            <p:nvPr/>
          </p:nvSpPr>
          <p:spPr>
            <a:xfrm>
              <a:off x="0" y="-47625"/>
              <a:ext cx="8092199" cy="1693425"/>
            </a:xfrm>
            <a:prstGeom prst="rect">
              <a:avLst/>
            </a:prstGeom>
          </p:spPr>
          <p:txBody>
            <a:bodyPr lIns="0" tIns="0" rIns="0" bIns="0" rtlCol="0" anchor="ctr"/>
            <a:lstStyle/>
            <a:p>
              <a:pPr algn="l">
                <a:lnSpc>
                  <a:spcPts val="2520"/>
                </a:lnSpc>
              </a:pPr>
              <a:r>
                <a:rPr lang="en-US" sz="2100">
                  <a:solidFill>
                    <a:srgbClr val="000000"/>
                  </a:solidFill>
                  <a:latin typeface="Calibri (MS)"/>
                  <a:ea typeface="Calibri (MS)"/>
                  <a:cs typeface="Calibri (MS)"/>
                  <a:sym typeface="Calibri (MS)"/>
                </a:rPr>
                <a:t>CRUD completo sobre vehículos, órdenes de trabajo, servicios e inventario, con visualización de estados.</a:t>
              </a:r>
            </a:p>
          </p:txBody>
        </p:sp>
      </p:grpSp>
      <p:grpSp>
        <p:nvGrpSpPr>
          <p:cNvPr id="18" name="Group 18"/>
          <p:cNvGrpSpPr/>
          <p:nvPr/>
        </p:nvGrpSpPr>
        <p:grpSpPr>
          <a:xfrm>
            <a:off x="822960" y="2548376"/>
            <a:ext cx="16036290" cy="2125799"/>
            <a:chOff x="0" y="0"/>
            <a:chExt cx="21381720" cy="2834399"/>
          </a:xfrm>
        </p:grpSpPr>
        <p:sp>
          <p:nvSpPr>
            <p:cNvPr id="19" name="Freeform 19"/>
            <p:cNvSpPr/>
            <p:nvPr/>
          </p:nvSpPr>
          <p:spPr>
            <a:xfrm>
              <a:off x="0" y="0"/>
              <a:ext cx="21381720" cy="2834386"/>
            </a:xfrm>
            <a:custGeom>
              <a:avLst/>
              <a:gdLst/>
              <a:ahLst/>
              <a:cxnLst/>
              <a:rect l="l" t="t" r="r" b="b"/>
              <a:pathLst>
                <a:path w="21381720" h="2834386">
                  <a:moveTo>
                    <a:pt x="0" y="146304"/>
                  </a:moveTo>
                  <a:cubicBezTo>
                    <a:pt x="0" y="65532"/>
                    <a:pt x="65532" y="0"/>
                    <a:pt x="146304" y="0"/>
                  </a:cubicBezTo>
                  <a:lnTo>
                    <a:pt x="21235415" y="0"/>
                  </a:lnTo>
                  <a:cubicBezTo>
                    <a:pt x="21316187" y="0"/>
                    <a:pt x="21381720" y="65532"/>
                    <a:pt x="21381720" y="146304"/>
                  </a:cubicBezTo>
                  <a:lnTo>
                    <a:pt x="21381720" y="2688082"/>
                  </a:lnTo>
                  <a:cubicBezTo>
                    <a:pt x="21381720" y="2768854"/>
                    <a:pt x="21316187" y="2834386"/>
                    <a:pt x="21235415" y="2834386"/>
                  </a:cubicBezTo>
                  <a:lnTo>
                    <a:pt x="146304" y="2834386"/>
                  </a:lnTo>
                  <a:cubicBezTo>
                    <a:pt x="65532" y="2834386"/>
                    <a:pt x="0" y="2768854"/>
                    <a:pt x="0" y="2688082"/>
                  </a:cubicBezTo>
                  <a:close/>
                </a:path>
              </a:pathLst>
            </a:custGeom>
            <a:solidFill>
              <a:srgbClr val="F6F6F6"/>
            </a:solidFill>
          </p:spPr>
          <p:txBody>
            <a:bodyPr/>
            <a:lstStyle/>
            <a:p>
              <a:endParaRPr lang="es-CO"/>
            </a:p>
          </p:txBody>
        </p:sp>
      </p:grpSp>
      <p:grpSp>
        <p:nvGrpSpPr>
          <p:cNvPr id="20" name="Group 20"/>
          <p:cNvGrpSpPr/>
          <p:nvPr/>
        </p:nvGrpSpPr>
        <p:grpSpPr>
          <a:xfrm>
            <a:off x="1097280" y="3165596"/>
            <a:ext cx="891454" cy="891454"/>
            <a:chOff x="0" y="0"/>
            <a:chExt cx="1188606" cy="1188606"/>
          </a:xfrm>
        </p:grpSpPr>
        <p:sp>
          <p:nvSpPr>
            <p:cNvPr id="21" name="Freeform 21"/>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txBody>
            <a:bodyPr/>
            <a:lstStyle/>
            <a:p>
              <a:endParaRPr lang="es-CO"/>
            </a:p>
          </p:txBody>
        </p:sp>
      </p:grpSp>
      <p:grpSp>
        <p:nvGrpSpPr>
          <p:cNvPr id="22" name="Group 22"/>
          <p:cNvGrpSpPr/>
          <p:nvPr/>
        </p:nvGrpSpPr>
        <p:grpSpPr>
          <a:xfrm>
            <a:off x="2263140" y="2795264"/>
            <a:ext cx="6069149" cy="480146"/>
            <a:chOff x="0" y="0"/>
            <a:chExt cx="8092199" cy="640194"/>
          </a:xfrm>
        </p:grpSpPr>
        <p:sp>
          <p:nvSpPr>
            <p:cNvPr id="23" name="Freeform 23"/>
            <p:cNvSpPr/>
            <p:nvPr/>
          </p:nvSpPr>
          <p:spPr>
            <a:xfrm>
              <a:off x="0" y="0"/>
              <a:ext cx="8092200" cy="640200"/>
            </a:xfrm>
            <a:custGeom>
              <a:avLst/>
              <a:gdLst/>
              <a:ahLst/>
              <a:cxnLst/>
              <a:rect l="l" t="t" r="r" b="b"/>
              <a:pathLst>
                <a:path w="8092200" h="640200">
                  <a:moveTo>
                    <a:pt x="0" y="0"/>
                  </a:moveTo>
                  <a:lnTo>
                    <a:pt x="8092200" y="0"/>
                  </a:lnTo>
                  <a:lnTo>
                    <a:pt x="8092200" y="640200"/>
                  </a:lnTo>
                  <a:lnTo>
                    <a:pt x="0" y="640200"/>
                  </a:lnTo>
                  <a:close/>
                </a:path>
              </a:pathLst>
            </a:custGeom>
            <a:blipFill>
              <a:blip r:embed="rId4">
                <a:alphaModFix amt="0"/>
              </a:blip>
              <a:stretch>
                <a:fillRect t="-196293" b="-196292"/>
              </a:stretch>
            </a:blipFill>
          </p:spPr>
          <p:txBody>
            <a:bodyPr/>
            <a:lstStyle/>
            <a:p>
              <a:endParaRPr lang="es-CO"/>
            </a:p>
          </p:txBody>
        </p:sp>
        <p:sp>
          <p:nvSpPr>
            <p:cNvPr id="24" name="TextBox 24"/>
            <p:cNvSpPr txBox="1"/>
            <p:nvPr/>
          </p:nvSpPr>
          <p:spPr>
            <a:xfrm>
              <a:off x="0" y="-47625"/>
              <a:ext cx="8092199" cy="687819"/>
            </a:xfrm>
            <a:prstGeom prst="rect">
              <a:avLst/>
            </a:prstGeom>
          </p:spPr>
          <p:txBody>
            <a:bodyPr lIns="0" tIns="0" rIns="0" bIns="0" rtlCol="0" anchor="ctr"/>
            <a:lstStyle/>
            <a:p>
              <a:pPr algn="l">
                <a:lnSpc>
                  <a:spcPts val="2520"/>
                </a:lnSpc>
              </a:pPr>
              <a:r>
                <a:rPr lang="en-US" sz="2100" b="1">
                  <a:solidFill>
                    <a:srgbClr val="00304D"/>
                  </a:solidFill>
                  <a:latin typeface="Calibri (MS) Bold"/>
                  <a:ea typeface="Calibri (MS) Bold"/>
                  <a:cs typeface="Calibri (MS) Bold"/>
                  <a:sym typeface="Calibri (MS) Bold"/>
                </a:rPr>
                <a:t>Creación de aplicación web</a:t>
              </a:r>
            </a:p>
          </p:txBody>
        </p:sp>
      </p:grpSp>
      <p:grpSp>
        <p:nvGrpSpPr>
          <p:cNvPr id="25" name="Group 25"/>
          <p:cNvGrpSpPr/>
          <p:nvPr/>
        </p:nvGrpSpPr>
        <p:grpSpPr>
          <a:xfrm>
            <a:off x="2263140" y="3302756"/>
            <a:ext cx="14390189" cy="1234350"/>
            <a:chOff x="0" y="0"/>
            <a:chExt cx="19186919" cy="1645800"/>
          </a:xfrm>
        </p:grpSpPr>
        <p:sp>
          <p:nvSpPr>
            <p:cNvPr id="26" name="Freeform 26"/>
            <p:cNvSpPr/>
            <p:nvPr/>
          </p:nvSpPr>
          <p:spPr>
            <a:xfrm>
              <a:off x="0" y="0"/>
              <a:ext cx="19186920" cy="1645794"/>
            </a:xfrm>
            <a:custGeom>
              <a:avLst/>
              <a:gdLst/>
              <a:ahLst/>
              <a:cxnLst/>
              <a:rect l="l" t="t" r="r" b="b"/>
              <a:pathLst>
                <a:path w="19186920" h="1645794">
                  <a:moveTo>
                    <a:pt x="0" y="0"/>
                  </a:moveTo>
                  <a:lnTo>
                    <a:pt x="19186920" y="0"/>
                  </a:lnTo>
                  <a:lnTo>
                    <a:pt x="19186920" y="1645794"/>
                  </a:lnTo>
                  <a:lnTo>
                    <a:pt x="0" y="1645794"/>
                  </a:lnTo>
                  <a:close/>
                </a:path>
              </a:pathLst>
            </a:custGeom>
            <a:blipFill>
              <a:blip r:embed="rId4">
                <a:alphaModFix amt="0"/>
              </a:blip>
              <a:stretch>
                <a:fillRect t="-177159" b="-177159"/>
              </a:stretch>
            </a:blipFill>
          </p:spPr>
          <p:txBody>
            <a:bodyPr/>
            <a:lstStyle/>
            <a:p>
              <a:endParaRPr lang="es-CO"/>
            </a:p>
          </p:txBody>
        </p:sp>
        <p:sp>
          <p:nvSpPr>
            <p:cNvPr id="27" name="TextBox 27"/>
            <p:cNvSpPr txBox="1"/>
            <p:nvPr/>
          </p:nvSpPr>
          <p:spPr>
            <a:xfrm>
              <a:off x="0" y="-47625"/>
              <a:ext cx="19186919" cy="1693425"/>
            </a:xfrm>
            <a:prstGeom prst="rect">
              <a:avLst/>
            </a:prstGeom>
          </p:spPr>
          <p:txBody>
            <a:bodyPr lIns="0" tIns="0" rIns="0" bIns="0" rtlCol="0" anchor="ctr"/>
            <a:lstStyle/>
            <a:p>
              <a:pPr algn="l">
                <a:lnSpc>
                  <a:spcPts val="2520"/>
                </a:lnSpc>
              </a:pPr>
              <a:r>
                <a:rPr lang="en-US" sz="2100">
                  <a:solidFill>
                    <a:srgbClr val="000000"/>
                  </a:solidFill>
                  <a:latin typeface="Calibri (MS)"/>
                  <a:ea typeface="Calibri (MS)"/>
                  <a:cs typeface="Calibri (MS)"/>
                  <a:sym typeface="Calibri (MS)"/>
                </a:rPr>
                <a:t>Se crea exitosamente un sistema web para la gestión integral de un taller vehicular, permitiendo centralizar el control de vehículos, servicios, órdenes de trabajo, inventario y facturación en una sola plataforma.</a:t>
              </a:r>
            </a:p>
          </p:txBody>
        </p:sp>
      </p:grpSp>
      <p:grpSp>
        <p:nvGrpSpPr>
          <p:cNvPr id="28" name="Group 28"/>
          <p:cNvGrpSpPr/>
          <p:nvPr/>
        </p:nvGrpSpPr>
        <p:grpSpPr>
          <a:xfrm>
            <a:off x="822960" y="5074920"/>
            <a:ext cx="7715250" cy="2125799"/>
            <a:chOff x="0" y="0"/>
            <a:chExt cx="10287000" cy="2834399"/>
          </a:xfrm>
        </p:grpSpPr>
        <p:sp>
          <p:nvSpPr>
            <p:cNvPr id="29" name="Freeform 29"/>
            <p:cNvSpPr/>
            <p:nvPr/>
          </p:nvSpPr>
          <p:spPr>
            <a:xfrm>
              <a:off x="0" y="0"/>
              <a:ext cx="10287000" cy="2834386"/>
            </a:xfrm>
            <a:custGeom>
              <a:avLst/>
              <a:gdLst/>
              <a:ahLst/>
              <a:cxnLst/>
              <a:rect l="l" t="t" r="r" b="b"/>
              <a:pathLst>
                <a:path w="10287000" h="2834386">
                  <a:moveTo>
                    <a:pt x="0" y="146304"/>
                  </a:moveTo>
                  <a:cubicBezTo>
                    <a:pt x="0" y="65532"/>
                    <a:pt x="65532" y="0"/>
                    <a:pt x="146304" y="0"/>
                  </a:cubicBezTo>
                  <a:lnTo>
                    <a:pt x="10140696" y="0"/>
                  </a:lnTo>
                  <a:cubicBezTo>
                    <a:pt x="10221468" y="0"/>
                    <a:pt x="10287000" y="65532"/>
                    <a:pt x="10287000" y="146304"/>
                  </a:cubicBezTo>
                  <a:lnTo>
                    <a:pt x="10287000" y="2688082"/>
                  </a:lnTo>
                  <a:cubicBezTo>
                    <a:pt x="10287000" y="2768854"/>
                    <a:pt x="10221468" y="2834386"/>
                    <a:pt x="10140696" y="2834386"/>
                  </a:cubicBezTo>
                  <a:lnTo>
                    <a:pt x="146304" y="2834386"/>
                  </a:lnTo>
                  <a:cubicBezTo>
                    <a:pt x="65532" y="2834386"/>
                    <a:pt x="0" y="2768854"/>
                    <a:pt x="0" y="2688082"/>
                  </a:cubicBezTo>
                  <a:close/>
                </a:path>
              </a:pathLst>
            </a:custGeom>
            <a:solidFill>
              <a:srgbClr val="F6F6F6"/>
            </a:solidFill>
          </p:spPr>
          <p:txBody>
            <a:bodyPr/>
            <a:lstStyle/>
            <a:p>
              <a:endParaRPr lang="es-CO"/>
            </a:p>
          </p:txBody>
        </p:sp>
      </p:grpSp>
      <p:grpSp>
        <p:nvGrpSpPr>
          <p:cNvPr id="30" name="Group 30"/>
          <p:cNvGrpSpPr/>
          <p:nvPr/>
        </p:nvGrpSpPr>
        <p:grpSpPr>
          <a:xfrm>
            <a:off x="1097280" y="5692140"/>
            <a:ext cx="891454" cy="891454"/>
            <a:chOff x="0" y="0"/>
            <a:chExt cx="1188606" cy="1188606"/>
          </a:xfrm>
        </p:grpSpPr>
        <p:sp>
          <p:nvSpPr>
            <p:cNvPr id="31" name="Freeform 31"/>
            <p:cNvSpPr/>
            <p:nvPr/>
          </p:nvSpPr>
          <p:spPr>
            <a:xfrm>
              <a:off x="0" y="0"/>
              <a:ext cx="1188720" cy="1188720"/>
            </a:xfrm>
            <a:custGeom>
              <a:avLst/>
              <a:gdLst/>
              <a:ahLst/>
              <a:cxnLst/>
              <a:rect l="l" t="t" r="r" b="b"/>
              <a:pathLst>
                <a:path w="1188720" h="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txBody>
            <a:bodyPr/>
            <a:lstStyle/>
            <a:p>
              <a:endParaRPr lang="es-CO"/>
            </a:p>
          </p:txBody>
        </p:sp>
      </p:grpSp>
      <p:grpSp>
        <p:nvGrpSpPr>
          <p:cNvPr id="32" name="Group 32"/>
          <p:cNvGrpSpPr/>
          <p:nvPr/>
        </p:nvGrpSpPr>
        <p:grpSpPr>
          <a:xfrm>
            <a:off x="1329080" y="5923940"/>
            <a:ext cx="427939" cy="427939"/>
            <a:chOff x="0" y="0"/>
            <a:chExt cx="570586" cy="570586"/>
          </a:xfrm>
        </p:grpSpPr>
        <p:sp>
          <p:nvSpPr>
            <p:cNvPr id="33" name="Freeform 33" descr="icons/mobile.png"/>
            <p:cNvSpPr/>
            <p:nvPr/>
          </p:nvSpPr>
          <p:spPr>
            <a:xfrm>
              <a:off x="0" y="0"/>
              <a:ext cx="570611" cy="570611"/>
            </a:xfrm>
            <a:custGeom>
              <a:avLst/>
              <a:gdLst/>
              <a:ahLst/>
              <a:cxnLst/>
              <a:rect l="l" t="t" r="r" b="b"/>
              <a:pathLst>
                <a:path w="570611" h="570611">
                  <a:moveTo>
                    <a:pt x="0" y="0"/>
                  </a:moveTo>
                  <a:lnTo>
                    <a:pt x="570611" y="0"/>
                  </a:lnTo>
                  <a:lnTo>
                    <a:pt x="570611" y="570611"/>
                  </a:lnTo>
                  <a:lnTo>
                    <a:pt x="0" y="570611"/>
                  </a:lnTo>
                  <a:lnTo>
                    <a:pt x="0" y="0"/>
                  </a:lnTo>
                  <a:close/>
                </a:path>
              </a:pathLst>
            </a:custGeom>
            <a:blipFill>
              <a:blip r:embed="rId6"/>
              <a:stretch>
                <a:fillRect r="4" b="4"/>
              </a:stretch>
            </a:blipFill>
          </p:spPr>
          <p:txBody>
            <a:bodyPr/>
            <a:lstStyle/>
            <a:p>
              <a:endParaRPr lang="es-CO"/>
            </a:p>
          </p:txBody>
        </p:sp>
      </p:grpSp>
      <p:grpSp>
        <p:nvGrpSpPr>
          <p:cNvPr id="34" name="Group 34"/>
          <p:cNvGrpSpPr/>
          <p:nvPr/>
        </p:nvGrpSpPr>
        <p:grpSpPr>
          <a:xfrm>
            <a:off x="2263140" y="5321808"/>
            <a:ext cx="6069149" cy="480146"/>
            <a:chOff x="0" y="0"/>
            <a:chExt cx="8092199" cy="640194"/>
          </a:xfrm>
        </p:grpSpPr>
        <p:sp>
          <p:nvSpPr>
            <p:cNvPr id="35" name="Freeform 35"/>
            <p:cNvSpPr/>
            <p:nvPr/>
          </p:nvSpPr>
          <p:spPr>
            <a:xfrm>
              <a:off x="0" y="0"/>
              <a:ext cx="8092200" cy="640200"/>
            </a:xfrm>
            <a:custGeom>
              <a:avLst/>
              <a:gdLst/>
              <a:ahLst/>
              <a:cxnLst/>
              <a:rect l="l" t="t" r="r" b="b"/>
              <a:pathLst>
                <a:path w="8092200" h="640200">
                  <a:moveTo>
                    <a:pt x="0" y="0"/>
                  </a:moveTo>
                  <a:lnTo>
                    <a:pt x="8092200" y="0"/>
                  </a:lnTo>
                  <a:lnTo>
                    <a:pt x="8092200" y="640200"/>
                  </a:lnTo>
                  <a:lnTo>
                    <a:pt x="0" y="640200"/>
                  </a:lnTo>
                  <a:close/>
                </a:path>
              </a:pathLst>
            </a:custGeom>
            <a:blipFill>
              <a:blip r:embed="rId4">
                <a:alphaModFix amt="0"/>
              </a:blip>
              <a:stretch>
                <a:fillRect t="-196293" b="-196292"/>
              </a:stretch>
            </a:blipFill>
          </p:spPr>
          <p:txBody>
            <a:bodyPr/>
            <a:lstStyle/>
            <a:p>
              <a:endParaRPr lang="es-CO"/>
            </a:p>
          </p:txBody>
        </p:sp>
        <p:sp>
          <p:nvSpPr>
            <p:cNvPr id="36" name="TextBox 36"/>
            <p:cNvSpPr txBox="1"/>
            <p:nvPr/>
          </p:nvSpPr>
          <p:spPr>
            <a:xfrm>
              <a:off x="0" y="-47625"/>
              <a:ext cx="8092199" cy="687819"/>
            </a:xfrm>
            <a:prstGeom prst="rect">
              <a:avLst/>
            </a:prstGeom>
          </p:spPr>
          <p:txBody>
            <a:bodyPr lIns="0" tIns="0" rIns="0" bIns="0" rtlCol="0" anchor="ctr"/>
            <a:lstStyle/>
            <a:p>
              <a:pPr algn="l">
                <a:lnSpc>
                  <a:spcPts val="2520"/>
                </a:lnSpc>
              </a:pPr>
              <a:r>
                <a:rPr lang="en-US" sz="2100" b="1">
                  <a:solidFill>
                    <a:srgbClr val="00304D"/>
                  </a:solidFill>
                  <a:latin typeface="Calibri (MS) Bold"/>
                  <a:ea typeface="Calibri (MS) Bold"/>
                  <a:cs typeface="Calibri (MS) Bold"/>
                  <a:sym typeface="Calibri (MS) Bold"/>
                </a:rPr>
                <a:t>Experiencia de usuario</a:t>
              </a:r>
            </a:p>
          </p:txBody>
        </p:sp>
      </p:grpSp>
      <p:grpSp>
        <p:nvGrpSpPr>
          <p:cNvPr id="37" name="Group 37"/>
          <p:cNvGrpSpPr/>
          <p:nvPr/>
        </p:nvGrpSpPr>
        <p:grpSpPr>
          <a:xfrm>
            <a:off x="2263140" y="5792429"/>
            <a:ext cx="6069149" cy="1371419"/>
            <a:chOff x="0" y="0"/>
            <a:chExt cx="8092199" cy="1828559"/>
          </a:xfrm>
        </p:grpSpPr>
        <p:sp>
          <p:nvSpPr>
            <p:cNvPr id="38" name="Freeform 38"/>
            <p:cNvSpPr/>
            <p:nvPr/>
          </p:nvSpPr>
          <p:spPr>
            <a:xfrm>
              <a:off x="0" y="0"/>
              <a:ext cx="8092200" cy="1828552"/>
            </a:xfrm>
            <a:custGeom>
              <a:avLst/>
              <a:gdLst/>
              <a:ahLst/>
              <a:cxnLst/>
              <a:rect l="l" t="t" r="r" b="b"/>
              <a:pathLst>
                <a:path w="8092200" h="1828552">
                  <a:moveTo>
                    <a:pt x="0" y="0"/>
                  </a:moveTo>
                  <a:lnTo>
                    <a:pt x="8092200" y="0"/>
                  </a:lnTo>
                  <a:lnTo>
                    <a:pt x="8092200" y="1828552"/>
                  </a:lnTo>
                  <a:lnTo>
                    <a:pt x="0" y="1828552"/>
                  </a:lnTo>
                  <a:close/>
                </a:path>
              </a:pathLst>
            </a:custGeom>
            <a:blipFill>
              <a:blip r:embed="rId4">
                <a:alphaModFix amt="0"/>
              </a:blip>
              <a:stretch>
                <a:fillRect t="-41227" b="-31233"/>
              </a:stretch>
            </a:blipFill>
          </p:spPr>
          <p:txBody>
            <a:bodyPr/>
            <a:lstStyle/>
            <a:p>
              <a:endParaRPr lang="es-CO"/>
            </a:p>
          </p:txBody>
        </p:sp>
        <p:sp>
          <p:nvSpPr>
            <p:cNvPr id="39" name="TextBox 39"/>
            <p:cNvSpPr txBox="1"/>
            <p:nvPr/>
          </p:nvSpPr>
          <p:spPr>
            <a:xfrm>
              <a:off x="0" y="-47625"/>
              <a:ext cx="8092199" cy="1876184"/>
            </a:xfrm>
            <a:prstGeom prst="rect">
              <a:avLst/>
            </a:prstGeom>
          </p:spPr>
          <p:txBody>
            <a:bodyPr lIns="0" tIns="0" rIns="0" bIns="0" rtlCol="0" anchor="ctr"/>
            <a:lstStyle/>
            <a:p>
              <a:pPr algn="just">
                <a:lnSpc>
                  <a:spcPts val="2520"/>
                </a:lnSpc>
              </a:pPr>
              <a:r>
                <a:rPr lang="en-US" sz="2100">
                  <a:solidFill>
                    <a:srgbClr val="000000"/>
                  </a:solidFill>
                  <a:latin typeface="Calibri (MS)"/>
                  <a:ea typeface="Calibri (MS)"/>
                  <a:cs typeface="Calibri (MS)"/>
                  <a:sym typeface="Calibri (MS)"/>
                </a:rPr>
                <a:t>Interfaz intuitiva y adaptable, con panel administrativo funcional para registrar clientes y agendar servicios.</a:t>
              </a:r>
            </a:p>
          </p:txBody>
        </p:sp>
      </p:grpSp>
      <p:grpSp>
        <p:nvGrpSpPr>
          <p:cNvPr id="40" name="Group 40"/>
          <p:cNvGrpSpPr/>
          <p:nvPr/>
        </p:nvGrpSpPr>
        <p:grpSpPr>
          <a:xfrm>
            <a:off x="822960" y="7886700"/>
            <a:ext cx="15910646" cy="1371600"/>
            <a:chOff x="0" y="0"/>
            <a:chExt cx="21214194" cy="1828800"/>
          </a:xfrm>
        </p:grpSpPr>
        <p:sp>
          <p:nvSpPr>
            <p:cNvPr id="41" name="Freeform 41"/>
            <p:cNvSpPr/>
            <p:nvPr/>
          </p:nvSpPr>
          <p:spPr>
            <a:xfrm>
              <a:off x="0" y="0"/>
              <a:ext cx="21214207" cy="1828800"/>
            </a:xfrm>
            <a:custGeom>
              <a:avLst/>
              <a:gdLst/>
              <a:ahLst/>
              <a:cxnLst/>
              <a:rect l="l" t="t" r="r" b="b"/>
              <a:pathLst>
                <a:path w="21214207" h="1828800">
                  <a:moveTo>
                    <a:pt x="0" y="146304"/>
                  </a:moveTo>
                  <a:cubicBezTo>
                    <a:pt x="0" y="65532"/>
                    <a:pt x="65532" y="0"/>
                    <a:pt x="146304" y="0"/>
                  </a:cubicBezTo>
                  <a:lnTo>
                    <a:pt x="21067903" y="0"/>
                  </a:lnTo>
                  <a:cubicBezTo>
                    <a:pt x="21148675" y="0"/>
                    <a:pt x="21214207" y="65532"/>
                    <a:pt x="21214207" y="146304"/>
                  </a:cubicBezTo>
                  <a:lnTo>
                    <a:pt x="21214207" y="1682496"/>
                  </a:lnTo>
                  <a:cubicBezTo>
                    <a:pt x="21214207" y="1763268"/>
                    <a:pt x="21148675" y="1828800"/>
                    <a:pt x="21067903" y="1828800"/>
                  </a:cubicBezTo>
                  <a:lnTo>
                    <a:pt x="146304" y="1828800"/>
                  </a:lnTo>
                  <a:cubicBezTo>
                    <a:pt x="65532" y="1828800"/>
                    <a:pt x="0" y="1763268"/>
                    <a:pt x="0" y="1682496"/>
                  </a:cubicBezTo>
                  <a:close/>
                </a:path>
              </a:pathLst>
            </a:custGeom>
            <a:solidFill>
              <a:srgbClr val="FFF3D6"/>
            </a:solidFill>
          </p:spPr>
          <p:txBody>
            <a:bodyPr/>
            <a:lstStyle/>
            <a:p>
              <a:endParaRPr lang="es-CO"/>
            </a:p>
          </p:txBody>
        </p:sp>
      </p:grpSp>
      <p:grpSp>
        <p:nvGrpSpPr>
          <p:cNvPr id="42" name="Group 42"/>
          <p:cNvGrpSpPr/>
          <p:nvPr/>
        </p:nvGrpSpPr>
        <p:grpSpPr>
          <a:xfrm>
            <a:off x="1234440" y="7886700"/>
            <a:ext cx="15087600" cy="1371600"/>
            <a:chOff x="0" y="0"/>
            <a:chExt cx="20116800" cy="1828800"/>
          </a:xfrm>
        </p:grpSpPr>
        <p:sp>
          <p:nvSpPr>
            <p:cNvPr id="43" name="Freeform 43"/>
            <p:cNvSpPr/>
            <p:nvPr/>
          </p:nvSpPr>
          <p:spPr>
            <a:xfrm>
              <a:off x="0" y="0"/>
              <a:ext cx="20116800" cy="1828800"/>
            </a:xfrm>
            <a:custGeom>
              <a:avLst/>
              <a:gdLst/>
              <a:ahLst/>
              <a:cxnLst/>
              <a:rect l="l" t="t" r="r" b="b"/>
              <a:pathLst>
                <a:path w="20116800" h="1828800">
                  <a:moveTo>
                    <a:pt x="0" y="0"/>
                  </a:moveTo>
                  <a:lnTo>
                    <a:pt x="20116800" y="0"/>
                  </a:lnTo>
                  <a:lnTo>
                    <a:pt x="20116800" y="1828800"/>
                  </a:lnTo>
                  <a:lnTo>
                    <a:pt x="0" y="1828800"/>
                  </a:lnTo>
                  <a:close/>
                </a:path>
              </a:pathLst>
            </a:custGeom>
            <a:blipFill>
              <a:blip r:embed="rId4">
                <a:alphaModFix amt="0"/>
              </a:blip>
              <a:stretch>
                <a:fillRect t="-164335" b="-164335"/>
              </a:stretch>
            </a:blipFill>
          </p:spPr>
          <p:txBody>
            <a:bodyPr/>
            <a:lstStyle/>
            <a:p>
              <a:endParaRPr lang="es-CO"/>
            </a:p>
          </p:txBody>
        </p:sp>
        <p:sp>
          <p:nvSpPr>
            <p:cNvPr id="44" name="TextBox 44"/>
            <p:cNvSpPr txBox="1"/>
            <p:nvPr/>
          </p:nvSpPr>
          <p:spPr>
            <a:xfrm>
              <a:off x="0" y="-38100"/>
              <a:ext cx="20116800" cy="1866900"/>
            </a:xfrm>
            <a:prstGeom prst="rect">
              <a:avLst/>
            </a:prstGeom>
          </p:spPr>
          <p:txBody>
            <a:bodyPr lIns="0" tIns="0" rIns="0" bIns="0" rtlCol="0" anchor="ctr"/>
            <a:lstStyle/>
            <a:p>
              <a:pPr algn="l">
                <a:lnSpc>
                  <a:spcPts val="2250"/>
                </a:lnSpc>
              </a:pPr>
              <a:r>
                <a:rPr lang="en-US" sz="1875" b="1">
                  <a:solidFill>
                    <a:srgbClr val="00304D"/>
                  </a:solidFill>
                  <a:latin typeface="Calibri (MS) Bold"/>
                  <a:ea typeface="Calibri (MS) Bold"/>
                  <a:cs typeface="Calibri (MS) Bold"/>
                  <a:sym typeface="Calibri (MS) Bold"/>
                </a:rPr>
                <a:t>Trabajo futuro:  </a:t>
              </a:r>
              <a:r>
                <a:rPr lang="en-US" sz="1875">
                  <a:solidFill>
                    <a:srgbClr val="00304D"/>
                  </a:solidFill>
                  <a:latin typeface="Calibri (MS)"/>
                  <a:ea typeface="Calibri (MS)"/>
                  <a:cs typeface="Calibri (MS)"/>
                  <a:sym typeface="Calibri (MS)"/>
                </a:rPr>
                <a:t>pasarela de pagos real, app móvil (APK) para clientes y notificaciones automáticas de mantenimiento.</a:t>
              </a:r>
            </a:p>
          </p:txBody>
        </p:sp>
      </p:grpSp>
      <p:grpSp>
        <p:nvGrpSpPr>
          <p:cNvPr id="45" name="Group 45"/>
          <p:cNvGrpSpPr/>
          <p:nvPr/>
        </p:nvGrpSpPr>
        <p:grpSpPr>
          <a:xfrm>
            <a:off x="1296162" y="3367321"/>
            <a:ext cx="493776" cy="493776"/>
            <a:chOff x="0" y="0"/>
            <a:chExt cx="658368" cy="658368"/>
          </a:xfrm>
        </p:grpSpPr>
        <p:sp>
          <p:nvSpPr>
            <p:cNvPr id="46" name="Freeform 46" descr="icons/server.png"/>
            <p:cNvSpPr/>
            <p:nvPr/>
          </p:nvSpPr>
          <p:spPr>
            <a:xfrm>
              <a:off x="0" y="0"/>
              <a:ext cx="658368" cy="658368"/>
            </a:xfrm>
            <a:custGeom>
              <a:avLst/>
              <a:gdLst/>
              <a:ahLst/>
              <a:cxnLst/>
              <a:rect l="l" t="t" r="r" b="b"/>
              <a:pathLst>
                <a:path w="658368" h="658368">
                  <a:moveTo>
                    <a:pt x="0" y="0"/>
                  </a:moveTo>
                  <a:lnTo>
                    <a:pt x="658368" y="0"/>
                  </a:lnTo>
                  <a:lnTo>
                    <a:pt x="658368" y="658368"/>
                  </a:lnTo>
                  <a:lnTo>
                    <a:pt x="0" y="658368"/>
                  </a:lnTo>
                  <a:lnTo>
                    <a:pt x="0" y="0"/>
                  </a:lnTo>
                  <a:close/>
                </a:path>
              </a:pathLst>
            </a:custGeom>
            <a:blipFill>
              <a:blip r:embed="rId7"/>
              <a:stretch>
                <a:fillRect/>
              </a:stretch>
            </a:blipFill>
          </p:spPr>
          <p:txBody>
            <a:bodyPr/>
            <a:lstStyle/>
            <a:p>
              <a:endParaRPr lang="es-CO"/>
            </a:p>
          </p:txBody>
        </p:sp>
      </p:grpSp>
      <p:sp>
        <p:nvSpPr>
          <p:cNvPr id="48" name="Rectángulo: esquinas superiores redondeadas 47">
            <a:extLst>
              <a:ext uri="{FF2B5EF4-FFF2-40B4-BE49-F238E27FC236}">
                <a16:creationId xmlns:a16="http://schemas.microsoft.com/office/drawing/2014/main" id="{7F07C27A-B44B-8369-DF10-FF28914EA081}"/>
              </a:ext>
            </a:extLst>
          </p:cNvPr>
          <p:cNvSpPr/>
          <p:nvPr/>
        </p:nvSpPr>
        <p:spPr>
          <a:xfrm>
            <a:off x="7848600" y="9765506"/>
            <a:ext cx="2590800" cy="152400"/>
          </a:xfrm>
          <a:prstGeom prst="round2SameRect">
            <a:avLst/>
          </a:prstGeom>
          <a:solidFill>
            <a:srgbClr val="00B050"/>
          </a:solidFill>
          <a:ln>
            <a:solidFill>
              <a:schemeClr val="bg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s-CO"/>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s-CO"/>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1232</Words>
  <Application>Microsoft Office PowerPoint</Application>
  <PresentationFormat>Personalizado</PresentationFormat>
  <Paragraphs>223</Paragraphs>
  <Slides>15</Slides>
  <Notes>15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15</vt:i4>
      </vt:variant>
    </vt:vector>
  </HeadingPairs>
  <TitlesOfParts>
    <vt:vector size="23" baseType="lpstr">
      <vt:lpstr>Calibri</vt:lpstr>
      <vt:lpstr>Calibri (MS)</vt:lpstr>
      <vt:lpstr>Calibri (MS) Bold</vt:lpstr>
      <vt:lpstr>Work Sans Bold</vt:lpstr>
      <vt:lpstr>Calibri (MS) Italics</vt:lpstr>
      <vt:lpstr>Arial Bold</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Presentacion MSS.pptx</dc:title>
  <cp:lastModifiedBy>24A_9212109946</cp:lastModifiedBy>
  <cp:revision>2</cp:revision>
  <dcterms:created xsi:type="dcterms:W3CDTF">2006-08-16T00:00:00Z</dcterms:created>
  <dcterms:modified xsi:type="dcterms:W3CDTF">2026-09-17T14:48:55Z</dcterms:modified>
  <dc:identifier>DAHVLpckKfQ</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c111285-cafa-4fc9-8a9a-bd902089b24f_Enabled">
    <vt:lpwstr>true</vt:lpwstr>
  </property>
  <property fmtid="{D5CDD505-2E9C-101B-9397-08002B2CF9AE}" pid="3" name="MSIP_Label_fc111285-cafa-4fc9-8a9a-bd902089b24f_SetDate">
    <vt:lpwstr>2026-09-17T14:32:16Z</vt:lpwstr>
  </property>
  <property fmtid="{D5CDD505-2E9C-101B-9397-08002B2CF9AE}" pid="4" name="MSIP_Label_fc111285-cafa-4fc9-8a9a-bd902089b24f_Method">
    <vt:lpwstr>Privileged</vt:lpwstr>
  </property>
  <property fmtid="{D5CDD505-2E9C-101B-9397-08002B2CF9AE}" pid="5" name="MSIP_Label_fc111285-cafa-4fc9-8a9a-bd902089b24f_Name">
    <vt:lpwstr>Public</vt:lpwstr>
  </property>
  <property fmtid="{D5CDD505-2E9C-101B-9397-08002B2CF9AE}" pid="6" name="MSIP_Label_fc111285-cafa-4fc9-8a9a-bd902089b24f_SiteId">
    <vt:lpwstr>cbc2c381-2f2e-4d93-91d1-506c9316ace7</vt:lpwstr>
  </property>
  <property fmtid="{D5CDD505-2E9C-101B-9397-08002B2CF9AE}" pid="7" name="MSIP_Label_fc111285-cafa-4fc9-8a9a-bd902089b24f_ActionId">
    <vt:lpwstr>5888baa9-0e40-4db5-b9b4-1f6bbaba6dde</vt:lpwstr>
  </property>
  <property fmtid="{D5CDD505-2E9C-101B-9397-08002B2CF9AE}" pid="8" name="MSIP_Label_fc111285-cafa-4fc9-8a9a-bd902089b24f_ContentBits">
    <vt:lpwstr>0</vt:lpwstr>
  </property>
  <property fmtid="{D5CDD505-2E9C-101B-9397-08002B2CF9AE}" pid="9" name="MSIP_Label_fc111285-cafa-4fc9-8a9a-bd902089b24f_Tag">
    <vt:lpwstr>10, 0, 1, 1</vt:lpwstr>
  </property>
</Properties>
</file>