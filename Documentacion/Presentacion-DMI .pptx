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Arial Bold" charset="1" panose="020B0704020202020204"/>
      <p:regular r:id="rId24"/>
    </p:embeddedFont>
    <p:embeddedFont>
      <p:font typeface="Work Sans Bold" charset="1" panose="00000000000000000000"/>
      <p:regular r:id="rId25"/>
    </p:embeddedFont>
    <p:embeddedFont>
      <p:font typeface="Arial" charset="1" panose="020B0604020202020204"/>
      <p:regular r:id="rId26"/>
    </p:embeddedFont>
    <p:embeddedFont>
      <p:font typeface="Calibri (MS)" charset="1" panose="020F0502020204030204"/>
      <p:regular r:id="rId28"/>
    </p:embeddedFont>
    <p:embeddedFont>
      <p:font typeface="Calibri (MS) Bold" charset="1" panose="020F0702030404030204"/>
      <p:regular r:id="rId29"/>
    </p:embeddedFont>
    <p:embeddedFont>
      <p:font typeface="Calibri (MS) Italics" charset="1" panose="020F05020202040A0204"/>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notesMasters/notesMaster1.xml" Type="http://schemas.openxmlformats.org/officeDocument/2006/relationships/notesMaster"/><Relationship Id="rId22" Target="theme/theme2.xml" Type="http://schemas.openxmlformats.org/officeDocument/2006/relationships/theme"/><Relationship Id="rId23" Target="notesSlides/notesSlide1.xml" Type="http://schemas.openxmlformats.org/officeDocument/2006/relationships/notesSlide"/><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notesSlides/notesSlide2.xml" Type="http://schemas.openxmlformats.org/officeDocument/2006/relationships/notesSlide"/><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notesSlides/notesSlide3.xml" Type="http://schemas.openxmlformats.org/officeDocument/2006/relationships/notesSlide"/><Relationship Id="rId31" Target="notesSlides/notesSlide4.xml" Type="http://schemas.openxmlformats.org/officeDocument/2006/relationships/notesSlide"/><Relationship Id="rId32" Target="notesSlides/notesSlide5.xml" Type="http://schemas.openxmlformats.org/officeDocument/2006/relationships/notesSlide"/><Relationship Id="rId33" Target="notesSlides/notesSlide6.xml" Type="http://schemas.openxmlformats.org/officeDocument/2006/relationships/notesSlide"/><Relationship Id="rId34" Target="notesSlides/notesSlide7.xml" Type="http://schemas.openxmlformats.org/officeDocument/2006/relationships/notesSlide"/><Relationship Id="rId35" Target="notesSlides/notesSlide8.xml" Type="http://schemas.openxmlformats.org/officeDocument/2006/relationships/notesSlide"/><Relationship Id="rId36" Target="notesSlides/notesSlide9.xml" Type="http://schemas.openxmlformats.org/officeDocument/2006/relationships/notesSlide"/><Relationship Id="rId37" Target="fonts/font37.fntdata" Type="http://schemas.openxmlformats.org/officeDocument/2006/relationships/font"/><Relationship Id="rId38" Target="notesSlides/notesSlide10.xml" Type="http://schemas.openxmlformats.org/officeDocument/2006/relationships/notesSlide"/><Relationship Id="rId39" Target="notesSlides/notesSlide11.xml" Type="http://schemas.openxmlformats.org/officeDocument/2006/relationships/notesSlide"/><Relationship Id="rId4" Target="theme/theme1.xml" Type="http://schemas.openxmlformats.org/officeDocument/2006/relationships/theme"/><Relationship Id="rId40" Target="notesSlides/notesSlide12.xml" Type="http://schemas.openxmlformats.org/officeDocument/2006/relationships/notesSlide"/><Relationship Id="rId41" Target="notesSlides/notesSlide13.xml" Type="http://schemas.openxmlformats.org/officeDocument/2006/relationships/notesSlide"/><Relationship Id="rId42" Target="notesSlides/notesSlide14.xml" Type="http://schemas.openxmlformats.org/officeDocument/2006/relationships/notesSlide"/><Relationship Id="rId43" Target="notesSlides/notesSlide15.xml" Type="http://schemas.openxmlformats.org/officeDocument/2006/relationships/notesSlid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Visdualizar inventario</a:t>
            </a:r>
          </a:p>
          <a:p>
            <a:r>
              <a:rPr lang="en-US"/>
              <a:t>Control automático del stock disponible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png" Type="http://schemas.openxmlformats.org/officeDocument/2006/relationships/image"/><Relationship Id="rId2" Target="../notesSlides/notesSlide2.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5.png" Type="http://schemas.openxmlformats.org/officeDocument/2006/relationships/image"/><Relationship Id="rId6" Target="../media/image6.png" Type="http://schemas.openxmlformats.org/officeDocument/2006/relationships/image"/><Relationship Id="rId7" Target="../media/image7.png" Type="http://schemas.openxmlformats.org/officeDocument/2006/relationships/image"/><Relationship Id="rId8" Target="../media/image8.png" Type="http://schemas.openxmlformats.org/officeDocument/2006/relationships/image"/><Relationship Id="rId9" Target="../media/image9.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11" Target="../media/image17.png" Type="http://schemas.openxmlformats.org/officeDocument/2006/relationships/image"/><Relationship Id="rId2" Target="../notesSlides/notesSlide3.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12.png" Type="http://schemas.openxmlformats.org/officeDocument/2006/relationships/image"/><Relationship Id="rId6" Target="../media/image13.png" Type="http://schemas.openxmlformats.org/officeDocument/2006/relationships/image"/><Relationship Id="rId7" Target="../media/image14.png" Type="http://schemas.openxmlformats.org/officeDocument/2006/relationships/image"/><Relationship Id="rId8" Target="../media/image15.png" Type="http://schemas.openxmlformats.org/officeDocument/2006/relationships/image"/><Relationship Id="rId9" Target="../media/image16.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13.png" Type="http://schemas.openxmlformats.org/officeDocument/2006/relationships/image"/><Relationship Id="rId6" Target="../media/image1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3.png" Type="http://schemas.openxmlformats.org/officeDocument/2006/relationships/image"/><Relationship Id="rId2" Target="../notesSlides/notesSlide5.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18.png" Type="http://schemas.openxmlformats.org/officeDocument/2006/relationships/image"/><Relationship Id="rId6" Target="../media/image19.png" Type="http://schemas.openxmlformats.org/officeDocument/2006/relationships/image"/><Relationship Id="rId7" Target="../media/image20.png" Type="http://schemas.openxmlformats.org/officeDocument/2006/relationships/image"/><Relationship Id="rId8" Target="../media/image21.png" Type="http://schemas.openxmlformats.org/officeDocument/2006/relationships/image"/><Relationship Id="rId9" Target="../media/image2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4.jpeg" Type="http://schemas.openxmlformats.org/officeDocument/2006/relationships/image"/><Relationship Id="rId4" Target="../media/image12.png" Type="http://schemas.openxmlformats.org/officeDocument/2006/relationships/image"/><Relationship Id="rId5" Target="../media/image15.png" Type="http://schemas.openxmlformats.org/officeDocument/2006/relationships/image"/><Relationship Id="rId6" Target="../media/image7.png" Type="http://schemas.openxmlformats.org/officeDocument/2006/relationships/image"/><Relationship Id="rId7" Target="../media/image24.png" Type="http://schemas.openxmlformats.org/officeDocument/2006/relationships/image"/><Relationship Id="rId8" Target="../media/image20.png" Type="http://schemas.openxmlformats.org/officeDocument/2006/relationships/image"/><Relationship Id="rId9" Target="../media/image21.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25.png" Type="http://schemas.openxmlformats.org/officeDocument/2006/relationships/image"/><Relationship Id="rId6" Target="../media/image18.png" Type="http://schemas.openxmlformats.org/officeDocument/2006/relationships/image"/><Relationship Id="rId7" Target="../media/image1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25.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9.png" Type="http://schemas.openxmlformats.org/officeDocument/2006/relationships/image"/><Relationship Id="rId2" Target="../notesSlides/notesSlide9.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26.png" Type="http://schemas.openxmlformats.org/officeDocument/2006/relationships/image"/><Relationship Id="rId6" Target="../media/image27.png" Type="http://schemas.openxmlformats.org/officeDocument/2006/relationships/image"/><Relationship Id="rId7" Target="../media/image7.png" Type="http://schemas.openxmlformats.org/officeDocument/2006/relationships/image"/><Relationship Id="rId8" Target="../media/image28.png" Type="http://schemas.openxmlformats.org/officeDocument/2006/relationships/image"/><Relationship Id="rId9" Target="../media/image1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1.png" Type="http://schemas.openxmlformats.org/officeDocument/2006/relationships/image"/><Relationship Id="rId11" Target="../media/image32.png" Type="http://schemas.openxmlformats.org/officeDocument/2006/relationships/image"/><Relationship Id="rId2" Target="../notesSlides/notesSlide10.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8.png" Type="http://schemas.openxmlformats.org/officeDocument/2006/relationships/image"/><Relationship Id="rId6" Target="../media/image9.png" Type="http://schemas.openxmlformats.org/officeDocument/2006/relationships/image"/><Relationship Id="rId7" Target="../media/image10.png" Type="http://schemas.openxmlformats.org/officeDocument/2006/relationships/image"/><Relationship Id="rId8" Target="../media/image11.png" Type="http://schemas.openxmlformats.org/officeDocument/2006/relationships/image"/><Relationship Id="rId9" Target="../media/image3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33.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34.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35.png" Type="http://schemas.openxmlformats.org/officeDocument/2006/relationships/image"/><Relationship Id="rId6" Target="../media/image19.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3.png" Type="http://schemas.openxmlformats.org/officeDocument/2006/relationships/image"/><Relationship Id="rId4" Target="../media/image4.jpeg" Type="http://schemas.openxmlformats.org/officeDocument/2006/relationships/image"/><Relationship Id="rId5" Target="../media/image19.png" Type="http://schemas.openxmlformats.org/officeDocument/2006/relationships/image"/><Relationship Id="rId6" Target="../media/image20.png" Type="http://schemas.openxmlformats.org/officeDocument/2006/relationships/image"/><Relationship Id="rId7" Target="../media/image9.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36.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15311361" y="1582817"/>
            <a:ext cx="1384668" cy="1363142"/>
            <a:chOff x="0" y="0"/>
            <a:chExt cx="1846224" cy="1817522"/>
          </a:xfrm>
        </p:grpSpPr>
        <p:sp>
          <p:nvSpPr>
            <p:cNvPr name="Freeform 4" id="4"/>
            <p:cNvSpPr/>
            <p:nvPr/>
          </p:nvSpPr>
          <p:spPr>
            <a:xfrm flipH="false" flipV="false" rot="0">
              <a:off x="0" y="0"/>
              <a:ext cx="1846199" cy="1817497"/>
            </a:xfrm>
            <a:custGeom>
              <a:avLst/>
              <a:gdLst/>
              <a:ahLst/>
              <a:cxnLst/>
              <a:rect r="r" b="b" t="t" l="l"/>
              <a:pathLst>
                <a:path h="1817497" w="1846199">
                  <a:moveTo>
                    <a:pt x="0" y="0"/>
                  </a:moveTo>
                  <a:lnTo>
                    <a:pt x="1846199" y="0"/>
                  </a:lnTo>
                  <a:lnTo>
                    <a:pt x="1846199" y="1817497"/>
                  </a:lnTo>
                  <a:lnTo>
                    <a:pt x="0" y="1817497"/>
                  </a:lnTo>
                  <a:lnTo>
                    <a:pt x="0" y="0"/>
                  </a:lnTo>
                  <a:close/>
                </a:path>
              </a:pathLst>
            </a:custGeom>
            <a:blipFill>
              <a:blip r:embed="rId4"/>
              <a:stretch>
                <a:fillRect l="-344" t="0" r="-344" b="0"/>
              </a:stretch>
            </a:blipFill>
          </p:spPr>
        </p:sp>
      </p:grpSp>
      <p:sp>
        <p:nvSpPr>
          <p:cNvPr name="TextBox 5" id="5"/>
          <p:cNvSpPr txBox="true"/>
          <p:nvPr/>
        </p:nvSpPr>
        <p:spPr>
          <a:xfrm rot="0">
            <a:off x="1386350" y="1416409"/>
            <a:ext cx="14189863" cy="1915127"/>
          </a:xfrm>
          <a:prstGeom prst="rect">
            <a:avLst/>
          </a:prstGeom>
        </p:spPr>
        <p:txBody>
          <a:bodyPr anchor="t" rtlCol="false" tIns="0" lIns="0" bIns="0" rIns="0">
            <a:spAutoFit/>
          </a:bodyPr>
          <a:lstStyle/>
          <a:p>
            <a:pPr algn="l">
              <a:lnSpc>
                <a:spcPts val="8065"/>
              </a:lnSpc>
            </a:pPr>
            <a:r>
              <a:rPr lang="en-US" sz="6727" b="true">
                <a:solidFill>
                  <a:srgbClr val="404040"/>
                </a:solidFill>
                <a:latin typeface="Arial Bold"/>
                <a:ea typeface="Arial Bold"/>
                <a:cs typeface="Arial Bold"/>
                <a:sym typeface="Arial Bold"/>
              </a:rPr>
              <a:t>Disol Motor´s</a:t>
            </a:r>
          </a:p>
          <a:p>
            <a:pPr algn="l">
              <a:lnSpc>
                <a:spcPts val="6869"/>
              </a:lnSpc>
            </a:pPr>
            <a:r>
              <a:rPr lang="en-US" b="true" sz="5727">
                <a:solidFill>
                  <a:srgbClr val="404040"/>
                </a:solidFill>
                <a:latin typeface="Arial Bold"/>
                <a:ea typeface="Arial Bold"/>
                <a:cs typeface="Arial Bold"/>
                <a:sym typeface="Arial Bold"/>
              </a:rPr>
              <a:t>Sistema de Informacion</a:t>
            </a:r>
          </a:p>
        </p:txBody>
      </p:sp>
      <p:sp>
        <p:nvSpPr>
          <p:cNvPr name="TextBox 6" id="6"/>
          <p:cNvSpPr txBox="true"/>
          <p:nvPr/>
        </p:nvSpPr>
        <p:spPr>
          <a:xfrm rot="0">
            <a:off x="587826" y="426244"/>
            <a:ext cx="4242587" cy="249879"/>
          </a:xfrm>
          <a:prstGeom prst="rect">
            <a:avLst/>
          </a:prstGeom>
        </p:spPr>
        <p:txBody>
          <a:bodyPr anchor="t" rtlCol="false" tIns="0" lIns="0" bIns="0" rIns="0">
            <a:spAutoFit/>
          </a:bodyPr>
          <a:lstStyle/>
          <a:p>
            <a:pPr algn="l">
              <a:lnSpc>
                <a:spcPts val="1800"/>
              </a:lnSpc>
            </a:pPr>
            <a:r>
              <a:rPr lang="en-US" b="true" sz="1500">
                <a:solidFill>
                  <a:srgbClr val="4D4D4C"/>
                </a:solidFill>
                <a:latin typeface="Work Sans Bold"/>
                <a:ea typeface="Work Sans Bold"/>
                <a:cs typeface="Work Sans Bold"/>
                <a:sym typeface="Work Sans Bold"/>
              </a:rPr>
              <a:t>Clasificación de la información: Pública</a:t>
            </a:r>
          </a:p>
        </p:txBody>
      </p:sp>
      <p:sp>
        <p:nvSpPr>
          <p:cNvPr name="TextBox 7" id="7"/>
          <p:cNvSpPr txBox="true"/>
          <p:nvPr/>
        </p:nvSpPr>
        <p:spPr>
          <a:xfrm rot="0">
            <a:off x="1714424" y="5727859"/>
            <a:ext cx="6690903" cy="949452"/>
          </a:xfrm>
          <a:prstGeom prst="rect">
            <a:avLst/>
          </a:prstGeom>
        </p:spPr>
        <p:txBody>
          <a:bodyPr anchor="t" rtlCol="false" tIns="0" lIns="0" bIns="0" rIns="0">
            <a:spAutoFit/>
          </a:bodyPr>
          <a:lstStyle/>
          <a:p>
            <a:pPr algn="l">
              <a:lnSpc>
                <a:spcPts val="2483"/>
              </a:lnSpc>
            </a:pPr>
            <a:r>
              <a:rPr lang="en-US" sz="1800">
                <a:solidFill>
                  <a:srgbClr val="000000"/>
                </a:solidFill>
                <a:latin typeface="Arial"/>
                <a:ea typeface="Arial"/>
                <a:cs typeface="Arial"/>
                <a:sym typeface="Arial"/>
              </a:rPr>
              <a:t>Kevin Barreto</a:t>
            </a:r>
            <a:r>
              <a:rPr lang="en-US" sz="1800">
                <a:solidFill>
                  <a:srgbClr val="000000"/>
                </a:solidFill>
                <a:latin typeface="Arial"/>
                <a:ea typeface="Arial"/>
                <a:cs typeface="Arial"/>
                <a:sym typeface="Arial"/>
              </a:rPr>
              <a:t>- Product owner </a:t>
            </a:r>
          </a:p>
          <a:p>
            <a:pPr algn="l">
              <a:lnSpc>
                <a:spcPts val="2483"/>
              </a:lnSpc>
            </a:pPr>
            <a:r>
              <a:rPr lang="en-US" sz="1800">
                <a:solidFill>
                  <a:srgbClr val="000000"/>
                </a:solidFill>
                <a:latin typeface="Arial"/>
                <a:ea typeface="Arial"/>
                <a:cs typeface="Arial"/>
                <a:sym typeface="Arial"/>
              </a:rPr>
              <a:t>Joseph Zapata- Scrum master</a:t>
            </a:r>
          </a:p>
          <a:p>
            <a:pPr algn="l">
              <a:lnSpc>
                <a:spcPts val="2483"/>
              </a:lnSpc>
            </a:pPr>
            <a:r>
              <a:rPr lang="en-US" sz="1800">
                <a:solidFill>
                  <a:srgbClr val="000000"/>
                </a:solidFill>
                <a:latin typeface="Arial"/>
                <a:ea typeface="Arial"/>
                <a:cs typeface="Arial"/>
                <a:sym typeface="Arial"/>
              </a:rPr>
              <a:t>Sneider Plata-Development leader</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11520" y="1179576"/>
            <a:ext cx="16184699" cy="1165950"/>
            <a:chOff x="0" y="0"/>
            <a:chExt cx="21579599" cy="1554600"/>
          </a:xfrm>
        </p:grpSpPr>
        <p:sp>
          <p:nvSpPr>
            <p:cNvPr name="Freeform 4" id="4"/>
            <p:cNvSpPr/>
            <p:nvPr/>
          </p:nvSpPr>
          <p:spPr>
            <a:xfrm flipH="false" flipV="false" rot="0">
              <a:off x="0" y="0"/>
              <a:ext cx="21579601" cy="1554606"/>
            </a:xfrm>
            <a:custGeom>
              <a:avLst/>
              <a:gdLst/>
              <a:ahLst/>
              <a:cxnLst/>
              <a:rect r="r" b="b" t="t" l="l"/>
              <a:pathLst>
                <a:path h="1554606" w="21579601">
                  <a:moveTo>
                    <a:pt x="0" y="0"/>
                  </a:moveTo>
                  <a:lnTo>
                    <a:pt x="21579601" y="0"/>
                  </a:lnTo>
                  <a:lnTo>
                    <a:pt x="21579601" y="1554606"/>
                  </a:lnTo>
                  <a:lnTo>
                    <a:pt x="0" y="1554606"/>
                  </a:lnTo>
                  <a:close/>
                </a:path>
              </a:pathLst>
            </a:custGeom>
            <a:blipFill>
              <a:blip r:embed="rId4">
                <a:alphaModFix amt="0"/>
              </a:blip>
              <a:stretch>
                <a:fillRect l="0" t="-220473" r="0" b="-220472"/>
              </a:stretch>
            </a:blipFill>
          </p:spPr>
        </p:sp>
        <p:sp>
          <p:nvSpPr>
            <p:cNvPr name="TextBox 5" id="5"/>
            <p:cNvSpPr txBox="true"/>
            <p:nvPr/>
          </p:nvSpPr>
          <p:spPr>
            <a:xfrm>
              <a:off x="0" y="0"/>
              <a:ext cx="21579599" cy="1554600"/>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¿Qué es DMI?</a:t>
              </a:r>
            </a:p>
          </p:txBody>
        </p:sp>
      </p:grpSp>
      <p:grpSp>
        <p:nvGrpSpPr>
          <p:cNvPr name="Group 6" id="6"/>
          <p:cNvGrpSpPr/>
          <p:nvPr/>
        </p:nvGrpSpPr>
        <p:grpSpPr>
          <a:xfrm rot="0">
            <a:off x="811520" y="2592324"/>
            <a:ext cx="8915400" cy="1581506"/>
            <a:chOff x="0" y="0"/>
            <a:chExt cx="11887200" cy="2108674"/>
          </a:xfrm>
        </p:grpSpPr>
        <p:sp>
          <p:nvSpPr>
            <p:cNvPr name="Freeform 7" id="7"/>
            <p:cNvSpPr/>
            <p:nvPr/>
          </p:nvSpPr>
          <p:spPr>
            <a:xfrm flipH="false" flipV="false" rot="0">
              <a:off x="0" y="0"/>
              <a:ext cx="11887200" cy="2108668"/>
            </a:xfrm>
            <a:custGeom>
              <a:avLst/>
              <a:gdLst/>
              <a:ahLst/>
              <a:cxnLst/>
              <a:rect r="r" b="b" t="t" l="l"/>
              <a:pathLst>
                <a:path h="2108668" w="11887200">
                  <a:moveTo>
                    <a:pt x="0" y="0"/>
                  </a:moveTo>
                  <a:lnTo>
                    <a:pt x="11887200" y="0"/>
                  </a:lnTo>
                  <a:lnTo>
                    <a:pt x="11887200" y="2108668"/>
                  </a:lnTo>
                  <a:lnTo>
                    <a:pt x="0" y="2108668"/>
                  </a:lnTo>
                  <a:close/>
                </a:path>
              </a:pathLst>
            </a:custGeom>
            <a:blipFill>
              <a:blip r:embed="rId4">
                <a:alphaModFix amt="0"/>
              </a:blip>
              <a:stretch>
                <a:fillRect l="0" t="-59977" r="0" b="-59708"/>
              </a:stretch>
            </a:blipFill>
          </p:spPr>
        </p:sp>
        <p:sp>
          <p:nvSpPr>
            <p:cNvPr name="TextBox 8" id="8"/>
            <p:cNvSpPr txBox="true"/>
            <p:nvPr/>
          </p:nvSpPr>
          <p:spPr>
            <a:xfrm>
              <a:off x="0" y="-85725"/>
              <a:ext cx="11887200" cy="2194399"/>
            </a:xfrm>
            <a:prstGeom prst="rect">
              <a:avLst/>
            </a:prstGeom>
          </p:spPr>
          <p:txBody>
            <a:bodyPr anchor="ctr" rtlCol="false" tIns="0" lIns="0" bIns="0" rIns="0"/>
            <a:lstStyle/>
            <a:p>
              <a:pPr algn="l">
                <a:lnSpc>
                  <a:spcPts val="3001"/>
                </a:lnSpc>
              </a:pPr>
              <a:r>
                <a:rPr lang="en-US" sz="2175">
                  <a:solidFill>
                    <a:srgbClr val="22292E"/>
                  </a:solidFill>
                  <a:latin typeface="Calibri (MS)"/>
                  <a:ea typeface="Calibri (MS)"/>
                  <a:cs typeface="Calibri (MS)"/>
                  <a:sym typeface="Calibri (MS)"/>
                </a:rPr>
                <a:t>Plataforma web de mecanica para Disol Motors Injection, es un sistema de información web diseñado para optimizar la gestión de un taller de mecánica automotriz. Su objetivo principal es facilitar la administración de vehículos, clientes, servicios, citas e inventario mediante una plataforma digital.</a:t>
              </a:r>
            </a:p>
          </p:txBody>
        </p:sp>
      </p:grpSp>
      <p:grpSp>
        <p:nvGrpSpPr>
          <p:cNvPr name="Group 9" id="9"/>
          <p:cNvGrpSpPr/>
          <p:nvPr/>
        </p:nvGrpSpPr>
        <p:grpSpPr>
          <a:xfrm rot="0">
            <a:off x="811520" y="4238244"/>
            <a:ext cx="6858000" cy="480146"/>
            <a:chOff x="0" y="0"/>
            <a:chExt cx="9144000" cy="640194"/>
          </a:xfrm>
        </p:grpSpPr>
        <p:sp>
          <p:nvSpPr>
            <p:cNvPr name="Freeform 10" id="10"/>
            <p:cNvSpPr/>
            <p:nvPr/>
          </p:nvSpPr>
          <p:spPr>
            <a:xfrm flipH="false" flipV="false" rot="0">
              <a:off x="0" y="0"/>
              <a:ext cx="9144000" cy="640200"/>
            </a:xfrm>
            <a:custGeom>
              <a:avLst/>
              <a:gdLst/>
              <a:ahLst/>
              <a:cxnLst/>
              <a:rect r="r" b="b" t="t" l="l"/>
              <a:pathLst>
                <a:path h="640200" w="9144000">
                  <a:moveTo>
                    <a:pt x="0" y="0"/>
                  </a:moveTo>
                  <a:lnTo>
                    <a:pt x="9144000" y="0"/>
                  </a:lnTo>
                  <a:lnTo>
                    <a:pt x="9144000" y="640200"/>
                  </a:lnTo>
                  <a:lnTo>
                    <a:pt x="0" y="640200"/>
                  </a:lnTo>
                  <a:close/>
                </a:path>
              </a:pathLst>
            </a:custGeom>
            <a:blipFill>
              <a:blip r:embed="rId4">
                <a:alphaModFix amt="0"/>
              </a:blip>
              <a:stretch>
                <a:fillRect l="0" t="-228305" r="0" b="-228305"/>
              </a:stretch>
            </a:blipFill>
          </p:spPr>
        </p:sp>
        <p:sp>
          <p:nvSpPr>
            <p:cNvPr name="TextBox 11" id="11"/>
            <p:cNvSpPr txBox="true"/>
            <p:nvPr/>
          </p:nvSpPr>
          <p:spPr>
            <a:xfrm>
              <a:off x="0" y="-47625"/>
              <a:ext cx="9144000" cy="687819"/>
            </a:xfrm>
            <a:prstGeom prst="rect">
              <a:avLst/>
            </a:prstGeom>
          </p:spPr>
          <p:txBody>
            <a:bodyPr anchor="ctr" rtlCol="false" tIns="0" lIns="0" bIns="0" rIns="0"/>
            <a:lstStyle/>
            <a:p>
              <a:pPr algn="l">
                <a:lnSpc>
                  <a:spcPts val="2520"/>
                </a:lnSpc>
              </a:pPr>
              <a:r>
                <a:rPr lang="en-US" b="true" sz="2100">
                  <a:solidFill>
                    <a:srgbClr val="00304D"/>
                  </a:solidFill>
                  <a:latin typeface="Calibri (MS) Bold"/>
                  <a:ea typeface="Calibri (MS) Bold"/>
                  <a:cs typeface="Calibri (MS) Bold"/>
                  <a:sym typeface="Calibri (MS) Bold"/>
                </a:rPr>
                <a:t>El sistema permite:</a:t>
              </a:r>
            </a:p>
          </p:txBody>
        </p:sp>
      </p:grpSp>
      <p:grpSp>
        <p:nvGrpSpPr>
          <p:cNvPr name="Group 12" id="12"/>
          <p:cNvGrpSpPr/>
          <p:nvPr/>
        </p:nvGrpSpPr>
        <p:grpSpPr>
          <a:xfrm rot="0">
            <a:off x="811520" y="4855464"/>
            <a:ext cx="521103" cy="521103"/>
            <a:chOff x="0" y="0"/>
            <a:chExt cx="694804" cy="694804"/>
          </a:xfrm>
        </p:grpSpPr>
        <p:sp>
          <p:nvSpPr>
            <p:cNvPr name="Freeform 13" id="13"/>
            <p:cNvSpPr/>
            <p:nvPr/>
          </p:nvSpPr>
          <p:spPr>
            <a:xfrm flipH="false" flipV="false" rot="0">
              <a:off x="0" y="0"/>
              <a:ext cx="694817" cy="694817"/>
            </a:xfrm>
            <a:custGeom>
              <a:avLst/>
              <a:gdLst/>
              <a:ahLst/>
              <a:cxnLst/>
              <a:rect r="r" b="b" t="t" l="l"/>
              <a:pathLst>
                <a:path h="694817" w="694817">
                  <a:moveTo>
                    <a:pt x="0" y="347345"/>
                  </a:moveTo>
                  <a:cubicBezTo>
                    <a:pt x="0" y="155575"/>
                    <a:pt x="155575" y="0"/>
                    <a:pt x="347345" y="0"/>
                  </a:cubicBezTo>
                  <a:cubicBezTo>
                    <a:pt x="539115" y="0"/>
                    <a:pt x="694817" y="155575"/>
                    <a:pt x="694817" y="347345"/>
                  </a:cubicBezTo>
                  <a:cubicBezTo>
                    <a:pt x="694817" y="539115"/>
                    <a:pt x="539242" y="694817"/>
                    <a:pt x="347345" y="694817"/>
                  </a:cubicBezTo>
                  <a:cubicBezTo>
                    <a:pt x="155448" y="694817"/>
                    <a:pt x="0" y="539242"/>
                    <a:pt x="0" y="347345"/>
                  </a:cubicBezTo>
                  <a:close/>
                </a:path>
              </a:pathLst>
            </a:custGeom>
            <a:solidFill>
              <a:srgbClr val="39A900"/>
            </a:solidFill>
          </p:spPr>
        </p:sp>
      </p:grpSp>
      <p:grpSp>
        <p:nvGrpSpPr>
          <p:cNvPr name="Group 14" id="14"/>
          <p:cNvGrpSpPr/>
          <p:nvPr/>
        </p:nvGrpSpPr>
        <p:grpSpPr>
          <a:xfrm rot="0">
            <a:off x="947033" y="4990976"/>
            <a:ext cx="250184" cy="250184"/>
            <a:chOff x="0" y="0"/>
            <a:chExt cx="333578" cy="333578"/>
          </a:xfrm>
        </p:grpSpPr>
        <p:sp>
          <p:nvSpPr>
            <p:cNvPr name="Freeform 15" id="15" descr="icons/window.png"/>
            <p:cNvSpPr/>
            <p:nvPr/>
          </p:nvSpPr>
          <p:spPr>
            <a:xfrm flipH="false" flipV="false" rot="0">
              <a:off x="0" y="0"/>
              <a:ext cx="333629" cy="333629"/>
            </a:xfrm>
            <a:custGeom>
              <a:avLst/>
              <a:gdLst/>
              <a:ahLst/>
              <a:cxnLst/>
              <a:rect r="r" b="b" t="t" l="l"/>
              <a:pathLst>
                <a:path h="333629" w="333629">
                  <a:moveTo>
                    <a:pt x="0" y="0"/>
                  </a:moveTo>
                  <a:lnTo>
                    <a:pt x="333629" y="0"/>
                  </a:lnTo>
                  <a:lnTo>
                    <a:pt x="333629" y="333629"/>
                  </a:lnTo>
                  <a:lnTo>
                    <a:pt x="0" y="333629"/>
                  </a:lnTo>
                  <a:lnTo>
                    <a:pt x="0" y="0"/>
                  </a:lnTo>
                  <a:close/>
                </a:path>
              </a:pathLst>
            </a:custGeom>
            <a:blipFill>
              <a:blip r:embed="rId5"/>
              <a:stretch>
                <a:fillRect l="0" t="0" r="15" b="15"/>
              </a:stretch>
            </a:blipFill>
          </p:spPr>
        </p:sp>
      </p:grpSp>
      <p:grpSp>
        <p:nvGrpSpPr>
          <p:cNvPr name="Group 16" id="16"/>
          <p:cNvGrpSpPr/>
          <p:nvPr/>
        </p:nvGrpSpPr>
        <p:grpSpPr>
          <a:xfrm rot="0">
            <a:off x="1565900" y="4814316"/>
            <a:ext cx="7955099" cy="603450"/>
            <a:chOff x="0" y="0"/>
            <a:chExt cx="10606799" cy="804600"/>
          </a:xfrm>
        </p:grpSpPr>
        <p:sp>
          <p:nvSpPr>
            <p:cNvPr name="Freeform 17" id="17"/>
            <p:cNvSpPr/>
            <p:nvPr/>
          </p:nvSpPr>
          <p:spPr>
            <a:xfrm flipH="false" flipV="false" rot="0">
              <a:off x="0" y="0"/>
              <a:ext cx="10606800" cy="804604"/>
            </a:xfrm>
            <a:custGeom>
              <a:avLst/>
              <a:gdLst/>
              <a:ahLst/>
              <a:cxnLst/>
              <a:rect r="r" b="b" t="t" l="l"/>
              <a:pathLst>
                <a:path h="804604" w="10606800">
                  <a:moveTo>
                    <a:pt x="0" y="0"/>
                  </a:moveTo>
                  <a:lnTo>
                    <a:pt x="10606800" y="0"/>
                  </a:lnTo>
                  <a:lnTo>
                    <a:pt x="10606800" y="804604"/>
                  </a:lnTo>
                  <a:lnTo>
                    <a:pt x="0" y="804604"/>
                  </a:lnTo>
                  <a:close/>
                </a:path>
              </a:pathLst>
            </a:custGeom>
            <a:blipFill>
              <a:blip r:embed="rId4">
                <a:alphaModFix amt="0"/>
              </a:blip>
              <a:stretch>
                <a:fillRect l="0" t="-206864" r="0" b="-206863"/>
              </a:stretch>
            </a:blipFill>
          </p:spPr>
        </p:sp>
        <p:sp>
          <p:nvSpPr>
            <p:cNvPr name="TextBox 18" id="18"/>
            <p:cNvSpPr txBox="true"/>
            <p:nvPr/>
          </p:nvSpPr>
          <p:spPr>
            <a:xfrm>
              <a:off x="0" y="-38100"/>
              <a:ext cx="10606799" cy="842700"/>
            </a:xfrm>
            <a:prstGeom prst="rect">
              <a:avLst/>
            </a:prstGeom>
          </p:spPr>
          <p:txBody>
            <a:bodyPr anchor="ctr" rtlCol="false" tIns="0" lIns="0" bIns="0" rIns="0"/>
            <a:lstStyle/>
            <a:p>
              <a:pPr algn="l">
                <a:lnSpc>
                  <a:spcPts val="2250"/>
                </a:lnSpc>
              </a:pPr>
              <a:r>
                <a:rPr lang="en-US" sz="1875">
                  <a:solidFill>
                    <a:srgbClr val="22292E"/>
                  </a:solidFill>
                  <a:latin typeface="Calibri (MS)"/>
                  <a:ea typeface="Calibri (MS)"/>
                  <a:cs typeface="Calibri (MS)"/>
                  <a:sym typeface="Calibri (MS)"/>
                </a:rPr>
                <a:t>Visualizar el catálogo de productos disponibles</a:t>
              </a:r>
            </a:p>
          </p:txBody>
        </p:sp>
      </p:grpSp>
      <p:grpSp>
        <p:nvGrpSpPr>
          <p:cNvPr name="Group 19" id="19"/>
          <p:cNvGrpSpPr/>
          <p:nvPr/>
        </p:nvGrpSpPr>
        <p:grpSpPr>
          <a:xfrm rot="0">
            <a:off x="811520" y="5623560"/>
            <a:ext cx="521103" cy="521103"/>
            <a:chOff x="0" y="0"/>
            <a:chExt cx="694804" cy="694804"/>
          </a:xfrm>
        </p:grpSpPr>
        <p:sp>
          <p:nvSpPr>
            <p:cNvPr name="Freeform 20" id="20"/>
            <p:cNvSpPr/>
            <p:nvPr/>
          </p:nvSpPr>
          <p:spPr>
            <a:xfrm flipH="false" flipV="false" rot="0">
              <a:off x="0" y="0"/>
              <a:ext cx="694817" cy="694817"/>
            </a:xfrm>
            <a:custGeom>
              <a:avLst/>
              <a:gdLst/>
              <a:ahLst/>
              <a:cxnLst/>
              <a:rect r="r" b="b" t="t" l="l"/>
              <a:pathLst>
                <a:path h="694817" w="694817">
                  <a:moveTo>
                    <a:pt x="0" y="347345"/>
                  </a:moveTo>
                  <a:cubicBezTo>
                    <a:pt x="0" y="155575"/>
                    <a:pt x="155575" y="0"/>
                    <a:pt x="347345" y="0"/>
                  </a:cubicBezTo>
                  <a:cubicBezTo>
                    <a:pt x="539115" y="0"/>
                    <a:pt x="694817" y="155575"/>
                    <a:pt x="694817" y="347345"/>
                  </a:cubicBezTo>
                  <a:cubicBezTo>
                    <a:pt x="694817" y="539115"/>
                    <a:pt x="539242" y="694817"/>
                    <a:pt x="347345" y="694817"/>
                  </a:cubicBezTo>
                  <a:cubicBezTo>
                    <a:pt x="155448" y="694817"/>
                    <a:pt x="0" y="539242"/>
                    <a:pt x="0" y="347345"/>
                  </a:cubicBezTo>
                  <a:close/>
                </a:path>
              </a:pathLst>
            </a:custGeom>
            <a:solidFill>
              <a:srgbClr val="39A900"/>
            </a:solidFill>
          </p:spPr>
        </p:sp>
      </p:grpSp>
      <p:grpSp>
        <p:nvGrpSpPr>
          <p:cNvPr name="Group 21" id="21"/>
          <p:cNvGrpSpPr/>
          <p:nvPr/>
        </p:nvGrpSpPr>
        <p:grpSpPr>
          <a:xfrm rot="0">
            <a:off x="947033" y="5759072"/>
            <a:ext cx="250184" cy="250184"/>
            <a:chOff x="0" y="0"/>
            <a:chExt cx="333578" cy="333578"/>
          </a:xfrm>
        </p:grpSpPr>
        <p:sp>
          <p:nvSpPr>
            <p:cNvPr name="Freeform 22" id="22" descr="icons/filter.png"/>
            <p:cNvSpPr/>
            <p:nvPr/>
          </p:nvSpPr>
          <p:spPr>
            <a:xfrm flipH="false" flipV="false" rot="0">
              <a:off x="0" y="0"/>
              <a:ext cx="333629" cy="333629"/>
            </a:xfrm>
            <a:custGeom>
              <a:avLst/>
              <a:gdLst/>
              <a:ahLst/>
              <a:cxnLst/>
              <a:rect r="r" b="b" t="t" l="l"/>
              <a:pathLst>
                <a:path h="333629" w="333629">
                  <a:moveTo>
                    <a:pt x="0" y="0"/>
                  </a:moveTo>
                  <a:lnTo>
                    <a:pt x="333629" y="0"/>
                  </a:lnTo>
                  <a:lnTo>
                    <a:pt x="333629" y="333629"/>
                  </a:lnTo>
                  <a:lnTo>
                    <a:pt x="0" y="333629"/>
                  </a:lnTo>
                  <a:lnTo>
                    <a:pt x="0" y="0"/>
                  </a:lnTo>
                  <a:close/>
                </a:path>
              </a:pathLst>
            </a:custGeom>
            <a:blipFill>
              <a:blip r:embed="rId6"/>
              <a:stretch>
                <a:fillRect l="0" t="0" r="15" b="15"/>
              </a:stretch>
            </a:blipFill>
          </p:spPr>
        </p:sp>
      </p:grpSp>
      <p:grpSp>
        <p:nvGrpSpPr>
          <p:cNvPr name="Group 23" id="23"/>
          <p:cNvGrpSpPr/>
          <p:nvPr/>
        </p:nvGrpSpPr>
        <p:grpSpPr>
          <a:xfrm rot="0">
            <a:off x="1565900" y="5582412"/>
            <a:ext cx="7955099" cy="603450"/>
            <a:chOff x="0" y="0"/>
            <a:chExt cx="10606799" cy="804600"/>
          </a:xfrm>
        </p:grpSpPr>
        <p:sp>
          <p:nvSpPr>
            <p:cNvPr name="Freeform 24" id="24"/>
            <p:cNvSpPr/>
            <p:nvPr/>
          </p:nvSpPr>
          <p:spPr>
            <a:xfrm flipH="false" flipV="false" rot="0">
              <a:off x="0" y="0"/>
              <a:ext cx="10606800" cy="804604"/>
            </a:xfrm>
            <a:custGeom>
              <a:avLst/>
              <a:gdLst/>
              <a:ahLst/>
              <a:cxnLst/>
              <a:rect r="r" b="b" t="t" l="l"/>
              <a:pathLst>
                <a:path h="804604" w="10606800">
                  <a:moveTo>
                    <a:pt x="0" y="0"/>
                  </a:moveTo>
                  <a:lnTo>
                    <a:pt x="10606800" y="0"/>
                  </a:lnTo>
                  <a:lnTo>
                    <a:pt x="10606800" y="804604"/>
                  </a:lnTo>
                  <a:lnTo>
                    <a:pt x="0" y="804604"/>
                  </a:lnTo>
                  <a:close/>
                </a:path>
              </a:pathLst>
            </a:custGeom>
            <a:blipFill>
              <a:blip r:embed="rId4">
                <a:alphaModFix amt="0"/>
              </a:blip>
              <a:stretch>
                <a:fillRect l="0" t="-206864" r="0" b="-206863"/>
              </a:stretch>
            </a:blipFill>
          </p:spPr>
        </p:sp>
        <p:sp>
          <p:nvSpPr>
            <p:cNvPr name="TextBox 25" id="25"/>
            <p:cNvSpPr txBox="true"/>
            <p:nvPr/>
          </p:nvSpPr>
          <p:spPr>
            <a:xfrm>
              <a:off x="0" y="-38100"/>
              <a:ext cx="10606799" cy="842700"/>
            </a:xfrm>
            <a:prstGeom prst="rect">
              <a:avLst/>
            </a:prstGeom>
          </p:spPr>
          <p:txBody>
            <a:bodyPr anchor="ctr" rtlCol="false" tIns="0" lIns="0" bIns="0" rIns="0"/>
            <a:lstStyle/>
            <a:p>
              <a:pPr algn="l">
                <a:lnSpc>
                  <a:spcPts val="2250"/>
                </a:lnSpc>
              </a:pPr>
              <a:r>
                <a:rPr lang="en-US" sz="1875">
                  <a:solidFill>
                    <a:srgbClr val="22292E"/>
                  </a:solidFill>
                  <a:latin typeface="Calibri (MS)"/>
                  <a:ea typeface="Calibri (MS)"/>
                  <a:cs typeface="Calibri (MS)"/>
                  <a:sym typeface="Calibri (MS)"/>
                </a:rPr>
                <a:t>Mantener un inventario completo sobre los servicios y citas agendadas</a:t>
              </a:r>
            </a:p>
          </p:txBody>
        </p:sp>
      </p:grpSp>
      <p:grpSp>
        <p:nvGrpSpPr>
          <p:cNvPr name="Group 26" id="26"/>
          <p:cNvGrpSpPr/>
          <p:nvPr/>
        </p:nvGrpSpPr>
        <p:grpSpPr>
          <a:xfrm rot="0">
            <a:off x="811520" y="6428232"/>
            <a:ext cx="521103" cy="521103"/>
            <a:chOff x="0" y="0"/>
            <a:chExt cx="694804" cy="694804"/>
          </a:xfrm>
        </p:grpSpPr>
        <p:sp>
          <p:nvSpPr>
            <p:cNvPr name="Freeform 27" id="27"/>
            <p:cNvSpPr/>
            <p:nvPr/>
          </p:nvSpPr>
          <p:spPr>
            <a:xfrm flipH="false" flipV="false" rot="0">
              <a:off x="0" y="0"/>
              <a:ext cx="694817" cy="694817"/>
            </a:xfrm>
            <a:custGeom>
              <a:avLst/>
              <a:gdLst/>
              <a:ahLst/>
              <a:cxnLst/>
              <a:rect r="r" b="b" t="t" l="l"/>
              <a:pathLst>
                <a:path h="694817" w="694817">
                  <a:moveTo>
                    <a:pt x="0" y="347345"/>
                  </a:moveTo>
                  <a:cubicBezTo>
                    <a:pt x="0" y="155575"/>
                    <a:pt x="155575" y="0"/>
                    <a:pt x="347345" y="0"/>
                  </a:cubicBezTo>
                  <a:cubicBezTo>
                    <a:pt x="539115" y="0"/>
                    <a:pt x="694817" y="155575"/>
                    <a:pt x="694817" y="347345"/>
                  </a:cubicBezTo>
                  <a:cubicBezTo>
                    <a:pt x="694817" y="539115"/>
                    <a:pt x="539242" y="694817"/>
                    <a:pt x="347345" y="694817"/>
                  </a:cubicBezTo>
                  <a:cubicBezTo>
                    <a:pt x="155448" y="694817"/>
                    <a:pt x="0" y="539242"/>
                    <a:pt x="0" y="347345"/>
                  </a:cubicBezTo>
                  <a:close/>
                </a:path>
              </a:pathLst>
            </a:custGeom>
            <a:solidFill>
              <a:srgbClr val="39A900"/>
            </a:solidFill>
          </p:spPr>
        </p:sp>
      </p:grpSp>
      <p:grpSp>
        <p:nvGrpSpPr>
          <p:cNvPr name="Group 28" id="28"/>
          <p:cNvGrpSpPr/>
          <p:nvPr/>
        </p:nvGrpSpPr>
        <p:grpSpPr>
          <a:xfrm rot="0">
            <a:off x="947033" y="6563744"/>
            <a:ext cx="250184" cy="250184"/>
            <a:chOff x="0" y="0"/>
            <a:chExt cx="333578" cy="333578"/>
          </a:xfrm>
        </p:grpSpPr>
        <p:sp>
          <p:nvSpPr>
            <p:cNvPr name="Freeform 29" id="29" descr="icons/cart.png"/>
            <p:cNvSpPr/>
            <p:nvPr/>
          </p:nvSpPr>
          <p:spPr>
            <a:xfrm flipH="false" flipV="false" rot="0">
              <a:off x="0" y="0"/>
              <a:ext cx="333629" cy="333629"/>
            </a:xfrm>
            <a:custGeom>
              <a:avLst/>
              <a:gdLst/>
              <a:ahLst/>
              <a:cxnLst/>
              <a:rect r="r" b="b" t="t" l="l"/>
              <a:pathLst>
                <a:path h="333629" w="333629">
                  <a:moveTo>
                    <a:pt x="0" y="0"/>
                  </a:moveTo>
                  <a:lnTo>
                    <a:pt x="333629" y="0"/>
                  </a:lnTo>
                  <a:lnTo>
                    <a:pt x="333629" y="333629"/>
                  </a:lnTo>
                  <a:lnTo>
                    <a:pt x="0" y="333629"/>
                  </a:lnTo>
                  <a:lnTo>
                    <a:pt x="0" y="0"/>
                  </a:lnTo>
                  <a:close/>
                </a:path>
              </a:pathLst>
            </a:custGeom>
            <a:blipFill>
              <a:blip r:embed="rId7"/>
              <a:stretch>
                <a:fillRect l="0" t="0" r="15" b="15"/>
              </a:stretch>
            </a:blipFill>
          </p:spPr>
        </p:sp>
      </p:grpSp>
      <p:grpSp>
        <p:nvGrpSpPr>
          <p:cNvPr name="Group 30" id="30"/>
          <p:cNvGrpSpPr/>
          <p:nvPr/>
        </p:nvGrpSpPr>
        <p:grpSpPr>
          <a:xfrm rot="0">
            <a:off x="1565900" y="6387084"/>
            <a:ext cx="7955099" cy="603450"/>
            <a:chOff x="0" y="0"/>
            <a:chExt cx="10606799" cy="804600"/>
          </a:xfrm>
        </p:grpSpPr>
        <p:sp>
          <p:nvSpPr>
            <p:cNvPr name="Freeform 31" id="31"/>
            <p:cNvSpPr/>
            <p:nvPr/>
          </p:nvSpPr>
          <p:spPr>
            <a:xfrm flipH="false" flipV="false" rot="0">
              <a:off x="0" y="0"/>
              <a:ext cx="10606800" cy="804604"/>
            </a:xfrm>
            <a:custGeom>
              <a:avLst/>
              <a:gdLst/>
              <a:ahLst/>
              <a:cxnLst/>
              <a:rect r="r" b="b" t="t" l="l"/>
              <a:pathLst>
                <a:path h="804604" w="10606800">
                  <a:moveTo>
                    <a:pt x="0" y="0"/>
                  </a:moveTo>
                  <a:lnTo>
                    <a:pt x="10606800" y="0"/>
                  </a:lnTo>
                  <a:lnTo>
                    <a:pt x="10606800" y="804604"/>
                  </a:lnTo>
                  <a:lnTo>
                    <a:pt x="0" y="804604"/>
                  </a:lnTo>
                  <a:close/>
                </a:path>
              </a:pathLst>
            </a:custGeom>
            <a:blipFill>
              <a:blip r:embed="rId4">
                <a:alphaModFix amt="0"/>
              </a:blip>
              <a:stretch>
                <a:fillRect l="0" t="-206864" r="0" b="-206863"/>
              </a:stretch>
            </a:blipFill>
          </p:spPr>
        </p:sp>
        <p:sp>
          <p:nvSpPr>
            <p:cNvPr name="TextBox 32" id="32"/>
            <p:cNvSpPr txBox="true"/>
            <p:nvPr/>
          </p:nvSpPr>
          <p:spPr>
            <a:xfrm>
              <a:off x="0" y="-38100"/>
              <a:ext cx="10606799" cy="842700"/>
            </a:xfrm>
            <a:prstGeom prst="rect">
              <a:avLst/>
            </a:prstGeom>
          </p:spPr>
          <p:txBody>
            <a:bodyPr anchor="ctr" rtlCol="false" tIns="0" lIns="0" bIns="0" rIns="0"/>
            <a:lstStyle/>
            <a:p>
              <a:pPr algn="l">
                <a:lnSpc>
                  <a:spcPts val="2250"/>
                </a:lnSpc>
              </a:pPr>
              <a:r>
                <a:rPr lang="en-US" sz="1875">
                  <a:solidFill>
                    <a:srgbClr val="22292E"/>
                  </a:solidFill>
                  <a:latin typeface="Calibri (MS)"/>
                  <a:ea typeface="Calibri (MS)"/>
                  <a:cs typeface="Calibri (MS)"/>
                  <a:sym typeface="Calibri (MS)"/>
                </a:rPr>
                <a:t>Poder realizar compras en linea dentro del sitio web</a:t>
              </a:r>
            </a:p>
          </p:txBody>
        </p:sp>
      </p:grpSp>
      <p:grpSp>
        <p:nvGrpSpPr>
          <p:cNvPr name="Group 33" id="33"/>
          <p:cNvGrpSpPr/>
          <p:nvPr/>
        </p:nvGrpSpPr>
        <p:grpSpPr>
          <a:xfrm rot="0">
            <a:off x="10344140" y="2592324"/>
            <a:ext cx="7132501" cy="6926399"/>
            <a:chOff x="0" y="0"/>
            <a:chExt cx="9510001" cy="9235199"/>
          </a:xfrm>
        </p:grpSpPr>
        <p:sp>
          <p:nvSpPr>
            <p:cNvPr name="Freeform 34" id="34"/>
            <p:cNvSpPr/>
            <p:nvPr/>
          </p:nvSpPr>
          <p:spPr>
            <a:xfrm flipH="false" flipV="false" rot="0">
              <a:off x="0" y="0"/>
              <a:ext cx="9510014" cy="9235186"/>
            </a:xfrm>
            <a:custGeom>
              <a:avLst/>
              <a:gdLst/>
              <a:ahLst/>
              <a:cxnLst/>
              <a:rect r="r" b="b" t="t" l="l"/>
              <a:pathLst>
                <a:path h="9235186" w="9510014">
                  <a:moveTo>
                    <a:pt x="0" y="146304"/>
                  </a:moveTo>
                  <a:cubicBezTo>
                    <a:pt x="0" y="65532"/>
                    <a:pt x="65532" y="0"/>
                    <a:pt x="146304" y="0"/>
                  </a:cubicBezTo>
                  <a:lnTo>
                    <a:pt x="9363710" y="0"/>
                  </a:lnTo>
                  <a:cubicBezTo>
                    <a:pt x="9444482" y="0"/>
                    <a:pt x="9510014" y="65532"/>
                    <a:pt x="9510014" y="146304"/>
                  </a:cubicBezTo>
                  <a:lnTo>
                    <a:pt x="9510014" y="9088882"/>
                  </a:lnTo>
                  <a:cubicBezTo>
                    <a:pt x="9510014" y="9169653"/>
                    <a:pt x="9444482" y="9235186"/>
                    <a:pt x="9363710" y="9235186"/>
                  </a:cubicBezTo>
                  <a:lnTo>
                    <a:pt x="146304" y="9235186"/>
                  </a:lnTo>
                  <a:cubicBezTo>
                    <a:pt x="65532" y="9235186"/>
                    <a:pt x="0" y="9169654"/>
                    <a:pt x="0" y="9088882"/>
                  </a:cubicBezTo>
                  <a:close/>
                </a:path>
              </a:pathLst>
            </a:custGeom>
            <a:solidFill>
              <a:srgbClr val="00304D"/>
            </a:solidFill>
          </p:spPr>
        </p:sp>
      </p:grpSp>
      <p:grpSp>
        <p:nvGrpSpPr>
          <p:cNvPr name="Group 35" id="35"/>
          <p:cNvGrpSpPr/>
          <p:nvPr/>
        </p:nvGrpSpPr>
        <p:grpSpPr>
          <a:xfrm rot="0">
            <a:off x="10824200" y="2935224"/>
            <a:ext cx="6172200" cy="480146"/>
            <a:chOff x="0" y="0"/>
            <a:chExt cx="8229600" cy="640194"/>
          </a:xfrm>
        </p:grpSpPr>
        <p:sp>
          <p:nvSpPr>
            <p:cNvPr name="Freeform 36" id="36"/>
            <p:cNvSpPr/>
            <p:nvPr/>
          </p:nvSpPr>
          <p:spPr>
            <a:xfrm flipH="false" flipV="false" rot="0">
              <a:off x="0" y="0"/>
              <a:ext cx="8229600" cy="640200"/>
            </a:xfrm>
            <a:custGeom>
              <a:avLst/>
              <a:gdLst/>
              <a:ahLst/>
              <a:cxnLst/>
              <a:rect r="r" b="b" t="t" l="l"/>
              <a:pathLst>
                <a:path h="640200" w="8229600">
                  <a:moveTo>
                    <a:pt x="0" y="0"/>
                  </a:moveTo>
                  <a:lnTo>
                    <a:pt x="8229600" y="0"/>
                  </a:lnTo>
                  <a:lnTo>
                    <a:pt x="8229600" y="640200"/>
                  </a:lnTo>
                  <a:lnTo>
                    <a:pt x="0" y="640200"/>
                  </a:lnTo>
                  <a:close/>
                </a:path>
              </a:pathLst>
            </a:custGeom>
            <a:blipFill>
              <a:blip r:embed="rId4">
                <a:alphaModFix amt="0"/>
              </a:blip>
              <a:stretch>
                <a:fillRect l="0" t="-200475" r="0" b="-200474"/>
              </a:stretch>
            </a:blipFill>
          </p:spPr>
        </p:sp>
        <p:sp>
          <p:nvSpPr>
            <p:cNvPr name="TextBox 37" id="37"/>
            <p:cNvSpPr txBox="true"/>
            <p:nvPr/>
          </p:nvSpPr>
          <p:spPr>
            <a:xfrm>
              <a:off x="0" y="-38100"/>
              <a:ext cx="8229600" cy="678294"/>
            </a:xfrm>
            <a:prstGeom prst="rect">
              <a:avLst/>
            </a:prstGeom>
          </p:spPr>
          <p:txBody>
            <a:bodyPr anchor="ctr" rtlCol="false" tIns="0" lIns="0" bIns="0" rIns="0"/>
            <a:lstStyle/>
            <a:p>
              <a:pPr algn="l">
                <a:lnSpc>
                  <a:spcPts val="2160"/>
                </a:lnSpc>
              </a:pPr>
              <a:r>
                <a:rPr lang="en-US" b="true" sz="1800">
                  <a:solidFill>
                    <a:srgbClr val="FDC300"/>
                  </a:solidFill>
                  <a:latin typeface="Calibri (MS) Bold"/>
                  <a:ea typeface="Calibri (MS) Bold"/>
                  <a:cs typeface="Calibri (MS) Bold"/>
                  <a:sym typeface="Calibri (MS) Bold"/>
                </a:rPr>
                <a:t>STACK PRINCIPAL</a:t>
              </a:r>
            </a:p>
          </p:txBody>
        </p:sp>
      </p:grpSp>
      <p:grpSp>
        <p:nvGrpSpPr>
          <p:cNvPr name="Group 38" id="38"/>
          <p:cNvGrpSpPr/>
          <p:nvPr/>
        </p:nvGrpSpPr>
        <p:grpSpPr>
          <a:xfrm rot="0">
            <a:off x="10824200" y="3621024"/>
            <a:ext cx="754199" cy="754199"/>
            <a:chOff x="0" y="0"/>
            <a:chExt cx="1005599" cy="1005599"/>
          </a:xfrm>
        </p:grpSpPr>
        <p:sp>
          <p:nvSpPr>
            <p:cNvPr name="Freeform 39" id="39"/>
            <p:cNvSpPr/>
            <p:nvPr/>
          </p:nvSpPr>
          <p:spPr>
            <a:xfrm flipH="false" flipV="false" rot="0">
              <a:off x="0" y="0"/>
              <a:ext cx="1005586" cy="1005586"/>
            </a:xfrm>
            <a:custGeom>
              <a:avLst/>
              <a:gdLst/>
              <a:ahLst/>
              <a:cxnLst/>
              <a:rect r="r" b="b" t="t" l="l"/>
              <a:pathLst>
                <a:path h="1005586" w="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sp>
      </p:grpSp>
      <p:grpSp>
        <p:nvGrpSpPr>
          <p:cNvPr name="Group 40" id="40"/>
          <p:cNvGrpSpPr/>
          <p:nvPr/>
        </p:nvGrpSpPr>
        <p:grpSpPr>
          <a:xfrm rot="0">
            <a:off x="11020339" y="3817153"/>
            <a:ext cx="362102" cy="362102"/>
            <a:chOff x="0" y="0"/>
            <a:chExt cx="482803" cy="482803"/>
          </a:xfrm>
        </p:grpSpPr>
        <p:sp>
          <p:nvSpPr>
            <p:cNvPr name="Freeform 41" id="41" descr="icons/code.png"/>
            <p:cNvSpPr/>
            <p:nvPr/>
          </p:nvSpPr>
          <p:spPr>
            <a:xfrm flipH="false" flipV="false" rot="0">
              <a:off x="0" y="0"/>
              <a:ext cx="482854" cy="482854"/>
            </a:xfrm>
            <a:custGeom>
              <a:avLst/>
              <a:gdLst/>
              <a:ahLst/>
              <a:cxnLst/>
              <a:rect r="r" b="b" t="t" l="l"/>
              <a:pathLst>
                <a:path h="482854" w="482854">
                  <a:moveTo>
                    <a:pt x="0" y="0"/>
                  </a:moveTo>
                  <a:lnTo>
                    <a:pt x="482854" y="0"/>
                  </a:lnTo>
                  <a:lnTo>
                    <a:pt x="482854" y="482854"/>
                  </a:lnTo>
                  <a:lnTo>
                    <a:pt x="0" y="482854"/>
                  </a:lnTo>
                  <a:lnTo>
                    <a:pt x="0" y="0"/>
                  </a:lnTo>
                  <a:close/>
                </a:path>
              </a:pathLst>
            </a:custGeom>
            <a:blipFill>
              <a:blip r:embed="rId8"/>
              <a:stretch>
                <a:fillRect l="0" t="0" r="10" b="10"/>
              </a:stretch>
            </a:blipFill>
          </p:spPr>
        </p:sp>
      </p:grpSp>
      <p:grpSp>
        <p:nvGrpSpPr>
          <p:cNvPr name="Group 42" id="42"/>
          <p:cNvGrpSpPr/>
          <p:nvPr/>
        </p:nvGrpSpPr>
        <p:grpSpPr>
          <a:xfrm rot="0">
            <a:off x="11852900" y="3621024"/>
            <a:ext cx="5349154" cy="411299"/>
            <a:chOff x="0" y="0"/>
            <a:chExt cx="7132206" cy="548399"/>
          </a:xfrm>
        </p:grpSpPr>
        <p:sp>
          <p:nvSpPr>
            <p:cNvPr name="Freeform 43" id="43"/>
            <p:cNvSpPr/>
            <p:nvPr/>
          </p:nvSpPr>
          <p:spPr>
            <a:xfrm flipH="false" flipV="false" rot="0">
              <a:off x="0" y="0"/>
              <a:ext cx="7132200" cy="548400"/>
            </a:xfrm>
            <a:custGeom>
              <a:avLst/>
              <a:gdLst/>
              <a:ahLst/>
              <a:cxnLst/>
              <a:rect r="r" b="b" t="t" l="l"/>
              <a:pathLst>
                <a:path h="548400" w="7132200">
                  <a:moveTo>
                    <a:pt x="0" y="0"/>
                  </a:moveTo>
                  <a:lnTo>
                    <a:pt x="7132200" y="0"/>
                  </a:lnTo>
                  <a:lnTo>
                    <a:pt x="7132200" y="548400"/>
                  </a:lnTo>
                  <a:lnTo>
                    <a:pt x="0" y="548400"/>
                  </a:lnTo>
                  <a:close/>
                </a:path>
              </a:pathLst>
            </a:custGeom>
            <a:blipFill>
              <a:blip r:embed="rId4">
                <a:alphaModFix amt="0"/>
              </a:blip>
              <a:stretch>
                <a:fillRect l="0" t="-203412" r="0" b="-203412"/>
              </a:stretch>
            </a:blipFill>
          </p:spPr>
        </p:sp>
        <p:sp>
          <p:nvSpPr>
            <p:cNvPr name="TextBox 44" id="44"/>
            <p:cNvSpPr txBox="true"/>
            <p:nvPr/>
          </p:nvSpPr>
          <p:spPr>
            <a:xfrm>
              <a:off x="0" y="-47625"/>
              <a:ext cx="7132206" cy="596024"/>
            </a:xfrm>
            <a:prstGeom prst="rect">
              <a:avLst/>
            </a:prstGeom>
          </p:spPr>
          <p:txBody>
            <a:bodyPr anchor="ctr" rtlCol="false" tIns="0" lIns="0" bIns="0" rIns="0"/>
            <a:lstStyle/>
            <a:p>
              <a:pPr algn="l">
                <a:lnSpc>
                  <a:spcPts val="2340"/>
                </a:lnSpc>
              </a:pPr>
              <a:r>
                <a:rPr lang="en-US" b="true" sz="1950">
                  <a:solidFill>
                    <a:srgbClr val="FFFFFF"/>
                  </a:solidFill>
                  <a:latin typeface="Calibri (MS) Bold"/>
                  <a:ea typeface="Calibri (MS) Bold"/>
                  <a:cs typeface="Calibri (MS) Bold"/>
                  <a:sym typeface="Calibri (MS) Bold"/>
                </a:rPr>
                <a:t>Frontend</a:t>
              </a:r>
            </a:p>
          </p:txBody>
        </p:sp>
      </p:grpSp>
      <p:grpSp>
        <p:nvGrpSpPr>
          <p:cNvPr name="Group 45" id="45"/>
          <p:cNvGrpSpPr/>
          <p:nvPr/>
        </p:nvGrpSpPr>
        <p:grpSpPr>
          <a:xfrm rot="0">
            <a:off x="11852900" y="4018788"/>
            <a:ext cx="5349154" cy="411300"/>
            <a:chOff x="0" y="0"/>
            <a:chExt cx="7132206" cy="548400"/>
          </a:xfrm>
        </p:grpSpPr>
        <p:sp>
          <p:nvSpPr>
            <p:cNvPr name="Freeform 46" id="46"/>
            <p:cNvSpPr/>
            <p:nvPr/>
          </p:nvSpPr>
          <p:spPr>
            <a:xfrm flipH="false" flipV="false" rot="0">
              <a:off x="0" y="0"/>
              <a:ext cx="7132200" cy="548401"/>
            </a:xfrm>
            <a:custGeom>
              <a:avLst/>
              <a:gdLst/>
              <a:ahLst/>
              <a:cxnLst/>
              <a:rect r="r" b="b" t="t" l="l"/>
              <a:pathLst>
                <a:path h="548401" w="7132200">
                  <a:moveTo>
                    <a:pt x="0" y="0"/>
                  </a:moveTo>
                  <a:lnTo>
                    <a:pt x="7132200" y="0"/>
                  </a:lnTo>
                  <a:lnTo>
                    <a:pt x="7132200" y="548401"/>
                  </a:lnTo>
                  <a:lnTo>
                    <a:pt x="0" y="548401"/>
                  </a:lnTo>
                  <a:close/>
                </a:path>
              </a:pathLst>
            </a:custGeom>
            <a:blipFill>
              <a:blip r:embed="rId4">
                <a:alphaModFix amt="0"/>
              </a:blip>
              <a:stretch>
                <a:fillRect l="0" t="-203411" r="0" b="-203411"/>
              </a:stretch>
            </a:blipFill>
          </p:spPr>
        </p:sp>
        <p:sp>
          <p:nvSpPr>
            <p:cNvPr name="TextBox 47" id="47"/>
            <p:cNvSpPr txBox="true"/>
            <p:nvPr/>
          </p:nvSpPr>
          <p:spPr>
            <a:xfrm>
              <a:off x="0" y="-28575"/>
              <a:ext cx="7132206" cy="576975"/>
            </a:xfrm>
            <a:prstGeom prst="rect">
              <a:avLst/>
            </a:prstGeom>
          </p:spPr>
          <p:txBody>
            <a:bodyPr anchor="ctr" rtlCol="false" tIns="0" lIns="0" bIns="0" rIns="0"/>
            <a:lstStyle/>
            <a:p>
              <a:pPr algn="l">
                <a:lnSpc>
                  <a:spcPts val="1980"/>
                </a:lnSpc>
              </a:pPr>
              <a:r>
                <a:rPr lang="en-US" sz="1650">
                  <a:solidFill>
                    <a:srgbClr val="B9CBD6"/>
                  </a:solidFill>
                  <a:latin typeface="Calibri (MS)"/>
                  <a:ea typeface="Calibri (MS)"/>
                  <a:cs typeface="Calibri (MS)"/>
                  <a:sym typeface="Calibri (MS)"/>
                </a:rPr>
                <a:t>React - JS - CSS - Boostrap</a:t>
              </a:r>
            </a:p>
          </p:txBody>
        </p:sp>
      </p:grpSp>
      <p:grpSp>
        <p:nvGrpSpPr>
          <p:cNvPr name="Group 48" id="48"/>
          <p:cNvGrpSpPr/>
          <p:nvPr/>
        </p:nvGrpSpPr>
        <p:grpSpPr>
          <a:xfrm rot="0">
            <a:off x="10824200" y="4800590"/>
            <a:ext cx="754199" cy="754199"/>
            <a:chOff x="0" y="0"/>
            <a:chExt cx="1005599" cy="1005599"/>
          </a:xfrm>
        </p:grpSpPr>
        <p:sp>
          <p:nvSpPr>
            <p:cNvPr name="Freeform 49" id="49"/>
            <p:cNvSpPr/>
            <p:nvPr/>
          </p:nvSpPr>
          <p:spPr>
            <a:xfrm flipH="false" flipV="false" rot="0">
              <a:off x="0" y="0"/>
              <a:ext cx="1005586" cy="1005586"/>
            </a:xfrm>
            <a:custGeom>
              <a:avLst/>
              <a:gdLst/>
              <a:ahLst/>
              <a:cxnLst/>
              <a:rect r="r" b="b" t="t" l="l"/>
              <a:pathLst>
                <a:path h="1005586" w="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sp>
      </p:grpSp>
      <p:grpSp>
        <p:nvGrpSpPr>
          <p:cNvPr name="Group 50" id="50"/>
          <p:cNvGrpSpPr/>
          <p:nvPr/>
        </p:nvGrpSpPr>
        <p:grpSpPr>
          <a:xfrm rot="0">
            <a:off x="11020339" y="4996729"/>
            <a:ext cx="362102" cy="362102"/>
            <a:chOff x="0" y="0"/>
            <a:chExt cx="482803" cy="482803"/>
          </a:xfrm>
        </p:grpSpPr>
        <p:sp>
          <p:nvSpPr>
            <p:cNvPr name="Freeform 51" id="51" descr="icons/server.png"/>
            <p:cNvSpPr/>
            <p:nvPr/>
          </p:nvSpPr>
          <p:spPr>
            <a:xfrm flipH="false" flipV="false" rot="0">
              <a:off x="0" y="0"/>
              <a:ext cx="482854" cy="482854"/>
            </a:xfrm>
            <a:custGeom>
              <a:avLst/>
              <a:gdLst/>
              <a:ahLst/>
              <a:cxnLst/>
              <a:rect r="r" b="b" t="t" l="l"/>
              <a:pathLst>
                <a:path h="482854" w="482854">
                  <a:moveTo>
                    <a:pt x="0" y="0"/>
                  </a:moveTo>
                  <a:lnTo>
                    <a:pt x="482854" y="0"/>
                  </a:lnTo>
                  <a:lnTo>
                    <a:pt x="482854" y="482854"/>
                  </a:lnTo>
                  <a:lnTo>
                    <a:pt x="0" y="482854"/>
                  </a:lnTo>
                  <a:lnTo>
                    <a:pt x="0" y="0"/>
                  </a:lnTo>
                  <a:close/>
                </a:path>
              </a:pathLst>
            </a:custGeom>
            <a:blipFill>
              <a:blip r:embed="rId9"/>
              <a:stretch>
                <a:fillRect l="0" t="0" r="10" b="10"/>
              </a:stretch>
            </a:blipFill>
          </p:spPr>
        </p:sp>
      </p:grpSp>
      <p:grpSp>
        <p:nvGrpSpPr>
          <p:cNvPr name="Group 52" id="52"/>
          <p:cNvGrpSpPr/>
          <p:nvPr/>
        </p:nvGrpSpPr>
        <p:grpSpPr>
          <a:xfrm rot="0">
            <a:off x="11852900" y="4800590"/>
            <a:ext cx="5349154" cy="411299"/>
            <a:chOff x="0" y="0"/>
            <a:chExt cx="7132206" cy="548399"/>
          </a:xfrm>
        </p:grpSpPr>
        <p:sp>
          <p:nvSpPr>
            <p:cNvPr name="Freeform 53" id="53"/>
            <p:cNvSpPr/>
            <p:nvPr/>
          </p:nvSpPr>
          <p:spPr>
            <a:xfrm flipH="false" flipV="false" rot="0">
              <a:off x="0" y="0"/>
              <a:ext cx="7132200" cy="548400"/>
            </a:xfrm>
            <a:custGeom>
              <a:avLst/>
              <a:gdLst/>
              <a:ahLst/>
              <a:cxnLst/>
              <a:rect r="r" b="b" t="t" l="l"/>
              <a:pathLst>
                <a:path h="548400" w="7132200">
                  <a:moveTo>
                    <a:pt x="0" y="0"/>
                  </a:moveTo>
                  <a:lnTo>
                    <a:pt x="7132200" y="0"/>
                  </a:lnTo>
                  <a:lnTo>
                    <a:pt x="7132200" y="548400"/>
                  </a:lnTo>
                  <a:lnTo>
                    <a:pt x="0" y="548400"/>
                  </a:lnTo>
                  <a:close/>
                </a:path>
              </a:pathLst>
            </a:custGeom>
            <a:blipFill>
              <a:blip r:embed="rId4">
                <a:alphaModFix amt="0"/>
              </a:blip>
              <a:stretch>
                <a:fillRect l="0" t="-203412" r="0" b="-203412"/>
              </a:stretch>
            </a:blipFill>
          </p:spPr>
        </p:sp>
        <p:sp>
          <p:nvSpPr>
            <p:cNvPr name="TextBox 54" id="54"/>
            <p:cNvSpPr txBox="true"/>
            <p:nvPr/>
          </p:nvSpPr>
          <p:spPr>
            <a:xfrm>
              <a:off x="0" y="-47625"/>
              <a:ext cx="7132206" cy="596024"/>
            </a:xfrm>
            <a:prstGeom prst="rect">
              <a:avLst/>
            </a:prstGeom>
          </p:spPr>
          <p:txBody>
            <a:bodyPr anchor="ctr" rtlCol="false" tIns="0" lIns="0" bIns="0" rIns="0"/>
            <a:lstStyle/>
            <a:p>
              <a:pPr algn="l">
                <a:lnSpc>
                  <a:spcPts val="2340"/>
                </a:lnSpc>
              </a:pPr>
              <a:r>
                <a:rPr lang="en-US" b="true" sz="1950">
                  <a:solidFill>
                    <a:srgbClr val="FFFFFF"/>
                  </a:solidFill>
                  <a:latin typeface="Calibri (MS) Bold"/>
                  <a:ea typeface="Calibri (MS) Bold"/>
                  <a:cs typeface="Calibri (MS) Bold"/>
                  <a:sym typeface="Calibri (MS) Bold"/>
                </a:rPr>
                <a:t>Backend</a:t>
              </a:r>
            </a:p>
          </p:txBody>
        </p:sp>
      </p:grpSp>
      <p:grpSp>
        <p:nvGrpSpPr>
          <p:cNvPr name="Group 55" id="55"/>
          <p:cNvGrpSpPr/>
          <p:nvPr/>
        </p:nvGrpSpPr>
        <p:grpSpPr>
          <a:xfrm rot="0">
            <a:off x="11852900" y="5198364"/>
            <a:ext cx="5349154" cy="411300"/>
            <a:chOff x="0" y="0"/>
            <a:chExt cx="7132206" cy="548400"/>
          </a:xfrm>
        </p:grpSpPr>
        <p:sp>
          <p:nvSpPr>
            <p:cNvPr name="Freeform 56" id="56"/>
            <p:cNvSpPr/>
            <p:nvPr/>
          </p:nvSpPr>
          <p:spPr>
            <a:xfrm flipH="false" flipV="false" rot="0">
              <a:off x="0" y="0"/>
              <a:ext cx="7132200" cy="548401"/>
            </a:xfrm>
            <a:custGeom>
              <a:avLst/>
              <a:gdLst/>
              <a:ahLst/>
              <a:cxnLst/>
              <a:rect r="r" b="b" t="t" l="l"/>
              <a:pathLst>
                <a:path h="548401" w="7132200">
                  <a:moveTo>
                    <a:pt x="0" y="0"/>
                  </a:moveTo>
                  <a:lnTo>
                    <a:pt x="7132200" y="0"/>
                  </a:lnTo>
                  <a:lnTo>
                    <a:pt x="7132200" y="548401"/>
                  </a:lnTo>
                  <a:lnTo>
                    <a:pt x="0" y="548401"/>
                  </a:lnTo>
                  <a:close/>
                </a:path>
              </a:pathLst>
            </a:custGeom>
            <a:blipFill>
              <a:blip r:embed="rId4">
                <a:alphaModFix amt="0"/>
              </a:blip>
              <a:stretch>
                <a:fillRect l="0" t="-203411" r="0" b="-203411"/>
              </a:stretch>
            </a:blipFill>
          </p:spPr>
        </p:sp>
        <p:sp>
          <p:nvSpPr>
            <p:cNvPr name="TextBox 57" id="57"/>
            <p:cNvSpPr txBox="true"/>
            <p:nvPr/>
          </p:nvSpPr>
          <p:spPr>
            <a:xfrm>
              <a:off x="0" y="-28575"/>
              <a:ext cx="7132206" cy="576975"/>
            </a:xfrm>
            <a:prstGeom prst="rect">
              <a:avLst/>
            </a:prstGeom>
          </p:spPr>
          <p:txBody>
            <a:bodyPr anchor="ctr" rtlCol="false" tIns="0" lIns="0" bIns="0" rIns="0"/>
            <a:lstStyle/>
            <a:p>
              <a:pPr algn="l">
                <a:lnSpc>
                  <a:spcPts val="1980"/>
                </a:lnSpc>
              </a:pPr>
              <a:r>
                <a:rPr lang="en-US" sz="1650">
                  <a:solidFill>
                    <a:srgbClr val="B9CBD6"/>
                  </a:solidFill>
                  <a:latin typeface="Calibri (MS)"/>
                  <a:ea typeface="Calibri (MS)"/>
                  <a:cs typeface="Calibri (MS)"/>
                  <a:sym typeface="Calibri (MS)"/>
                </a:rPr>
                <a:t>Python Fast api</a:t>
              </a:r>
            </a:p>
          </p:txBody>
        </p:sp>
      </p:grpSp>
      <p:grpSp>
        <p:nvGrpSpPr>
          <p:cNvPr name="Group 58" id="58"/>
          <p:cNvGrpSpPr/>
          <p:nvPr/>
        </p:nvGrpSpPr>
        <p:grpSpPr>
          <a:xfrm rot="0">
            <a:off x="10824200" y="5980176"/>
            <a:ext cx="754199" cy="754199"/>
            <a:chOff x="0" y="0"/>
            <a:chExt cx="1005599" cy="1005599"/>
          </a:xfrm>
        </p:grpSpPr>
        <p:sp>
          <p:nvSpPr>
            <p:cNvPr name="Freeform 59" id="59"/>
            <p:cNvSpPr/>
            <p:nvPr/>
          </p:nvSpPr>
          <p:spPr>
            <a:xfrm flipH="false" flipV="false" rot="0">
              <a:off x="0" y="0"/>
              <a:ext cx="1005586" cy="1005586"/>
            </a:xfrm>
            <a:custGeom>
              <a:avLst/>
              <a:gdLst/>
              <a:ahLst/>
              <a:cxnLst/>
              <a:rect r="r" b="b" t="t" l="l"/>
              <a:pathLst>
                <a:path h="1005586" w="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sp>
      </p:grpSp>
      <p:grpSp>
        <p:nvGrpSpPr>
          <p:cNvPr name="Group 60" id="60"/>
          <p:cNvGrpSpPr/>
          <p:nvPr/>
        </p:nvGrpSpPr>
        <p:grpSpPr>
          <a:xfrm rot="0">
            <a:off x="11020339" y="6176305"/>
            <a:ext cx="362102" cy="362102"/>
            <a:chOff x="0" y="0"/>
            <a:chExt cx="482803" cy="482803"/>
          </a:xfrm>
        </p:grpSpPr>
        <p:sp>
          <p:nvSpPr>
            <p:cNvPr name="Freeform 61" id="61" descr="icons/database.png"/>
            <p:cNvSpPr/>
            <p:nvPr/>
          </p:nvSpPr>
          <p:spPr>
            <a:xfrm flipH="false" flipV="false" rot="0">
              <a:off x="0" y="0"/>
              <a:ext cx="482854" cy="482854"/>
            </a:xfrm>
            <a:custGeom>
              <a:avLst/>
              <a:gdLst/>
              <a:ahLst/>
              <a:cxnLst/>
              <a:rect r="r" b="b" t="t" l="l"/>
              <a:pathLst>
                <a:path h="482854" w="482854">
                  <a:moveTo>
                    <a:pt x="0" y="0"/>
                  </a:moveTo>
                  <a:lnTo>
                    <a:pt x="482854" y="0"/>
                  </a:lnTo>
                  <a:lnTo>
                    <a:pt x="482854" y="482854"/>
                  </a:lnTo>
                  <a:lnTo>
                    <a:pt x="0" y="482854"/>
                  </a:lnTo>
                  <a:lnTo>
                    <a:pt x="0" y="0"/>
                  </a:lnTo>
                  <a:close/>
                </a:path>
              </a:pathLst>
            </a:custGeom>
            <a:blipFill>
              <a:blip r:embed="rId10"/>
              <a:stretch>
                <a:fillRect l="0" t="0" r="10" b="10"/>
              </a:stretch>
            </a:blipFill>
          </p:spPr>
        </p:sp>
      </p:grpSp>
      <p:grpSp>
        <p:nvGrpSpPr>
          <p:cNvPr name="Group 62" id="62"/>
          <p:cNvGrpSpPr/>
          <p:nvPr/>
        </p:nvGrpSpPr>
        <p:grpSpPr>
          <a:xfrm rot="0">
            <a:off x="11852900" y="5980176"/>
            <a:ext cx="5349154" cy="411299"/>
            <a:chOff x="0" y="0"/>
            <a:chExt cx="7132206" cy="548399"/>
          </a:xfrm>
        </p:grpSpPr>
        <p:sp>
          <p:nvSpPr>
            <p:cNvPr name="Freeform 63" id="63"/>
            <p:cNvSpPr/>
            <p:nvPr/>
          </p:nvSpPr>
          <p:spPr>
            <a:xfrm flipH="false" flipV="false" rot="0">
              <a:off x="0" y="0"/>
              <a:ext cx="7132200" cy="548400"/>
            </a:xfrm>
            <a:custGeom>
              <a:avLst/>
              <a:gdLst/>
              <a:ahLst/>
              <a:cxnLst/>
              <a:rect r="r" b="b" t="t" l="l"/>
              <a:pathLst>
                <a:path h="548400" w="7132200">
                  <a:moveTo>
                    <a:pt x="0" y="0"/>
                  </a:moveTo>
                  <a:lnTo>
                    <a:pt x="7132200" y="0"/>
                  </a:lnTo>
                  <a:lnTo>
                    <a:pt x="7132200" y="548400"/>
                  </a:lnTo>
                  <a:lnTo>
                    <a:pt x="0" y="548400"/>
                  </a:lnTo>
                  <a:close/>
                </a:path>
              </a:pathLst>
            </a:custGeom>
            <a:blipFill>
              <a:blip r:embed="rId4">
                <a:alphaModFix amt="0"/>
              </a:blip>
              <a:stretch>
                <a:fillRect l="0" t="-203412" r="0" b="-203412"/>
              </a:stretch>
            </a:blipFill>
          </p:spPr>
        </p:sp>
        <p:sp>
          <p:nvSpPr>
            <p:cNvPr name="TextBox 64" id="64"/>
            <p:cNvSpPr txBox="true"/>
            <p:nvPr/>
          </p:nvSpPr>
          <p:spPr>
            <a:xfrm>
              <a:off x="0" y="-47625"/>
              <a:ext cx="7132206" cy="596024"/>
            </a:xfrm>
            <a:prstGeom prst="rect">
              <a:avLst/>
            </a:prstGeom>
          </p:spPr>
          <p:txBody>
            <a:bodyPr anchor="ctr" rtlCol="false" tIns="0" lIns="0" bIns="0" rIns="0"/>
            <a:lstStyle/>
            <a:p>
              <a:pPr algn="l">
                <a:lnSpc>
                  <a:spcPts val="2340"/>
                </a:lnSpc>
              </a:pPr>
              <a:r>
                <a:rPr lang="en-US" b="true" sz="1950">
                  <a:solidFill>
                    <a:srgbClr val="FFFFFF"/>
                  </a:solidFill>
                  <a:latin typeface="Calibri (MS) Bold"/>
                  <a:ea typeface="Calibri (MS) Bold"/>
                  <a:cs typeface="Calibri (MS) Bold"/>
                  <a:sym typeface="Calibri (MS) Bold"/>
                </a:rPr>
                <a:t>Base de datos</a:t>
              </a:r>
            </a:p>
          </p:txBody>
        </p:sp>
      </p:grpSp>
      <p:grpSp>
        <p:nvGrpSpPr>
          <p:cNvPr name="Group 65" id="65"/>
          <p:cNvGrpSpPr/>
          <p:nvPr/>
        </p:nvGrpSpPr>
        <p:grpSpPr>
          <a:xfrm rot="0">
            <a:off x="11852900" y="6377940"/>
            <a:ext cx="5349154" cy="411300"/>
            <a:chOff x="0" y="0"/>
            <a:chExt cx="7132206" cy="548400"/>
          </a:xfrm>
        </p:grpSpPr>
        <p:sp>
          <p:nvSpPr>
            <p:cNvPr name="Freeform 66" id="66"/>
            <p:cNvSpPr/>
            <p:nvPr/>
          </p:nvSpPr>
          <p:spPr>
            <a:xfrm flipH="false" flipV="false" rot="0">
              <a:off x="0" y="0"/>
              <a:ext cx="7132200" cy="548401"/>
            </a:xfrm>
            <a:custGeom>
              <a:avLst/>
              <a:gdLst/>
              <a:ahLst/>
              <a:cxnLst/>
              <a:rect r="r" b="b" t="t" l="l"/>
              <a:pathLst>
                <a:path h="548401" w="7132200">
                  <a:moveTo>
                    <a:pt x="0" y="0"/>
                  </a:moveTo>
                  <a:lnTo>
                    <a:pt x="7132200" y="0"/>
                  </a:lnTo>
                  <a:lnTo>
                    <a:pt x="7132200" y="548401"/>
                  </a:lnTo>
                  <a:lnTo>
                    <a:pt x="0" y="548401"/>
                  </a:lnTo>
                  <a:close/>
                </a:path>
              </a:pathLst>
            </a:custGeom>
            <a:blipFill>
              <a:blip r:embed="rId4">
                <a:alphaModFix amt="0"/>
              </a:blip>
              <a:stretch>
                <a:fillRect l="0" t="-203411" r="0" b="-203411"/>
              </a:stretch>
            </a:blipFill>
          </p:spPr>
        </p:sp>
        <p:sp>
          <p:nvSpPr>
            <p:cNvPr name="TextBox 67" id="67"/>
            <p:cNvSpPr txBox="true"/>
            <p:nvPr/>
          </p:nvSpPr>
          <p:spPr>
            <a:xfrm>
              <a:off x="0" y="-28575"/>
              <a:ext cx="7132206" cy="576975"/>
            </a:xfrm>
            <a:prstGeom prst="rect">
              <a:avLst/>
            </a:prstGeom>
          </p:spPr>
          <p:txBody>
            <a:bodyPr anchor="ctr" rtlCol="false" tIns="0" lIns="0" bIns="0" rIns="0"/>
            <a:lstStyle/>
            <a:p>
              <a:pPr algn="l">
                <a:lnSpc>
                  <a:spcPts val="1980"/>
                </a:lnSpc>
              </a:pPr>
              <a:r>
                <a:rPr lang="en-US" sz="1650">
                  <a:solidFill>
                    <a:srgbClr val="B9CBD6"/>
                  </a:solidFill>
                  <a:latin typeface="Calibri (MS)"/>
                  <a:ea typeface="Calibri (MS)"/>
                  <a:cs typeface="Calibri (MS)"/>
                  <a:sym typeface="Calibri (MS)"/>
                </a:rPr>
                <a:t>supabase(postgreSQL)</a:t>
              </a:r>
            </a:p>
          </p:txBody>
        </p:sp>
      </p:grpSp>
      <p:grpSp>
        <p:nvGrpSpPr>
          <p:cNvPr name="Group 68" id="68"/>
          <p:cNvGrpSpPr/>
          <p:nvPr/>
        </p:nvGrpSpPr>
        <p:grpSpPr>
          <a:xfrm rot="0">
            <a:off x="10824200" y="7159752"/>
            <a:ext cx="754199" cy="754199"/>
            <a:chOff x="0" y="0"/>
            <a:chExt cx="1005599" cy="1005599"/>
          </a:xfrm>
        </p:grpSpPr>
        <p:sp>
          <p:nvSpPr>
            <p:cNvPr name="Freeform 69" id="69"/>
            <p:cNvSpPr/>
            <p:nvPr/>
          </p:nvSpPr>
          <p:spPr>
            <a:xfrm flipH="false" flipV="false" rot="0">
              <a:off x="0" y="0"/>
              <a:ext cx="1005586" cy="1005586"/>
            </a:xfrm>
            <a:custGeom>
              <a:avLst/>
              <a:gdLst/>
              <a:ahLst/>
              <a:cxnLst/>
              <a:rect r="r" b="b" t="t" l="l"/>
              <a:pathLst>
                <a:path h="1005586" w="1005586">
                  <a:moveTo>
                    <a:pt x="0" y="502793"/>
                  </a:moveTo>
                  <a:cubicBezTo>
                    <a:pt x="0" y="225171"/>
                    <a:pt x="225171" y="0"/>
                    <a:pt x="502793" y="0"/>
                  </a:cubicBezTo>
                  <a:cubicBezTo>
                    <a:pt x="780415" y="0"/>
                    <a:pt x="1005586" y="225171"/>
                    <a:pt x="1005586" y="502793"/>
                  </a:cubicBezTo>
                  <a:cubicBezTo>
                    <a:pt x="1005586" y="780415"/>
                    <a:pt x="780542" y="1005586"/>
                    <a:pt x="502793" y="1005586"/>
                  </a:cubicBezTo>
                  <a:cubicBezTo>
                    <a:pt x="225044" y="1005586"/>
                    <a:pt x="0" y="780542"/>
                    <a:pt x="0" y="502793"/>
                  </a:cubicBezTo>
                  <a:close/>
                </a:path>
              </a:pathLst>
            </a:custGeom>
            <a:solidFill>
              <a:srgbClr val="39A900"/>
            </a:solidFill>
          </p:spPr>
        </p:sp>
      </p:grpSp>
      <p:grpSp>
        <p:nvGrpSpPr>
          <p:cNvPr name="Group 70" id="70"/>
          <p:cNvGrpSpPr/>
          <p:nvPr/>
        </p:nvGrpSpPr>
        <p:grpSpPr>
          <a:xfrm rot="0">
            <a:off x="11020339" y="7355881"/>
            <a:ext cx="362102" cy="362102"/>
            <a:chOff x="0" y="0"/>
            <a:chExt cx="482803" cy="482803"/>
          </a:xfrm>
        </p:grpSpPr>
        <p:sp>
          <p:nvSpPr>
            <p:cNvPr name="Freeform 71" id="71" descr="icons/cloud.png"/>
            <p:cNvSpPr/>
            <p:nvPr/>
          </p:nvSpPr>
          <p:spPr>
            <a:xfrm flipH="false" flipV="false" rot="0">
              <a:off x="0" y="0"/>
              <a:ext cx="482854" cy="482854"/>
            </a:xfrm>
            <a:custGeom>
              <a:avLst/>
              <a:gdLst/>
              <a:ahLst/>
              <a:cxnLst/>
              <a:rect r="r" b="b" t="t" l="l"/>
              <a:pathLst>
                <a:path h="482854" w="482854">
                  <a:moveTo>
                    <a:pt x="0" y="0"/>
                  </a:moveTo>
                  <a:lnTo>
                    <a:pt x="482854" y="0"/>
                  </a:lnTo>
                  <a:lnTo>
                    <a:pt x="482854" y="482854"/>
                  </a:lnTo>
                  <a:lnTo>
                    <a:pt x="0" y="482854"/>
                  </a:lnTo>
                  <a:lnTo>
                    <a:pt x="0" y="0"/>
                  </a:lnTo>
                  <a:close/>
                </a:path>
              </a:pathLst>
            </a:custGeom>
            <a:blipFill>
              <a:blip r:embed="rId11"/>
              <a:stretch>
                <a:fillRect l="0" t="0" r="10" b="10"/>
              </a:stretch>
            </a:blipFill>
          </p:spPr>
        </p:sp>
      </p:grpSp>
      <p:grpSp>
        <p:nvGrpSpPr>
          <p:cNvPr name="Group 72" id="72"/>
          <p:cNvGrpSpPr/>
          <p:nvPr/>
        </p:nvGrpSpPr>
        <p:grpSpPr>
          <a:xfrm rot="0">
            <a:off x="11852900" y="7159752"/>
            <a:ext cx="5349154" cy="411299"/>
            <a:chOff x="0" y="0"/>
            <a:chExt cx="7132206" cy="548399"/>
          </a:xfrm>
        </p:grpSpPr>
        <p:sp>
          <p:nvSpPr>
            <p:cNvPr name="Freeform 73" id="73"/>
            <p:cNvSpPr/>
            <p:nvPr/>
          </p:nvSpPr>
          <p:spPr>
            <a:xfrm flipH="false" flipV="false" rot="0">
              <a:off x="0" y="0"/>
              <a:ext cx="7132200" cy="548400"/>
            </a:xfrm>
            <a:custGeom>
              <a:avLst/>
              <a:gdLst/>
              <a:ahLst/>
              <a:cxnLst/>
              <a:rect r="r" b="b" t="t" l="l"/>
              <a:pathLst>
                <a:path h="548400" w="7132200">
                  <a:moveTo>
                    <a:pt x="0" y="0"/>
                  </a:moveTo>
                  <a:lnTo>
                    <a:pt x="7132200" y="0"/>
                  </a:lnTo>
                  <a:lnTo>
                    <a:pt x="7132200" y="548400"/>
                  </a:lnTo>
                  <a:lnTo>
                    <a:pt x="0" y="548400"/>
                  </a:lnTo>
                  <a:close/>
                </a:path>
              </a:pathLst>
            </a:custGeom>
            <a:blipFill>
              <a:blip r:embed="rId4">
                <a:alphaModFix amt="0"/>
              </a:blip>
              <a:stretch>
                <a:fillRect l="0" t="-203412" r="0" b="-203412"/>
              </a:stretch>
            </a:blipFill>
          </p:spPr>
        </p:sp>
        <p:sp>
          <p:nvSpPr>
            <p:cNvPr name="TextBox 74" id="74"/>
            <p:cNvSpPr txBox="true"/>
            <p:nvPr/>
          </p:nvSpPr>
          <p:spPr>
            <a:xfrm>
              <a:off x="0" y="-47625"/>
              <a:ext cx="7132206" cy="596024"/>
            </a:xfrm>
            <a:prstGeom prst="rect">
              <a:avLst/>
            </a:prstGeom>
          </p:spPr>
          <p:txBody>
            <a:bodyPr anchor="ctr" rtlCol="false" tIns="0" lIns="0" bIns="0" rIns="0"/>
            <a:lstStyle/>
            <a:p>
              <a:pPr algn="l">
                <a:lnSpc>
                  <a:spcPts val="2340"/>
                </a:lnSpc>
              </a:pPr>
              <a:r>
                <a:rPr lang="en-US" b="true" sz="1950">
                  <a:solidFill>
                    <a:srgbClr val="FFFFFF"/>
                  </a:solidFill>
                  <a:latin typeface="Calibri (MS) Bold"/>
                  <a:ea typeface="Calibri (MS) Bold"/>
                  <a:cs typeface="Calibri (MS) Bold"/>
                  <a:sym typeface="Calibri (MS) Bold"/>
                </a:rPr>
                <a:t>Servicios externos</a:t>
              </a:r>
            </a:p>
          </p:txBody>
        </p:sp>
      </p:grpSp>
      <p:grpSp>
        <p:nvGrpSpPr>
          <p:cNvPr name="Group 75" id="75"/>
          <p:cNvGrpSpPr/>
          <p:nvPr/>
        </p:nvGrpSpPr>
        <p:grpSpPr>
          <a:xfrm rot="0">
            <a:off x="11852900" y="7557516"/>
            <a:ext cx="5349154" cy="411300"/>
            <a:chOff x="0" y="0"/>
            <a:chExt cx="7132206" cy="548400"/>
          </a:xfrm>
        </p:grpSpPr>
        <p:sp>
          <p:nvSpPr>
            <p:cNvPr name="Freeform 76" id="76"/>
            <p:cNvSpPr/>
            <p:nvPr/>
          </p:nvSpPr>
          <p:spPr>
            <a:xfrm flipH="false" flipV="false" rot="0">
              <a:off x="0" y="0"/>
              <a:ext cx="7132200" cy="548401"/>
            </a:xfrm>
            <a:custGeom>
              <a:avLst/>
              <a:gdLst/>
              <a:ahLst/>
              <a:cxnLst/>
              <a:rect r="r" b="b" t="t" l="l"/>
              <a:pathLst>
                <a:path h="548401" w="7132200">
                  <a:moveTo>
                    <a:pt x="0" y="0"/>
                  </a:moveTo>
                  <a:lnTo>
                    <a:pt x="7132200" y="0"/>
                  </a:lnTo>
                  <a:lnTo>
                    <a:pt x="7132200" y="548401"/>
                  </a:lnTo>
                  <a:lnTo>
                    <a:pt x="0" y="548401"/>
                  </a:lnTo>
                  <a:close/>
                </a:path>
              </a:pathLst>
            </a:custGeom>
            <a:blipFill>
              <a:blip r:embed="rId4">
                <a:alphaModFix amt="0"/>
              </a:blip>
              <a:stretch>
                <a:fillRect l="0" t="-203411" r="0" b="-203411"/>
              </a:stretch>
            </a:blipFill>
          </p:spPr>
        </p:sp>
        <p:sp>
          <p:nvSpPr>
            <p:cNvPr name="TextBox 77" id="77"/>
            <p:cNvSpPr txBox="true"/>
            <p:nvPr/>
          </p:nvSpPr>
          <p:spPr>
            <a:xfrm>
              <a:off x="0" y="-28575"/>
              <a:ext cx="7132206" cy="576975"/>
            </a:xfrm>
            <a:prstGeom prst="rect">
              <a:avLst/>
            </a:prstGeom>
          </p:spPr>
          <p:txBody>
            <a:bodyPr anchor="ctr" rtlCol="false" tIns="0" lIns="0" bIns="0" rIns="0"/>
            <a:lstStyle/>
            <a:p>
              <a:pPr algn="l">
                <a:lnSpc>
                  <a:spcPts val="1980"/>
                </a:lnSpc>
              </a:pPr>
              <a:r>
                <a:rPr lang="en-US" sz="1650">
                  <a:solidFill>
                    <a:srgbClr val="B9CBD6"/>
                  </a:solidFill>
                  <a:latin typeface="Calibri (MS)"/>
                  <a:ea typeface="Calibri (MS)"/>
                  <a:cs typeface="Calibri (MS)"/>
                  <a:sym typeface="Calibri (MS)"/>
                </a:rPr>
                <a:t>Wompi - Cronjob - Render - Vercel - Brevo - Claudinary.</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987552"/>
            <a:ext cx="16184699" cy="1165946"/>
            <a:chOff x="0" y="0"/>
            <a:chExt cx="21579599" cy="1554594"/>
          </a:xfrm>
        </p:grpSpPr>
        <p:sp>
          <p:nvSpPr>
            <p:cNvPr name="Freeform 4" id="4"/>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5" id="5"/>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Agenda de la sustentación</a:t>
              </a:r>
            </a:p>
          </p:txBody>
        </p:sp>
      </p:grpSp>
      <p:grpSp>
        <p:nvGrpSpPr>
          <p:cNvPr name="Group 6" id="6"/>
          <p:cNvGrpSpPr/>
          <p:nvPr/>
        </p:nvGrpSpPr>
        <p:grpSpPr>
          <a:xfrm rot="0">
            <a:off x="822960" y="2537460"/>
            <a:ext cx="7715250" cy="1261796"/>
            <a:chOff x="0" y="0"/>
            <a:chExt cx="10287000" cy="1682394"/>
          </a:xfrm>
        </p:grpSpPr>
        <p:sp>
          <p:nvSpPr>
            <p:cNvPr name="Freeform 7" id="7"/>
            <p:cNvSpPr/>
            <p:nvPr/>
          </p:nvSpPr>
          <p:spPr>
            <a:xfrm flipH="false" flipV="false" rot="0">
              <a:off x="0" y="0"/>
              <a:ext cx="10287000" cy="1682369"/>
            </a:xfrm>
            <a:custGeom>
              <a:avLst/>
              <a:gdLst/>
              <a:ahLst/>
              <a:cxnLst/>
              <a:rect r="r" b="b" t="t" l="l"/>
              <a:pathLst>
                <a:path h="1682369" w="10287000">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sp>
      </p:grpSp>
      <p:grpSp>
        <p:nvGrpSpPr>
          <p:cNvPr name="Group 8" id="8"/>
          <p:cNvGrpSpPr/>
          <p:nvPr/>
        </p:nvGrpSpPr>
        <p:grpSpPr>
          <a:xfrm rot="0">
            <a:off x="1069848" y="2784348"/>
            <a:ext cx="768153" cy="768153"/>
            <a:chOff x="0" y="0"/>
            <a:chExt cx="1024204" cy="1024204"/>
          </a:xfrm>
        </p:grpSpPr>
        <p:sp>
          <p:nvSpPr>
            <p:cNvPr name="Freeform 9" id="9"/>
            <p:cNvSpPr/>
            <p:nvPr/>
          </p:nvSpPr>
          <p:spPr>
            <a:xfrm flipH="false" flipV="false" rot="0">
              <a:off x="0" y="0"/>
              <a:ext cx="1024255" cy="1024255"/>
            </a:xfrm>
            <a:custGeom>
              <a:avLst/>
              <a:gdLst/>
              <a:ahLst/>
              <a:cxnLst/>
              <a:rect r="r" b="b" t="t" l="l"/>
              <a:pathLst>
                <a:path h="1024255" w="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sp>
      </p:grpSp>
      <p:grpSp>
        <p:nvGrpSpPr>
          <p:cNvPr name="Group 10" id="10"/>
          <p:cNvGrpSpPr/>
          <p:nvPr/>
        </p:nvGrpSpPr>
        <p:grpSpPr>
          <a:xfrm rot="0">
            <a:off x="1269549" y="2984049"/>
            <a:ext cx="368684" cy="368684"/>
            <a:chOff x="0" y="0"/>
            <a:chExt cx="491579" cy="491579"/>
          </a:xfrm>
        </p:grpSpPr>
        <p:sp>
          <p:nvSpPr>
            <p:cNvPr name="Freeform 11" id="11" descr="icons/bullseye.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5"/>
              <a:stretch>
                <a:fillRect l="0" t="0" r="7" b="7"/>
              </a:stretch>
            </a:blipFill>
          </p:spPr>
        </p:sp>
      </p:grpSp>
      <p:grpSp>
        <p:nvGrpSpPr>
          <p:cNvPr name="Group 12" id="12"/>
          <p:cNvGrpSpPr/>
          <p:nvPr/>
        </p:nvGrpSpPr>
        <p:grpSpPr>
          <a:xfrm rot="0">
            <a:off x="2057400" y="2702052"/>
            <a:ext cx="6275251" cy="493652"/>
            <a:chOff x="0" y="0"/>
            <a:chExt cx="8367001" cy="658203"/>
          </a:xfrm>
        </p:grpSpPr>
        <p:sp>
          <p:nvSpPr>
            <p:cNvPr name="Freeform 13" id="13"/>
            <p:cNvSpPr/>
            <p:nvPr/>
          </p:nvSpPr>
          <p:spPr>
            <a:xfrm flipH="false" flipV="false" rot="0">
              <a:off x="0" y="0"/>
              <a:ext cx="8367000" cy="658200"/>
            </a:xfrm>
            <a:custGeom>
              <a:avLst/>
              <a:gdLst/>
              <a:ahLst/>
              <a:cxnLst/>
              <a:rect r="r" b="b" t="t" l="l"/>
              <a:pathLst>
                <a:path h="658200" w="8367000">
                  <a:moveTo>
                    <a:pt x="0" y="0"/>
                  </a:moveTo>
                  <a:lnTo>
                    <a:pt x="8367000" y="0"/>
                  </a:lnTo>
                  <a:lnTo>
                    <a:pt x="8367000" y="658200"/>
                  </a:lnTo>
                  <a:lnTo>
                    <a:pt x="0" y="658200"/>
                  </a:lnTo>
                  <a:close/>
                </a:path>
              </a:pathLst>
            </a:custGeom>
            <a:blipFill>
              <a:blip r:embed="rId4">
                <a:alphaModFix amt="0"/>
              </a:blip>
              <a:stretch>
                <a:fillRect l="0" t="-197692" r="0" b="-197692"/>
              </a:stretch>
            </a:blipFill>
          </p:spPr>
        </p:sp>
        <p:sp>
          <p:nvSpPr>
            <p:cNvPr name="TextBox 14" id="14"/>
            <p:cNvSpPr txBox="true"/>
            <p:nvPr/>
          </p:nvSpPr>
          <p:spPr>
            <a:xfrm>
              <a:off x="0" y="-57150"/>
              <a:ext cx="8367001" cy="715353"/>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Resumen y objetivos</a:t>
              </a:r>
            </a:p>
          </p:txBody>
        </p:sp>
      </p:grpSp>
      <p:grpSp>
        <p:nvGrpSpPr>
          <p:cNvPr name="Group 15" id="15"/>
          <p:cNvGrpSpPr/>
          <p:nvPr/>
        </p:nvGrpSpPr>
        <p:grpSpPr>
          <a:xfrm rot="0">
            <a:off x="2057400" y="3168396"/>
            <a:ext cx="6275251" cy="548550"/>
            <a:chOff x="0" y="0"/>
            <a:chExt cx="8367001" cy="731400"/>
          </a:xfrm>
        </p:grpSpPr>
        <p:sp>
          <p:nvSpPr>
            <p:cNvPr name="Freeform 16" id="16"/>
            <p:cNvSpPr/>
            <p:nvPr/>
          </p:nvSpPr>
          <p:spPr>
            <a:xfrm flipH="false" flipV="false" rot="0">
              <a:off x="0" y="0"/>
              <a:ext cx="8367000" cy="731394"/>
            </a:xfrm>
            <a:custGeom>
              <a:avLst/>
              <a:gdLst/>
              <a:ahLst/>
              <a:cxnLst/>
              <a:rect r="r" b="b" t="t" l="l"/>
              <a:pathLst>
                <a:path h="731394" w="8367000">
                  <a:moveTo>
                    <a:pt x="0" y="0"/>
                  </a:moveTo>
                  <a:lnTo>
                    <a:pt x="8367000" y="0"/>
                  </a:lnTo>
                  <a:lnTo>
                    <a:pt x="8367000" y="731394"/>
                  </a:lnTo>
                  <a:lnTo>
                    <a:pt x="0" y="731394"/>
                  </a:lnTo>
                  <a:close/>
                </a:path>
              </a:pathLst>
            </a:custGeom>
            <a:blipFill>
              <a:blip r:embed="rId4">
                <a:alphaModFix amt="0"/>
              </a:blip>
              <a:stretch>
                <a:fillRect l="0" t="-172904" r="0" b="-172905"/>
              </a:stretch>
            </a:blipFill>
          </p:spPr>
        </p:sp>
        <p:sp>
          <p:nvSpPr>
            <p:cNvPr name="TextBox 17" id="17"/>
            <p:cNvSpPr txBox="true"/>
            <p:nvPr/>
          </p:nvSpPr>
          <p:spPr>
            <a:xfrm>
              <a:off x="0" y="-28575"/>
              <a:ext cx="8367001" cy="759975"/>
            </a:xfrm>
            <a:prstGeom prst="rect">
              <a:avLst/>
            </a:prstGeom>
          </p:spPr>
          <p:txBody>
            <a:bodyPr anchor="ctr" rtlCol="false" tIns="0" lIns="0" bIns="0" rIns="0"/>
            <a:lstStyle/>
            <a:p>
              <a:pPr algn="l">
                <a:lnSpc>
                  <a:spcPts val="1980"/>
                </a:lnSpc>
              </a:pPr>
              <a:r>
                <a:rPr lang="en-US" sz="1650">
                  <a:solidFill>
                    <a:srgbClr val="5B6670"/>
                  </a:solidFill>
                  <a:latin typeface="Calibri (MS)"/>
                  <a:ea typeface="Calibri (MS)"/>
                  <a:cs typeface="Calibri (MS)"/>
                  <a:sym typeface="Calibri (MS)"/>
                </a:rPr>
                <a:t>Qué es DMI y qué buscamos lograr</a:t>
              </a:r>
            </a:p>
          </p:txBody>
        </p:sp>
      </p:grpSp>
      <p:grpSp>
        <p:nvGrpSpPr>
          <p:cNvPr name="Group 18" id="18"/>
          <p:cNvGrpSpPr/>
          <p:nvPr/>
        </p:nvGrpSpPr>
        <p:grpSpPr>
          <a:xfrm rot="0">
            <a:off x="9018270" y="2537460"/>
            <a:ext cx="7715250" cy="1261796"/>
            <a:chOff x="0" y="0"/>
            <a:chExt cx="10287000" cy="1682394"/>
          </a:xfrm>
        </p:grpSpPr>
        <p:sp>
          <p:nvSpPr>
            <p:cNvPr name="Freeform 19" id="19"/>
            <p:cNvSpPr/>
            <p:nvPr/>
          </p:nvSpPr>
          <p:spPr>
            <a:xfrm flipH="false" flipV="false" rot="0">
              <a:off x="0" y="0"/>
              <a:ext cx="10287000" cy="1682369"/>
            </a:xfrm>
            <a:custGeom>
              <a:avLst/>
              <a:gdLst/>
              <a:ahLst/>
              <a:cxnLst/>
              <a:rect r="r" b="b" t="t" l="l"/>
              <a:pathLst>
                <a:path h="1682369" w="10287000">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sp>
      </p:grpSp>
      <p:grpSp>
        <p:nvGrpSpPr>
          <p:cNvPr name="Group 20" id="20"/>
          <p:cNvGrpSpPr/>
          <p:nvPr/>
        </p:nvGrpSpPr>
        <p:grpSpPr>
          <a:xfrm rot="0">
            <a:off x="9265158" y="2784348"/>
            <a:ext cx="768153" cy="768153"/>
            <a:chOff x="0" y="0"/>
            <a:chExt cx="1024204" cy="1024204"/>
          </a:xfrm>
        </p:grpSpPr>
        <p:sp>
          <p:nvSpPr>
            <p:cNvPr name="Freeform 21" id="21"/>
            <p:cNvSpPr/>
            <p:nvPr/>
          </p:nvSpPr>
          <p:spPr>
            <a:xfrm flipH="false" flipV="false" rot="0">
              <a:off x="0" y="0"/>
              <a:ext cx="1024255" cy="1024255"/>
            </a:xfrm>
            <a:custGeom>
              <a:avLst/>
              <a:gdLst/>
              <a:ahLst/>
              <a:cxnLst/>
              <a:rect r="r" b="b" t="t" l="l"/>
              <a:pathLst>
                <a:path h="1024255" w="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sp>
      </p:grpSp>
      <p:grpSp>
        <p:nvGrpSpPr>
          <p:cNvPr name="Group 22" id="22"/>
          <p:cNvGrpSpPr/>
          <p:nvPr/>
        </p:nvGrpSpPr>
        <p:grpSpPr>
          <a:xfrm rot="0">
            <a:off x="9464859" y="2984049"/>
            <a:ext cx="368684" cy="368684"/>
            <a:chOff x="0" y="0"/>
            <a:chExt cx="491579" cy="491579"/>
          </a:xfrm>
        </p:grpSpPr>
        <p:sp>
          <p:nvSpPr>
            <p:cNvPr name="Freeform 23" id="23" descr="icons/warning.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6"/>
              <a:stretch>
                <a:fillRect l="0" t="0" r="7" b="7"/>
              </a:stretch>
            </a:blipFill>
          </p:spPr>
        </p:sp>
      </p:grpSp>
      <p:grpSp>
        <p:nvGrpSpPr>
          <p:cNvPr name="Group 24" id="24"/>
          <p:cNvGrpSpPr/>
          <p:nvPr/>
        </p:nvGrpSpPr>
        <p:grpSpPr>
          <a:xfrm rot="0">
            <a:off x="10252710" y="2702052"/>
            <a:ext cx="6275251" cy="493652"/>
            <a:chOff x="0" y="0"/>
            <a:chExt cx="8367001" cy="658203"/>
          </a:xfrm>
        </p:grpSpPr>
        <p:sp>
          <p:nvSpPr>
            <p:cNvPr name="Freeform 25" id="25"/>
            <p:cNvSpPr/>
            <p:nvPr/>
          </p:nvSpPr>
          <p:spPr>
            <a:xfrm flipH="false" flipV="false" rot="0">
              <a:off x="0" y="0"/>
              <a:ext cx="8367000" cy="658200"/>
            </a:xfrm>
            <a:custGeom>
              <a:avLst/>
              <a:gdLst/>
              <a:ahLst/>
              <a:cxnLst/>
              <a:rect r="r" b="b" t="t" l="l"/>
              <a:pathLst>
                <a:path h="658200" w="8367000">
                  <a:moveTo>
                    <a:pt x="0" y="0"/>
                  </a:moveTo>
                  <a:lnTo>
                    <a:pt x="8367000" y="0"/>
                  </a:lnTo>
                  <a:lnTo>
                    <a:pt x="8367000" y="658200"/>
                  </a:lnTo>
                  <a:lnTo>
                    <a:pt x="0" y="658200"/>
                  </a:lnTo>
                  <a:close/>
                </a:path>
              </a:pathLst>
            </a:custGeom>
            <a:blipFill>
              <a:blip r:embed="rId4">
                <a:alphaModFix amt="0"/>
              </a:blip>
              <a:stretch>
                <a:fillRect l="0" t="-197692" r="0" b="-197692"/>
              </a:stretch>
            </a:blipFill>
          </p:spPr>
        </p:sp>
        <p:sp>
          <p:nvSpPr>
            <p:cNvPr name="TextBox 26" id="26"/>
            <p:cNvSpPr txBox="true"/>
            <p:nvPr/>
          </p:nvSpPr>
          <p:spPr>
            <a:xfrm>
              <a:off x="0" y="-57150"/>
              <a:ext cx="8367001" cy="715353"/>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Problema y justificación</a:t>
              </a:r>
            </a:p>
          </p:txBody>
        </p:sp>
      </p:grpSp>
      <p:grpSp>
        <p:nvGrpSpPr>
          <p:cNvPr name="Group 27" id="27"/>
          <p:cNvGrpSpPr/>
          <p:nvPr/>
        </p:nvGrpSpPr>
        <p:grpSpPr>
          <a:xfrm rot="0">
            <a:off x="10252710" y="3168396"/>
            <a:ext cx="6275251" cy="548554"/>
            <a:chOff x="0" y="0"/>
            <a:chExt cx="8367001" cy="731406"/>
          </a:xfrm>
        </p:grpSpPr>
        <p:sp>
          <p:nvSpPr>
            <p:cNvPr name="Freeform 28" id="28"/>
            <p:cNvSpPr/>
            <p:nvPr/>
          </p:nvSpPr>
          <p:spPr>
            <a:xfrm flipH="false" flipV="false" rot="0">
              <a:off x="0" y="0"/>
              <a:ext cx="8367000" cy="731400"/>
            </a:xfrm>
            <a:custGeom>
              <a:avLst/>
              <a:gdLst/>
              <a:ahLst/>
              <a:cxnLst/>
              <a:rect r="r" b="b" t="t" l="l"/>
              <a:pathLst>
                <a:path h="731400" w="8367000">
                  <a:moveTo>
                    <a:pt x="0" y="0"/>
                  </a:moveTo>
                  <a:lnTo>
                    <a:pt x="8367000" y="0"/>
                  </a:lnTo>
                  <a:lnTo>
                    <a:pt x="8367000" y="731400"/>
                  </a:lnTo>
                  <a:lnTo>
                    <a:pt x="0" y="731400"/>
                  </a:lnTo>
                  <a:close/>
                </a:path>
              </a:pathLst>
            </a:custGeom>
            <a:blipFill>
              <a:blip r:embed="rId4">
                <a:alphaModFix amt="0"/>
              </a:blip>
              <a:stretch>
                <a:fillRect l="0" t="-172902" r="0" b="-172903"/>
              </a:stretch>
            </a:blipFill>
          </p:spPr>
        </p:sp>
        <p:sp>
          <p:nvSpPr>
            <p:cNvPr name="TextBox 29" id="29"/>
            <p:cNvSpPr txBox="true"/>
            <p:nvPr/>
          </p:nvSpPr>
          <p:spPr>
            <a:xfrm>
              <a:off x="0" y="-28575"/>
              <a:ext cx="8367001" cy="759981"/>
            </a:xfrm>
            <a:prstGeom prst="rect">
              <a:avLst/>
            </a:prstGeom>
          </p:spPr>
          <p:txBody>
            <a:bodyPr anchor="ctr" rtlCol="false" tIns="0" lIns="0" bIns="0" rIns="0"/>
            <a:lstStyle/>
            <a:p>
              <a:pPr algn="l">
                <a:lnSpc>
                  <a:spcPts val="1980"/>
                </a:lnSpc>
              </a:pPr>
              <a:r>
                <a:rPr lang="en-US" sz="1650">
                  <a:solidFill>
                    <a:srgbClr val="5B6670"/>
                  </a:solidFill>
                  <a:latin typeface="Calibri (MS)"/>
                  <a:ea typeface="Calibri (MS)"/>
                  <a:cs typeface="Calibri (MS)"/>
                  <a:sym typeface="Calibri (MS)"/>
                </a:rPr>
                <a:t>Por qué era necesario este proyecto</a:t>
              </a:r>
            </a:p>
          </p:txBody>
        </p:sp>
      </p:grpSp>
      <p:grpSp>
        <p:nvGrpSpPr>
          <p:cNvPr name="Group 30" id="30"/>
          <p:cNvGrpSpPr/>
          <p:nvPr/>
        </p:nvGrpSpPr>
        <p:grpSpPr>
          <a:xfrm rot="0">
            <a:off x="822960" y="4101084"/>
            <a:ext cx="7715250" cy="1261796"/>
            <a:chOff x="0" y="0"/>
            <a:chExt cx="10287000" cy="1682394"/>
          </a:xfrm>
        </p:grpSpPr>
        <p:sp>
          <p:nvSpPr>
            <p:cNvPr name="Freeform 31" id="31"/>
            <p:cNvSpPr/>
            <p:nvPr/>
          </p:nvSpPr>
          <p:spPr>
            <a:xfrm flipH="false" flipV="false" rot="0">
              <a:off x="0" y="0"/>
              <a:ext cx="10287000" cy="1682369"/>
            </a:xfrm>
            <a:custGeom>
              <a:avLst/>
              <a:gdLst/>
              <a:ahLst/>
              <a:cxnLst/>
              <a:rect r="r" b="b" t="t" l="l"/>
              <a:pathLst>
                <a:path h="1682369" w="10287000">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sp>
      </p:grpSp>
      <p:grpSp>
        <p:nvGrpSpPr>
          <p:cNvPr name="Group 32" id="32"/>
          <p:cNvGrpSpPr/>
          <p:nvPr/>
        </p:nvGrpSpPr>
        <p:grpSpPr>
          <a:xfrm rot="0">
            <a:off x="1069848" y="4347972"/>
            <a:ext cx="768153" cy="768153"/>
            <a:chOff x="0" y="0"/>
            <a:chExt cx="1024204" cy="1024204"/>
          </a:xfrm>
        </p:grpSpPr>
        <p:sp>
          <p:nvSpPr>
            <p:cNvPr name="Freeform 33" id="33"/>
            <p:cNvSpPr/>
            <p:nvPr/>
          </p:nvSpPr>
          <p:spPr>
            <a:xfrm flipH="false" flipV="false" rot="0">
              <a:off x="0" y="0"/>
              <a:ext cx="1024255" cy="1024255"/>
            </a:xfrm>
            <a:custGeom>
              <a:avLst/>
              <a:gdLst/>
              <a:ahLst/>
              <a:cxnLst/>
              <a:rect r="r" b="b" t="t" l="l"/>
              <a:pathLst>
                <a:path h="1024255" w="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sp>
      </p:grpSp>
      <p:grpSp>
        <p:nvGrpSpPr>
          <p:cNvPr name="Group 34" id="34"/>
          <p:cNvGrpSpPr/>
          <p:nvPr/>
        </p:nvGrpSpPr>
        <p:grpSpPr>
          <a:xfrm rot="0">
            <a:off x="1269549" y="4547673"/>
            <a:ext cx="368684" cy="368684"/>
            <a:chOff x="0" y="0"/>
            <a:chExt cx="491579" cy="491579"/>
          </a:xfrm>
        </p:grpSpPr>
        <p:sp>
          <p:nvSpPr>
            <p:cNvPr name="Freeform 35" id="35" descr="icons/route.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7"/>
              <a:stretch>
                <a:fillRect l="0" t="0" r="7" b="7"/>
              </a:stretch>
            </a:blipFill>
          </p:spPr>
        </p:sp>
      </p:grpSp>
      <p:grpSp>
        <p:nvGrpSpPr>
          <p:cNvPr name="Group 36" id="36"/>
          <p:cNvGrpSpPr/>
          <p:nvPr/>
        </p:nvGrpSpPr>
        <p:grpSpPr>
          <a:xfrm rot="0">
            <a:off x="2057400" y="4265676"/>
            <a:ext cx="6275251" cy="493652"/>
            <a:chOff x="0" y="0"/>
            <a:chExt cx="8367001" cy="658203"/>
          </a:xfrm>
        </p:grpSpPr>
        <p:sp>
          <p:nvSpPr>
            <p:cNvPr name="Freeform 37" id="37"/>
            <p:cNvSpPr/>
            <p:nvPr/>
          </p:nvSpPr>
          <p:spPr>
            <a:xfrm flipH="false" flipV="false" rot="0">
              <a:off x="0" y="0"/>
              <a:ext cx="8367000" cy="658200"/>
            </a:xfrm>
            <a:custGeom>
              <a:avLst/>
              <a:gdLst/>
              <a:ahLst/>
              <a:cxnLst/>
              <a:rect r="r" b="b" t="t" l="l"/>
              <a:pathLst>
                <a:path h="658200" w="8367000">
                  <a:moveTo>
                    <a:pt x="0" y="0"/>
                  </a:moveTo>
                  <a:lnTo>
                    <a:pt x="8367000" y="0"/>
                  </a:lnTo>
                  <a:lnTo>
                    <a:pt x="8367000" y="658200"/>
                  </a:lnTo>
                  <a:lnTo>
                    <a:pt x="0" y="658200"/>
                  </a:lnTo>
                  <a:close/>
                </a:path>
              </a:pathLst>
            </a:custGeom>
            <a:blipFill>
              <a:blip r:embed="rId4">
                <a:alphaModFix amt="0"/>
              </a:blip>
              <a:stretch>
                <a:fillRect l="0" t="-197692" r="0" b="-197692"/>
              </a:stretch>
            </a:blipFill>
          </p:spPr>
        </p:sp>
        <p:sp>
          <p:nvSpPr>
            <p:cNvPr name="TextBox 38" id="38"/>
            <p:cNvSpPr txBox="true"/>
            <p:nvPr/>
          </p:nvSpPr>
          <p:spPr>
            <a:xfrm>
              <a:off x="0" y="-57150"/>
              <a:ext cx="8367001" cy="715353"/>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Alcance y metodología</a:t>
              </a:r>
            </a:p>
          </p:txBody>
        </p:sp>
      </p:grpSp>
      <p:grpSp>
        <p:nvGrpSpPr>
          <p:cNvPr name="Group 39" id="39"/>
          <p:cNvGrpSpPr/>
          <p:nvPr/>
        </p:nvGrpSpPr>
        <p:grpSpPr>
          <a:xfrm rot="0">
            <a:off x="2057400" y="4732020"/>
            <a:ext cx="6275251" cy="548554"/>
            <a:chOff x="0" y="0"/>
            <a:chExt cx="8367001" cy="731406"/>
          </a:xfrm>
        </p:grpSpPr>
        <p:sp>
          <p:nvSpPr>
            <p:cNvPr name="Freeform 40" id="40"/>
            <p:cNvSpPr/>
            <p:nvPr/>
          </p:nvSpPr>
          <p:spPr>
            <a:xfrm flipH="false" flipV="false" rot="0">
              <a:off x="0" y="0"/>
              <a:ext cx="8367000" cy="731400"/>
            </a:xfrm>
            <a:custGeom>
              <a:avLst/>
              <a:gdLst/>
              <a:ahLst/>
              <a:cxnLst/>
              <a:rect r="r" b="b" t="t" l="l"/>
              <a:pathLst>
                <a:path h="731400" w="8367000">
                  <a:moveTo>
                    <a:pt x="0" y="0"/>
                  </a:moveTo>
                  <a:lnTo>
                    <a:pt x="8367000" y="0"/>
                  </a:lnTo>
                  <a:lnTo>
                    <a:pt x="8367000" y="731400"/>
                  </a:lnTo>
                  <a:lnTo>
                    <a:pt x="0" y="731400"/>
                  </a:lnTo>
                  <a:close/>
                </a:path>
              </a:pathLst>
            </a:custGeom>
            <a:blipFill>
              <a:blip r:embed="rId4">
                <a:alphaModFix amt="0"/>
              </a:blip>
              <a:stretch>
                <a:fillRect l="0" t="-172902" r="0" b="-172903"/>
              </a:stretch>
            </a:blipFill>
          </p:spPr>
        </p:sp>
        <p:sp>
          <p:nvSpPr>
            <p:cNvPr name="TextBox 41" id="41"/>
            <p:cNvSpPr txBox="true"/>
            <p:nvPr/>
          </p:nvSpPr>
          <p:spPr>
            <a:xfrm>
              <a:off x="0" y="-28575"/>
              <a:ext cx="8367001" cy="759981"/>
            </a:xfrm>
            <a:prstGeom prst="rect">
              <a:avLst/>
            </a:prstGeom>
          </p:spPr>
          <p:txBody>
            <a:bodyPr anchor="ctr" rtlCol="false" tIns="0" lIns="0" bIns="0" rIns="0"/>
            <a:lstStyle/>
            <a:p>
              <a:pPr algn="l">
                <a:lnSpc>
                  <a:spcPts val="1980"/>
                </a:lnSpc>
              </a:pPr>
              <a:r>
                <a:rPr lang="en-US" sz="1650">
                  <a:solidFill>
                    <a:srgbClr val="5B6670"/>
                  </a:solidFill>
                  <a:latin typeface="Calibri (MS)"/>
                  <a:ea typeface="Calibri (MS)"/>
                  <a:cs typeface="Calibri (MS)"/>
                  <a:sym typeface="Calibri (MS)"/>
                </a:rPr>
                <a:t>Qué incluye el sistema y cómo lo construimos (Scrum)</a:t>
              </a:r>
            </a:p>
          </p:txBody>
        </p:sp>
      </p:grpSp>
      <p:grpSp>
        <p:nvGrpSpPr>
          <p:cNvPr name="Group 42" id="42"/>
          <p:cNvGrpSpPr/>
          <p:nvPr/>
        </p:nvGrpSpPr>
        <p:grpSpPr>
          <a:xfrm rot="0">
            <a:off x="9018270" y="4101084"/>
            <a:ext cx="7715250" cy="1261796"/>
            <a:chOff x="0" y="0"/>
            <a:chExt cx="10287000" cy="1682394"/>
          </a:xfrm>
        </p:grpSpPr>
        <p:sp>
          <p:nvSpPr>
            <p:cNvPr name="Freeform 43" id="43"/>
            <p:cNvSpPr/>
            <p:nvPr/>
          </p:nvSpPr>
          <p:spPr>
            <a:xfrm flipH="false" flipV="false" rot="0">
              <a:off x="0" y="0"/>
              <a:ext cx="10287000" cy="1682369"/>
            </a:xfrm>
            <a:custGeom>
              <a:avLst/>
              <a:gdLst/>
              <a:ahLst/>
              <a:cxnLst/>
              <a:rect r="r" b="b" t="t" l="l"/>
              <a:pathLst>
                <a:path h="1682369" w="10287000">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sp>
      </p:grpSp>
      <p:grpSp>
        <p:nvGrpSpPr>
          <p:cNvPr name="Group 44" id="44"/>
          <p:cNvGrpSpPr/>
          <p:nvPr/>
        </p:nvGrpSpPr>
        <p:grpSpPr>
          <a:xfrm rot="0">
            <a:off x="9265158" y="4347972"/>
            <a:ext cx="768153" cy="768153"/>
            <a:chOff x="0" y="0"/>
            <a:chExt cx="1024204" cy="1024204"/>
          </a:xfrm>
        </p:grpSpPr>
        <p:sp>
          <p:nvSpPr>
            <p:cNvPr name="Freeform 45" id="45"/>
            <p:cNvSpPr/>
            <p:nvPr/>
          </p:nvSpPr>
          <p:spPr>
            <a:xfrm flipH="false" flipV="false" rot="0">
              <a:off x="0" y="0"/>
              <a:ext cx="1024255" cy="1024255"/>
            </a:xfrm>
            <a:custGeom>
              <a:avLst/>
              <a:gdLst/>
              <a:ahLst/>
              <a:cxnLst/>
              <a:rect r="r" b="b" t="t" l="l"/>
              <a:pathLst>
                <a:path h="1024255" w="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sp>
      </p:grpSp>
      <p:grpSp>
        <p:nvGrpSpPr>
          <p:cNvPr name="Group 46" id="46"/>
          <p:cNvGrpSpPr/>
          <p:nvPr/>
        </p:nvGrpSpPr>
        <p:grpSpPr>
          <a:xfrm rot="0">
            <a:off x="9464859" y="4547673"/>
            <a:ext cx="368684" cy="368684"/>
            <a:chOff x="0" y="0"/>
            <a:chExt cx="491579" cy="491579"/>
          </a:xfrm>
        </p:grpSpPr>
        <p:sp>
          <p:nvSpPr>
            <p:cNvPr name="Freeform 47" id="47" descr="icons/clipboard.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8"/>
              <a:stretch>
                <a:fillRect l="0" t="0" r="7" b="7"/>
              </a:stretch>
            </a:blipFill>
          </p:spPr>
        </p:sp>
      </p:grpSp>
      <p:grpSp>
        <p:nvGrpSpPr>
          <p:cNvPr name="Group 48" id="48"/>
          <p:cNvGrpSpPr/>
          <p:nvPr/>
        </p:nvGrpSpPr>
        <p:grpSpPr>
          <a:xfrm rot="0">
            <a:off x="10252710" y="4265676"/>
            <a:ext cx="6275251" cy="493652"/>
            <a:chOff x="0" y="0"/>
            <a:chExt cx="8367001" cy="658203"/>
          </a:xfrm>
        </p:grpSpPr>
        <p:sp>
          <p:nvSpPr>
            <p:cNvPr name="Freeform 49" id="49"/>
            <p:cNvSpPr/>
            <p:nvPr/>
          </p:nvSpPr>
          <p:spPr>
            <a:xfrm flipH="false" flipV="false" rot="0">
              <a:off x="0" y="0"/>
              <a:ext cx="8367000" cy="658200"/>
            </a:xfrm>
            <a:custGeom>
              <a:avLst/>
              <a:gdLst/>
              <a:ahLst/>
              <a:cxnLst/>
              <a:rect r="r" b="b" t="t" l="l"/>
              <a:pathLst>
                <a:path h="658200" w="8367000">
                  <a:moveTo>
                    <a:pt x="0" y="0"/>
                  </a:moveTo>
                  <a:lnTo>
                    <a:pt x="8367000" y="0"/>
                  </a:lnTo>
                  <a:lnTo>
                    <a:pt x="8367000" y="658200"/>
                  </a:lnTo>
                  <a:lnTo>
                    <a:pt x="0" y="658200"/>
                  </a:lnTo>
                  <a:close/>
                </a:path>
              </a:pathLst>
            </a:custGeom>
            <a:blipFill>
              <a:blip r:embed="rId4">
                <a:alphaModFix amt="0"/>
              </a:blip>
              <a:stretch>
                <a:fillRect l="0" t="-197692" r="0" b="-197692"/>
              </a:stretch>
            </a:blipFill>
          </p:spPr>
        </p:sp>
        <p:sp>
          <p:nvSpPr>
            <p:cNvPr name="TextBox 50" id="50"/>
            <p:cNvSpPr txBox="true"/>
            <p:nvPr/>
          </p:nvSpPr>
          <p:spPr>
            <a:xfrm>
              <a:off x="0" y="-57150"/>
              <a:ext cx="8367001" cy="715353"/>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Requerimientos (IEEE 830)</a:t>
              </a:r>
            </a:p>
          </p:txBody>
        </p:sp>
      </p:grpSp>
      <p:grpSp>
        <p:nvGrpSpPr>
          <p:cNvPr name="Group 51" id="51"/>
          <p:cNvGrpSpPr/>
          <p:nvPr/>
        </p:nvGrpSpPr>
        <p:grpSpPr>
          <a:xfrm rot="0">
            <a:off x="10252710" y="4732020"/>
            <a:ext cx="6275251" cy="548554"/>
            <a:chOff x="0" y="0"/>
            <a:chExt cx="8367001" cy="731406"/>
          </a:xfrm>
        </p:grpSpPr>
        <p:sp>
          <p:nvSpPr>
            <p:cNvPr name="Freeform 52" id="52"/>
            <p:cNvSpPr/>
            <p:nvPr/>
          </p:nvSpPr>
          <p:spPr>
            <a:xfrm flipH="false" flipV="false" rot="0">
              <a:off x="0" y="0"/>
              <a:ext cx="8367000" cy="731400"/>
            </a:xfrm>
            <a:custGeom>
              <a:avLst/>
              <a:gdLst/>
              <a:ahLst/>
              <a:cxnLst/>
              <a:rect r="r" b="b" t="t" l="l"/>
              <a:pathLst>
                <a:path h="731400" w="8367000">
                  <a:moveTo>
                    <a:pt x="0" y="0"/>
                  </a:moveTo>
                  <a:lnTo>
                    <a:pt x="8367000" y="0"/>
                  </a:lnTo>
                  <a:lnTo>
                    <a:pt x="8367000" y="731400"/>
                  </a:lnTo>
                  <a:lnTo>
                    <a:pt x="0" y="731400"/>
                  </a:lnTo>
                  <a:close/>
                </a:path>
              </a:pathLst>
            </a:custGeom>
            <a:blipFill>
              <a:blip r:embed="rId4">
                <a:alphaModFix amt="0"/>
              </a:blip>
              <a:stretch>
                <a:fillRect l="0" t="-172902" r="0" b="-172903"/>
              </a:stretch>
            </a:blipFill>
          </p:spPr>
        </p:sp>
        <p:sp>
          <p:nvSpPr>
            <p:cNvPr name="TextBox 53" id="53"/>
            <p:cNvSpPr txBox="true"/>
            <p:nvPr/>
          </p:nvSpPr>
          <p:spPr>
            <a:xfrm>
              <a:off x="0" y="-28575"/>
              <a:ext cx="8367001" cy="759981"/>
            </a:xfrm>
            <a:prstGeom prst="rect">
              <a:avLst/>
            </a:prstGeom>
          </p:spPr>
          <p:txBody>
            <a:bodyPr anchor="ctr" rtlCol="false" tIns="0" lIns="0" bIns="0" rIns="0"/>
            <a:lstStyle/>
            <a:p>
              <a:pPr algn="l">
                <a:lnSpc>
                  <a:spcPts val="1980"/>
                </a:lnSpc>
              </a:pPr>
              <a:r>
                <a:rPr lang="en-US" sz="1650">
                  <a:solidFill>
                    <a:srgbClr val="5B6670"/>
                  </a:solidFill>
                  <a:latin typeface="Calibri (MS)"/>
                  <a:ea typeface="Calibri (MS)"/>
                  <a:cs typeface="Calibri (MS)"/>
                  <a:sym typeface="Calibri (MS)"/>
                </a:rPr>
                <a:t>Funcionalidades esenciales del sistema</a:t>
              </a:r>
            </a:p>
          </p:txBody>
        </p:sp>
      </p:grpSp>
      <p:grpSp>
        <p:nvGrpSpPr>
          <p:cNvPr name="Group 54" id="54"/>
          <p:cNvGrpSpPr/>
          <p:nvPr/>
        </p:nvGrpSpPr>
        <p:grpSpPr>
          <a:xfrm rot="0">
            <a:off x="822960" y="5664708"/>
            <a:ext cx="7715250" cy="1261796"/>
            <a:chOff x="0" y="0"/>
            <a:chExt cx="10287000" cy="1682394"/>
          </a:xfrm>
        </p:grpSpPr>
        <p:sp>
          <p:nvSpPr>
            <p:cNvPr name="Freeform 55" id="55"/>
            <p:cNvSpPr/>
            <p:nvPr/>
          </p:nvSpPr>
          <p:spPr>
            <a:xfrm flipH="false" flipV="false" rot="0">
              <a:off x="0" y="0"/>
              <a:ext cx="10287000" cy="1682369"/>
            </a:xfrm>
            <a:custGeom>
              <a:avLst/>
              <a:gdLst/>
              <a:ahLst/>
              <a:cxnLst/>
              <a:rect r="r" b="b" t="t" l="l"/>
              <a:pathLst>
                <a:path h="1682369" w="10287000">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sp>
      </p:grpSp>
      <p:grpSp>
        <p:nvGrpSpPr>
          <p:cNvPr name="Group 56" id="56"/>
          <p:cNvGrpSpPr/>
          <p:nvPr/>
        </p:nvGrpSpPr>
        <p:grpSpPr>
          <a:xfrm rot="0">
            <a:off x="1069848" y="5911596"/>
            <a:ext cx="768153" cy="768153"/>
            <a:chOff x="0" y="0"/>
            <a:chExt cx="1024204" cy="1024204"/>
          </a:xfrm>
        </p:grpSpPr>
        <p:sp>
          <p:nvSpPr>
            <p:cNvPr name="Freeform 57" id="57"/>
            <p:cNvSpPr/>
            <p:nvPr/>
          </p:nvSpPr>
          <p:spPr>
            <a:xfrm flipH="false" flipV="false" rot="0">
              <a:off x="0" y="0"/>
              <a:ext cx="1024255" cy="1024255"/>
            </a:xfrm>
            <a:custGeom>
              <a:avLst/>
              <a:gdLst/>
              <a:ahLst/>
              <a:cxnLst/>
              <a:rect r="r" b="b" t="t" l="l"/>
              <a:pathLst>
                <a:path h="1024255" w="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sp>
      </p:grpSp>
      <p:grpSp>
        <p:nvGrpSpPr>
          <p:cNvPr name="Group 58" id="58"/>
          <p:cNvGrpSpPr/>
          <p:nvPr/>
        </p:nvGrpSpPr>
        <p:grpSpPr>
          <a:xfrm rot="0">
            <a:off x="1269549" y="6111297"/>
            <a:ext cx="368684" cy="368684"/>
            <a:chOff x="0" y="0"/>
            <a:chExt cx="491579" cy="491579"/>
          </a:xfrm>
        </p:grpSpPr>
        <p:sp>
          <p:nvSpPr>
            <p:cNvPr name="Freeform 59" id="59" descr="icons/layer.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9"/>
              <a:stretch>
                <a:fillRect l="0" t="0" r="7" b="7"/>
              </a:stretch>
            </a:blipFill>
          </p:spPr>
        </p:sp>
      </p:grpSp>
      <p:grpSp>
        <p:nvGrpSpPr>
          <p:cNvPr name="Group 60" id="60"/>
          <p:cNvGrpSpPr/>
          <p:nvPr/>
        </p:nvGrpSpPr>
        <p:grpSpPr>
          <a:xfrm rot="0">
            <a:off x="2057400" y="5829300"/>
            <a:ext cx="6275251" cy="493652"/>
            <a:chOff x="0" y="0"/>
            <a:chExt cx="8367001" cy="658203"/>
          </a:xfrm>
        </p:grpSpPr>
        <p:sp>
          <p:nvSpPr>
            <p:cNvPr name="Freeform 61" id="61"/>
            <p:cNvSpPr/>
            <p:nvPr/>
          </p:nvSpPr>
          <p:spPr>
            <a:xfrm flipH="false" flipV="false" rot="0">
              <a:off x="0" y="0"/>
              <a:ext cx="8367000" cy="658200"/>
            </a:xfrm>
            <a:custGeom>
              <a:avLst/>
              <a:gdLst/>
              <a:ahLst/>
              <a:cxnLst/>
              <a:rect r="r" b="b" t="t" l="l"/>
              <a:pathLst>
                <a:path h="658200" w="8367000">
                  <a:moveTo>
                    <a:pt x="0" y="0"/>
                  </a:moveTo>
                  <a:lnTo>
                    <a:pt x="8367000" y="0"/>
                  </a:lnTo>
                  <a:lnTo>
                    <a:pt x="8367000" y="658200"/>
                  </a:lnTo>
                  <a:lnTo>
                    <a:pt x="0" y="658200"/>
                  </a:lnTo>
                  <a:close/>
                </a:path>
              </a:pathLst>
            </a:custGeom>
            <a:blipFill>
              <a:blip r:embed="rId4">
                <a:alphaModFix amt="0"/>
              </a:blip>
              <a:stretch>
                <a:fillRect l="0" t="-197692" r="0" b="-197692"/>
              </a:stretch>
            </a:blipFill>
          </p:spPr>
        </p:sp>
        <p:sp>
          <p:nvSpPr>
            <p:cNvPr name="TextBox 62" id="62"/>
            <p:cNvSpPr txBox="true"/>
            <p:nvPr/>
          </p:nvSpPr>
          <p:spPr>
            <a:xfrm>
              <a:off x="0" y="-57150"/>
              <a:ext cx="8367001" cy="715353"/>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Arquitectura y stack</a:t>
              </a:r>
            </a:p>
          </p:txBody>
        </p:sp>
      </p:grpSp>
      <p:grpSp>
        <p:nvGrpSpPr>
          <p:cNvPr name="Group 63" id="63"/>
          <p:cNvGrpSpPr/>
          <p:nvPr/>
        </p:nvGrpSpPr>
        <p:grpSpPr>
          <a:xfrm rot="0">
            <a:off x="2057400" y="6295644"/>
            <a:ext cx="6275251" cy="576644"/>
            <a:chOff x="0" y="0"/>
            <a:chExt cx="8367001" cy="768858"/>
          </a:xfrm>
        </p:grpSpPr>
        <p:sp>
          <p:nvSpPr>
            <p:cNvPr name="Freeform 64" id="64"/>
            <p:cNvSpPr/>
            <p:nvPr/>
          </p:nvSpPr>
          <p:spPr>
            <a:xfrm flipH="false" flipV="false" rot="0">
              <a:off x="0" y="0"/>
              <a:ext cx="8367000" cy="768852"/>
            </a:xfrm>
            <a:custGeom>
              <a:avLst/>
              <a:gdLst/>
              <a:ahLst/>
              <a:cxnLst/>
              <a:rect r="r" b="b" t="t" l="l"/>
              <a:pathLst>
                <a:path h="768852" w="8367000">
                  <a:moveTo>
                    <a:pt x="0" y="0"/>
                  </a:moveTo>
                  <a:lnTo>
                    <a:pt x="8367000" y="0"/>
                  </a:lnTo>
                  <a:lnTo>
                    <a:pt x="8367000" y="768852"/>
                  </a:lnTo>
                  <a:lnTo>
                    <a:pt x="0" y="768852"/>
                  </a:lnTo>
                  <a:close/>
                </a:path>
              </a:pathLst>
            </a:custGeom>
            <a:blipFill>
              <a:blip r:embed="rId4">
                <a:alphaModFix amt="0"/>
              </a:blip>
              <a:stretch>
                <a:fillRect l="0" t="-164480" r="0" b="-159609"/>
              </a:stretch>
            </a:blipFill>
          </p:spPr>
        </p:sp>
        <p:sp>
          <p:nvSpPr>
            <p:cNvPr name="TextBox 65" id="65"/>
            <p:cNvSpPr txBox="true"/>
            <p:nvPr/>
          </p:nvSpPr>
          <p:spPr>
            <a:xfrm>
              <a:off x="0" y="-28575"/>
              <a:ext cx="8367001" cy="797433"/>
            </a:xfrm>
            <a:prstGeom prst="rect">
              <a:avLst/>
            </a:prstGeom>
          </p:spPr>
          <p:txBody>
            <a:bodyPr anchor="ctr" rtlCol="false" tIns="0" lIns="0" bIns="0" rIns="0"/>
            <a:lstStyle/>
            <a:p>
              <a:pPr algn="l">
                <a:lnSpc>
                  <a:spcPts val="1980"/>
                </a:lnSpc>
              </a:pPr>
              <a:r>
                <a:rPr lang="en-US" sz="1650">
                  <a:solidFill>
                    <a:srgbClr val="5B6670"/>
                  </a:solidFill>
                  <a:latin typeface="Calibri (MS)"/>
                  <a:ea typeface="Calibri (MS)"/>
                  <a:cs typeface="Calibri (MS)"/>
                  <a:sym typeface="Calibri (MS)"/>
                </a:rPr>
                <a:t>PythonFastAPI, React, Boostrap, Supabase y desplegado en Vercel y Render</a:t>
              </a:r>
            </a:p>
          </p:txBody>
        </p:sp>
      </p:grpSp>
      <p:grpSp>
        <p:nvGrpSpPr>
          <p:cNvPr name="Group 66" id="66"/>
          <p:cNvGrpSpPr/>
          <p:nvPr/>
        </p:nvGrpSpPr>
        <p:grpSpPr>
          <a:xfrm rot="0">
            <a:off x="9018270" y="5664708"/>
            <a:ext cx="7715250" cy="1261796"/>
            <a:chOff x="0" y="0"/>
            <a:chExt cx="10287000" cy="1682394"/>
          </a:xfrm>
        </p:grpSpPr>
        <p:sp>
          <p:nvSpPr>
            <p:cNvPr name="Freeform 67" id="67"/>
            <p:cNvSpPr/>
            <p:nvPr/>
          </p:nvSpPr>
          <p:spPr>
            <a:xfrm flipH="false" flipV="false" rot="0">
              <a:off x="0" y="0"/>
              <a:ext cx="10287000" cy="1682369"/>
            </a:xfrm>
            <a:custGeom>
              <a:avLst/>
              <a:gdLst/>
              <a:ahLst/>
              <a:cxnLst/>
              <a:rect r="r" b="b" t="t" l="l"/>
              <a:pathLst>
                <a:path h="1682369" w="10287000">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sp>
      </p:grpSp>
      <p:grpSp>
        <p:nvGrpSpPr>
          <p:cNvPr name="Group 68" id="68"/>
          <p:cNvGrpSpPr/>
          <p:nvPr/>
        </p:nvGrpSpPr>
        <p:grpSpPr>
          <a:xfrm rot="0">
            <a:off x="9265158" y="5911596"/>
            <a:ext cx="768153" cy="768153"/>
            <a:chOff x="0" y="0"/>
            <a:chExt cx="1024204" cy="1024204"/>
          </a:xfrm>
        </p:grpSpPr>
        <p:sp>
          <p:nvSpPr>
            <p:cNvPr name="Freeform 69" id="69"/>
            <p:cNvSpPr/>
            <p:nvPr/>
          </p:nvSpPr>
          <p:spPr>
            <a:xfrm flipH="false" flipV="false" rot="0">
              <a:off x="0" y="0"/>
              <a:ext cx="1024255" cy="1024255"/>
            </a:xfrm>
            <a:custGeom>
              <a:avLst/>
              <a:gdLst/>
              <a:ahLst/>
              <a:cxnLst/>
              <a:rect r="r" b="b" t="t" l="l"/>
              <a:pathLst>
                <a:path h="1024255" w="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sp>
      </p:grpSp>
      <p:grpSp>
        <p:nvGrpSpPr>
          <p:cNvPr name="Group 70" id="70"/>
          <p:cNvGrpSpPr/>
          <p:nvPr/>
        </p:nvGrpSpPr>
        <p:grpSpPr>
          <a:xfrm rot="0">
            <a:off x="9464859" y="6111297"/>
            <a:ext cx="368684" cy="368684"/>
            <a:chOff x="0" y="0"/>
            <a:chExt cx="491579" cy="491579"/>
          </a:xfrm>
        </p:grpSpPr>
        <p:sp>
          <p:nvSpPr>
            <p:cNvPr name="Freeform 71" id="71" descr="icons/window.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10"/>
              <a:stretch>
                <a:fillRect l="0" t="0" r="7" b="7"/>
              </a:stretch>
            </a:blipFill>
          </p:spPr>
        </p:sp>
      </p:grpSp>
      <p:grpSp>
        <p:nvGrpSpPr>
          <p:cNvPr name="Group 72" id="72"/>
          <p:cNvGrpSpPr/>
          <p:nvPr/>
        </p:nvGrpSpPr>
        <p:grpSpPr>
          <a:xfrm rot="0">
            <a:off x="10252710" y="5829300"/>
            <a:ext cx="6275251" cy="493652"/>
            <a:chOff x="0" y="0"/>
            <a:chExt cx="8367001" cy="658203"/>
          </a:xfrm>
        </p:grpSpPr>
        <p:sp>
          <p:nvSpPr>
            <p:cNvPr name="Freeform 73" id="73"/>
            <p:cNvSpPr/>
            <p:nvPr/>
          </p:nvSpPr>
          <p:spPr>
            <a:xfrm flipH="false" flipV="false" rot="0">
              <a:off x="0" y="0"/>
              <a:ext cx="8367000" cy="658200"/>
            </a:xfrm>
            <a:custGeom>
              <a:avLst/>
              <a:gdLst/>
              <a:ahLst/>
              <a:cxnLst/>
              <a:rect r="r" b="b" t="t" l="l"/>
              <a:pathLst>
                <a:path h="658200" w="8367000">
                  <a:moveTo>
                    <a:pt x="0" y="0"/>
                  </a:moveTo>
                  <a:lnTo>
                    <a:pt x="8367000" y="0"/>
                  </a:lnTo>
                  <a:lnTo>
                    <a:pt x="8367000" y="658200"/>
                  </a:lnTo>
                  <a:lnTo>
                    <a:pt x="0" y="658200"/>
                  </a:lnTo>
                  <a:close/>
                </a:path>
              </a:pathLst>
            </a:custGeom>
            <a:blipFill>
              <a:blip r:embed="rId4">
                <a:alphaModFix amt="0"/>
              </a:blip>
              <a:stretch>
                <a:fillRect l="0" t="-197692" r="0" b="-197692"/>
              </a:stretch>
            </a:blipFill>
          </p:spPr>
        </p:sp>
        <p:sp>
          <p:nvSpPr>
            <p:cNvPr name="TextBox 74" id="74"/>
            <p:cNvSpPr txBox="true"/>
            <p:nvPr/>
          </p:nvSpPr>
          <p:spPr>
            <a:xfrm>
              <a:off x="0" y="-57150"/>
              <a:ext cx="8367001" cy="715353"/>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Interfaz y demo</a:t>
              </a:r>
            </a:p>
          </p:txBody>
        </p:sp>
      </p:grpSp>
      <p:grpSp>
        <p:nvGrpSpPr>
          <p:cNvPr name="Group 75" id="75"/>
          <p:cNvGrpSpPr/>
          <p:nvPr/>
        </p:nvGrpSpPr>
        <p:grpSpPr>
          <a:xfrm rot="0">
            <a:off x="10252710" y="6295644"/>
            <a:ext cx="6275251" cy="548554"/>
            <a:chOff x="0" y="0"/>
            <a:chExt cx="8367001" cy="731406"/>
          </a:xfrm>
        </p:grpSpPr>
        <p:sp>
          <p:nvSpPr>
            <p:cNvPr name="Freeform 76" id="76"/>
            <p:cNvSpPr/>
            <p:nvPr/>
          </p:nvSpPr>
          <p:spPr>
            <a:xfrm flipH="false" flipV="false" rot="0">
              <a:off x="0" y="0"/>
              <a:ext cx="8367000" cy="731400"/>
            </a:xfrm>
            <a:custGeom>
              <a:avLst/>
              <a:gdLst/>
              <a:ahLst/>
              <a:cxnLst/>
              <a:rect r="r" b="b" t="t" l="l"/>
              <a:pathLst>
                <a:path h="731400" w="8367000">
                  <a:moveTo>
                    <a:pt x="0" y="0"/>
                  </a:moveTo>
                  <a:lnTo>
                    <a:pt x="8367000" y="0"/>
                  </a:lnTo>
                  <a:lnTo>
                    <a:pt x="8367000" y="731400"/>
                  </a:lnTo>
                  <a:lnTo>
                    <a:pt x="0" y="731400"/>
                  </a:lnTo>
                  <a:close/>
                </a:path>
              </a:pathLst>
            </a:custGeom>
            <a:blipFill>
              <a:blip r:embed="rId4">
                <a:alphaModFix amt="0"/>
              </a:blip>
              <a:stretch>
                <a:fillRect l="0" t="-172902" r="0" b="-172903"/>
              </a:stretch>
            </a:blipFill>
          </p:spPr>
        </p:sp>
        <p:sp>
          <p:nvSpPr>
            <p:cNvPr name="TextBox 77" id="77"/>
            <p:cNvSpPr txBox="true"/>
            <p:nvPr/>
          </p:nvSpPr>
          <p:spPr>
            <a:xfrm>
              <a:off x="0" y="-28575"/>
              <a:ext cx="8367001" cy="759981"/>
            </a:xfrm>
            <a:prstGeom prst="rect">
              <a:avLst/>
            </a:prstGeom>
          </p:spPr>
          <p:txBody>
            <a:bodyPr anchor="ctr" rtlCol="false" tIns="0" lIns="0" bIns="0" rIns="0"/>
            <a:lstStyle/>
            <a:p>
              <a:pPr algn="l">
                <a:lnSpc>
                  <a:spcPts val="1980"/>
                </a:lnSpc>
              </a:pPr>
              <a:r>
                <a:rPr lang="en-US" sz="1650">
                  <a:solidFill>
                    <a:srgbClr val="5B6670"/>
                  </a:solidFill>
                  <a:latin typeface="Calibri (MS)"/>
                  <a:ea typeface="Calibri (MS)"/>
                  <a:cs typeface="Calibri (MS)"/>
                  <a:sym typeface="Calibri (MS)"/>
                </a:rPr>
                <a:t>Recorrido por las pantallas del sistema</a:t>
              </a:r>
            </a:p>
          </p:txBody>
        </p:sp>
      </p:grpSp>
      <p:grpSp>
        <p:nvGrpSpPr>
          <p:cNvPr name="Group 78" id="78"/>
          <p:cNvGrpSpPr/>
          <p:nvPr/>
        </p:nvGrpSpPr>
        <p:grpSpPr>
          <a:xfrm rot="0">
            <a:off x="822960" y="7228332"/>
            <a:ext cx="7715250" cy="1261796"/>
            <a:chOff x="0" y="0"/>
            <a:chExt cx="10287000" cy="1682394"/>
          </a:xfrm>
        </p:grpSpPr>
        <p:sp>
          <p:nvSpPr>
            <p:cNvPr name="Freeform 79" id="79"/>
            <p:cNvSpPr/>
            <p:nvPr/>
          </p:nvSpPr>
          <p:spPr>
            <a:xfrm flipH="false" flipV="false" rot="0">
              <a:off x="0" y="0"/>
              <a:ext cx="10287000" cy="1682369"/>
            </a:xfrm>
            <a:custGeom>
              <a:avLst/>
              <a:gdLst/>
              <a:ahLst/>
              <a:cxnLst/>
              <a:rect r="r" b="b" t="t" l="l"/>
              <a:pathLst>
                <a:path h="1682369" w="10287000">
                  <a:moveTo>
                    <a:pt x="0" y="146304"/>
                  </a:moveTo>
                  <a:cubicBezTo>
                    <a:pt x="0" y="65532"/>
                    <a:pt x="65532" y="0"/>
                    <a:pt x="146304" y="0"/>
                  </a:cubicBezTo>
                  <a:lnTo>
                    <a:pt x="10140696" y="0"/>
                  </a:lnTo>
                  <a:cubicBezTo>
                    <a:pt x="10221468" y="0"/>
                    <a:pt x="10287000" y="65532"/>
                    <a:pt x="10287000" y="146304"/>
                  </a:cubicBezTo>
                  <a:lnTo>
                    <a:pt x="10287000" y="1536065"/>
                  </a:lnTo>
                  <a:cubicBezTo>
                    <a:pt x="10287000" y="1616837"/>
                    <a:pt x="10221468" y="1682369"/>
                    <a:pt x="10140696" y="1682369"/>
                  </a:cubicBezTo>
                  <a:lnTo>
                    <a:pt x="146304" y="1682369"/>
                  </a:lnTo>
                  <a:cubicBezTo>
                    <a:pt x="65532" y="1682369"/>
                    <a:pt x="0" y="1616837"/>
                    <a:pt x="0" y="1536065"/>
                  </a:cubicBezTo>
                  <a:close/>
                </a:path>
              </a:pathLst>
            </a:custGeom>
            <a:solidFill>
              <a:srgbClr val="F6F6F6"/>
            </a:solidFill>
          </p:spPr>
        </p:sp>
      </p:grpSp>
      <p:grpSp>
        <p:nvGrpSpPr>
          <p:cNvPr name="Group 80" id="80"/>
          <p:cNvGrpSpPr/>
          <p:nvPr/>
        </p:nvGrpSpPr>
        <p:grpSpPr>
          <a:xfrm rot="0">
            <a:off x="1069848" y="7475220"/>
            <a:ext cx="768153" cy="768153"/>
            <a:chOff x="0" y="0"/>
            <a:chExt cx="1024204" cy="1024204"/>
          </a:xfrm>
        </p:grpSpPr>
        <p:sp>
          <p:nvSpPr>
            <p:cNvPr name="Freeform 81" id="81"/>
            <p:cNvSpPr/>
            <p:nvPr/>
          </p:nvSpPr>
          <p:spPr>
            <a:xfrm flipH="false" flipV="false" rot="0">
              <a:off x="0" y="0"/>
              <a:ext cx="1024255" cy="1024255"/>
            </a:xfrm>
            <a:custGeom>
              <a:avLst/>
              <a:gdLst/>
              <a:ahLst/>
              <a:cxnLst/>
              <a:rect r="r" b="b" t="t" l="l"/>
              <a:pathLst>
                <a:path h="1024255" w="1024255">
                  <a:moveTo>
                    <a:pt x="0" y="512064"/>
                  </a:moveTo>
                  <a:cubicBezTo>
                    <a:pt x="0" y="229235"/>
                    <a:pt x="229235" y="0"/>
                    <a:pt x="512064" y="0"/>
                  </a:cubicBezTo>
                  <a:cubicBezTo>
                    <a:pt x="794893" y="0"/>
                    <a:pt x="1024255" y="229235"/>
                    <a:pt x="1024255" y="512064"/>
                  </a:cubicBezTo>
                  <a:cubicBezTo>
                    <a:pt x="1024255" y="794893"/>
                    <a:pt x="794893" y="1024255"/>
                    <a:pt x="512064" y="1024255"/>
                  </a:cubicBezTo>
                  <a:cubicBezTo>
                    <a:pt x="229235" y="1024255"/>
                    <a:pt x="0" y="794893"/>
                    <a:pt x="0" y="512064"/>
                  </a:cubicBezTo>
                  <a:close/>
                </a:path>
              </a:pathLst>
            </a:custGeom>
            <a:solidFill>
              <a:srgbClr val="39A900"/>
            </a:solidFill>
          </p:spPr>
        </p:sp>
      </p:grpSp>
      <p:grpSp>
        <p:nvGrpSpPr>
          <p:cNvPr name="Group 82" id="82"/>
          <p:cNvGrpSpPr/>
          <p:nvPr/>
        </p:nvGrpSpPr>
        <p:grpSpPr>
          <a:xfrm rot="0">
            <a:off x="1269549" y="7674921"/>
            <a:ext cx="368684" cy="368684"/>
            <a:chOff x="0" y="0"/>
            <a:chExt cx="491579" cy="491579"/>
          </a:xfrm>
        </p:grpSpPr>
        <p:sp>
          <p:nvSpPr>
            <p:cNvPr name="Freeform 83" id="83" descr="icons/flask.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11"/>
              <a:stretch>
                <a:fillRect l="0" t="0" r="7" b="7"/>
              </a:stretch>
            </a:blipFill>
          </p:spPr>
        </p:sp>
      </p:grpSp>
      <p:grpSp>
        <p:nvGrpSpPr>
          <p:cNvPr name="Group 84" id="84"/>
          <p:cNvGrpSpPr/>
          <p:nvPr/>
        </p:nvGrpSpPr>
        <p:grpSpPr>
          <a:xfrm rot="0">
            <a:off x="2057400" y="7392924"/>
            <a:ext cx="6275251" cy="493652"/>
            <a:chOff x="0" y="0"/>
            <a:chExt cx="8367001" cy="658203"/>
          </a:xfrm>
        </p:grpSpPr>
        <p:sp>
          <p:nvSpPr>
            <p:cNvPr name="Freeform 85" id="85"/>
            <p:cNvSpPr/>
            <p:nvPr/>
          </p:nvSpPr>
          <p:spPr>
            <a:xfrm flipH="false" flipV="false" rot="0">
              <a:off x="0" y="0"/>
              <a:ext cx="8367000" cy="658200"/>
            </a:xfrm>
            <a:custGeom>
              <a:avLst/>
              <a:gdLst/>
              <a:ahLst/>
              <a:cxnLst/>
              <a:rect r="r" b="b" t="t" l="l"/>
              <a:pathLst>
                <a:path h="658200" w="8367000">
                  <a:moveTo>
                    <a:pt x="0" y="0"/>
                  </a:moveTo>
                  <a:lnTo>
                    <a:pt x="8367000" y="0"/>
                  </a:lnTo>
                  <a:lnTo>
                    <a:pt x="8367000" y="658200"/>
                  </a:lnTo>
                  <a:lnTo>
                    <a:pt x="0" y="658200"/>
                  </a:lnTo>
                  <a:close/>
                </a:path>
              </a:pathLst>
            </a:custGeom>
            <a:blipFill>
              <a:blip r:embed="rId4">
                <a:alphaModFix amt="0"/>
              </a:blip>
              <a:stretch>
                <a:fillRect l="0" t="-197692" r="0" b="-197692"/>
              </a:stretch>
            </a:blipFill>
          </p:spPr>
        </p:sp>
        <p:sp>
          <p:nvSpPr>
            <p:cNvPr name="TextBox 86" id="86"/>
            <p:cNvSpPr txBox="true"/>
            <p:nvPr/>
          </p:nvSpPr>
          <p:spPr>
            <a:xfrm>
              <a:off x="0" y="-57150"/>
              <a:ext cx="8367001" cy="715353"/>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Pruebas y conclusiones</a:t>
              </a:r>
            </a:p>
          </p:txBody>
        </p:sp>
      </p:grpSp>
      <p:grpSp>
        <p:nvGrpSpPr>
          <p:cNvPr name="Group 87" id="87"/>
          <p:cNvGrpSpPr/>
          <p:nvPr/>
        </p:nvGrpSpPr>
        <p:grpSpPr>
          <a:xfrm rot="0">
            <a:off x="2057400" y="7859268"/>
            <a:ext cx="6275251" cy="548554"/>
            <a:chOff x="0" y="0"/>
            <a:chExt cx="8367001" cy="731406"/>
          </a:xfrm>
        </p:grpSpPr>
        <p:sp>
          <p:nvSpPr>
            <p:cNvPr name="Freeform 88" id="88"/>
            <p:cNvSpPr/>
            <p:nvPr/>
          </p:nvSpPr>
          <p:spPr>
            <a:xfrm flipH="false" flipV="false" rot="0">
              <a:off x="0" y="0"/>
              <a:ext cx="8367000" cy="731400"/>
            </a:xfrm>
            <a:custGeom>
              <a:avLst/>
              <a:gdLst/>
              <a:ahLst/>
              <a:cxnLst/>
              <a:rect r="r" b="b" t="t" l="l"/>
              <a:pathLst>
                <a:path h="731400" w="8367000">
                  <a:moveTo>
                    <a:pt x="0" y="0"/>
                  </a:moveTo>
                  <a:lnTo>
                    <a:pt x="8367000" y="0"/>
                  </a:lnTo>
                  <a:lnTo>
                    <a:pt x="8367000" y="731400"/>
                  </a:lnTo>
                  <a:lnTo>
                    <a:pt x="0" y="731400"/>
                  </a:lnTo>
                  <a:close/>
                </a:path>
              </a:pathLst>
            </a:custGeom>
            <a:blipFill>
              <a:blip r:embed="rId4">
                <a:alphaModFix amt="0"/>
              </a:blip>
              <a:stretch>
                <a:fillRect l="0" t="-172902" r="0" b="-172903"/>
              </a:stretch>
            </a:blipFill>
          </p:spPr>
        </p:sp>
        <p:sp>
          <p:nvSpPr>
            <p:cNvPr name="TextBox 89" id="89"/>
            <p:cNvSpPr txBox="true"/>
            <p:nvPr/>
          </p:nvSpPr>
          <p:spPr>
            <a:xfrm>
              <a:off x="0" y="-28575"/>
              <a:ext cx="8367001" cy="759981"/>
            </a:xfrm>
            <a:prstGeom prst="rect">
              <a:avLst/>
            </a:prstGeom>
          </p:spPr>
          <p:txBody>
            <a:bodyPr anchor="ctr" rtlCol="false" tIns="0" lIns="0" bIns="0" rIns="0"/>
            <a:lstStyle/>
            <a:p>
              <a:pPr algn="l">
                <a:lnSpc>
                  <a:spcPts val="1980"/>
                </a:lnSpc>
              </a:pPr>
              <a:r>
                <a:rPr lang="en-US" sz="1650">
                  <a:solidFill>
                    <a:srgbClr val="5B6670"/>
                  </a:solidFill>
                  <a:latin typeface="Calibri (MS)"/>
                  <a:ea typeface="Calibri (MS)"/>
                  <a:cs typeface="Calibri (MS)"/>
                  <a:sym typeface="Calibri (MS)"/>
                </a:rPr>
                <a:t>Cómo validamos la calidad del software</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11520" y="987552"/>
            <a:ext cx="16184699" cy="1165946"/>
            <a:chOff x="0" y="0"/>
            <a:chExt cx="21579599" cy="1554594"/>
          </a:xfrm>
        </p:grpSpPr>
        <p:sp>
          <p:nvSpPr>
            <p:cNvPr name="Freeform 4" id="4"/>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5" id="5"/>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Planteamiento del problema</a:t>
              </a:r>
            </a:p>
          </p:txBody>
        </p:sp>
      </p:grpSp>
      <p:grpSp>
        <p:nvGrpSpPr>
          <p:cNvPr name="Group 6" id="6"/>
          <p:cNvGrpSpPr/>
          <p:nvPr/>
        </p:nvGrpSpPr>
        <p:grpSpPr>
          <a:xfrm rot="0">
            <a:off x="811520" y="2468880"/>
            <a:ext cx="7681046" cy="6720754"/>
            <a:chOff x="0" y="0"/>
            <a:chExt cx="10241394" cy="8961006"/>
          </a:xfrm>
        </p:grpSpPr>
        <p:sp>
          <p:nvSpPr>
            <p:cNvPr name="Freeform 7" id="7"/>
            <p:cNvSpPr/>
            <p:nvPr/>
          </p:nvSpPr>
          <p:spPr>
            <a:xfrm flipH="false" flipV="false" rot="0">
              <a:off x="0" y="0"/>
              <a:ext cx="10241407" cy="8960993"/>
            </a:xfrm>
            <a:custGeom>
              <a:avLst/>
              <a:gdLst/>
              <a:ahLst/>
              <a:cxnLst/>
              <a:rect r="r" b="b" t="t" l="l"/>
              <a:pathLst>
                <a:path h="8960993" w="10241407">
                  <a:moveTo>
                    <a:pt x="0" y="146304"/>
                  </a:moveTo>
                  <a:cubicBezTo>
                    <a:pt x="0" y="65532"/>
                    <a:pt x="65532" y="0"/>
                    <a:pt x="146304" y="0"/>
                  </a:cubicBezTo>
                  <a:lnTo>
                    <a:pt x="10095103" y="0"/>
                  </a:lnTo>
                  <a:cubicBezTo>
                    <a:pt x="10175875" y="0"/>
                    <a:pt x="10241407" y="65532"/>
                    <a:pt x="10241407" y="146304"/>
                  </a:cubicBezTo>
                  <a:lnTo>
                    <a:pt x="10241407" y="8814689"/>
                  </a:lnTo>
                  <a:cubicBezTo>
                    <a:pt x="10241407" y="8895461"/>
                    <a:pt x="10175875" y="8960993"/>
                    <a:pt x="10095103" y="8960993"/>
                  </a:cubicBezTo>
                  <a:lnTo>
                    <a:pt x="146304" y="8960993"/>
                  </a:lnTo>
                  <a:cubicBezTo>
                    <a:pt x="65532" y="8960993"/>
                    <a:pt x="0" y="8895461"/>
                    <a:pt x="0" y="8814689"/>
                  </a:cubicBezTo>
                  <a:close/>
                </a:path>
              </a:pathLst>
            </a:custGeom>
            <a:solidFill>
              <a:srgbClr val="F6F6F6"/>
            </a:solidFill>
          </p:spPr>
        </p:sp>
      </p:grpSp>
      <p:grpSp>
        <p:nvGrpSpPr>
          <p:cNvPr name="Group 8" id="8"/>
          <p:cNvGrpSpPr/>
          <p:nvPr/>
        </p:nvGrpSpPr>
        <p:grpSpPr>
          <a:xfrm rot="0">
            <a:off x="1291580" y="2811780"/>
            <a:ext cx="6858000" cy="548554"/>
            <a:chOff x="0" y="0"/>
            <a:chExt cx="9144000" cy="731406"/>
          </a:xfrm>
        </p:grpSpPr>
        <p:sp>
          <p:nvSpPr>
            <p:cNvPr name="Freeform 9" id="9"/>
            <p:cNvSpPr/>
            <p:nvPr/>
          </p:nvSpPr>
          <p:spPr>
            <a:xfrm flipH="false" flipV="false" rot="0">
              <a:off x="0" y="0"/>
              <a:ext cx="9144000" cy="731400"/>
            </a:xfrm>
            <a:custGeom>
              <a:avLst/>
              <a:gdLst/>
              <a:ahLst/>
              <a:cxnLst/>
              <a:rect r="r" b="b" t="t" l="l"/>
              <a:pathLst>
                <a:path h="731400" w="9144000">
                  <a:moveTo>
                    <a:pt x="0" y="0"/>
                  </a:moveTo>
                  <a:lnTo>
                    <a:pt x="9144000" y="0"/>
                  </a:lnTo>
                  <a:lnTo>
                    <a:pt x="9144000" y="731400"/>
                  </a:lnTo>
                  <a:lnTo>
                    <a:pt x="0" y="731400"/>
                  </a:lnTo>
                  <a:close/>
                </a:path>
              </a:pathLst>
            </a:custGeom>
            <a:blipFill>
              <a:blip r:embed="rId4">
                <a:alphaModFix amt="0"/>
              </a:blip>
              <a:stretch>
                <a:fillRect l="0" t="-193602" r="0" b="-193603"/>
              </a:stretch>
            </a:blipFill>
          </p:spPr>
        </p:sp>
        <p:sp>
          <p:nvSpPr>
            <p:cNvPr name="TextBox 10" id="10"/>
            <p:cNvSpPr txBox="true"/>
            <p:nvPr/>
          </p:nvSpPr>
          <p:spPr>
            <a:xfrm>
              <a:off x="0" y="-38100"/>
              <a:ext cx="9144000" cy="769506"/>
            </a:xfrm>
            <a:prstGeom prst="rect">
              <a:avLst/>
            </a:prstGeom>
          </p:spPr>
          <p:txBody>
            <a:bodyPr anchor="ctr" rtlCol="false" tIns="0" lIns="0" bIns="0" rIns="0"/>
            <a:lstStyle/>
            <a:p>
              <a:pPr algn="l">
                <a:lnSpc>
                  <a:spcPts val="2879"/>
                </a:lnSpc>
              </a:pPr>
              <a:r>
                <a:rPr lang="en-US" b="true" sz="2400">
                  <a:solidFill>
                    <a:srgbClr val="00304D"/>
                  </a:solidFill>
                  <a:latin typeface="Calibri (MS) Bold"/>
                  <a:ea typeface="Calibri (MS) Bold"/>
                  <a:cs typeface="Calibri (MS) Bold"/>
                  <a:sym typeface="Calibri (MS) Bold"/>
                </a:rPr>
                <a:t>Gestión manual e informal</a:t>
              </a:r>
            </a:p>
          </p:txBody>
        </p:sp>
      </p:grpSp>
      <p:grpSp>
        <p:nvGrpSpPr>
          <p:cNvPr name="Group 11" id="11"/>
          <p:cNvGrpSpPr/>
          <p:nvPr/>
        </p:nvGrpSpPr>
        <p:grpSpPr>
          <a:xfrm rot="0">
            <a:off x="1291580" y="3497580"/>
            <a:ext cx="438750" cy="438750"/>
            <a:chOff x="0" y="0"/>
            <a:chExt cx="585000" cy="585000"/>
          </a:xfrm>
        </p:grpSpPr>
        <p:sp>
          <p:nvSpPr>
            <p:cNvPr name="Freeform 12" id="12"/>
            <p:cNvSpPr/>
            <p:nvPr/>
          </p:nvSpPr>
          <p:spPr>
            <a:xfrm flipH="false" flipV="false" rot="0">
              <a:off x="0" y="0"/>
              <a:ext cx="584962" cy="584962"/>
            </a:xfrm>
            <a:custGeom>
              <a:avLst/>
              <a:gdLst/>
              <a:ahLst/>
              <a:cxnLst/>
              <a:rect r="r" b="b" t="t" l="l"/>
              <a:pathLst>
                <a:path h="584962" w="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sp>
      </p:grpSp>
      <p:grpSp>
        <p:nvGrpSpPr>
          <p:cNvPr name="Group 13" id="13"/>
          <p:cNvGrpSpPr/>
          <p:nvPr/>
        </p:nvGrpSpPr>
        <p:grpSpPr>
          <a:xfrm rot="0">
            <a:off x="1405700" y="3611699"/>
            <a:ext cx="210674" cy="210674"/>
            <a:chOff x="0" y="0"/>
            <a:chExt cx="280899" cy="280899"/>
          </a:xfrm>
        </p:grpSpPr>
        <p:sp>
          <p:nvSpPr>
            <p:cNvPr name="Freeform 14" id="14" descr="icons/warning.png"/>
            <p:cNvSpPr/>
            <p:nvPr/>
          </p:nvSpPr>
          <p:spPr>
            <a:xfrm flipH="false" flipV="false" rot="0">
              <a:off x="0" y="0"/>
              <a:ext cx="280924" cy="280924"/>
            </a:xfrm>
            <a:custGeom>
              <a:avLst/>
              <a:gdLst/>
              <a:ahLst/>
              <a:cxnLst/>
              <a:rect r="r" b="b" t="t" l="l"/>
              <a:pathLst>
                <a:path h="280924" w="280924">
                  <a:moveTo>
                    <a:pt x="0" y="0"/>
                  </a:moveTo>
                  <a:lnTo>
                    <a:pt x="280924" y="0"/>
                  </a:lnTo>
                  <a:lnTo>
                    <a:pt x="280924" y="280924"/>
                  </a:lnTo>
                  <a:lnTo>
                    <a:pt x="0" y="280924"/>
                  </a:lnTo>
                  <a:lnTo>
                    <a:pt x="0" y="0"/>
                  </a:lnTo>
                  <a:close/>
                </a:path>
              </a:pathLst>
            </a:custGeom>
            <a:blipFill>
              <a:blip r:embed="rId5"/>
              <a:stretch>
                <a:fillRect l="0" t="0" r="9" b="9"/>
              </a:stretch>
            </a:blipFill>
          </p:spPr>
        </p:sp>
      </p:grpSp>
      <p:grpSp>
        <p:nvGrpSpPr>
          <p:cNvPr name="Group 15" id="15"/>
          <p:cNvGrpSpPr/>
          <p:nvPr/>
        </p:nvGrpSpPr>
        <p:grpSpPr>
          <a:xfrm rot="0">
            <a:off x="1936232" y="3442716"/>
            <a:ext cx="6377854" cy="685800"/>
            <a:chOff x="0" y="0"/>
            <a:chExt cx="8503806" cy="914400"/>
          </a:xfrm>
        </p:grpSpPr>
        <p:sp>
          <p:nvSpPr>
            <p:cNvPr name="Freeform 16" id="16"/>
            <p:cNvSpPr/>
            <p:nvPr/>
          </p:nvSpPr>
          <p:spPr>
            <a:xfrm flipH="false" flipV="false" rot="0">
              <a:off x="0" y="0"/>
              <a:ext cx="8503800" cy="914400"/>
            </a:xfrm>
            <a:custGeom>
              <a:avLst/>
              <a:gdLst/>
              <a:ahLst/>
              <a:cxnLst/>
              <a:rect r="r" b="b" t="t" l="l"/>
              <a:pathLst>
                <a:path h="914400" w="8503800">
                  <a:moveTo>
                    <a:pt x="0" y="0"/>
                  </a:moveTo>
                  <a:lnTo>
                    <a:pt x="8503800" y="0"/>
                  </a:lnTo>
                  <a:lnTo>
                    <a:pt x="8503800" y="914400"/>
                  </a:lnTo>
                  <a:lnTo>
                    <a:pt x="0" y="914400"/>
                  </a:lnTo>
                  <a:close/>
                </a:path>
              </a:pathLst>
            </a:custGeom>
            <a:blipFill>
              <a:blip r:embed="rId4">
                <a:alphaModFix amt="0"/>
              </a:blip>
              <a:stretch>
                <a:fillRect l="0" t="-131208" r="0" b="-131208"/>
              </a:stretch>
            </a:blipFill>
          </p:spPr>
        </p:sp>
        <p:sp>
          <p:nvSpPr>
            <p:cNvPr name="TextBox 17" id="17"/>
            <p:cNvSpPr txBox="true"/>
            <p:nvPr/>
          </p:nvSpPr>
          <p:spPr>
            <a:xfrm>
              <a:off x="0" y="-38100"/>
              <a:ext cx="8503806" cy="952500"/>
            </a:xfrm>
            <a:prstGeom prst="rect">
              <a:avLst/>
            </a:prstGeom>
          </p:spPr>
          <p:txBody>
            <a:bodyPr anchor="ctr" rtlCol="false" tIns="0" lIns="0" bIns="0" rIns="0"/>
            <a:lstStyle/>
            <a:p>
              <a:pPr algn="l">
                <a:lnSpc>
                  <a:spcPts val="2070"/>
                </a:lnSpc>
              </a:pPr>
              <a:r>
                <a:rPr lang="en-US" sz="1725">
                  <a:solidFill>
                    <a:srgbClr val="22292E"/>
                  </a:solidFill>
                  <a:latin typeface="Calibri (MS)"/>
                  <a:ea typeface="Calibri (MS)"/>
                  <a:cs typeface="Calibri (MS)"/>
                  <a:sym typeface="Calibri (MS)"/>
                </a:rPr>
                <a:t>Muchas Mecanicas gestionan sus citas y productos con un papel </a:t>
              </a:r>
            </a:p>
          </p:txBody>
        </p:sp>
      </p:grpSp>
      <p:grpSp>
        <p:nvGrpSpPr>
          <p:cNvPr name="Group 18" id="18"/>
          <p:cNvGrpSpPr/>
          <p:nvPr/>
        </p:nvGrpSpPr>
        <p:grpSpPr>
          <a:xfrm rot="0">
            <a:off x="1291580" y="4299966"/>
            <a:ext cx="438750" cy="438750"/>
            <a:chOff x="0" y="0"/>
            <a:chExt cx="585000" cy="585000"/>
          </a:xfrm>
        </p:grpSpPr>
        <p:sp>
          <p:nvSpPr>
            <p:cNvPr name="Freeform 19" id="19"/>
            <p:cNvSpPr/>
            <p:nvPr/>
          </p:nvSpPr>
          <p:spPr>
            <a:xfrm flipH="false" flipV="false" rot="0">
              <a:off x="0" y="0"/>
              <a:ext cx="584962" cy="584962"/>
            </a:xfrm>
            <a:custGeom>
              <a:avLst/>
              <a:gdLst/>
              <a:ahLst/>
              <a:cxnLst/>
              <a:rect r="r" b="b" t="t" l="l"/>
              <a:pathLst>
                <a:path h="584962" w="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sp>
      </p:grpSp>
      <p:grpSp>
        <p:nvGrpSpPr>
          <p:cNvPr name="Group 20" id="20"/>
          <p:cNvGrpSpPr/>
          <p:nvPr/>
        </p:nvGrpSpPr>
        <p:grpSpPr>
          <a:xfrm rot="0">
            <a:off x="1405700" y="4414085"/>
            <a:ext cx="210674" cy="210674"/>
            <a:chOff x="0" y="0"/>
            <a:chExt cx="280899" cy="280899"/>
          </a:xfrm>
        </p:grpSpPr>
        <p:sp>
          <p:nvSpPr>
            <p:cNvPr name="Freeform 21" id="21" descr="icons/warning.png"/>
            <p:cNvSpPr/>
            <p:nvPr/>
          </p:nvSpPr>
          <p:spPr>
            <a:xfrm flipH="false" flipV="false" rot="0">
              <a:off x="0" y="0"/>
              <a:ext cx="280924" cy="280924"/>
            </a:xfrm>
            <a:custGeom>
              <a:avLst/>
              <a:gdLst/>
              <a:ahLst/>
              <a:cxnLst/>
              <a:rect r="r" b="b" t="t" l="l"/>
              <a:pathLst>
                <a:path h="280924" w="280924">
                  <a:moveTo>
                    <a:pt x="0" y="0"/>
                  </a:moveTo>
                  <a:lnTo>
                    <a:pt x="280924" y="0"/>
                  </a:lnTo>
                  <a:lnTo>
                    <a:pt x="280924" y="280924"/>
                  </a:lnTo>
                  <a:lnTo>
                    <a:pt x="0" y="280924"/>
                  </a:lnTo>
                  <a:lnTo>
                    <a:pt x="0" y="0"/>
                  </a:lnTo>
                  <a:close/>
                </a:path>
              </a:pathLst>
            </a:custGeom>
            <a:blipFill>
              <a:blip r:embed="rId5"/>
              <a:stretch>
                <a:fillRect l="0" t="0" r="9" b="9"/>
              </a:stretch>
            </a:blipFill>
          </p:spPr>
        </p:sp>
      </p:grpSp>
      <p:grpSp>
        <p:nvGrpSpPr>
          <p:cNvPr name="Group 22" id="22"/>
          <p:cNvGrpSpPr/>
          <p:nvPr/>
        </p:nvGrpSpPr>
        <p:grpSpPr>
          <a:xfrm rot="0">
            <a:off x="1936232" y="4245102"/>
            <a:ext cx="6377854" cy="685800"/>
            <a:chOff x="0" y="0"/>
            <a:chExt cx="8503806" cy="914400"/>
          </a:xfrm>
        </p:grpSpPr>
        <p:sp>
          <p:nvSpPr>
            <p:cNvPr name="Freeform 23" id="23"/>
            <p:cNvSpPr/>
            <p:nvPr/>
          </p:nvSpPr>
          <p:spPr>
            <a:xfrm flipH="false" flipV="false" rot="0">
              <a:off x="0" y="0"/>
              <a:ext cx="8503800" cy="914400"/>
            </a:xfrm>
            <a:custGeom>
              <a:avLst/>
              <a:gdLst/>
              <a:ahLst/>
              <a:cxnLst/>
              <a:rect r="r" b="b" t="t" l="l"/>
              <a:pathLst>
                <a:path h="914400" w="8503800">
                  <a:moveTo>
                    <a:pt x="0" y="0"/>
                  </a:moveTo>
                  <a:lnTo>
                    <a:pt x="8503800" y="0"/>
                  </a:lnTo>
                  <a:lnTo>
                    <a:pt x="8503800" y="914400"/>
                  </a:lnTo>
                  <a:lnTo>
                    <a:pt x="0" y="914400"/>
                  </a:lnTo>
                  <a:close/>
                </a:path>
              </a:pathLst>
            </a:custGeom>
            <a:blipFill>
              <a:blip r:embed="rId4">
                <a:alphaModFix amt="0"/>
              </a:blip>
              <a:stretch>
                <a:fillRect l="0" t="-131208" r="0" b="-131208"/>
              </a:stretch>
            </a:blipFill>
          </p:spPr>
        </p:sp>
        <p:sp>
          <p:nvSpPr>
            <p:cNvPr name="TextBox 24" id="24"/>
            <p:cNvSpPr txBox="true"/>
            <p:nvPr/>
          </p:nvSpPr>
          <p:spPr>
            <a:xfrm>
              <a:off x="0" y="-38100"/>
              <a:ext cx="8503806" cy="952500"/>
            </a:xfrm>
            <a:prstGeom prst="rect">
              <a:avLst/>
            </a:prstGeom>
          </p:spPr>
          <p:txBody>
            <a:bodyPr anchor="ctr" rtlCol="false" tIns="0" lIns="0" bIns="0" rIns="0"/>
            <a:lstStyle/>
            <a:p>
              <a:pPr algn="l">
                <a:lnSpc>
                  <a:spcPts val="2070"/>
                </a:lnSpc>
              </a:pPr>
              <a:r>
                <a:rPr lang="en-US" sz="1725">
                  <a:solidFill>
                    <a:srgbClr val="22292E"/>
                  </a:solidFill>
                  <a:latin typeface="Calibri (MS)"/>
                  <a:ea typeface="Calibri (MS)"/>
                  <a:cs typeface="Calibri (MS)"/>
                  <a:sym typeface="Calibri (MS)"/>
                </a:rPr>
                <a:t>Procesos manuales</a:t>
              </a:r>
              <a:r>
                <a:rPr lang="en-US" sz="1725">
                  <a:solidFill>
                    <a:srgbClr val="22292E"/>
                  </a:solidFill>
                  <a:latin typeface="Calibri (MS)"/>
                  <a:ea typeface="Calibri (MS)"/>
                  <a:cs typeface="Calibri (MS)"/>
                  <a:sym typeface="Calibri (MS)"/>
                </a:rPr>
                <a:t> y pérdida de datos</a:t>
              </a:r>
            </a:p>
          </p:txBody>
        </p:sp>
      </p:grpSp>
      <p:grpSp>
        <p:nvGrpSpPr>
          <p:cNvPr name="Group 25" id="25"/>
          <p:cNvGrpSpPr/>
          <p:nvPr/>
        </p:nvGrpSpPr>
        <p:grpSpPr>
          <a:xfrm rot="0">
            <a:off x="1291580" y="5102352"/>
            <a:ext cx="438750" cy="438750"/>
            <a:chOff x="0" y="0"/>
            <a:chExt cx="585000" cy="585000"/>
          </a:xfrm>
        </p:grpSpPr>
        <p:sp>
          <p:nvSpPr>
            <p:cNvPr name="Freeform 26" id="26"/>
            <p:cNvSpPr/>
            <p:nvPr/>
          </p:nvSpPr>
          <p:spPr>
            <a:xfrm flipH="false" flipV="false" rot="0">
              <a:off x="0" y="0"/>
              <a:ext cx="584962" cy="584962"/>
            </a:xfrm>
            <a:custGeom>
              <a:avLst/>
              <a:gdLst/>
              <a:ahLst/>
              <a:cxnLst/>
              <a:rect r="r" b="b" t="t" l="l"/>
              <a:pathLst>
                <a:path h="584962" w="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sp>
      </p:grpSp>
      <p:grpSp>
        <p:nvGrpSpPr>
          <p:cNvPr name="Group 27" id="27"/>
          <p:cNvGrpSpPr/>
          <p:nvPr/>
        </p:nvGrpSpPr>
        <p:grpSpPr>
          <a:xfrm rot="0">
            <a:off x="1405700" y="5216471"/>
            <a:ext cx="210674" cy="210674"/>
            <a:chOff x="0" y="0"/>
            <a:chExt cx="280899" cy="280899"/>
          </a:xfrm>
        </p:grpSpPr>
        <p:sp>
          <p:nvSpPr>
            <p:cNvPr name="Freeform 28" id="28" descr="icons/warning.png"/>
            <p:cNvSpPr/>
            <p:nvPr/>
          </p:nvSpPr>
          <p:spPr>
            <a:xfrm flipH="false" flipV="false" rot="0">
              <a:off x="0" y="0"/>
              <a:ext cx="280924" cy="280924"/>
            </a:xfrm>
            <a:custGeom>
              <a:avLst/>
              <a:gdLst/>
              <a:ahLst/>
              <a:cxnLst/>
              <a:rect r="r" b="b" t="t" l="l"/>
              <a:pathLst>
                <a:path h="280924" w="280924">
                  <a:moveTo>
                    <a:pt x="0" y="0"/>
                  </a:moveTo>
                  <a:lnTo>
                    <a:pt x="280924" y="0"/>
                  </a:lnTo>
                  <a:lnTo>
                    <a:pt x="280924" y="280924"/>
                  </a:lnTo>
                  <a:lnTo>
                    <a:pt x="0" y="280924"/>
                  </a:lnTo>
                  <a:lnTo>
                    <a:pt x="0" y="0"/>
                  </a:lnTo>
                  <a:close/>
                </a:path>
              </a:pathLst>
            </a:custGeom>
            <a:blipFill>
              <a:blip r:embed="rId5"/>
              <a:stretch>
                <a:fillRect l="0" t="0" r="9" b="9"/>
              </a:stretch>
            </a:blipFill>
          </p:spPr>
        </p:sp>
      </p:grpSp>
      <p:grpSp>
        <p:nvGrpSpPr>
          <p:cNvPr name="Group 29" id="29"/>
          <p:cNvGrpSpPr/>
          <p:nvPr/>
        </p:nvGrpSpPr>
        <p:grpSpPr>
          <a:xfrm rot="0">
            <a:off x="1936232" y="5047488"/>
            <a:ext cx="6377854" cy="685800"/>
            <a:chOff x="0" y="0"/>
            <a:chExt cx="8503806" cy="914400"/>
          </a:xfrm>
        </p:grpSpPr>
        <p:sp>
          <p:nvSpPr>
            <p:cNvPr name="Freeform 30" id="30"/>
            <p:cNvSpPr/>
            <p:nvPr/>
          </p:nvSpPr>
          <p:spPr>
            <a:xfrm flipH="false" flipV="false" rot="0">
              <a:off x="0" y="0"/>
              <a:ext cx="8503800" cy="914400"/>
            </a:xfrm>
            <a:custGeom>
              <a:avLst/>
              <a:gdLst/>
              <a:ahLst/>
              <a:cxnLst/>
              <a:rect r="r" b="b" t="t" l="l"/>
              <a:pathLst>
                <a:path h="914400" w="8503800">
                  <a:moveTo>
                    <a:pt x="0" y="0"/>
                  </a:moveTo>
                  <a:lnTo>
                    <a:pt x="8503800" y="0"/>
                  </a:lnTo>
                  <a:lnTo>
                    <a:pt x="8503800" y="914400"/>
                  </a:lnTo>
                  <a:lnTo>
                    <a:pt x="0" y="914400"/>
                  </a:lnTo>
                  <a:close/>
                </a:path>
              </a:pathLst>
            </a:custGeom>
            <a:blipFill>
              <a:blip r:embed="rId4">
                <a:alphaModFix amt="0"/>
              </a:blip>
              <a:stretch>
                <a:fillRect l="0" t="-131208" r="0" b="-131208"/>
              </a:stretch>
            </a:blipFill>
          </p:spPr>
        </p:sp>
        <p:sp>
          <p:nvSpPr>
            <p:cNvPr name="TextBox 31" id="31"/>
            <p:cNvSpPr txBox="true"/>
            <p:nvPr/>
          </p:nvSpPr>
          <p:spPr>
            <a:xfrm>
              <a:off x="0" y="-38100"/>
              <a:ext cx="8503806" cy="952500"/>
            </a:xfrm>
            <a:prstGeom prst="rect">
              <a:avLst/>
            </a:prstGeom>
          </p:spPr>
          <p:txBody>
            <a:bodyPr anchor="ctr" rtlCol="false" tIns="0" lIns="0" bIns="0" rIns="0"/>
            <a:lstStyle/>
            <a:p>
              <a:pPr algn="l">
                <a:lnSpc>
                  <a:spcPts val="2070"/>
                </a:lnSpc>
              </a:pPr>
              <a:r>
                <a:rPr lang="en-US" sz="1725">
                  <a:solidFill>
                    <a:srgbClr val="22292E"/>
                  </a:solidFill>
                  <a:latin typeface="Calibri (MS)"/>
                  <a:ea typeface="Calibri (MS)"/>
                  <a:cs typeface="Calibri (MS)"/>
                  <a:sym typeface="Calibri (MS)"/>
                </a:rPr>
                <a:t>Dificultad para controlar las citas</a:t>
              </a:r>
            </a:p>
          </p:txBody>
        </p:sp>
      </p:grpSp>
      <p:grpSp>
        <p:nvGrpSpPr>
          <p:cNvPr name="Group 32" id="32"/>
          <p:cNvGrpSpPr/>
          <p:nvPr/>
        </p:nvGrpSpPr>
        <p:grpSpPr>
          <a:xfrm rot="0">
            <a:off x="1291580" y="5904738"/>
            <a:ext cx="438750" cy="438750"/>
            <a:chOff x="0" y="0"/>
            <a:chExt cx="585000" cy="585000"/>
          </a:xfrm>
        </p:grpSpPr>
        <p:sp>
          <p:nvSpPr>
            <p:cNvPr name="Freeform 33" id="33"/>
            <p:cNvSpPr/>
            <p:nvPr/>
          </p:nvSpPr>
          <p:spPr>
            <a:xfrm flipH="false" flipV="false" rot="0">
              <a:off x="0" y="0"/>
              <a:ext cx="584962" cy="584962"/>
            </a:xfrm>
            <a:custGeom>
              <a:avLst/>
              <a:gdLst/>
              <a:ahLst/>
              <a:cxnLst/>
              <a:rect r="r" b="b" t="t" l="l"/>
              <a:pathLst>
                <a:path h="584962" w="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sp>
      </p:grpSp>
      <p:grpSp>
        <p:nvGrpSpPr>
          <p:cNvPr name="Group 34" id="34"/>
          <p:cNvGrpSpPr/>
          <p:nvPr/>
        </p:nvGrpSpPr>
        <p:grpSpPr>
          <a:xfrm rot="0">
            <a:off x="1405700" y="6018857"/>
            <a:ext cx="210674" cy="210674"/>
            <a:chOff x="0" y="0"/>
            <a:chExt cx="280899" cy="280899"/>
          </a:xfrm>
        </p:grpSpPr>
        <p:sp>
          <p:nvSpPr>
            <p:cNvPr name="Freeform 35" id="35" descr="icons/warning.png"/>
            <p:cNvSpPr/>
            <p:nvPr/>
          </p:nvSpPr>
          <p:spPr>
            <a:xfrm flipH="false" flipV="false" rot="0">
              <a:off x="0" y="0"/>
              <a:ext cx="280924" cy="280924"/>
            </a:xfrm>
            <a:custGeom>
              <a:avLst/>
              <a:gdLst/>
              <a:ahLst/>
              <a:cxnLst/>
              <a:rect r="r" b="b" t="t" l="l"/>
              <a:pathLst>
                <a:path h="280924" w="280924">
                  <a:moveTo>
                    <a:pt x="0" y="0"/>
                  </a:moveTo>
                  <a:lnTo>
                    <a:pt x="280924" y="0"/>
                  </a:lnTo>
                  <a:lnTo>
                    <a:pt x="280924" y="280924"/>
                  </a:lnTo>
                  <a:lnTo>
                    <a:pt x="0" y="280924"/>
                  </a:lnTo>
                  <a:lnTo>
                    <a:pt x="0" y="0"/>
                  </a:lnTo>
                  <a:close/>
                </a:path>
              </a:pathLst>
            </a:custGeom>
            <a:blipFill>
              <a:blip r:embed="rId5"/>
              <a:stretch>
                <a:fillRect l="0" t="0" r="9" b="9"/>
              </a:stretch>
            </a:blipFill>
          </p:spPr>
        </p:sp>
      </p:grpSp>
      <p:grpSp>
        <p:nvGrpSpPr>
          <p:cNvPr name="Group 36" id="36"/>
          <p:cNvGrpSpPr/>
          <p:nvPr/>
        </p:nvGrpSpPr>
        <p:grpSpPr>
          <a:xfrm rot="0">
            <a:off x="1936232" y="5849874"/>
            <a:ext cx="6377854" cy="685800"/>
            <a:chOff x="0" y="0"/>
            <a:chExt cx="8503806" cy="914400"/>
          </a:xfrm>
        </p:grpSpPr>
        <p:sp>
          <p:nvSpPr>
            <p:cNvPr name="Freeform 37" id="37"/>
            <p:cNvSpPr/>
            <p:nvPr/>
          </p:nvSpPr>
          <p:spPr>
            <a:xfrm flipH="false" flipV="false" rot="0">
              <a:off x="0" y="0"/>
              <a:ext cx="8503800" cy="914400"/>
            </a:xfrm>
            <a:custGeom>
              <a:avLst/>
              <a:gdLst/>
              <a:ahLst/>
              <a:cxnLst/>
              <a:rect r="r" b="b" t="t" l="l"/>
              <a:pathLst>
                <a:path h="914400" w="8503800">
                  <a:moveTo>
                    <a:pt x="0" y="0"/>
                  </a:moveTo>
                  <a:lnTo>
                    <a:pt x="8503800" y="0"/>
                  </a:lnTo>
                  <a:lnTo>
                    <a:pt x="8503800" y="914400"/>
                  </a:lnTo>
                  <a:lnTo>
                    <a:pt x="0" y="914400"/>
                  </a:lnTo>
                  <a:close/>
                </a:path>
              </a:pathLst>
            </a:custGeom>
            <a:blipFill>
              <a:blip r:embed="rId4">
                <a:alphaModFix amt="0"/>
              </a:blip>
              <a:stretch>
                <a:fillRect l="0" t="-131208" r="0" b="-131208"/>
              </a:stretch>
            </a:blipFill>
          </p:spPr>
        </p:sp>
        <p:sp>
          <p:nvSpPr>
            <p:cNvPr name="TextBox 38" id="38"/>
            <p:cNvSpPr txBox="true"/>
            <p:nvPr/>
          </p:nvSpPr>
          <p:spPr>
            <a:xfrm>
              <a:off x="0" y="-38100"/>
              <a:ext cx="8503806" cy="952500"/>
            </a:xfrm>
            <a:prstGeom prst="rect">
              <a:avLst/>
            </a:prstGeom>
          </p:spPr>
          <p:txBody>
            <a:bodyPr anchor="ctr" rtlCol="false" tIns="0" lIns="0" bIns="0" rIns="0"/>
            <a:lstStyle/>
            <a:p>
              <a:pPr algn="l">
                <a:lnSpc>
                  <a:spcPts val="2070"/>
                </a:lnSpc>
              </a:pPr>
              <a:r>
                <a:rPr lang="en-US" sz="1725">
                  <a:solidFill>
                    <a:srgbClr val="22292E"/>
                  </a:solidFill>
                  <a:latin typeface="Calibri (MS)"/>
                  <a:ea typeface="Calibri (MS)"/>
                  <a:cs typeface="Calibri (MS)"/>
                  <a:sym typeface="Calibri (MS)"/>
                </a:rPr>
                <a:t>Falta de historial de movimientos</a:t>
              </a:r>
            </a:p>
          </p:txBody>
        </p:sp>
      </p:grpSp>
      <p:grpSp>
        <p:nvGrpSpPr>
          <p:cNvPr name="Group 39" id="39"/>
          <p:cNvGrpSpPr/>
          <p:nvPr/>
        </p:nvGrpSpPr>
        <p:grpSpPr>
          <a:xfrm rot="0">
            <a:off x="1291580" y="6707124"/>
            <a:ext cx="438750" cy="438750"/>
            <a:chOff x="0" y="0"/>
            <a:chExt cx="585000" cy="585000"/>
          </a:xfrm>
        </p:grpSpPr>
        <p:sp>
          <p:nvSpPr>
            <p:cNvPr name="Freeform 40" id="40"/>
            <p:cNvSpPr/>
            <p:nvPr/>
          </p:nvSpPr>
          <p:spPr>
            <a:xfrm flipH="false" flipV="false" rot="0">
              <a:off x="0" y="0"/>
              <a:ext cx="584962" cy="584962"/>
            </a:xfrm>
            <a:custGeom>
              <a:avLst/>
              <a:gdLst/>
              <a:ahLst/>
              <a:cxnLst/>
              <a:rect r="r" b="b" t="t" l="l"/>
              <a:pathLst>
                <a:path h="584962" w="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sp>
      </p:grpSp>
      <p:grpSp>
        <p:nvGrpSpPr>
          <p:cNvPr name="Group 41" id="41"/>
          <p:cNvGrpSpPr/>
          <p:nvPr/>
        </p:nvGrpSpPr>
        <p:grpSpPr>
          <a:xfrm rot="0">
            <a:off x="1405700" y="6821243"/>
            <a:ext cx="210674" cy="210674"/>
            <a:chOff x="0" y="0"/>
            <a:chExt cx="280899" cy="280899"/>
          </a:xfrm>
        </p:grpSpPr>
        <p:sp>
          <p:nvSpPr>
            <p:cNvPr name="Freeform 42" id="42" descr="icons/warning.png"/>
            <p:cNvSpPr/>
            <p:nvPr/>
          </p:nvSpPr>
          <p:spPr>
            <a:xfrm flipH="false" flipV="false" rot="0">
              <a:off x="0" y="0"/>
              <a:ext cx="280924" cy="280924"/>
            </a:xfrm>
            <a:custGeom>
              <a:avLst/>
              <a:gdLst/>
              <a:ahLst/>
              <a:cxnLst/>
              <a:rect r="r" b="b" t="t" l="l"/>
              <a:pathLst>
                <a:path h="280924" w="280924">
                  <a:moveTo>
                    <a:pt x="0" y="0"/>
                  </a:moveTo>
                  <a:lnTo>
                    <a:pt x="280924" y="0"/>
                  </a:lnTo>
                  <a:lnTo>
                    <a:pt x="280924" y="280924"/>
                  </a:lnTo>
                  <a:lnTo>
                    <a:pt x="0" y="280924"/>
                  </a:lnTo>
                  <a:lnTo>
                    <a:pt x="0" y="0"/>
                  </a:lnTo>
                  <a:close/>
                </a:path>
              </a:pathLst>
            </a:custGeom>
            <a:blipFill>
              <a:blip r:embed="rId5"/>
              <a:stretch>
                <a:fillRect l="0" t="0" r="9" b="9"/>
              </a:stretch>
            </a:blipFill>
          </p:spPr>
        </p:sp>
      </p:grpSp>
      <p:grpSp>
        <p:nvGrpSpPr>
          <p:cNvPr name="Group 43" id="43"/>
          <p:cNvGrpSpPr/>
          <p:nvPr/>
        </p:nvGrpSpPr>
        <p:grpSpPr>
          <a:xfrm rot="0">
            <a:off x="1936232" y="6652260"/>
            <a:ext cx="6377854" cy="685800"/>
            <a:chOff x="0" y="0"/>
            <a:chExt cx="8503806" cy="914400"/>
          </a:xfrm>
        </p:grpSpPr>
        <p:sp>
          <p:nvSpPr>
            <p:cNvPr name="Freeform 44" id="44"/>
            <p:cNvSpPr/>
            <p:nvPr/>
          </p:nvSpPr>
          <p:spPr>
            <a:xfrm flipH="false" flipV="false" rot="0">
              <a:off x="0" y="0"/>
              <a:ext cx="8503800" cy="914400"/>
            </a:xfrm>
            <a:custGeom>
              <a:avLst/>
              <a:gdLst/>
              <a:ahLst/>
              <a:cxnLst/>
              <a:rect r="r" b="b" t="t" l="l"/>
              <a:pathLst>
                <a:path h="914400" w="8503800">
                  <a:moveTo>
                    <a:pt x="0" y="0"/>
                  </a:moveTo>
                  <a:lnTo>
                    <a:pt x="8503800" y="0"/>
                  </a:lnTo>
                  <a:lnTo>
                    <a:pt x="8503800" y="914400"/>
                  </a:lnTo>
                  <a:lnTo>
                    <a:pt x="0" y="914400"/>
                  </a:lnTo>
                  <a:close/>
                </a:path>
              </a:pathLst>
            </a:custGeom>
            <a:blipFill>
              <a:blip r:embed="rId4">
                <a:alphaModFix amt="0"/>
              </a:blip>
              <a:stretch>
                <a:fillRect l="0" t="-131208" r="0" b="-131208"/>
              </a:stretch>
            </a:blipFill>
          </p:spPr>
        </p:sp>
        <p:sp>
          <p:nvSpPr>
            <p:cNvPr name="TextBox 45" id="45"/>
            <p:cNvSpPr txBox="true"/>
            <p:nvPr/>
          </p:nvSpPr>
          <p:spPr>
            <a:xfrm>
              <a:off x="0" y="-38100"/>
              <a:ext cx="8503806" cy="952500"/>
            </a:xfrm>
            <a:prstGeom prst="rect">
              <a:avLst/>
            </a:prstGeom>
          </p:spPr>
          <p:txBody>
            <a:bodyPr anchor="ctr" rtlCol="false" tIns="0" lIns="0" bIns="0" rIns="0"/>
            <a:lstStyle/>
            <a:p>
              <a:pPr algn="l">
                <a:lnSpc>
                  <a:spcPts val="2070"/>
                </a:lnSpc>
              </a:pPr>
              <a:r>
                <a:rPr lang="en-US" sz="1725">
                  <a:solidFill>
                    <a:srgbClr val="22292E"/>
                  </a:solidFill>
                  <a:latin typeface="Calibri (MS)"/>
                  <a:ea typeface="Calibri (MS)"/>
                  <a:cs typeface="Calibri (MS)"/>
                  <a:sym typeface="Calibri (MS)"/>
                </a:rPr>
                <a:t>Ausencia de un canal de compras en línea</a:t>
              </a:r>
            </a:p>
          </p:txBody>
        </p:sp>
      </p:grpSp>
      <p:grpSp>
        <p:nvGrpSpPr>
          <p:cNvPr name="Group 46" id="46"/>
          <p:cNvGrpSpPr/>
          <p:nvPr/>
        </p:nvGrpSpPr>
        <p:grpSpPr>
          <a:xfrm rot="0">
            <a:off x="1291580" y="7509510"/>
            <a:ext cx="438750" cy="438750"/>
            <a:chOff x="0" y="0"/>
            <a:chExt cx="585000" cy="585000"/>
          </a:xfrm>
        </p:grpSpPr>
        <p:sp>
          <p:nvSpPr>
            <p:cNvPr name="Freeform 47" id="47"/>
            <p:cNvSpPr/>
            <p:nvPr/>
          </p:nvSpPr>
          <p:spPr>
            <a:xfrm flipH="false" flipV="false" rot="0">
              <a:off x="0" y="0"/>
              <a:ext cx="584962" cy="584962"/>
            </a:xfrm>
            <a:custGeom>
              <a:avLst/>
              <a:gdLst/>
              <a:ahLst/>
              <a:cxnLst/>
              <a:rect r="r" b="b" t="t" l="l"/>
              <a:pathLst>
                <a:path h="584962" w="584962">
                  <a:moveTo>
                    <a:pt x="0" y="292481"/>
                  </a:moveTo>
                  <a:cubicBezTo>
                    <a:pt x="0" y="130937"/>
                    <a:pt x="130937" y="0"/>
                    <a:pt x="292481" y="0"/>
                  </a:cubicBezTo>
                  <a:cubicBezTo>
                    <a:pt x="454025" y="0"/>
                    <a:pt x="584962" y="130937"/>
                    <a:pt x="584962" y="292481"/>
                  </a:cubicBezTo>
                  <a:cubicBezTo>
                    <a:pt x="584962" y="454025"/>
                    <a:pt x="454025" y="584962"/>
                    <a:pt x="292481" y="584962"/>
                  </a:cubicBezTo>
                  <a:cubicBezTo>
                    <a:pt x="130937" y="584962"/>
                    <a:pt x="0" y="454025"/>
                    <a:pt x="0" y="292481"/>
                  </a:cubicBezTo>
                  <a:close/>
                </a:path>
              </a:pathLst>
            </a:custGeom>
            <a:solidFill>
              <a:srgbClr val="C74E3C"/>
            </a:solidFill>
          </p:spPr>
        </p:sp>
      </p:grpSp>
      <p:grpSp>
        <p:nvGrpSpPr>
          <p:cNvPr name="Group 48" id="48"/>
          <p:cNvGrpSpPr/>
          <p:nvPr/>
        </p:nvGrpSpPr>
        <p:grpSpPr>
          <a:xfrm rot="0">
            <a:off x="1405700" y="7623629"/>
            <a:ext cx="210674" cy="210674"/>
            <a:chOff x="0" y="0"/>
            <a:chExt cx="280899" cy="280899"/>
          </a:xfrm>
        </p:grpSpPr>
        <p:sp>
          <p:nvSpPr>
            <p:cNvPr name="Freeform 49" id="49" descr="icons/warning.png"/>
            <p:cNvSpPr/>
            <p:nvPr/>
          </p:nvSpPr>
          <p:spPr>
            <a:xfrm flipH="false" flipV="false" rot="0">
              <a:off x="0" y="0"/>
              <a:ext cx="280924" cy="280924"/>
            </a:xfrm>
            <a:custGeom>
              <a:avLst/>
              <a:gdLst/>
              <a:ahLst/>
              <a:cxnLst/>
              <a:rect r="r" b="b" t="t" l="l"/>
              <a:pathLst>
                <a:path h="280924" w="280924">
                  <a:moveTo>
                    <a:pt x="0" y="0"/>
                  </a:moveTo>
                  <a:lnTo>
                    <a:pt x="280924" y="0"/>
                  </a:lnTo>
                  <a:lnTo>
                    <a:pt x="280924" y="280924"/>
                  </a:lnTo>
                  <a:lnTo>
                    <a:pt x="0" y="280924"/>
                  </a:lnTo>
                  <a:lnTo>
                    <a:pt x="0" y="0"/>
                  </a:lnTo>
                  <a:close/>
                </a:path>
              </a:pathLst>
            </a:custGeom>
            <a:blipFill>
              <a:blip r:embed="rId5"/>
              <a:stretch>
                <a:fillRect l="0" t="0" r="9" b="9"/>
              </a:stretch>
            </a:blipFill>
          </p:spPr>
        </p:sp>
      </p:grpSp>
      <p:grpSp>
        <p:nvGrpSpPr>
          <p:cNvPr name="Group 50" id="50"/>
          <p:cNvGrpSpPr/>
          <p:nvPr/>
        </p:nvGrpSpPr>
        <p:grpSpPr>
          <a:xfrm rot="0">
            <a:off x="1936232" y="7454646"/>
            <a:ext cx="6377854" cy="685800"/>
            <a:chOff x="0" y="0"/>
            <a:chExt cx="8503806" cy="914400"/>
          </a:xfrm>
        </p:grpSpPr>
        <p:sp>
          <p:nvSpPr>
            <p:cNvPr name="Freeform 51" id="51"/>
            <p:cNvSpPr/>
            <p:nvPr/>
          </p:nvSpPr>
          <p:spPr>
            <a:xfrm flipH="false" flipV="false" rot="0">
              <a:off x="0" y="0"/>
              <a:ext cx="8503800" cy="914400"/>
            </a:xfrm>
            <a:custGeom>
              <a:avLst/>
              <a:gdLst/>
              <a:ahLst/>
              <a:cxnLst/>
              <a:rect r="r" b="b" t="t" l="l"/>
              <a:pathLst>
                <a:path h="914400" w="8503800">
                  <a:moveTo>
                    <a:pt x="0" y="0"/>
                  </a:moveTo>
                  <a:lnTo>
                    <a:pt x="8503800" y="0"/>
                  </a:lnTo>
                  <a:lnTo>
                    <a:pt x="8503800" y="914400"/>
                  </a:lnTo>
                  <a:lnTo>
                    <a:pt x="0" y="914400"/>
                  </a:lnTo>
                  <a:close/>
                </a:path>
              </a:pathLst>
            </a:custGeom>
            <a:blipFill>
              <a:blip r:embed="rId4">
                <a:alphaModFix amt="0"/>
              </a:blip>
              <a:stretch>
                <a:fillRect l="0" t="-131208" r="0" b="-131208"/>
              </a:stretch>
            </a:blipFill>
          </p:spPr>
        </p:sp>
        <p:sp>
          <p:nvSpPr>
            <p:cNvPr name="TextBox 52" id="52"/>
            <p:cNvSpPr txBox="true"/>
            <p:nvPr/>
          </p:nvSpPr>
          <p:spPr>
            <a:xfrm>
              <a:off x="0" y="-38100"/>
              <a:ext cx="8503806" cy="952500"/>
            </a:xfrm>
            <a:prstGeom prst="rect">
              <a:avLst/>
            </a:prstGeom>
          </p:spPr>
          <p:txBody>
            <a:bodyPr anchor="ctr" rtlCol="false" tIns="0" lIns="0" bIns="0" rIns="0"/>
            <a:lstStyle/>
            <a:p>
              <a:pPr algn="l">
                <a:lnSpc>
                  <a:spcPts val="2070"/>
                </a:lnSpc>
              </a:pPr>
              <a:r>
                <a:rPr lang="en-US" sz="1725">
                  <a:solidFill>
                    <a:srgbClr val="22292E"/>
                  </a:solidFill>
                  <a:latin typeface="Calibri (MS)"/>
                  <a:ea typeface="Calibri (MS)"/>
                  <a:cs typeface="Calibri (MS)"/>
                  <a:sym typeface="Calibri (MS)"/>
                </a:rPr>
                <a:t>Sin precencia digital dentro del entorno laboral</a:t>
              </a:r>
            </a:p>
          </p:txBody>
        </p:sp>
      </p:grpSp>
      <p:grpSp>
        <p:nvGrpSpPr>
          <p:cNvPr name="Group 53" id="53"/>
          <p:cNvGrpSpPr/>
          <p:nvPr/>
        </p:nvGrpSpPr>
        <p:grpSpPr>
          <a:xfrm rot="0">
            <a:off x="8903960" y="2468880"/>
            <a:ext cx="8572500" cy="6720754"/>
            <a:chOff x="0" y="0"/>
            <a:chExt cx="11430000" cy="8961006"/>
          </a:xfrm>
        </p:grpSpPr>
        <p:sp>
          <p:nvSpPr>
            <p:cNvPr name="Freeform 54" id="54"/>
            <p:cNvSpPr/>
            <p:nvPr/>
          </p:nvSpPr>
          <p:spPr>
            <a:xfrm flipH="false" flipV="false" rot="0">
              <a:off x="0" y="0"/>
              <a:ext cx="11430000" cy="8960993"/>
            </a:xfrm>
            <a:custGeom>
              <a:avLst/>
              <a:gdLst/>
              <a:ahLst/>
              <a:cxnLst/>
              <a:rect r="r" b="b" t="t" l="l"/>
              <a:pathLst>
                <a:path h="8960993" w="11430000">
                  <a:moveTo>
                    <a:pt x="0" y="146304"/>
                  </a:moveTo>
                  <a:cubicBezTo>
                    <a:pt x="0" y="65532"/>
                    <a:pt x="65532" y="0"/>
                    <a:pt x="146304" y="0"/>
                  </a:cubicBezTo>
                  <a:lnTo>
                    <a:pt x="11283696" y="0"/>
                  </a:lnTo>
                  <a:cubicBezTo>
                    <a:pt x="11364468" y="0"/>
                    <a:pt x="11430000" y="65532"/>
                    <a:pt x="11430000" y="146304"/>
                  </a:cubicBezTo>
                  <a:lnTo>
                    <a:pt x="11430000" y="8814689"/>
                  </a:lnTo>
                  <a:cubicBezTo>
                    <a:pt x="11430000" y="8895461"/>
                    <a:pt x="11364468" y="8960993"/>
                    <a:pt x="11283696" y="8960993"/>
                  </a:cubicBezTo>
                  <a:lnTo>
                    <a:pt x="146304" y="8960993"/>
                  </a:lnTo>
                  <a:cubicBezTo>
                    <a:pt x="65532" y="8960993"/>
                    <a:pt x="0" y="8895461"/>
                    <a:pt x="0" y="8814689"/>
                  </a:cubicBezTo>
                  <a:close/>
                </a:path>
              </a:pathLst>
            </a:custGeom>
            <a:solidFill>
              <a:srgbClr val="FACEC7"/>
            </a:solidFill>
          </p:spPr>
        </p:sp>
      </p:grpSp>
      <p:grpSp>
        <p:nvGrpSpPr>
          <p:cNvPr name="Group 55" id="55"/>
          <p:cNvGrpSpPr/>
          <p:nvPr/>
        </p:nvGrpSpPr>
        <p:grpSpPr>
          <a:xfrm rot="0">
            <a:off x="9384020" y="2880360"/>
            <a:ext cx="823046" cy="823046"/>
            <a:chOff x="0" y="0"/>
            <a:chExt cx="1097394" cy="1097394"/>
          </a:xfrm>
        </p:grpSpPr>
        <p:sp>
          <p:nvSpPr>
            <p:cNvPr name="Freeform 56" id="56"/>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C74E3C"/>
            </a:solidFill>
          </p:spPr>
        </p:sp>
      </p:grpSp>
      <p:grpSp>
        <p:nvGrpSpPr>
          <p:cNvPr name="Group 57" id="57"/>
          <p:cNvGrpSpPr/>
          <p:nvPr/>
        </p:nvGrpSpPr>
        <p:grpSpPr>
          <a:xfrm rot="0">
            <a:off x="10412720" y="2990088"/>
            <a:ext cx="6858000" cy="617400"/>
            <a:chOff x="0" y="0"/>
            <a:chExt cx="9144000" cy="823200"/>
          </a:xfrm>
        </p:grpSpPr>
        <p:sp>
          <p:nvSpPr>
            <p:cNvPr name="Freeform 58" id="58"/>
            <p:cNvSpPr/>
            <p:nvPr/>
          </p:nvSpPr>
          <p:spPr>
            <a:xfrm flipH="false" flipV="false" rot="0">
              <a:off x="0" y="0"/>
              <a:ext cx="9144000" cy="823199"/>
            </a:xfrm>
            <a:custGeom>
              <a:avLst/>
              <a:gdLst/>
              <a:ahLst/>
              <a:cxnLst/>
              <a:rect r="r" b="b" t="t" l="l"/>
              <a:pathLst>
                <a:path h="823199" w="9144000">
                  <a:moveTo>
                    <a:pt x="0" y="0"/>
                  </a:moveTo>
                  <a:lnTo>
                    <a:pt x="9144000" y="0"/>
                  </a:lnTo>
                  <a:lnTo>
                    <a:pt x="9144000" y="823199"/>
                  </a:lnTo>
                  <a:lnTo>
                    <a:pt x="0" y="823199"/>
                  </a:lnTo>
                  <a:close/>
                </a:path>
              </a:pathLst>
            </a:custGeom>
            <a:blipFill>
              <a:blip r:embed="rId4">
                <a:alphaModFix amt="0"/>
              </a:blip>
              <a:stretch>
                <a:fillRect l="0" t="-166437" r="0" b="-166437"/>
              </a:stretch>
            </a:blipFill>
          </p:spPr>
        </p:sp>
        <p:sp>
          <p:nvSpPr>
            <p:cNvPr name="TextBox 59" id="59"/>
            <p:cNvSpPr txBox="true"/>
            <p:nvPr/>
          </p:nvSpPr>
          <p:spPr>
            <a:xfrm>
              <a:off x="0" y="-38100"/>
              <a:ext cx="9144000" cy="861300"/>
            </a:xfrm>
            <a:prstGeom prst="rect">
              <a:avLst/>
            </a:prstGeom>
          </p:spPr>
          <p:txBody>
            <a:bodyPr anchor="ctr" rtlCol="false" tIns="0" lIns="0" bIns="0" rIns="0"/>
            <a:lstStyle/>
            <a:p>
              <a:pPr algn="l">
                <a:lnSpc>
                  <a:spcPts val="2879"/>
                </a:lnSpc>
              </a:pPr>
              <a:r>
                <a:rPr lang="en-US" b="true" sz="2400">
                  <a:solidFill>
                    <a:srgbClr val="00304D"/>
                  </a:solidFill>
                  <a:latin typeface="Calibri (MS) Bold"/>
                  <a:ea typeface="Calibri (MS) Bold"/>
                  <a:cs typeface="Calibri (MS) Bold"/>
                  <a:sym typeface="Calibri (MS) Bold"/>
                </a:rPr>
                <a:t>Problema de inventarios</a:t>
              </a:r>
            </a:p>
          </p:txBody>
        </p:sp>
      </p:grpSp>
      <p:grpSp>
        <p:nvGrpSpPr>
          <p:cNvPr name="Group 60" id="60"/>
          <p:cNvGrpSpPr/>
          <p:nvPr/>
        </p:nvGrpSpPr>
        <p:grpSpPr>
          <a:xfrm rot="0">
            <a:off x="9384020" y="3909060"/>
            <a:ext cx="7681046" cy="1303200"/>
            <a:chOff x="0" y="0"/>
            <a:chExt cx="10241394" cy="1737600"/>
          </a:xfrm>
        </p:grpSpPr>
        <p:sp>
          <p:nvSpPr>
            <p:cNvPr name="Freeform 61" id="61"/>
            <p:cNvSpPr/>
            <p:nvPr/>
          </p:nvSpPr>
          <p:spPr>
            <a:xfrm flipH="false" flipV="false" rot="0">
              <a:off x="0" y="0"/>
              <a:ext cx="10241400" cy="1737599"/>
            </a:xfrm>
            <a:custGeom>
              <a:avLst/>
              <a:gdLst/>
              <a:ahLst/>
              <a:cxnLst/>
              <a:rect r="r" b="b" t="t" l="l"/>
              <a:pathLst>
                <a:path h="1737599" w="10241400">
                  <a:moveTo>
                    <a:pt x="0" y="0"/>
                  </a:moveTo>
                  <a:lnTo>
                    <a:pt x="10241400" y="0"/>
                  </a:lnTo>
                  <a:lnTo>
                    <a:pt x="10241400" y="1737599"/>
                  </a:lnTo>
                  <a:lnTo>
                    <a:pt x="0" y="1737599"/>
                  </a:lnTo>
                  <a:close/>
                </a:path>
              </a:pathLst>
            </a:custGeom>
            <a:blipFill>
              <a:blip r:embed="rId4">
                <a:alphaModFix amt="0"/>
              </a:blip>
              <a:stretch>
                <a:fillRect l="0" t="-64844" r="0" b="-64844"/>
              </a:stretch>
            </a:blipFill>
          </p:spPr>
        </p:sp>
        <p:sp>
          <p:nvSpPr>
            <p:cNvPr name="TextBox 62" id="62"/>
            <p:cNvSpPr txBox="true"/>
            <p:nvPr/>
          </p:nvSpPr>
          <p:spPr>
            <a:xfrm>
              <a:off x="0" y="-38100"/>
              <a:ext cx="10241394" cy="1775700"/>
            </a:xfrm>
            <a:prstGeom prst="rect">
              <a:avLst/>
            </a:prstGeom>
          </p:spPr>
          <p:txBody>
            <a:bodyPr anchor="ctr" rtlCol="false" tIns="0" lIns="0" bIns="0" rIns="0"/>
            <a:lstStyle/>
            <a:p>
              <a:pPr algn="l">
                <a:lnSpc>
                  <a:spcPts val="2250"/>
                </a:lnSpc>
              </a:pPr>
              <a:r>
                <a:rPr lang="en-US" sz="1875">
                  <a:solidFill>
                    <a:srgbClr val="22292E"/>
                  </a:solidFill>
                  <a:latin typeface="Calibri (MS)"/>
                  <a:ea typeface="Calibri (MS)"/>
                  <a:cs typeface="Calibri (MS)"/>
                  <a:sym typeface="Calibri (MS)"/>
                </a:rPr>
                <a:t>El exesivo ingreso de CITAS y INVENTARIOS hizo que se desperdiciara demaciado tiempo y papel en anotar todo a mano</a:t>
              </a:r>
            </a:p>
          </p:txBody>
        </p:sp>
      </p:grpSp>
      <p:grpSp>
        <p:nvGrpSpPr>
          <p:cNvPr name="Group 63" id="63"/>
          <p:cNvGrpSpPr/>
          <p:nvPr/>
        </p:nvGrpSpPr>
        <p:grpSpPr>
          <a:xfrm rot="0">
            <a:off x="9384020" y="5417820"/>
            <a:ext cx="7681046" cy="3497399"/>
            <a:chOff x="0" y="0"/>
            <a:chExt cx="10241394" cy="4663199"/>
          </a:xfrm>
        </p:grpSpPr>
        <p:sp>
          <p:nvSpPr>
            <p:cNvPr name="Freeform 64" id="64"/>
            <p:cNvSpPr/>
            <p:nvPr/>
          </p:nvSpPr>
          <p:spPr>
            <a:xfrm flipH="false" flipV="false" rot="0">
              <a:off x="0" y="0"/>
              <a:ext cx="10241407" cy="4663186"/>
            </a:xfrm>
            <a:custGeom>
              <a:avLst/>
              <a:gdLst/>
              <a:ahLst/>
              <a:cxnLst/>
              <a:rect r="r" b="b" t="t" l="l"/>
              <a:pathLst>
                <a:path h="4663186" w="10241407">
                  <a:moveTo>
                    <a:pt x="0" y="146304"/>
                  </a:moveTo>
                  <a:cubicBezTo>
                    <a:pt x="0" y="65532"/>
                    <a:pt x="65532" y="0"/>
                    <a:pt x="146304" y="0"/>
                  </a:cubicBezTo>
                  <a:lnTo>
                    <a:pt x="10095103" y="0"/>
                  </a:lnTo>
                  <a:cubicBezTo>
                    <a:pt x="10175875" y="0"/>
                    <a:pt x="10241407" y="65532"/>
                    <a:pt x="10241407" y="146304"/>
                  </a:cubicBezTo>
                  <a:lnTo>
                    <a:pt x="10241407" y="4516882"/>
                  </a:lnTo>
                  <a:cubicBezTo>
                    <a:pt x="10241407" y="4597654"/>
                    <a:pt x="10175875" y="4663186"/>
                    <a:pt x="10095103" y="4663186"/>
                  </a:cubicBezTo>
                  <a:lnTo>
                    <a:pt x="146304" y="4663186"/>
                  </a:lnTo>
                  <a:cubicBezTo>
                    <a:pt x="65532" y="4663186"/>
                    <a:pt x="0" y="4597654"/>
                    <a:pt x="0" y="4516882"/>
                  </a:cubicBezTo>
                  <a:close/>
                </a:path>
              </a:pathLst>
            </a:custGeom>
            <a:solidFill>
              <a:srgbClr val="00304D"/>
            </a:solidFill>
          </p:spPr>
        </p:sp>
      </p:grpSp>
      <p:grpSp>
        <p:nvGrpSpPr>
          <p:cNvPr name="Group 65" id="65"/>
          <p:cNvGrpSpPr/>
          <p:nvPr/>
        </p:nvGrpSpPr>
        <p:grpSpPr>
          <a:xfrm rot="0">
            <a:off x="9795500" y="5692140"/>
            <a:ext cx="6858000" cy="438750"/>
            <a:chOff x="0" y="0"/>
            <a:chExt cx="9144000" cy="585000"/>
          </a:xfrm>
        </p:grpSpPr>
        <p:sp>
          <p:nvSpPr>
            <p:cNvPr name="Freeform 66" id="66"/>
            <p:cNvSpPr/>
            <p:nvPr/>
          </p:nvSpPr>
          <p:spPr>
            <a:xfrm flipH="false" flipV="false" rot="0">
              <a:off x="0" y="0"/>
              <a:ext cx="9144000" cy="585000"/>
            </a:xfrm>
            <a:custGeom>
              <a:avLst/>
              <a:gdLst/>
              <a:ahLst/>
              <a:cxnLst/>
              <a:rect r="r" b="b" t="t" l="l"/>
              <a:pathLst>
                <a:path h="585000" w="9144000">
                  <a:moveTo>
                    <a:pt x="0" y="0"/>
                  </a:moveTo>
                  <a:lnTo>
                    <a:pt x="9144000" y="0"/>
                  </a:lnTo>
                  <a:lnTo>
                    <a:pt x="9144000" y="585000"/>
                  </a:lnTo>
                  <a:lnTo>
                    <a:pt x="0" y="585000"/>
                  </a:lnTo>
                  <a:close/>
                </a:path>
              </a:pathLst>
            </a:custGeom>
            <a:blipFill>
              <a:blip r:embed="rId4">
                <a:alphaModFix amt="0"/>
              </a:blip>
              <a:stretch>
                <a:fillRect l="0" t="-254566" r="0" b="-254566"/>
              </a:stretch>
            </a:blipFill>
          </p:spPr>
        </p:sp>
        <p:sp>
          <p:nvSpPr>
            <p:cNvPr name="TextBox 67" id="67"/>
            <p:cNvSpPr txBox="true"/>
            <p:nvPr/>
          </p:nvSpPr>
          <p:spPr>
            <a:xfrm>
              <a:off x="0" y="-38100"/>
              <a:ext cx="9144000" cy="623100"/>
            </a:xfrm>
            <a:prstGeom prst="rect">
              <a:avLst/>
            </a:prstGeom>
          </p:spPr>
          <p:txBody>
            <a:bodyPr anchor="ctr" rtlCol="false" tIns="0" lIns="0" bIns="0" rIns="0"/>
            <a:lstStyle/>
            <a:p>
              <a:pPr algn="l">
                <a:lnSpc>
                  <a:spcPts val="2160"/>
                </a:lnSpc>
              </a:pPr>
              <a:r>
                <a:rPr lang="en-US" b="true" sz="1800">
                  <a:solidFill>
                    <a:srgbClr val="FACEC7"/>
                  </a:solidFill>
                  <a:latin typeface="Calibri (MS) Bold"/>
                  <a:ea typeface="Calibri (MS) Bold"/>
                  <a:cs typeface="Calibri (MS) Bold"/>
                  <a:sym typeface="Calibri (MS) Bold"/>
                </a:rPr>
                <a:t>SOLUCIÓN PROPUESTA</a:t>
              </a:r>
            </a:p>
          </p:txBody>
        </p:sp>
      </p:grpSp>
      <p:grpSp>
        <p:nvGrpSpPr>
          <p:cNvPr name="Group 68" id="68"/>
          <p:cNvGrpSpPr/>
          <p:nvPr/>
        </p:nvGrpSpPr>
        <p:grpSpPr>
          <a:xfrm rot="0">
            <a:off x="9795500" y="6172200"/>
            <a:ext cx="6926399" cy="2537550"/>
            <a:chOff x="0" y="0"/>
            <a:chExt cx="9235199" cy="3383400"/>
          </a:xfrm>
        </p:grpSpPr>
        <p:sp>
          <p:nvSpPr>
            <p:cNvPr name="Freeform 69" id="69"/>
            <p:cNvSpPr/>
            <p:nvPr/>
          </p:nvSpPr>
          <p:spPr>
            <a:xfrm flipH="false" flipV="false" rot="0">
              <a:off x="0" y="0"/>
              <a:ext cx="9235200" cy="3383406"/>
            </a:xfrm>
            <a:custGeom>
              <a:avLst/>
              <a:gdLst/>
              <a:ahLst/>
              <a:cxnLst/>
              <a:rect r="r" b="b" t="t" l="l"/>
              <a:pathLst>
                <a:path h="3383406" w="9235200">
                  <a:moveTo>
                    <a:pt x="0" y="0"/>
                  </a:moveTo>
                  <a:lnTo>
                    <a:pt x="9235200" y="0"/>
                  </a:lnTo>
                  <a:lnTo>
                    <a:pt x="9235200" y="3383406"/>
                  </a:lnTo>
                  <a:lnTo>
                    <a:pt x="0" y="3383406"/>
                  </a:lnTo>
                  <a:close/>
                </a:path>
              </a:pathLst>
            </a:custGeom>
            <a:blipFill>
              <a:blip r:embed="rId4">
                <a:alphaModFix amt="0"/>
              </a:blip>
              <a:stretch>
                <a:fillRect l="0" t="-3185" r="0" b="-3185"/>
              </a:stretch>
            </a:blipFill>
          </p:spPr>
        </p:sp>
        <p:sp>
          <p:nvSpPr>
            <p:cNvPr name="TextBox 70" id="70"/>
            <p:cNvSpPr txBox="true"/>
            <p:nvPr/>
          </p:nvSpPr>
          <p:spPr>
            <a:xfrm>
              <a:off x="0" y="-47625"/>
              <a:ext cx="9235199" cy="3431025"/>
            </a:xfrm>
            <a:prstGeom prst="rect">
              <a:avLst/>
            </a:prstGeom>
          </p:spPr>
          <p:txBody>
            <a:bodyPr anchor="ctr" rtlCol="false" tIns="0" lIns="0" bIns="0" rIns="0"/>
            <a:lstStyle/>
            <a:p>
              <a:pPr algn="l">
                <a:lnSpc>
                  <a:spcPts val="2340"/>
                </a:lnSpc>
              </a:pPr>
              <a:r>
                <a:rPr lang="en-US" sz="1950">
                  <a:solidFill>
                    <a:srgbClr val="FFFFFF"/>
                  </a:solidFill>
                  <a:latin typeface="Calibri (MS)"/>
                  <a:ea typeface="Calibri (MS)"/>
                  <a:cs typeface="Calibri (MS)"/>
                  <a:sym typeface="Calibri (MS)"/>
                </a:rPr>
                <a:t>DMI Junta</a:t>
              </a:r>
              <a:r>
                <a:rPr lang="en-US" sz="1950">
                  <a:solidFill>
                    <a:srgbClr val="FFFFFF"/>
                  </a:solidFill>
                  <a:latin typeface="Calibri (MS)"/>
                  <a:ea typeface="Calibri (MS)"/>
                  <a:cs typeface="Calibri (MS)"/>
                  <a:sym typeface="Calibri (MS)"/>
                </a:rPr>
                <a:t> estos procesos en una plataforma web enfocada en el uso de administradores y usuarios simultaneamente en la que se gestionan las necesidades principales de la mecanica</a:t>
              </a:r>
            </a:p>
          </p:txBody>
        </p:sp>
      </p:grpSp>
      <p:grpSp>
        <p:nvGrpSpPr>
          <p:cNvPr name="Group 71" id="71"/>
          <p:cNvGrpSpPr/>
          <p:nvPr/>
        </p:nvGrpSpPr>
        <p:grpSpPr>
          <a:xfrm rot="0">
            <a:off x="9497547" y="2993929"/>
            <a:ext cx="595908" cy="595908"/>
            <a:chOff x="0" y="0"/>
            <a:chExt cx="491579" cy="491579"/>
          </a:xfrm>
        </p:grpSpPr>
        <p:sp>
          <p:nvSpPr>
            <p:cNvPr name="Freeform 72" id="72" descr="icons/bullseye.png"/>
            <p:cNvSpPr/>
            <p:nvPr/>
          </p:nvSpPr>
          <p:spPr>
            <a:xfrm flipH="false" flipV="false" rot="0">
              <a:off x="0" y="0"/>
              <a:ext cx="491617" cy="491617"/>
            </a:xfrm>
            <a:custGeom>
              <a:avLst/>
              <a:gdLst/>
              <a:ahLst/>
              <a:cxnLst/>
              <a:rect r="r" b="b" t="t" l="l"/>
              <a:pathLst>
                <a:path h="491617" w="491617">
                  <a:moveTo>
                    <a:pt x="0" y="0"/>
                  </a:moveTo>
                  <a:lnTo>
                    <a:pt x="491617" y="0"/>
                  </a:lnTo>
                  <a:lnTo>
                    <a:pt x="491617" y="491617"/>
                  </a:lnTo>
                  <a:lnTo>
                    <a:pt x="0" y="491617"/>
                  </a:lnTo>
                  <a:lnTo>
                    <a:pt x="0" y="0"/>
                  </a:lnTo>
                  <a:close/>
                </a:path>
              </a:pathLst>
            </a:custGeom>
            <a:blipFill>
              <a:blip r:embed="rId6"/>
              <a:stretch>
                <a:fillRect l="0" t="0" r="7" b="7"/>
              </a:stretch>
            </a:blipFill>
          </p:spPr>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576072"/>
            <a:ext cx="13716000" cy="480150"/>
            <a:chOff x="0" y="0"/>
            <a:chExt cx="18288000" cy="640200"/>
          </a:xfrm>
        </p:grpSpPr>
        <p:sp>
          <p:nvSpPr>
            <p:cNvPr name="Freeform 4" id="4"/>
            <p:cNvSpPr/>
            <p:nvPr/>
          </p:nvSpPr>
          <p:spPr>
            <a:xfrm flipH="false" flipV="false" rot="0">
              <a:off x="0" y="0"/>
              <a:ext cx="18288000" cy="640206"/>
            </a:xfrm>
            <a:custGeom>
              <a:avLst/>
              <a:gdLst/>
              <a:ahLst/>
              <a:cxnLst/>
              <a:rect r="r" b="b" t="t" l="l"/>
              <a:pathLst>
                <a:path h="640206" w="18288000">
                  <a:moveTo>
                    <a:pt x="0" y="0"/>
                  </a:moveTo>
                  <a:lnTo>
                    <a:pt x="18288000" y="0"/>
                  </a:lnTo>
                  <a:lnTo>
                    <a:pt x="18288000" y="640206"/>
                  </a:lnTo>
                  <a:lnTo>
                    <a:pt x="0" y="640206"/>
                  </a:lnTo>
                  <a:close/>
                </a:path>
              </a:pathLst>
            </a:custGeom>
            <a:blipFill>
              <a:blip r:embed="rId4">
                <a:alphaModFix amt="0"/>
              </a:blip>
              <a:stretch>
                <a:fillRect l="0" t="-506606" r="0" b="-506605"/>
              </a:stretch>
            </a:blipFill>
          </p:spPr>
        </p:sp>
        <p:sp>
          <p:nvSpPr>
            <p:cNvPr name="TextBox 5" id="5"/>
            <p:cNvSpPr txBox="true"/>
            <p:nvPr/>
          </p:nvSpPr>
          <p:spPr>
            <a:xfrm>
              <a:off x="0" y="-47625"/>
              <a:ext cx="18288000" cy="687825"/>
            </a:xfrm>
            <a:prstGeom prst="rect">
              <a:avLst/>
            </a:prstGeom>
          </p:spPr>
          <p:txBody>
            <a:bodyPr anchor="ctr" rtlCol="false" tIns="0" lIns="0" bIns="0" rIns="0"/>
            <a:lstStyle/>
            <a:p>
              <a:pPr algn="l">
                <a:lnSpc>
                  <a:spcPts val="2340"/>
                </a:lnSpc>
              </a:pPr>
              <a:r>
                <a:rPr lang="en-US" b="true" sz="1950">
                  <a:solidFill>
                    <a:srgbClr val="39A900"/>
                  </a:solidFill>
                  <a:latin typeface="Calibri (MS) Bold"/>
                  <a:ea typeface="Calibri (MS) Bold"/>
                  <a:cs typeface="Calibri (MS) Bold"/>
                  <a:sym typeface="Calibri (MS) Bold"/>
                </a:rPr>
                <a:t>¿POR QUÉ ESTE PROYECTO DMI?</a:t>
              </a:r>
            </a:p>
          </p:txBody>
        </p:sp>
      </p:grpSp>
      <p:grpSp>
        <p:nvGrpSpPr>
          <p:cNvPr name="Group 6" id="6"/>
          <p:cNvGrpSpPr/>
          <p:nvPr/>
        </p:nvGrpSpPr>
        <p:grpSpPr>
          <a:xfrm rot="0">
            <a:off x="822960" y="987552"/>
            <a:ext cx="16184699" cy="1165946"/>
            <a:chOff x="0" y="0"/>
            <a:chExt cx="21579599" cy="1554594"/>
          </a:xfrm>
        </p:grpSpPr>
        <p:sp>
          <p:nvSpPr>
            <p:cNvPr name="Freeform 7" id="7"/>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8" id="8"/>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Justificación</a:t>
              </a:r>
            </a:p>
          </p:txBody>
        </p:sp>
      </p:grpSp>
      <p:grpSp>
        <p:nvGrpSpPr>
          <p:cNvPr name="Group 9" id="9"/>
          <p:cNvGrpSpPr/>
          <p:nvPr/>
        </p:nvGrpSpPr>
        <p:grpSpPr>
          <a:xfrm rot="0">
            <a:off x="822960" y="2414301"/>
            <a:ext cx="15910646" cy="2372688"/>
            <a:chOff x="0" y="0"/>
            <a:chExt cx="21214194" cy="3163584"/>
          </a:xfrm>
        </p:grpSpPr>
        <p:sp>
          <p:nvSpPr>
            <p:cNvPr name="Freeform 10" id="10"/>
            <p:cNvSpPr/>
            <p:nvPr/>
          </p:nvSpPr>
          <p:spPr>
            <a:xfrm flipH="false" flipV="false" rot="0">
              <a:off x="0" y="0"/>
              <a:ext cx="21214200" cy="3163569"/>
            </a:xfrm>
            <a:custGeom>
              <a:avLst/>
              <a:gdLst/>
              <a:ahLst/>
              <a:cxnLst/>
              <a:rect r="r" b="b" t="t" l="l"/>
              <a:pathLst>
                <a:path h="3163569" w="21214200">
                  <a:moveTo>
                    <a:pt x="0" y="0"/>
                  </a:moveTo>
                  <a:lnTo>
                    <a:pt x="21214200" y="0"/>
                  </a:lnTo>
                  <a:lnTo>
                    <a:pt x="21214200" y="3163569"/>
                  </a:lnTo>
                  <a:lnTo>
                    <a:pt x="0" y="3163569"/>
                  </a:lnTo>
                  <a:close/>
                </a:path>
              </a:pathLst>
            </a:custGeom>
            <a:blipFill>
              <a:blip r:embed="rId4">
                <a:alphaModFix amt="0"/>
              </a:blip>
              <a:stretch>
                <a:fillRect l="0" t="-111876" r="0" b="-49448"/>
              </a:stretch>
            </a:blipFill>
          </p:spPr>
        </p:sp>
        <p:sp>
          <p:nvSpPr>
            <p:cNvPr name="TextBox 11" id="11"/>
            <p:cNvSpPr txBox="true"/>
            <p:nvPr/>
          </p:nvSpPr>
          <p:spPr>
            <a:xfrm>
              <a:off x="0" y="-47625"/>
              <a:ext cx="21214194" cy="3211209"/>
            </a:xfrm>
            <a:prstGeom prst="rect">
              <a:avLst/>
            </a:prstGeom>
          </p:spPr>
          <p:txBody>
            <a:bodyPr anchor="ctr" rtlCol="false" tIns="0" lIns="0" bIns="0" rIns="0"/>
            <a:lstStyle/>
            <a:p>
              <a:pPr algn="l">
                <a:lnSpc>
                  <a:spcPts val="2520"/>
                </a:lnSpc>
              </a:pPr>
              <a:r>
                <a:rPr lang="en-US" sz="2100">
                  <a:solidFill>
                    <a:srgbClr val="22292E"/>
                  </a:solidFill>
                  <a:latin typeface="Calibri (MS)"/>
                  <a:ea typeface="Calibri (MS)"/>
                  <a:cs typeface="Calibri (MS)"/>
                  <a:sym typeface="Calibri (MS)"/>
                </a:rPr>
                <a:t>DMI </a:t>
              </a:r>
              <a:r>
                <a:rPr lang="en-US" sz="2100">
                  <a:solidFill>
                    <a:srgbClr val="22292E"/>
                  </a:solidFill>
                  <a:latin typeface="Calibri (MS)"/>
                  <a:ea typeface="Calibri (MS)"/>
                  <a:cs typeface="Calibri (MS)"/>
                  <a:sym typeface="Calibri (MS)"/>
                </a:rPr>
                <a:t>se justifica por la necesidad de modernizar la gestión de talleres automotrices, facilitando el registro de vehículos, la programación de citas y el control de inventario para mejorar la organización y atención al cliente.</a:t>
              </a:r>
            </a:p>
            <a:p>
              <a:pPr algn="l">
                <a:lnSpc>
                  <a:spcPts val="2520"/>
                </a:lnSpc>
              </a:pPr>
            </a:p>
            <a:p>
              <a:pPr algn="l">
                <a:lnSpc>
                  <a:spcPts val="2520"/>
                </a:lnSpc>
              </a:pPr>
            </a:p>
            <a:p>
              <a:pPr algn="l">
                <a:lnSpc>
                  <a:spcPts val="2520"/>
                </a:lnSpc>
              </a:pPr>
            </a:p>
            <a:p>
              <a:pPr algn="l">
                <a:lnSpc>
                  <a:spcPts val="2520"/>
                </a:lnSpc>
              </a:pPr>
            </a:p>
            <a:p>
              <a:pPr algn="l">
                <a:lnSpc>
                  <a:spcPts val="2520"/>
                </a:lnSpc>
              </a:pPr>
            </a:p>
          </p:txBody>
        </p:sp>
      </p:grpSp>
      <p:grpSp>
        <p:nvGrpSpPr>
          <p:cNvPr name="Group 12" id="12"/>
          <p:cNvGrpSpPr/>
          <p:nvPr/>
        </p:nvGrpSpPr>
        <p:grpSpPr>
          <a:xfrm rot="0">
            <a:off x="822960" y="3634740"/>
            <a:ext cx="5239350" cy="2537546"/>
            <a:chOff x="0" y="0"/>
            <a:chExt cx="6985800" cy="3383394"/>
          </a:xfrm>
        </p:grpSpPr>
        <p:sp>
          <p:nvSpPr>
            <p:cNvPr name="Freeform 13" id="13"/>
            <p:cNvSpPr/>
            <p:nvPr/>
          </p:nvSpPr>
          <p:spPr>
            <a:xfrm flipH="false" flipV="false" rot="0">
              <a:off x="0" y="0"/>
              <a:ext cx="6985762" cy="3383407"/>
            </a:xfrm>
            <a:custGeom>
              <a:avLst/>
              <a:gdLst/>
              <a:ahLst/>
              <a:cxnLst/>
              <a:rect r="r" b="b" t="t" l="l"/>
              <a:pathLst>
                <a:path h="3383407" w="6985762">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sp>
      </p:grpSp>
      <p:grpSp>
        <p:nvGrpSpPr>
          <p:cNvPr name="Group 14" id="14"/>
          <p:cNvGrpSpPr/>
          <p:nvPr/>
        </p:nvGrpSpPr>
        <p:grpSpPr>
          <a:xfrm rot="0">
            <a:off x="3017520" y="3936492"/>
            <a:ext cx="850497" cy="850497"/>
            <a:chOff x="0" y="0"/>
            <a:chExt cx="1133996" cy="1133996"/>
          </a:xfrm>
        </p:grpSpPr>
        <p:sp>
          <p:nvSpPr>
            <p:cNvPr name="Freeform 15" id="15"/>
            <p:cNvSpPr/>
            <p:nvPr/>
          </p:nvSpPr>
          <p:spPr>
            <a:xfrm flipH="false" flipV="false" rot="0">
              <a:off x="0" y="0"/>
              <a:ext cx="1133983" cy="1133983"/>
            </a:xfrm>
            <a:custGeom>
              <a:avLst/>
              <a:gdLst/>
              <a:ahLst/>
              <a:cxnLst/>
              <a:rect r="r" b="b" t="t" l="l"/>
              <a:pathLst>
                <a:path h="1133983" w="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sp>
      </p:grpSp>
      <p:grpSp>
        <p:nvGrpSpPr>
          <p:cNvPr name="Group 16" id="16"/>
          <p:cNvGrpSpPr/>
          <p:nvPr/>
        </p:nvGrpSpPr>
        <p:grpSpPr>
          <a:xfrm rot="0">
            <a:off x="3238624" y="4157596"/>
            <a:ext cx="408184" cy="408184"/>
            <a:chOff x="0" y="0"/>
            <a:chExt cx="544246" cy="544246"/>
          </a:xfrm>
        </p:grpSpPr>
        <p:sp>
          <p:nvSpPr>
            <p:cNvPr name="Freeform 17" id="17" descr="icons/cogs.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5"/>
              <a:stretch>
                <a:fillRect l="0" t="0" r="-9" b="-9"/>
              </a:stretch>
            </a:blipFill>
          </p:spPr>
        </p:sp>
      </p:grpSp>
      <p:grpSp>
        <p:nvGrpSpPr>
          <p:cNvPr name="Group 18" id="18"/>
          <p:cNvGrpSpPr/>
          <p:nvPr/>
        </p:nvGrpSpPr>
        <p:grpSpPr>
          <a:xfrm rot="0">
            <a:off x="1028700" y="4978908"/>
            <a:ext cx="4828051" cy="480146"/>
            <a:chOff x="0" y="0"/>
            <a:chExt cx="6437401" cy="640194"/>
          </a:xfrm>
        </p:grpSpPr>
        <p:sp>
          <p:nvSpPr>
            <p:cNvPr name="Freeform 19" id="19"/>
            <p:cNvSpPr/>
            <p:nvPr/>
          </p:nvSpPr>
          <p:spPr>
            <a:xfrm flipH="false" flipV="false" rot="0">
              <a:off x="0" y="0"/>
              <a:ext cx="6437400" cy="640200"/>
            </a:xfrm>
            <a:custGeom>
              <a:avLst/>
              <a:gdLst/>
              <a:ahLst/>
              <a:cxnLst/>
              <a:rect r="r" b="b" t="t" l="l"/>
              <a:pathLst>
                <a:path h="640200" w="6437400">
                  <a:moveTo>
                    <a:pt x="0" y="0"/>
                  </a:moveTo>
                  <a:lnTo>
                    <a:pt x="6437400" y="0"/>
                  </a:lnTo>
                  <a:lnTo>
                    <a:pt x="6437400" y="640200"/>
                  </a:lnTo>
                  <a:lnTo>
                    <a:pt x="0" y="640200"/>
                  </a:lnTo>
                  <a:close/>
                </a:path>
              </a:pathLst>
            </a:custGeom>
            <a:blipFill>
              <a:blip r:embed="rId4">
                <a:alphaModFix amt="0"/>
              </a:blip>
              <a:stretch>
                <a:fillRect l="0" t="-145928" r="0" b="-145927"/>
              </a:stretch>
            </a:blipFill>
          </p:spPr>
        </p:sp>
        <p:sp>
          <p:nvSpPr>
            <p:cNvPr name="TextBox 20" id="20"/>
            <p:cNvSpPr txBox="true"/>
            <p:nvPr/>
          </p:nvSpPr>
          <p:spPr>
            <a:xfrm>
              <a:off x="0" y="-47625"/>
              <a:ext cx="6437401" cy="687819"/>
            </a:xfrm>
            <a:prstGeom prst="rect">
              <a:avLst/>
            </a:prstGeom>
          </p:spPr>
          <p:txBody>
            <a:bodyPr anchor="ctr" rtlCol="false" tIns="0" lIns="0" bIns="0" rIns="0"/>
            <a:lstStyle/>
            <a:p>
              <a:pPr algn="ctr">
                <a:lnSpc>
                  <a:spcPts val="2340"/>
                </a:lnSpc>
              </a:pPr>
              <a:r>
                <a:rPr lang="en-US" b="true" sz="1950">
                  <a:solidFill>
                    <a:srgbClr val="00304D"/>
                  </a:solidFill>
                  <a:latin typeface="Calibri (MS) Bold"/>
                  <a:ea typeface="Calibri (MS) Bold"/>
                  <a:cs typeface="Calibri (MS) Bold"/>
                  <a:sym typeface="Calibri (MS) Bold"/>
                </a:rPr>
                <a:t>Modernizar la gestión</a:t>
              </a:r>
            </a:p>
          </p:txBody>
        </p:sp>
      </p:grpSp>
      <p:grpSp>
        <p:nvGrpSpPr>
          <p:cNvPr name="Group 21" id="21"/>
          <p:cNvGrpSpPr/>
          <p:nvPr/>
        </p:nvGrpSpPr>
        <p:grpSpPr>
          <a:xfrm rot="0">
            <a:off x="1028700" y="5445252"/>
            <a:ext cx="4828051" cy="685800"/>
            <a:chOff x="0" y="0"/>
            <a:chExt cx="6437401" cy="914400"/>
          </a:xfrm>
        </p:grpSpPr>
        <p:sp>
          <p:nvSpPr>
            <p:cNvPr name="Freeform 22" id="22"/>
            <p:cNvSpPr/>
            <p:nvPr/>
          </p:nvSpPr>
          <p:spPr>
            <a:xfrm flipH="false" flipV="false" rot="0">
              <a:off x="0" y="0"/>
              <a:ext cx="6437400" cy="914400"/>
            </a:xfrm>
            <a:custGeom>
              <a:avLst/>
              <a:gdLst/>
              <a:ahLst/>
              <a:cxnLst/>
              <a:rect r="r" b="b" t="t" l="l"/>
              <a:pathLst>
                <a:path h="914400" w="6437400">
                  <a:moveTo>
                    <a:pt x="0" y="0"/>
                  </a:moveTo>
                  <a:lnTo>
                    <a:pt x="6437400" y="0"/>
                  </a:lnTo>
                  <a:lnTo>
                    <a:pt x="6437400" y="914400"/>
                  </a:lnTo>
                  <a:lnTo>
                    <a:pt x="0" y="914400"/>
                  </a:lnTo>
                  <a:close/>
                </a:path>
              </a:pathLst>
            </a:custGeom>
            <a:blipFill>
              <a:blip r:embed="rId4">
                <a:alphaModFix amt="0"/>
              </a:blip>
              <a:stretch>
                <a:fillRect l="0" t="-87175" r="0" b="-87175"/>
              </a:stretch>
            </a:blipFill>
          </p:spPr>
        </p:sp>
        <p:sp>
          <p:nvSpPr>
            <p:cNvPr name="TextBox 23" id="23"/>
            <p:cNvSpPr txBox="true"/>
            <p:nvPr/>
          </p:nvSpPr>
          <p:spPr>
            <a:xfrm>
              <a:off x="0" y="-19050"/>
              <a:ext cx="6437401" cy="933450"/>
            </a:xfrm>
            <a:prstGeom prst="rect">
              <a:avLst/>
            </a:prstGeom>
          </p:spPr>
          <p:txBody>
            <a:bodyPr anchor="ctr" rtlCol="false" tIns="0" lIns="0" bIns="0" rIns="0"/>
            <a:lstStyle/>
            <a:p>
              <a:pPr algn="ctr">
                <a:lnSpc>
                  <a:spcPts val="1889"/>
                </a:lnSpc>
              </a:pPr>
              <a:r>
                <a:rPr lang="en-US" sz="1575">
                  <a:solidFill>
                    <a:srgbClr val="5B6670"/>
                  </a:solidFill>
                  <a:latin typeface="Calibri (MS)"/>
                  <a:ea typeface="Calibri (MS)"/>
                  <a:cs typeface="Calibri (MS)"/>
                  <a:sym typeface="Calibri (MS)"/>
                </a:rPr>
                <a:t>Organizar productos, ventas e inventario</a:t>
              </a:r>
            </a:p>
          </p:txBody>
        </p:sp>
      </p:grpSp>
      <p:grpSp>
        <p:nvGrpSpPr>
          <p:cNvPr name="Group 24" id="24"/>
          <p:cNvGrpSpPr/>
          <p:nvPr/>
        </p:nvGrpSpPr>
        <p:grpSpPr>
          <a:xfrm rot="0">
            <a:off x="6501384" y="3634740"/>
            <a:ext cx="5239350" cy="2537546"/>
            <a:chOff x="0" y="0"/>
            <a:chExt cx="6985800" cy="3383394"/>
          </a:xfrm>
        </p:grpSpPr>
        <p:sp>
          <p:nvSpPr>
            <p:cNvPr name="Freeform 25" id="25"/>
            <p:cNvSpPr/>
            <p:nvPr/>
          </p:nvSpPr>
          <p:spPr>
            <a:xfrm flipH="false" flipV="false" rot="0">
              <a:off x="0" y="0"/>
              <a:ext cx="6985762" cy="3383407"/>
            </a:xfrm>
            <a:custGeom>
              <a:avLst/>
              <a:gdLst/>
              <a:ahLst/>
              <a:cxnLst/>
              <a:rect r="r" b="b" t="t" l="l"/>
              <a:pathLst>
                <a:path h="3383407" w="6985762">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sp>
      </p:grpSp>
      <p:grpSp>
        <p:nvGrpSpPr>
          <p:cNvPr name="Group 26" id="26"/>
          <p:cNvGrpSpPr/>
          <p:nvPr/>
        </p:nvGrpSpPr>
        <p:grpSpPr>
          <a:xfrm rot="0">
            <a:off x="8695944" y="3936492"/>
            <a:ext cx="850497" cy="850497"/>
            <a:chOff x="0" y="0"/>
            <a:chExt cx="1133996" cy="1133996"/>
          </a:xfrm>
        </p:grpSpPr>
        <p:sp>
          <p:nvSpPr>
            <p:cNvPr name="Freeform 27" id="27"/>
            <p:cNvSpPr/>
            <p:nvPr/>
          </p:nvSpPr>
          <p:spPr>
            <a:xfrm flipH="false" flipV="false" rot="0">
              <a:off x="0" y="0"/>
              <a:ext cx="1133983" cy="1133983"/>
            </a:xfrm>
            <a:custGeom>
              <a:avLst/>
              <a:gdLst/>
              <a:ahLst/>
              <a:cxnLst/>
              <a:rect r="r" b="b" t="t" l="l"/>
              <a:pathLst>
                <a:path h="1133983" w="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sp>
      </p:grpSp>
      <p:grpSp>
        <p:nvGrpSpPr>
          <p:cNvPr name="Group 28" id="28"/>
          <p:cNvGrpSpPr/>
          <p:nvPr/>
        </p:nvGrpSpPr>
        <p:grpSpPr>
          <a:xfrm rot="0">
            <a:off x="8917048" y="4157596"/>
            <a:ext cx="408184" cy="408184"/>
            <a:chOff x="0" y="0"/>
            <a:chExt cx="544246" cy="544246"/>
          </a:xfrm>
        </p:grpSpPr>
        <p:sp>
          <p:nvSpPr>
            <p:cNvPr name="Freeform 29" id="29" descr="icons/check.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6"/>
              <a:stretch>
                <a:fillRect l="0" t="0" r="-9" b="-9"/>
              </a:stretch>
            </a:blipFill>
          </p:spPr>
        </p:sp>
      </p:grpSp>
      <p:grpSp>
        <p:nvGrpSpPr>
          <p:cNvPr name="Group 30" id="30"/>
          <p:cNvGrpSpPr/>
          <p:nvPr/>
        </p:nvGrpSpPr>
        <p:grpSpPr>
          <a:xfrm rot="0">
            <a:off x="6707124" y="4978908"/>
            <a:ext cx="4828051" cy="480146"/>
            <a:chOff x="0" y="0"/>
            <a:chExt cx="6437401" cy="640194"/>
          </a:xfrm>
        </p:grpSpPr>
        <p:sp>
          <p:nvSpPr>
            <p:cNvPr name="Freeform 31" id="31"/>
            <p:cNvSpPr/>
            <p:nvPr/>
          </p:nvSpPr>
          <p:spPr>
            <a:xfrm flipH="false" flipV="false" rot="0">
              <a:off x="0" y="0"/>
              <a:ext cx="6437400" cy="640200"/>
            </a:xfrm>
            <a:custGeom>
              <a:avLst/>
              <a:gdLst/>
              <a:ahLst/>
              <a:cxnLst/>
              <a:rect r="r" b="b" t="t" l="l"/>
              <a:pathLst>
                <a:path h="640200" w="6437400">
                  <a:moveTo>
                    <a:pt x="0" y="0"/>
                  </a:moveTo>
                  <a:lnTo>
                    <a:pt x="6437400" y="0"/>
                  </a:lnTo>
                  <a:lnTo>
                    <a:pt x="6437400" y="640200"/>
                  </a:lnTo>
                  <a:lnTo>
                    <a:pt x="0" y="640200"/>
                  </a:lnTo>
                  <a:close/>
                </a:path>
              </a:pathLst>
            </a:custGeom>
            <a:blipFill>
              <a:blip r:embed="rId4">
                <a:alphaModFix amt="0"/>
              </a:blip>
              <a:stretch>
                <a:fillRect l="0" t="-145928" r="0" b="-145927"/>
              </a:stretch>
            </a:blipFill>
          </p:spPr>
        </p:sp>
        <p:sp>
          <p:nvSpPr>
            <p:cNvPr name="TextBox 32" id="32"/>
            <p:cNvSpPr txBox="true"/>
            <p:nvPr/>
          </p:nvSpPr>
          <p:spPr>
            <a:xfrm>
              <a:off x="0" y="-47625"/>
              <a:ext cx="6437401" cy="687819"/>
            </a:xfrm>
            <a:prstGeom prst="rect">
              <a:avLst/>
            </a:prstGeom>
          </p:spPr>
          <p:txBody>
            <a:bodyPr anchor="ctr" rtlCol="false" tIns="0" lIns="0" bIns="0" rIns="0"/>
            <a:lstStyle/>
            <a:p>
              <a:pPr algn="ctr">
                <a:lnSpc>
                  <a:spcPts val="2340"/>
                </a:lnSpc>
              </a:pPr>
              <a:r>
                <a:rPr lang="en-US" b="true" sz="1950">
                  <a:solidFill>
                    <a:srgbClr val="00304D"/>
                  </a:solidFill>
                  <a:latin typeface="Calibri (MS) Bold"/>
                  <a:ea typeface="Calibri (MS) Bold"/>
                  <a:cs typeface="Calibri (MS) Bold"/>
                  <a:sym typeface="Calibri (MS) Bold"/>
                </a:rPr>
                <a:t>Reducir errores</a:t>
              </a:r>
            </a:p>
          </p:txBody>
        </p:sp>
      </p:grpSp>
      <p:grpSp>
        <p:nvGrpSpPr>
          <p:cNvPr name="Group 33" id="33"/>
          <p:cNvGrpSpPr/>
          <p:nvPr/>
        </p:nvGrpSpPr>
        <p:grpSpPr>
          <a:xfrm rot="0">
            <a:off x="6707124" y="5445252"/>
            <a:ext cx="4828051" cy="685800"/>
            <a:chOff x="0" y="0"/>
            <a:chExt cx="6437401" cy="914400"/>
          </a:xfrm>
        </p:grpSpPr>
        <p:sp>
          <p:nvSpPr>
            <p:cNvPr name="Freeform 34" id="34"/>
            <p:cNvSpPr/>
            <p:nvPr/>
          </p:nvSpPr>
          <p:spPr>
            <a:xfrm flipH="false" flipV="false" rot="0">
              <a:off x="0" y="0"/>
              <a:ext cx="6437400" cy="914400"/>
            </a:xfrm>
            <a:custGeom>
              <a:avLst/>
              <a:gdLst/>
              <a:ahLst/>
              <a:cxnLst/>
              <a:rect r="r" b="b" t="t" l="l"/>
              <a:pathLst>
                <a:path h="914400" w="6437400">
                  <a:moveTo>
                    <a:pt x="0" y="0"/>
                  </a:moveTo>
                  <a:lnTo>
                    <a:pt x="6437400" y="0"/>
                  </a:lnTo>
                  <a:lnTo>
                    <a:pt x="6437400" y="914400"/>
                  </a:lnTo>
                  <a:lnTo>
                    <a:pt x="0" y="914400"/>
                  </a:lnTo>
                  <a:close/>
                </a:path>
              </a:pathLst>
            </a:custGeom>
            <a:blipFill>
              <a:blip r:embed="rId4">
                <a:alphaModFix amt="0"/>
              </a:blip>
              <a:stretch>
                <a:fillRect l="0" t="-87175" r="0" b="-87175"/>
              </a:stretch>
            </a:blipFill>
          </p:spPr>
        </p:sp>
        <p:sp>
          <p:nvSpPr>
            <p:cNvPr name="TextBox 35" id="35"/>
            <p:cNvSpPr txBox="true"/>
            <p:nvPr/>
          </p:nvSpPr>
          <p:spPr>
            <a:xfrm>
              <a:off x="0" y="-19050"/>
              <a:ext cx="6437401" cy="933450"/>
            </a:xfrm>
            <a:prstGeom prst="rect">
              <a:avLst/>
            </a:prstGeom>
          </p:spPr>
          <p:txBody>
            <a:bodyPr anchor="ctr" rtlCol="false" tIns="0" lIns="0" bIns="0" rIns="0"/>
            <a:lstStyle/>
            <a:p>
              <a:pPr algn="ctr">
                <a:lnSpc>
                  <a:spcPts val="1889"/>
                </a:lnSpc>
              </a:pPr>
              <a:r>
                <a:rPr lang="en-US" sz="1575">
                  <a:solidFill>
                    <a:srgbClr val="5B6670"/>
                  </a:solidFill>
                  <a:latin typeface="Calibri (MS)"/>
                  <a:ea typeface="Calibri (MS)"/>
                  <a:cs typeface="Calibri (MS)"/>
                  <a:sym typeface="Calibri (MS)"/>
                </a:rPr>
                <a:t>Menos fallos por procesos manuales</a:t>
              </a:r>
            </a:p>
          </p:txBody>
        </p:sp>
      </p:grpSp>
      <p:grpSp>
        <p:nvGrpSpPr>
          <p:cNvPr name="Group 36" id="36"/>
          <p:cNvGrpSpPr/>
          <p:nvPr/>
        </p:nvGrpSpPr>
        <p:grpSpPr>
          <a:xfrm rot="0">
            <a:off x="12179808" y="3634740"/>
            <a:ext cx="5239350" cy="2537546"/>
            <a:chOff x="0" y="0"/>
            <a:chExt cx="6985800" cy="3383394"/>
          </a:xfrm>
        </p:grpSpPr>
        <p:sp>
          <p:nvSpPr>
            <p:cNvPr name="Freeform 37" id="37"/>
            <p:cNvSpPr/>
            <p:nvPr/>
          </p:nvSpPr>
          <p:spPr>
            <a:xfrm flipH="false" flipV="false" rot="0">
              <a:off x="0" y="0"/>
              <a:ext cx="6985762" cy="3383407"/>
            </a:xfrm>
            <a:custGeom>
              <a:avLst/>
              <a:gdLst/>
              <a:ahLst/>
              <a:cxnLst/>
              <a:rect r="r" b="b" t="t" l="l"/>
              <a:pathLst>
                <a:path h="3383407" w="6985762">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sp>
      </p:grpSp>
      <p:grpSp>
        <p:nvGrpSpPr>
          <p:cNvPr name="Group 38" id="38"/>
          <p:cNvGrpSpPr/>
          <p:nvPr/>
        </p:nvGrpSpPr>
        <p:grpSpPr>
          <a:xfrm rot="0">
            <a:off x="14374368" y="3936492"/>
            <a:ext cx="850497" cy="850497"/>
            <a:chOff x="0" y="0"/>
            <a:chExt cx="1133996" cy="1133996"/>
          </a:xfrm>
        </p:grpSpPr>
        <p:sp>
          <p:nvSpPr>
            <p:cNvPr name="Freeform 39" id="39"/>
            <p:cNvSpPr/>
            <p:nvPr/>
          </p:nvSpPr>
          <p:spPr>
            <a:xfrm flipH="false" flipV="false" rot="0">
              <a:off x="0" y="0"/>
              <a:ext cx="1133983" cy="1133983"/>
            </a:xfrm>
            <a:custGeom>
              <a:avLst/>
              <a:gdLst/>
              <a:ahLst/>
              <a:cxnLst/>
              <a:rect r="r" b="b" t="t" l="l"/>
              <a:pathLst>
                <a:path h="1133983" w="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sp>
      </p:grpSp>
      <p:grpSp>
        <p:nvGrpSpPr>
          <p:cNvPr name="Group 40" id="40"/>
          <p:cNvGrpSpPr/>
          <p:nvPr/>
        </p:nvGrpSpPr>
        <p:grpSpPr>
          <a:xfrm rot="0">
            <a:off x="14595472" y="4157596"/>
            <a:ext cx="408184" cy="408184"/>
            <a:chOff x="0" y="0"/>
            <a:chExt cx="544246" cy="544246"/>
          </a:xfrm>
        </p:grpSpPr>
        <p:sp>
          <p:nvSpPr>
            <p:cNvPr name="Freeform 41" id="41" descr="icons/mobile.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7"/>
              <a:stretch>
                <a:fillRect l="0" t="0" r="-9" b="-9"/>
              </a:stretch>
            </a:blipFill>
          </p:spPr>
        </p:sp>
      </p:grpSp>
      <p:grpSp>
        <p:nvGrpSpPr>
          <p:cNvPr name="Group 42" id="42"/>
          <p:cNvGrpSpPr/>
          <p:nvPr/>
        </p:nvGrpSpPr>
        <p:grpSpPr>
          <a:xfrm rot="0">
            <a:off x="12385548" y="4978908"/>
            <a:ext cx="4828051" cy="480146"/>
            <a:chOff x="0" y="0"/>
            <a:chExt cx="6437401" cy="640194"/>
          </a:xfrm>
        </p:grpSpPr>
        <p:sp>
          <p:nvSpPr>
            <p:cNvPr name="Freeform 43" id="43"/>
            <p:cNvSpPr/>
            <p:nvPr/>
          </p:nvSpPr>
          <p:spPr>
            <a:xfrm flipH="false" flipV="false" rot="0">
              <a:off x="0" y="0"/>
              <a:ext cx="6437400" cy="640200"/>
            </a:xfrm>
            <a:custGeom>
              <a:avLst/>
              <a:gdLst/>
              <a:ahLst/>
              <a:cxnLst/>
              <a:rect r="r" b="b" t="t" l="l"/>
              <a:pathLst>
                <a:path h="640200" w="6437400">
                  <a:moveTo>
                    <a:pt x="0" y="0"/>
                  </a:moveTo>
                  <a:lnTo>
                    <a:pt x="6437400" y="0"/>
                  </a:lnTo>
                  <a:lnTo>
                    <a:pt x="6437400" y="640200"/>
                  </a:lnTo>
                  <a:lnTo>
                    <a:pt x="0" y="640200"/>
                  </a:lnTo>
                  <a:close/>
                </a:path>
              </a:pathLst>
            </a:custGeom>
            <a:blipFill>
              <a:blip r:embed="rId4">
                <a:alphaModFix amt="0"/>
              </a:blip>
              <a:stretch>
                <a:fillRect l="0" t="-145928" r="0" b="-145927"/>
              </a:stretch>
            </a:blipFill>
          </p:spPr>
        </p:sp>
        <p:sp>
          <p:nvSpPr>
            <p:cNvPr name="TextBox 44" id="44"/>
            <p:cNvSpPr txBox="true"/>
            <p:nvPr/>
          </p:nvSpPr>
          <p:spPr>
            <a:xfrm>
              <a:off x="0" y="-47625"/>
              <a:ext cx="6437401" cy="687819"/>
            </a:xfrm>
            <a:prstGeom prst="rect">
              <a:avLst/>
            </a:prstGeom>
          </p:spPr>
          <p:txBody>
            <a:bodyPr anchor="ctr" rtlCol="false" tIns="0" lIns="0" bIns="0" rIns="0"/>
            <a:lstStyle/>
            <a:p>
              <a:pPr algn="ctr">
                <a:lnSpc>
                  <a:spcPts val="2340"/>
                </a:lnSpc>
              </a:pPr>
              <a:r>
                <a:rPr lang="en-US" b="true" sz="1950">
                  <a:solidFill>
                    <a:srgbClr val="00304D"/>
                  </a:solidFill>
                  <a:latin typeface="Calibri (MS) Bold"/>
                  <a:ea typeface="Calibri (MS) Bold"/>
                  <a:cs typeface="Calibri (MS) Bold"/>
                  <a:sym typeface="Calibri (MS) Bold"/>
                </a:rPr>
                <a:t>Compra digital</a:t>
              </a:r>
            </a:p>
          </p:txBody>
        </p:sp>
      </p:grpSp>
      <p:grpSp>
        <p:nvGrpSpPr>
          <p:cNvPr name="Group 45" id="45"/>
          <p:cNvGrpSpPr/>
          <p:nvPr/>
        </p:nvGrpSpPr>
        <p:grpSpPr>
          <a:xfrm rot="0">
            <a:off x="12385548" y="5445252"/>
            <a:ext cx="4828051" cy="685800"/>
            <a:chOff x="0" y="0"/>
            <a:chExt cx="6437401" cy="914400"/>
          </a:xfrm>
        </p:grpSpPr>
        <p:sp>
          <p:nvSpPr>
            <p:cNvPr name="Freeform 46" id="46"/>
            <p:cNvSpPr/>
            <p:nvPr/>
          </p:nvSpPr>
          <p:spPr>
            <a:xfrm flipH="false" flipV="false" rot="0">
              <a:off x="0" y="0"/>
              <a:ext cx="6437400" cy="914400"/>
            </a:xfrm>
            <a:custGeom>
              <a:avLst/>
              <a:gdLst/>
              <a:ahLst/>
              <a:cxnLst/>
              <a:rect r="r" b="b" t="t" l="l"/>
              <a:pathLst>
                <a:path h="914400" w="6437400">
                  <a:moveTo>
                    <a:pt x="0" y="0"/>
                  </a:moveTo>
                  <a:lnTo>
                    <a:pt x="6437400" y="0"/>
                  </a:lnTo>
                  <a:lnTo>
                    <a:pt x="6437400" y="914400"/>
                  </a:lnTo>
                  <a:lnTo>
                    <a:pt x="0" y="914400"/>
                  </a:lnTo>
                  <a:close/>
                </a:path>
              </a:pathLst>
            </a:custGeom>
            <a:blipFill>
              <a:blip r:embed="rId4">
                <a:alphaModFix amt="0"/>
              </a:blip>
              <a:stretch>
                <a:fillRect l="0" t="-87175" r="0" b="-87175"/>
              </a:stretch>
            </a:blipFill>
          </p:spPr>
        </p:sp>
        <p:sp>
          <p:nvSpPr>
            <p:cNvPr name="TextBox 47" id="47"/>
            <p:cNvSpPr txBox="true"/>
            <p:nvPr/>
          </p:nvSpPr>
          <p:spPr>
            <a:xfrm>
              <a:off x="0" y="-19050"/>
              <a:ext cx="6437401" cy="933450"/>
            </a:xfrm>
            <a:prstGeom prst="rect">
              <a:avLst/>
            </a:prstGeom>
          </p:spPr>
          <p:txBody>
            <a:bodyPr anchor="ctr" rtlCol="false" tIns="0" lIns="0" bIns="0" rIns="0"/>
            <a:lstStyle/>
            <a:p>
              <a:pPr algn="ctr">
                <a:lnSpc>
                  <a:spcPts val="1889"/>
                </a:lnSpc>
              </a:pPr>
              <a:r>
                <a:rPr lang="en-US" sz="1575">
                  <a:solidFill>
                    <a:srgbClr val="5B6670"/>
                  </a:solidFill>
                  <a:latin typeface="Calibri (MS)"/>
                  <a:ea typeface="Calibri (MS)"/>
                  <a:cs typeface="Calibri (MS)"/>
                  <a:sym typeface="Calibri (MS)"/>
                </a:rPr>
                <a:t>Acceso desde cualquier dispositivo</a:t>
              </a:r>
            </a:p>
          </p:txBody>
        </p:sp>
      </p:grpSp>
      <p:grpSp>
        <p:nvGrpSpPr>
          <p:cNvPr name="Group 48" id="48"/>
          <p:cNvGrpSpPr/>
          <p:nvPr/>
        </p:nvGrpSpPr>
        <p:grpSpPr>
          <a:xfrm rot="0">
            <a:off x="822960" y="6556248"/>
            <a:ext cx="5239350" cy="2537546"/>
            <a:chOff x="0" y="0"/>
            <a:chExt cx="6985800" cy="3383394"/>
          </a:xfrm>
        </p:grpSpPr>
        <p:sp>
          <p:nvSpPr>
            <p:cNvPr name="Freeform 49" id="49"/>
            <p:cNvSpPr/>
            <p:nvPr/>
          </p:nvSpPr>
          <p:spPr>
            <a:xfrm flipH="false" flipV="false" rot="0">
              <a:off x="0" y="0"/>
              <a:ext cx="6985762" cy="3383407"/>
            </a:xfrm>
            <a:custGeom>
              <a:avLst/>
              <a:gdLst/>
              <a:ahLst/>
              <a:cxnLst/>
              <a:rect r="r" b="b" t="t" l="l"/>
              <a:pathLst>
                <a:path h="3383407" w="6985762">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sp>
      </p:grpSp>
      <p:grpSp>
        <p:nvGrpSpPr>
          <p:cNvPr name="Group 50" id="50"/>
          <p:cNvGrpSpPr/>
          <p:nvPr/>
        </p:nvGrpSpPr>
        <p:grpSpPr>
          <a:xfrm rot="0">
            <a:off x="3017520" y="6858000"/>
            <a:ext cx="850497" cy="850497"/>
            <a:chOff x="0" y="0"/>
            <a:chExt cx="1133996" cy="1133996"/>
          </a:xfrm>
        </p:grpSpPr>
        <p:sp>
          <p:nvSpPr>
            <p:cNvPr name="Freeform 51" id="51"/>
            <p:cNvSpPr/>
            <p:nvPr/>
          </p:nvSpPr>
          <p:spPr>
            <a:xfrm flipH="false" flipV="false" rot="0">
              <a:off x="0" y="0"/>
              <a:ext cx="1133983" cy="1133983"/>
            </a:xfrm>
            <a:custGeom>
              <a:avLst/>
              <a:gdLst/>
              <a:ahLst/>
              <a:cxnLst/>
              <a:rect r="r" b="b" t="t" l="l"/>
              <a:pathLst>
                <a:path h="1133983" w="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sp>
      </p:grpSp>
      <p:grpSp>
        <p:nvGrpSpPr>
          <p:cNvPr name="Group 52" id="52"/>
          <p:cNvGrpSpPr/>
          <p:nvPr/>
        </p:nvGrpSpPr>
        <p:grpSpPr>
          <a:xfrm rot="0">
            <a:off x="3238624" y="7079104"/>
            <a:ext cx="408184" cy="408184"/>
            <a:chOff x="0" y="0"/>
            <a:chExt cx="544246" cy="544246"/>
          </a:xfrm>
        </p:grpSpPr>
        <p:sp>
          <p:nvSpPr>
            <p:cNvPr name="Freeform 53" id="53" descr="icons/leaf.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8"/>
              <a:stretch>
                <a:fillRect l="0" t="0" r="-9" b="-9"/>
              </a:stretch>
            </a:blipFill>
          </p:spPr>
        </p:sp>
      </p:grpSp>
      <p:grpSp>
        <p:nvGrpSpPr>
          <p:cNvPr name="Group 54" id="54"/>
          <p:cNvGrpSpPr/>
          <p:nvPr/>
        </p:nvGrpSpPr>
        <p:grpSpPr>
          <a:xfrm rot="0">
            <a:off x="1028700" y="7900416"/>
            <a:ext cx="4828051" cy="480146"/>
            <a:chOff x="0" y="0"/>
            <a:chExt cx="6437401" cy="640194"/>
          </a:xfrm>
        </p:grpSpPr>
        <p:sp>
          <p:nvSpPr>
            <p:cNvPr name="Freeform 55" id="55"/>
            <p:cNvSpPr/>
            <p:nvPr/>
          </p:nvSpPr>
          <p:spPr>
            <a:xfrm flipH="false" flipV="false" rot="0">
              <a:off x="0" y="0"/>
              <a:ext cx="6437400" cy="640200"/>
            </a:xfrm>
            <a:custGeom>
              <a:avLst/>
              <a:gdLst/>
              <a:ahLst/>
              <a:cxnLst/>
              <a:rect r="r" b="b" t="t" l="l"/>
              <a:pathLst>
                <a:path h="640200" w="6437400">
                  <a:moveTo>
                    <a:pt x="0" y="0"/>
                  </a:moveTo>
                  <a:lnTo>
                    <a:pt x="6437400" y="0"/>
                  </a:lnTo>
                  <a:lnTo>
                    <a:pt x="6437400" y="640200"/>
                  </a:lnTo>
                  <a:lnTo>
                    <a:pt x="0" y="640200"/>
                  </a:lnTo>
                  <a:close/>
                </a:path>
              </a:pathLst>
            </a:custGeom>
            <a:blipFill>
              <a:blip r:embed="rId4">
                <a:alphaModFix amt="0"/>
              </a:blip>
              <a:stretch>
                <a:fillRect l="0" t="-145928" r="0" b="-145927"/>
              </a:stretch>
            </a:blipFill>
          </p:spPr>
        </p:sp>
        <p:sp>
          <p:nvSpPr>
            <p:cNvPr name="TextBox 56" id="56"/>
            <p:cNvSpPr txBox="true"/>
            <p:nvPr/>
          </p:nvSpPr>
          <p:spPr>
            <a:xfrm>
              <a:off x="0" y="-47625"/>
              <a:ext cx="6437401" cy="687819"/>
            </a:xfrm>
            <a:prstGeom prst="rect">
              <a:avLst/>
            </a:prstGeom>
          </p:spPr>
          <p:txBody>
            <a:bodyPr anchor="ctr" rtlCol="false" tIns="0" lIns="0" bIns="0" rIns="0"/>
            <a:lstStyle/>
            <a:p>
              <a:pPr algn="ctr">
                <a:lnSpc>
                  <a:spcPts val="2340"/>
                </a:lnSpc>
              </a:pPr>
              <a:r>
                <a:rPr lang="en-US" b="true" sz="1950">
                  <a:solidFill>
                    <a:srgbClr val="00304D"/>
                  </a:solidFill>
                  <a:latin typeface="Calibri (MS) Bold"/>
                  <a:ea typeface="Calibri (MS) Bold"/>
                  <a:cs typeface="Calibri (MS) Bold"/>
                  <a:sym typeface="Calibri (MS) Bold"/>
                </a:rPr>
                <a:t>Cuidado ambiental</a:t>
              </a:r>
            </a:p>
          </p:txBody>
        </p:sp>
      </p:grpSp>
      <p:grpSp>
        <p:nvGrpSpPr>
          <p:cNvPr name="Group 57" id="57"/>
          <p:cNvGrpSpPr/>
          <p:nvPr/>
        </p:nvGrpSpPr>
        <p:grpSpPr>
          <a:xfrm rot="0">
            <a:off x="1028700" y="8366760"/>
            <a:ext cx="4828051" cy="685800"/>
            <a:chOff x="0" y="0"/>
            <a:chExt cx="6437401" cy="914400"/>
          </a:xfrm>
        </p:grpSpPr>
        <p:sp>
          <p:nvSpPr>
            <p:cNvPr name="Freeform 58" id="58"/>
            <p:cNvSpPr/>
            <p:nvPr/>
          </p:nvSpPr>
          <p:spPr>
            <a:xfrm flipH="false" flipV="false" rot="0">
              <a:off x="0" y="0"/>
              <a:ext cx="6437400" cy="914400"/>
            </a:xfrm>
            <a:custGeom>
              <a:avLst/>
              <a:gdLst/>
              <a:ahLst/>
              <a:cxnLst/>
              <a:rect r="r" b="b" t="t" l="l"/>
              <a:pathLst>
                <a:path h="914400" w="6437400">
                  <a:moveTo>
                    <a:pt x="0" y="0"/>
                  </a:moveTo>
                  <a:lnTo>
                    <a:pt x="6437400" y="0"/>
                  </a:lnTo>
                  <a:lnTo>
                    <a:pt x="6437400" y="914400"/>
                  </a:lnTo>
                  <a:lnTo>
                    <a:pt x="0" y="914400"/>
                  </a:lnTo>
                  <a:close/>
                </a:path>
              </a:pathLst>
            </a:custGeom>
            <a:blipFill>
              <a:blip r:embed="rId4">
                <a:alphaModFix amt="0"/>
              </a:blip>
              <a:stretch>
                <a:fillRect l="0" t="-87175" r="0" b="-87175"/>
              </a:stretch>
            </a:blipFill>
          </p:spPr>
        </p:sp>
        <p:sp>
          <p:nvSpPr>
            <p:cNvPr name="TextBox 59" id="59"/>
            <p:cNvSpPr txBox="true"/>
            <p:nvPr/>
          </p:nvSpPr>
          <p:spPr>
            <a:xfrm>
              <a:off x="0" y="-19050"/>
              <a:ext cx="6437401" cy="933450"/>
            </a:xfrm>
            <a:prstGeom prst="rect">
              <a:avLst/>
            </a:prstGeom>
          </p:spPr>
          <p:txBody>
            <a:bodyPr anchor="ctr" rtlCol="false" tIns="0" lIns="0" bIns="0" rIns="0"/>
            <a:lstStyle/>
            <a:p>
              <a:pPr algn="ctr">
                <a:lnSpc>
                  <a:spcPts val="1889"/>
                </a:lnSpc>
              </a:pPr>
              <a:r>
                <a:rPr lang="en-US" sz="1575">
                  <a:solidFill>
                    <a:srgbClr val="5B6670"/>
                  </a:solidFill>
                  <a:latin typeface="Calibri (MS)"/>
                  <a:ea typeface="Calibri (MS)"/>
                  <a:cs typeface="Calibri (MS)"/>
                  <a:sym typeface="Calibri (MS)"/>
                </a:rPr>
                <a:t>Fomenta la reduccion del uso del papel</a:t>
              </a:r>
            </a:p>
          </p:txBody>
        </p:sp>
      </p:grpSp>
      <p:grpSp>
        <p:nvGrpSpPr>
          <p:cNvPr name="Group 60" id="60"/>
          <p:cNvGrpSpPr/>
          <p:nvPr/>
        </p:nvGrpSpPr>
        <p:grpSpPr>
          <a:xfrm rot="0">
            <a:off x="6501384" y="6556248"/>
            <a:ext cx="5239350" cy="2537546"/>
            <a:chOff x="0" y="0"/>
            <a:chExt cx="6985800" cy="3383394"/>
          </a:xfrm>
        </p:grpSpPr>
        <p:sp>
          <p:nvSpPr>
            <p:cNvPr name="Freeform 61" id="61"/>
            <p:cNvSpPr/>
            <p:nvPr/>
          </p:nvSpPr>
          <p:spPr>
            <a:xfrm flipH="false" flipV="false" rot="0">
              <a:off x="0" y="0"/>
              <a:ext cx="6985762" cy="3383407"/>
            </a:xfrm>
            <a:custGeom>
              <a:avLst/>
              <a:gdLst/>
              <a:ahLst/>
              <a:cxnLst/>
              <a:rect r="r" b="b" t="t" l="l"/>
              <a:pathLst>
                <a:path h="3383407" w="6985762">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sp>
      </p:grpSp>
      <p:grpSp>
        <p:nvGrpSpPr>
          <p:cNvPr name="Group 62" id="62"/>
          <p:cNvGrpSpPr/>
          <p:nvPr/>
        </p:nvGrpSpPr>
        <p:grpSpPr>
          <a:xfrm rot="0">
            <a:off x="8695944" y="6858000"/>
            <a:ext cx="850497" cy="850497"/>
            <a:chOff x="0" y="0"/>
            <a:chExt cx="1133996" cy="1133996"/>
          </a:xfrm>
        </p:grpSpPr>
        <p:sp>
          <p:nvSpPr>
            <p:cNvPr name="Freeform 63" id="63"/>
            <p:cNvSpPr/>
            <p:nvPr/>
          </p:nvSpPr>
          <p:spPr>
            <a:xfrm flipH="false" flipV="false" rot="0">
              <a:off x="0" y="0"/>
              <a:ext cx="1133983" cy="1133983"/>
            </a:xfrm>
            <a:custGeom>
              <a:avLst/>
              <a:gdLst/>
              <a:ahLst/>
              <a:cxnLst/>
              <a:rect r="r" b="b" t="t" l="l"/>
              <a:pathLst>
                <a:path h="1133983" w="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sp>
      </p:grpSp>
      <p:grpSp>
        <p:nvGrpSpPr>
          <p:cNvPr name="Group 64" id="64"/>
          <p:cNvGrpSpPr/>
          <p:nvPr/>
        </p:nvGrpSpPr>
        <p:grpSpPr>
          <a:xfrm rot="0">
            <a:off x="8917048" y="7079104"/>
            <a:ext cx="408184" cy="408184"/>
            <a:chOff x="0" y="0"/>
            <a:chExt cx="544246" cy="544246"/>
          </a:xfrm>
        </p:grpSpPr>
        <p:sp>
          <p:nvSpPr>
            <p:cNvPr name="Freeform 65" id="65" descr="icons/chart.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9"/>
              <a:stretch>
                <a:fillRect l="0" t="0" r="-9" b="-9"/>
              </a:stretch>
            </a:blipFill>
          </p:spPr>
        </p:sp>
      </p:grpSp>
      <p:grpSp>
        <p:nvGrpSpPr>
          <p:cNvPr name="Group 66" id="66"/>
          <p:cNvGrpSpPr/>
          <p:nvPr/>
        </p:nvGrpSpPr>
        <p:grpSpPr>
          <a:xfrm rot="0">
            <a:off x="6707124" y="7900416"/>
            <a:ext cx="4828051" cy="480146"/>
            <a:chOff x="0" y="0"/>
            <a:chExt cx="6437401" cy="640194"/>
          </a:xfrm>
        </p:grpSpPr>
        <p:sp>
          <p:nvSpPr>
            <p:cNvPr name="Freeform 67" id="67"/>
            <p:cNvSpPr/>
            <p:nvPr/>
          </p:nvSpPr>
          <p:spPr>
            <a:xfrm flipH="false" flipV="false" rot="0">
              <a:off x="0" y="0"/>
              <a:ext cx="6437400" cy="640200"/>
            </a:xfrm>
            <a:custGeom>
              <a:avLst/>
              <a:gdLst/>
              <a:ahLst/>
              <a:cxnLst/>
              <a:rect r="r" b="b" t="t" l="l"/>
              <a:pathLst>
                <a:path h="640200" w="6437400">
                  <a:moveTo>
                    <a:pt x="0" y="0"/>
                  </a:moveTo>
                  <a:lnTo>
                    <a:pt x="6437400" y="0"/>
                  </a:lnTo>
                  <a:lnTo>
                    <a:pt x="6437400" y="640200"/>
                  </a:lnTo>
                  <a:lnTo>
                    <a:pt x="0" y="640200"/>
                  </a:lnTo>
                  <a:close/>
                </a:path>
              </a:pathLst>
            </a:custGeom>
            <a:blipFill>
              <a:blip r:embed="rId4">
                <a:alphaModFix amt="0"/>
              </a:blip>
              <a:stretch>
                <a:fillRect l="0" t="-145928" r="0" b="-145927"/>
              </a:stretch>
            </a:blipFill>
          </p:spPr>
        </p:sp>
        <p:sp>
          <p:nvSpPr>
            <p:cNvPr name="TextBox 68" id="68"/>
            <p:cNvSpPr txBox="true"/>
            <p:nvPr/>
          </p:nvSpPr>
          <p:spPr>
            <a:xfrm>
              <a:off x="0" y="-47625"/>
              <a:ext cx="6437401" cy="687819"/>
            </a:xfrm>
            <a:prstGeom prst="rect">
              <a:avLst/>
            </a:prstGeom>
          </p:spPr>
          <p:txBody>
            <a:bodyPr anchor="ctr" rtlCol="false" tIns="0" lIns="0" bIns="0" rIns="0"/>
            <a:lstStyle/>
            <a:p>
              <a:pPr algn="ctr">
                <a:lnSpc>
                  <a:spcPts val="2340"/>
                </a:lnSpc>
              </a:pPr>
              <a:r>
                <a:rPr lang="en-US" b="true" sz="1950">
                  <a:solidFill>
                    <a:srgbClr val="00304D"/>
                  </a:solidFill>
                  <a:latin typeface="Calibri (MS) Bold"/>
                  <a:ea typeface="Calibri (MS) Bold"/>
                  <a:cs typeface="Calibri (MS) Bold"/>
                  <a:sym typeface="Calibri (MS) Bold"/>
                </a:rPr>
                <a:t>Mejor administración</a:t>
              </a:r>
            </a:p>
          </p:txBody>
        </p:sp>
      </p:grpSp>
      <p:grpSp>
        <p:nvGrpSpPr>
          <p:cNvPr name="Group 69" id="69"/>
          <p:cNvGrpSpPr/>
          <p:nvPr/>
        </p:nvGrpSpPr>
        <p:grpSpPr>
          <a:xfrm rot="0">
            <a:off x="6707124" y="8366760"/>
            <a:ext cx="4828051" cy="685800"/>
            <a:chOff x="0" y="0"/>
            <a:chExt cx="6437401" cy="914400"/>
          </a:xfrm>
        </p:grpSpPr>
        <p:sp>
          <p:nvSpPr>
            <p:cNvPr name="Freeform 70" id="70"/>
            <p:cNvSpPr/>
            <p:nvPr/>
          </p:nvSpPr>
          <p:spPr>
            <a:xfrm flipH="false" flipV="false" rot="0">
              <a:off x="0" y="0"/>
              <a:ext cx="6437400" cy="914400"/>
            </a:xfrm>
            <a:custGeom>
              <a:avLst/>
              <a:gdLst/>
              <a:ahLst/>
              <a:cxnLst/>
              <a:rect r="r" b="b" t="t" l="l"/>
              <a:pathLst>
                <a:path h="914400" w="6437400">
                  <a:moveTo>
                    <a:pt x="0" y="0"/>
                  </a:moveTo>
                  <a:lnTo>
                    <a:pt x="6437400" y="0"/>
                  </a:lnTo>
                  <a:lnTo>
                    <a:pt x="6437400" y="914400"/>
                  </a:lnTo>
                  <a:lnTo>
                    <a:pt x="0" y="914400"/>
                  </a:lnTo>
                  <a:close/>
                </a:path>
              </a:pathLst>
            </a:custGeom>
            <a:blipFill>
              <a:blip r:embed="rId4">
                <a:alphaModFix amt="0"/>
              </a:blip>
              <a:stretch>
                <a:fillRect l="0" t="-87175" r="0" b="-87175"/>
              </a:stretch>
            </a:blipFill>
          </p:spPr>
        </p:sp>
        <p:sp>
          <p:nvSpPr>
            <p:cNvPr name="TextBox 71" id="71"/>
            <p:cNvSpPr txBox="true"/>
            <p:nvPr/>
          </p:nvSpPr>
          <p:spPr>
            <a:xfrm>
              <a:off x="0" y="-19050"/>
              <a:ext cx="6437401" cy="933450"/>
            </a:xfrm>
            <a:prstGeom prst="rect">
              <a:avLst/>
            </a:prstGeom>
          </p:spPr>
          <p:txBody>
            <a:bodyPr anchor="ctr" rtlCol="false" tIns="0" lIns="0" bIns="0" rIns="0"/>
            <a:lstStyle/>
            <a:p>
              <a:pPr algn="ctr">
                <a:lnSpc>
                  <a:spcPts val="1889"/>
                </a:lnSpc>
              </a:pPr>
              <a:r>
                <a:rPr lang="en-US" sz="1575">
                  <a:solidFill>
                    <a:srgbClr val="5B6670"/>
                  </a:solidFill>
                  <a:latin typeface="Calibri (MS)"/>
                  <a:ea typeface="Calibri (MS)"/>
                  <a:cs typeface="Calibri (MS)"/>
                  <a:sym typeface="Calibri (MS)"/>
                </a:rPr>
                <a:t>Mayor control e incremento de ventas</a:t>
              </a:r>
            </a:p>
          </p:txBody>
        </p:sp>
      </p:grpSp>
      <p:grpSp>
        <p:nvGrpSpPr>
          <p:cNvPr name="Group 72" id="72"/>
          <p:cNvGrpSpPr/>
          <p:nvPr/>
        </p:nvGrpSpPr>
        <p:grpSpPr>
          <a:xfrm rot="0">
            <a:off x="12179808" y="6556248"/>
            <a:ext cx="5239350" cy="2537546"/>
            <a:chOff x="0" y="0"/>
            <a:chExt cx="6985800" cy="3383394"/>
          </a:xfrm>
        </p:grpSpPr>
        <p:sp>
          <p:nvSpPr>
            <p:cNvPr name="Freeform 73" id="73"/>
            <p:cNvSpPr/>
            <p:nvPr/>
          </p:nvSpPr>
          <p:spPr>
            <a:xfrm flipH="false" flipV="false" rot="0">
              <a:off x="0" y="0"/>
              <a:ext cx="6985762" cy="3383407"/>
            </a:xfrm>
            <a:custGeom>
              <a:avLst/>
              <a:gdLst/>
              <a:ahLst/>
              <a:cxnLst/>
              <a:rect r="r" b="b" t="t" l="l"/>
              <a:pathLst>
                <a:path h="3383407" w="6985762">
                  <a:moveTo>
                    <a:pt x="0" y="146304"/>
                  </a:moveTo>
                  <a:cubicBezTo>
                    <a:pt x="0" y="65532"/>
                    <a:pt x="65532" y="0"/>
                    <a:pt x="146304" y="0"/>
                  </a:cubicBezTo>
                  <a:lnTo>
                    <a:pt x="6839458" y="0"/>
                  </a:lnTo>
                  <a:cubicBezTo>
                    <a:pt x="6920230" y="0"/>
                    <a:pt x="6985762" y="65532"/>
                    <a:pt x="6985762" y="146304"/>
                  </a:cubicBezTo>
                  <a:lnTo>
                    <a:pt x="6985762" y="3237103"/>
                  </a:lnTo>
                  <a:cubicBezTo>
                    <a:pt x="6985762" y="3317875"/>
                    <a:pt x="6920230" y="3383407"/>
                    <a:pt x="6839458" y="3383407"/>
                  </a:cubicBezTo>
                  <a:lnTo>
                    <a:pt x="146304" y="3383407"/>
                  </a:lnTo>
                  <a:cubicBezTo>
                    <a:pt x="65532" y="3383407"/>
                    <a:pt x="0" y="3317875"/>
                    <a:pt x="0" y="3237103"/>
                  </a:cubicBezTo>
                  <a:close/>
                </a:path>
              </a:pathLst>
            </a:custGeom>
            <a:solidFill>
              <a:srgbClr val="EDF6E8"/>
            </a:solidFill>
          </p:spPr>
        </p:sp>
      </p:grpSp>
      <p:grpSp>
        <p:nvGrpSpPr>
          <p:cNvPr name="Group 74" id="74"/>
          <p:cNvGrpSpPr/>
          <p:nvPr/>
        </p:nvGrpSpPr>
        <p:grpSpPr>
          <a:xfrm rot="0">
            <a:off x="14374368" y="6858000"/>
            <a:ext cx="850497" cy="850497"/>
            <a:chOff x="0" y="0"/>
            <a:chExt cx="1133996" cy="1133996"/>
          </a:xfrm>
        </p:grpSpPr>
        <p:sp>
          <p:nvSpPr>
            <p:cNvPr name="Freeform 75" id="75"/>
            <p:cNvSpPr/>
            <p:nvPr/>
          </p:nvSpPr>
          <p:spPr>
            <a:xfrm flipH="false" flipV="false" rot="0">
              <a:off x="0" y="0"/>
              <a:ext cx="1133983" cy="1133983"/>
            </a:xfrm>
            <a:custGeom>
              <a:avLst/>
              <a:gdLst/>
              <a:ahLst/>
              <a:cxnLst/>
              <a:rect r="r" b="b" t="t" l="l"/>
              <a:pathLst>
                <a:path h="1133983" w="1133983">
                  <a:moveTo>
                    <a:pt x="0" y="567055"/>
                  </a:moveTo>
                  <a:cubicBezTo>
                    <a:pt x="0" y="253873"/>
                    <a:pt x="253873" y="0"/>
                    <a:pt x="567055" y="0"/>
                  </a:cubicBezTo>
                  <a:cubicBezTo>
                    <a:pt x="880237" y="0"/>
                    <a:pt x="1133983" y="253873"/>
                    <a:pt x="1133983" y="567055"/>
                  </a:cubicBezTo>
                  <a:cubicBezTo>
                    <a:pt x="1133983" y="880237"/>
                    <a:pt x="880110" y="1133983"/>
                    <a:pt x="567055" y="1133983"/>
                  </a:cubicBezTo>
                  <a:cubicBezTo>
                    <a:pt x="254000" y="1133983"/>
                    <a:pt x="0" y="880110"/>
                    <a:pt x="0" y="567055"/>
                  </a:cubicBezTo>
                  <a:close/>
                </a:path>
              </a:pathLst>
            </a:custGeom>
            <a:solidFill>
              <a:srgbClr val="39A900"/>
            </a:solidFill>
          </p:spPr>
        </p:sp>
      </p:grpSp>
      <p:grpSp>
        <p:nvGrpSpPr>
          <p:cNvPr name="Group 76" id="76"/>
          <p:cNvGrpSpPr/>
          <p:nvPr/>
        </p:nvGrpSpPr>
        <p:grpSpPr>
          <a:xfrm rot="0">
            <a:off x="14595472" y="7079104"/>
            <a:ext cx="408184" cy="408184"/>
            <a:chOff x="0" y="0"/>
            <a:chExt cx="544246" cy="544246"/>
          </a:xfrm>
        </p:grpSpPr>
        <p:sp>
          <p:nvSpPr>
            <p:cNvPr name="Freeform 77" id="77" descr="icons/shield.png"/>
            <p:cNvSpPr/>
            <p:nvPr/>
          </p:nvSpPr>
          <p:spPr>
            <a:xfrm flipH="false" flipV="false" rot="0">
              <a:off x="0" y="0"/>
              <a:ext cx="544195" cy="544195"/>
            </a:xfrm>
            <a:custGeom>
              <a:avLst/>
              <a:gdLst/>
              <a:ahLst/>
              <a:cxnLst/>
              <a:rect r="r" b="b" t="t" l="l"/>
              <a:pathLst>
                <a:path h="544195" w="544195">
                  <a:moveTo>
                    <a:pt x="0" y="0"/>
                  </a:moveTo>
                  <a:lnTo>
                    <a:pt x="544195" y="0"/>
                  </a:lnTo>
                  <a:lnTo>
                    <a:pt x="544195" y="544195"/>
                  </a:lnTo>
                  <a:lnTo>
                    <a:pt x="0" y="544195"/>
                  </a:lnTo>
                  <a:lnTo>
                    <a:pt x="0" y="0"/>
                  </a:lnTo>
                  <a:close/>
                </a:path>
              </a:pathLst>
            </a:custGeom>
            <a:blipFill>
              <a:blip r:embed="rId10"/>
              <a:stretch>
                <a:fillRect l="0" t="0" r="-9" b="-9"/>
              </a:stretch>
            </a:blipFill>
          </p:spPr>
        </p:sp>
      </p:grpSp>
      <p:grpSp>
        <p:nvGrpSpPr>
          <p:cNvPr name="Group 78" id="78"/>
          <p:cNvGrpSpPr/>
          <p:nvPr/>
        </p:nvGrpSpPr>
        <p:grpSpPr>
          <a:xfrm rot="0">
            <a:off x="12385548" y="7900416"/>
            <a:ext cx="4828051" cy="480146"/>
            <a:chOff x="0" y="0"/>
            <a:chExt cx="6437401" cy="640194"/>
          </a:xfrm>
        </p:grpSpPr>
        <p:sp>
          <p:nvSpPr>
            <p:cNvPr name="Freeform 79" id="79"/>
            <p:cNvSpPr/>
            <p:nvPr/>
          </p:nvSpPr>
          <p:spPr>
            <a:xfrm flipH="false" flipV="false" rot="0">
              <a:off x="0" y="0"/>
              <a:ext cx="6437400" cy="640200"/>
            </a:xfrm>
            <a:custGeom>
              <a:avLst/>
              <a:gdLst/>
              <a:ahLst/>
              <a:cxnLst/>
              <a:rect r="r" b="b" t="t" l="l"/>
              <a:pathLst>
                <a:path h="640200" w="6437400">
                  <a:moveTo>
                    <a:pt x="0" y="0"/>
                  </a:moveTo>
                  <a:lnTo>
                    <a:pt x="6437400" y="0"/>
                  </a:lnTo>
                  <a:lnTo>
                    <a:pt x="6437400" y="640200"/>
                  </a:lnTo>
                  <a:lnTo>
                    <a:pt x="0" y="640200"/>
                  </a:lnTo>
                  <a:close/>
                </a:path>
              </a:pathLst>
            </a:custGeom>
            <a:blipFill>
              <a:blip r:embed="rId4">
                <a:alphaModFix amt="0"/>
              </a:blip>
              <a:stretch>
                <a:fillRect l="0" t="-145928" r="0" b="-145927"/>
              </a:stretch>
            </a:blipFill>
          </p:spPr>
        </p:sp>
        <p:sp>
          <p:nvSpPr>
            <p:cNvPr name="TextBox 80" id="80"/>
            <p:cNvSpPr txBox="true"/>
            <p:nvPr/>
          </p:nvSpPr>
          <p:spPr>
            <a:xfrm>
              <a:off x="0" y="-47625"/>
              <a:ext cx="6437401" cy="687819"/>
            </a:xfrm>
            <a:prstGeom prst="rect">
              <a:avLst/>
            </a:prstGeom>
          </p:spPr>
          <p:txBody>
            <a:bodyPr anchor="ctr" rtlCol="false" tIns="0" lIns="0" bIns="0" rIns="0"/>
            <a:lstStyle/>
            <a:p>
              <a:pPr algn="ctr">
                <a:lnSpc>
                  <a:spcPts val="2340"/>
                </a:lnSpc>
              </a:pPr>
              <a:r>
                <a:rPr lang="en-US" b="true" sz="1950">
                  <a:solidFill>
                    <a:srgbClr val="00304D"/>
                  </a:solidFill>
                  <a:latin typeface="Calibri (MS) Bold"/>
                  <a:ea typeface="Calibri (MS) Bold"/>
                  <a:cs typeface="Calibri (MS) Bold"/>
                  <a:sym typeface="Calibri (MS) Bold"/>
                </a:rPr>
                <a:t>Confianza del cliente</a:t>
              </a:r>
            </a:p>
          </p:txBody>
        </p:sp>
      </p:grpSp>
      <p:grpSp>
        <p:nvGrpSpPr>
          <p:cNvPr name="Group 81" id="81"/>
          <p:cNvGrpSpPr/>
          <p:nvPr/>
        </p:nvGrpSpPr>
        <p:grpSpPr>
          <a:xfrm rot="0">
            <a:off x="12385548" y="8366760"/>
            <a:ext cx="4828051" cy="685800"/>
            <a:chOff x="0" y="0"/>
            <a:chExt cx="6437401" cy="914400"/>
          </a:xfrm>
        </p:grpSpPr>
        <p:sp>
          <p:nvSpPr>
            <p:cNvPr name="Freeform 82" id="82"/>
            <p:cNvSpPr/>
            <p:nvPr/>
          </p:nvSpPr>
          <p:spPr>
            <a:xfrm flipH="false" flipV="false" rot="0">
              <a:off x="0" y="0"/>
              <a:ext cx="6437400" cy="914400"/>
            </a:xfrm>
            <a:custGeom>
              <a:avLst/>
              <a:gdLst/>
              <a:ahLst/>
              <a:cxnLst/>
              <a:rect r="r" b="b" t="t" l="l"/>
              <a:pathLst>
                <a:path h="914400" w="6437400">
                  <a:moveTo>
                    <a:pt x="0" y="0"/>
                  </a:moveTo>
                  <a:lnTo>
                    <a:pt x="6437400" y="0"/>
                  </a:lnTo>
                  <a:lnTo>
                    <a:pt x="6437400" y="914400"/>
                  </a:lnTo>
                  <a:lnTo>
                    <a:pt x="0" y="914400"/>
                  </a:lnTo>
                  <a:close/>
                </a:path>
              </a:pathLst>
            </a:custGeom>
            <a:blipFill>
              <a:blip r:embed="rId4">
                <a:alphaModFix amt="0"/>
              </a:blip>
              <a:stretch>
                <a:fillRect l="0" t="-87175" r="0" b="-87175"/>
              </a:stretch>
            </a:blipFill>
          </p:spPr>
        </p:sp>
        <p:sp>
          <p:nvSpPr>
            <p:cNvPr name="TextBox 83" id="83"/>
            <p:cNvSpPr txBox="true"/>
            <p:nvPr/>
          </p:nvSpPr>
          <p:spPr>
            <a:xfrm>
              <a:off x="0" y="-19050"/>
              <a:ext cx="6437401" cy="933450"/>
            </a:xfrm>
            <a:prstGeom prst="rect">
              <a:avLst/>
            </a:prstGeom>
          </p:spPr>
          <p:txBody>
            <a:bodyPr anchor="ctr" rtlCol="false" tIns="0" lIns="0" bIns="0" rIns="0"/>
            <a:lstStyle/>
            <a:p>
              <a:pPr algn="ctr">
                <a:lnSpc>
                  <a:spcPts val="1889"/>
                </a:lnSpc>
              </a:pPr>
              <a:r>
                <a:rPr lang="en-US" sz="1575">
                  <a:solidFill>
                    <a:srgbClr val="5B6670"/>
                  </a:solidFill>
                  <a:latin typeface="Calibri (MS)"/>
                  <a:ea typeface="Calibri (MS)"/>
                  <a:cs typeface="Calibri (MS)"/>
                  <a:sym typeface="Calibri (MS)"/>
                </a:rPr>
                <a:t>Información clara y transparente</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22960" y="576072"/>
            <a:ext cx="13716000" cy="480146"/>
            <a:chOff x="0" y="0"/>
            <a:chExt cx="18288000" cy="640194"/>
          </a:xfrm>
        </p:grpSpPr>
        <p:sp>
          <p:nvSpPr>
            <p:cNvPr name="Freeform 3" id="3"/>
            <p:cNvSpPr/>
            <p:nvPr/>
          </p:nvSpPr>
          <p:spPr>
            <a:xfrm flipH="false" flipV="false" rot="0">
              <a:off x="0" y="0"/>
              <a:ext cx="18288000" cy="640200"/>
            </a:xfrm>
            <a:custGeom>
              <a:avLst/>
              <a:gdLst/>
              <a:ahLst/>
              <a:cxnLst/>
              <a:rect r="r" b="b" t="t" l="l"/>
              <a:pathLst>
                <a:path h="640200" w="18288000">
                  <a:moveTo>
                    <a:pt x="0" y="0"/>
                  </a:moveTo>
                  <a:lnTo>
                    <a:pt x="18288000" y="0"/>
                  </a:lnTo>
                  <a:lnTo>
                    <a:pt x="18288000" y="640200"/>
                  </a:lnTo>
                  <a:lnTo>
                    <a:pt x="0" y="640200"/>
                  </a:lnTo>
                  <a:close/>
                </a:path>
              </a:pathLst>
            </a:custGeom>
            <a:blipFill>
              <a:blip r:embed="rId3">
                <a:alphaModFix amt="0"/>
              </a:blip>
              <a:stretch>
                <a:fillRect l="0" t="-506611" r="0" b="-506610"/>
              </a:stretch>
            </a:blipFill>
          </p:spPr>
        </p:sp>
        <p:sp>
          <p:nvSpPr>
            <p:cNvPr name="TextBox 4" id="4"/>
            <p:cNvSpPr txBox="true"/>
            <p:nvPr/>
          </p:nvSpPr>
          <p:spPr>
            <a:xfrm>
              <a:off x="0" y="-47625"/>
              <a:ext cx="18288000" cy="687819"/>
            </a:xfrm>
            <a:prstGeom prst="rect">
              <a:avLst/>
            </a:prstGeom>
          </p:spPr>
          <p:txBody>
            <a:bodyPr anchor="ctr" rtlCol="false" tIns="0" lIns="0" bIns="0" rIns="0"/>
            <a:lstStyle/>
            <a:p>
              <a:pPr algn="l">
                <a:lnSpc>
                  <a:spcPts val="2340"/>
                </a:lnSpc>
              </a:pPr>
              <a:r>
                <a:rPr lang="en-US" b="true" sz="1950">
                  <a:solidFill>
                    <a:srgbClr val="39A900"/>
                  </a:solidFill>
                  <a:latin typeface="Calibri (MS) Bold"/>
                  <a:ea typeface="Calibri (MS) Bold"/>
                  <a:cs typeface="Calibri (MS) Bold"/>
                  <a:sym typeface="Calibri (MS) Bold"/>
                </a:rPr>
                <a:t>METAS DEL PROYECTO</a:t>
              </a:r>
            </a:p>
          </p:txBody>
        </p:sp>
      </p:grpSp>
      <p:grpSp>
        <p:nvGrpSpPr>
          <p:cNvPr name="Group 5" id="5"/>
          <p:cNvGrpSpPr/>
          <p:nvPr/>
        </p:nvGrpSpPr>
        <p:grpSpPr>
          <a:xfrm rot="0">
            <a:off x="822960" y="987552"/>
            <a:ext cx="16184699" cy="1165946"/>
            <a:chOff x="0" y="0"/>
            <a:chExt cx="21579599" cy="1554594"/>
          </a:xfrm>
        </p:grpSpPr>
        <p:sp>
          <p:nvSpPr>
            <p:cNvPr name="Freeform 6" id="6"/>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3">
                <a:alphaModFix amt="0"/>
              </a:blip>
              <a:stretch>
                <a:fillRect l="0" t="-220474" r="0" b="-220474"/>
              </a:stretch>
            </a:blipFill>
          </p:spPr>
        </p:sp>
        <p:sp>
          <p:nvSpPr>
            <p:cNvPr name="TextBox 7" id="7"/>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Objetivos</a:t>
              </a:r>
            </a:p>
          </p:txBody>
        </p:sp>
      </p:grpSp>
      <p:grpSp>
        <p:nvGrpSpPr>
          <p:cNvPr name="Group 8" id="8"/>
          <p:cNvGrpSpPr/>
          <p:nvPr/>
        </p:nvGrpSpPr>
        <p:grpSpPr>
          <a:xfrm rot="0">
            <a:off x="822960" y="2468880"/>
            <a:ext cx="15910646" cy="1577254"/>
            <a:chOff x="0" y="0"/>
            <a:chExt cx="21214194" cy="2103006"/>
          </a:xfrm>
        </p:grpSpPr>
        <p:sp>
          <p:nvSpPr>
            <p:cNvPr name="Freeform 9" id="9"/>
            <p:cNvSpPr/>
            <p:nvPr/>
          </p:nvSpPr>
          <p:spPr>
            <a:xfrm flipH="false" flipV="false" rot="0">
              <a:off x="0" y="0"/>
              <a:ext cx="21214207" cy="2102993"/>
            </a:xfrm>
            <a:custGeom>
              <a:avLst/>
              <a:gdLst/>
              <a:ahLst/>
              <a:cxnLst/>
              <a:rect r="r" b="b" t="t" l="l"/>
              <a:pathLst>
                <a:path h="2102993" w="21214207">
                  <a:moveTo>
                    <a:pt x="0" y="146304"/>
                  </a:moveTo>
                  <a:cubicBezTo>
                    <a:pt x="0" y="65532"/>
                    <a:pt x="65532" y="0"/>
                    <a:pt x="146304" y="0"/>
                  </a:cubicBezTo>
                  <a:lnTo>
                    <a:pt x="21067903" y="0"/>
                  </a:lnTo>
                  <a:cubicBezTo>
                    <a:pt x="21148675" y="0"/>
                    <a:pt x="21214207" y="65532"/>
                    <a:pt x="21214207" y="146304"/>
                  </a:cubicBezTo>
                  <a:lnTo>
                    <a:pt x="21214207" y="1956689"/>
                  </a:lnTo>
                  <a:cubicBezTo>
                    <a:pt x="21214207" y="2037461"/>
                    <a:pt x="21148675" y="2102993"/>
                    <a:pt x="21067903" y="2102993"/>
                  </a:cubicBezTo>
                  <a:lnTo>
                    <a:pt x="146304" y="2102993"/>
                  </a:lnTo>
                  <a:cubicBezTo>
                    <a:pt x="65532" y="2102993"/>
                    <a:pt x="0" y="2037461"/>
                    <a:pt x="0" y="1956689"/>
                  </a:cubicBezTo>
                  <a:close/>
                </a:path>
              </a:pathLst>
            </a:custGeom>
            <a:solidFill>
              <a:srgbClr val="00304D"/>
            </a:solidFill>
          </p:spPr>
        </p:sp>
      </p:grpSp>
      <p:grpSp>
        <p:nvGrpSpPr>
          <p:cNvPr name="Group 10" id="10"/>
          <p:cNvGrpSpPr/>
          <p:nvPr/>
        </p:nvGrpSpPr>
        <p:grpSpPr>
          <a:xfrm rot="0">
            <a:off x="1303020" y="2811780"/>
            <a:ext cx="891454" cy="891454"/>
            <a:chOff x="0" y="0"/>
            <a:chExt cx="1188606" cy="1188606"/>
          </a:xfrm>
        </p:grpSpPr>
        <p:sp>
          <p:nvSpPr>
            <p:cNvPr name="Freeform 11" id="11"/>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sp>
      </p:grpSp>
      <p:grpSp>
        <p:nvGrpSpPr>
          <p:cNvPr name="Group 12" id="12"/>
          <p:cNvGrpSpPr/>
          <p:nvPr/>
        </p:nvGrpSpPr>
        <p:grpSpPr>
          <a:xfrm rot="0">
            <a:off x="1534820" y="3043580"/>
            <a:ext cx="427939" cy="427939"/>
            <a:chOff x="0" y="0"/>
            <a:chExt cx="570586" cy="570586"/>
          </a:xfrm>
        </p:grpSpPr>
        <p:sp>
          <p:nvSpPr>
            <p:cNvPr name="Freeform 13" id="13" descr="icons/bullseye.png"/>
            <p:cNvSpPr/>
            <p:nvPr/>
          </p:nvSpPr>
          <p:spPr>
            <a:xfrm flipH="false" flipV="false" rot="0">
              <a:off x="0" y="0"/>
              <a:ext cx="570611" cy="570611"/>
            </a:xfrm>
            <a:custGeom>
              <a:avLst/>
              <a:gdLst/>
              <a:ahLst/>
              <a:cxnLst/>
              <a:rect r="r" b="b" t="t" l="l"/>
              <a:pathLst>
                <a:path h="570611" w="570611">
                  <a:moveTo>
                    <a:pt x="0" y="0"/>
                  </a:moveTo>
                  <a:lnTo>
                    <a:pt x="570611" y="0"/>
                  </a:lnTo>
                  <a:lnTo>
                    <a:pt x="570611" y="570611"/>
                  </a:lnTo>
                  <a:lnTo>
                    <a:pt x="0" y="570611"/>
                  </a:lnTo>
                  <a:lnTo>
                    <a:pt x="0" y="0"/>
                  </a:lnTo>
                  <a:close/>
                </a:path>
              </a:pathLst>
            </a:custGeom>
            <a:blipFill>
              <a:blip r:embed="rId4"/>
              <a:stretch>
                <a:fillRect l="0" t="0" r="4" b="4"/>
              </a:stretch>
            </a:blipFill>
          </p:spPr>
        </p:sp>
      </p:grpSp>
      <p:grpSp>
        <p:nvGrpSpPr>
          <p:cNvPr name="Group 14" id="14"/>
          <p:cNvGrpSpPr/>
          <p:nvPr/>
        </p:nvGrpSpPr>
        <p:grpSpPr>
          <a:xfrm rot="0">
            <a:off x="2457907" y="2517019"/>
            <a:ext cx="4114800" cy="411299"/>
            <a:chOff x="0" y="0"/>
            <a:chExt cx="5486400" cy="548399"/>
          </a:xfrm>
        </p:grpSpPr>
        <p:sp>
          <p:nvSpPr>
            <p:cNvPr name="Freeform 15" id="15"/>
            <p:cNvSpPr/>
            <p:nvPr/>
          </p:nvSpPr>
          <p:spPr>
            <a:xfrm flipH="false" flipV="false" rot="0">
              <a:off x="0" y="0"/>
              <a:ext cx="5486400" cy="548400"/>
            </a:xfrm>
            <a:custGeom>
              <a:avLst/>
              <a:gdLst/>
              <a:ahLst/>
              <a:cxnLst/>
              <a:rect r="r" b="b" t="t" l="l"/>
              <a:pathLst>
                <a:path h="548400" w="5486400">
                  <a:moveTo>
                    <a:pt x="0" y="0"/>
                  </a:moveTo>
                  <a:lnTo>
                    <a:pt x="5486400" y="0"/>
                  </a:lnTo>
                  <a:lnTo>
                    <a:pt x="5486400" y="548400"/>
                  </a:lnTo>
                  <a:lnTo>
                    <a:pt x="0" y="548400"/>
                  </a:lnTo>
                  <a:close/>
                </a:path>
              </a:pathLst>
            </a:custGeom>
            <a:blipFill>
              <a:blip r:embed="rId3">
                <a:alphaModFix amt="0"/>
              </a:blip>
              <a:stretch>
                <a:fillRect l="0" t="-144935" r="0" b="-144935"/>
              </a:stretch>
            </a:blipFill>
          </p:spPr>
        </p:sp>
        <p:sp>
          <p:nvSpPr>
            <p:cNvPr name="TextBox 16" id="16"/>
            <p:cNvSpPr txBox="true"/>
            <p:nvPr/>
          </p:nvSpPr>
          <p:spPr>
            <a:xfrm>
              <a:off x="0" y="-38100"/>
              <a:ext cx="5486400" cy="586499"/>
            </a:xfrm>
            <a:prstGeom prst="rect">
              <a:avLst/>
            </a:prstGeom>
          </p:spPr>
          <p:txBody>
            <a:bodyPr anchor="ctr" rtlCol="false" tIns="0" lIns="0" bIns="0" rIns="0"/>
            <a:lstStyle/>
            <a:p>
              <a:pPr algn="l">
                <a:lnSpc>
                  <a:spcPts val="2879"/>
                </a:lnSpc>
              </a:pPr>
              <a:r>
                <a:rPr lang="en-US" b="true" sz="2400">
                  <a:solidFill>
                    <a:srgbClr val="FDC300"/>
                  </a:solidFill>
                  <a:latin typeface="Calibri (MS) Bold"/>
                  <a:ea typeface="Calibri (MS) Bold"/>
                  <a:cs typeface="Calibri (MS) Bold"/>
                  <a:sym typeface="Calibri (MS) Bold"/>
                </a:rPr>
                <a:t>Objetivo general</a:t>
              </a:r>
            </a:p>
          </p:txBody>
        </p:sp>
      </p:grpSp>
      <p:grpSp>
        <p:nvGrpSpPr>
          <p:cNvPr name="Group 17" id="17"/>
          <p:cNvGrpSpPr/>
          <p:nvPr/>
        </p:nvGrpSpPr>
        <p:grpSpPr>
          <a:xfrm rot="0">
            <a:off x="2468880" y="2956465"/>
            <a:ext cx="13853246" cy="1360829"/>
            <a:chOff x="0" y="0"/>
            <a:chExt cx="18470994" cy="1814438"/>
          </a:xfrm>
        </p:grpSpPr>
        <p:sp>
          <p:nvSpPr>
            <p:cNvPr name="Freeform 18" id="18"/>
            <p:cNvSpPr/>
            <p:nvPr/>
          </p:nvSpPr>
          <p:spPr>
            <a:xfrm flipH="false" flipV="false" rot="0">
              <a:off x="0" y="0"/>
              <a:ext cx="18471000" cy="1814438"/>
            </a:xfrm>
            <a:custGeom>
              <a:avLst/>
              <a:gdLst/>
              <a:ahLst/>
              <a:cxnLst/>
              <a:rect r="r" b="b" t="t" l="l"/>
              <a:pathLst>
                <a:path h="1814438" w="18471000">
                  <a:moveTo>
                    <a:pt x="0" y="0"/>
                  </a:moveTo>
                  <a:lnTo>
                    <a:pt x="18471000" y="0"/>
                  </a:lnTo>
                  <a:lnTo>
                    <a:pt x="18471000" y="1814438"/>
                  </a:lnTo>
                  <a:lnTo>
                    <a:pt x="0" y="1814438"/>
                  </a:lnTo>
                  <a:close/>
                </a:path>
              </a:pathLst>
            </a:custGeom>
            <a:blipFill>
              <a:blip r:embed="rId3">
                <a:alphaModFix amt="0"/>
              </a:blip>
              <a:stretch>
                <a:fillRect l="0" t="-164082" r="0" b="-132632"/>
              </a:stretch>
            </a:blipFill>
          </p:spPr>
        </p:sp>
        <p:sp>
          <p:nvSpPr>
            <p:cNvPr name="TextBox 19" id="19"/>
            <p:cNvSpPr txBox="true"/>
            <p:nvPr/>
          </p:nvSpPr>
          <p:spPr>
            <a:xfrm>
              <a:off x="0" y="-47625"/>
              <a:ext cx="18470994" cy="1862063"/>
            </a:xfrm>
            <a:prstGeom prst="rect">
              <a:avLst/>
            </a:prstGeom>
          </p:spPr>
          <p:txBody>
            <a:bodyPr anchor="ctr" rtlCol="false" tIns="0" lIns="0" bIns="0" rIns="0"/>
            <a:lstStyle/>
            <a:p>
              <a:pPr algn="l">
                <a:lnSpc>
                  <a:spcPts val="2520"/>
                </a:lnSpc>
              </a:pPr>
              <a:r>
                <a:rPr lang="en-US" sz="2100">
                  <a:solidFill>
                    <a:srgbClr val="FFFFFF"/>
                  </a:solidFill>
                  <a:latin typeface="Calibri (MS)"/>
                  <a:ea typeface="Calibri (MS)"/>
                  <a:cs typeface="Calibri (MS)"/>
                  <a:sym typeface="Calibri (MS)"/>
                </a:rPr>
                <a:t>Diseñar e implementar un aplicativo web con base de datos integrada para DISOL MOTORS que permita automatizar la gestión de inventario, el control de reparaciones, la venta de repuestos y la atención al cliente, optimizando los procesos internos y mejorando la eficiencia en la prestación de servicios.</a:t>
              </a:r>
            </a:p>
            <a:p>
              <a:pPr algn="l">
                <a:lnSpc>
                  <a:spcPts val="2520"/>
                </a:lnSpc>
              </a:pPr>
            </a:p>
          </p:txBody>
        </p:sp>
      </p:grpSp>
      <p:grpSp>
        <p:nvGrpSpPr>
          <p:cNvPr name="Group 20" id="20"/>
          <p:cNvGrpSpPr/>
          <p:nvPr/>
        </p:nvGrpSpPr>
        <p:grpSpPr>
          <a:xfrm rot="0">
            <a:off x="822960" y="4389120"/>
            <a:ext cx="6858000" cy="480146"/>
            <a:chOff x="0" y="0"/>
            <a:chExt cx="9144000" cy="640194"/>
          </a:xfrm>
        </p:grpSpPr>
        <p:sp>
          <p:nvSpPr>
            <p:cNvPr name="Freeform 21" id="21"/>
            <p:cNvSpPr/>
            <p:nvPr/>
          </p:nvSpPr>
          <p:spPr>
            <a:xfrm flipH="false" flipV="false" rot="0">
              <a:off x="0" y="0"/>
              <a:ext cx="9144000" cy="640200"/>
            </a:xfrm>
            <a:custGeom>
              <a:avLst/>
              <a:gdLst/>
              <a:ahLst/>
              <a:cxnLst/>
              <a:rect r="r" b="b" t="t" l="l"/>
              <a:pathLst>
                <a:path h="640200" w="9144000">
                  <a:moveTo>
                    <a:pt x="0" y="0"/>
                  </a:moveTo>
                  <a:lnTo>
                    <a:pt x="9144000" y="0"/>
                  </a:lnTo>
                  <a:lnTo>
                    <a:pt x="9144000" y="640200"/>
                  </a:lnTo>
                  <a:lnTo>
                    <a:pt x="0" y="640200"/>
                  </a:lnTo>
                  <a:close/>
                </a:path>
              </a:pathLst>
            </a:custGeom>
            <a:blipFill>
              <a:blip r:embed="rId3">
                <a:alphaModFix amt="0"/>
              </a:blip>
              <a:stretch>
                <a:fillRect l="0" t="-228305" r="0" b="-228305"/>
              </a:stretch>
            </a:blipFill>
          </p:spPr>
        </p:sp>
        <p:sp>
          <p:nvSpPr>
            <p:cNvPr name="TextBox 22" id="22"/>
            <p:cNvSpPr txBox="true"/>
            <p:nvPr/>
          </p:nvSpPr>
          <p:spPr>
            <a:xfrm>
              <a:off x="0" y="-57150"/>
              <a:ext cx="9144000" cy="697344"/>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Objetivos específicos</a:t>
              </a:r>
            </a:p>
          </p:txBody>
        </p:sp>
      </p:grpSp>
      <p:grpSp>
        <p:nvGrpSpPr>
          <p:cNvPr name="Group 23" id="23"/>
          <p:cNvGrpSpPr/>
          <p:nvPr/>
        </p:nvGrpSpPr>
        <p:grpSpPr>
          <a:xfrm rot="0">
            <a:off x="822960" y="5006340"/>
            <a:ext cx="2940748" cy="3223346"/>
            <a:chOff x="0" y="0"/>
            <a:chExt cx="3920998" cy="4297794"/>
          </a:xfrm>
        </p:grpSpPr>
        <p:sp>
          <p:nvSpPr>
            <p:cNvPr name="Freeform 24" id="24"/>
            <p:cNvSpPr/>
            <p:nvPr/>
          </p:nvSpPr>
          <p:spPr>
            <a:xfrm flipH="false" flipV="false" rot="0">
              <a:off x="0" y="0"/>
              <a:ext cx="3920998" cy="4297807"/>
            </a:xfrm>
            <a:custGeom>
              <a:avLst/>
              <a:gdLst/>
              <a:ahLst/>
              <a:cxnLst/>
              <a:rect r="r" b="b" t="t" l="l"/>
              <a:pathLst>
                <a:path h="4297807" w="3920998">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sp>
      </p:grpSp>
      <p:grpSp>
        <p:nvGrpSpPr>
          <p:cNvPr name="Group 25" id="25"/>
          <p:cNvGrpSpPr/>
          <p:nvPr/>
        </p:nvGrpSpPr>
        <p:grpSpPr>
          <a:xfrm rot="0">
            <a:off x="1950415" y="5280660"/>
            <a:ext cx="685800" cy="685800"/>
            <a:chOff x="0" y="0"/>
            <a:chExt cx="914400" cy="914400"/>
          </a:xfrm>
        </p:grpSpPr>
        <p:sp>
          <p:nvSpPr>
            <p:cNvPr name="Freeform 26" id="2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27" id="27"/>
          <p:cNvGrpSpPr/>
          <p:nvPr/>
        </p:nvGrpSpPr>
        <p:grpSpPr>
          <a:xfrm rot="0">
            <a:off x="2128723" y="5458968"/>
            <a:ext cx="329184" cy="329184"/>
            <a:chOff x="0" y="0"/>
            <a:chExt cx="438912" cy="438912"/>
          </a:xfrm>
        </p:grpSpPr>
        <p:sp>
          <p:nvSpPr>
            <p:cNvPr name="Freeform 28" id="28" descr="icons/clipboard.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5"/>
              <a:stretch>
                <a:fillRect l="0" t="0" r="0" b="0"/>
              </a:stretch>
            </a:blipFill>
          </p:spPr>
        </p:sp>
      </p:grpSp>
      <p:grpSp>
        <p:nvGrpSpPr>
          <p:cNvPr name="Group 29" id="29"/>
          <p:cNvGrpSpPr/>
          <p:nvPr/>
        </p:nvGrpSpPr>
        <p:grpSpPr>
          <a:xfrm rot="0">
            <a:off x="960120" y="6172200"/>
            <a:ext cx="2666248" cy="754199"/>
            <a:chOff x="0" y="0"/>
            <a:chExt cx="3554997" cy="1005599"/>
          </a:xfrm>
        </p:grpSpPr>
        <p:sp>
          <p:nvSpPr>
            <p:cNvPr name="Freeform 30" id="30"/>
            <p:cNvSpPr/>
            <p:nvPr/>
          </p:nvSpPr>
          <p:spPr>
            <a:xfrm flipH="false" flipV="false" rot="0">
              <a:off x="0" y="0"/>
              <a:ext cx="3555000" cy="1005600"/>
            </a:xfrm>
            <a:custGeom>
              <a:avLst/>
              <a:gdLst/>
              <a:ahLst/>
              <a:cxnLst/>
              <a:rect r="r" b="b" t="t" l="l"/>
              <a:pathLst>
                <a:path h="1005600" w="3555000">
                  <a:moveTo>
                    <a:pt x="0" y="0"/>
                  </a:moveTo>
                  <a:lnTo>
                    <a:pt x="3555000" y="0"/>
                  </a:lnTo>
                  <a:lnTo>
                    <a:pt x="3555000" y="1005600"/>
                  </a:lnTo>
                  <a:lnTo>
                    <a:pt x="0" y="1005600"/>
                  </a:lnTo>
                  <a:close/>
                </a:path>
              </a:pathLst>
            </a:custGeom>
            <a:blipFill>
              <a:blip r:embed="rId3">
                <a:alphaModFix amt="0"/>
              </a:blip>
              <a:stretch>
                <a:fillRect l="0" t="-18883" r="0" b="-18883"/>
              </a:stretch>
            </a:blipFill>
          </p:spPr>
        </p:sp>
        <p:sp>
          <p:nvSpPr>
            <p:cNvPr name="TextBox 31" id="31"/>
            <p:cNvSpPr txBox="true"/>
            <p:nvPr/>
          </p:nvSpPr>
          <p:spPr>
            <a:xfrm>
              <a:off x="0" y="-38100"/>
              <a:ext cx="3554997" cy="10436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Promover sostenibilidad</a:t>
              </a:r>
            </a:p>
          </p:txBody>
        </p:sp>
      </p:grpSp>
      <p:grpSp>
        <p:nvGrpSpPr>
          <p:cNvPr name="Group 32" id="32"/>
          <p:cNvGrpSpPr/>
          <p:nvPr/>
        </p:nvGrpSpPr>
        <p:grpSpPr>
          <a:xfrm rot="0">
            <a:off x="987552" y="6926580"/>
            <a:ext cx="2611345" cy="1165950"/>
            <a:chOff x="0" y="0"/>
            <a:chExt cx="3481794" cy="1554600"/>
          </a:xfrm>
        </p:grpSpPr>
        <p:sp>
          <p:nvSpPr>
            <p:cNvPr name="Freeform 33" id="33"/>
            <p:cNvSpPr/>
            <p:nvPr/>
          </p:nvSpPr>
          <p:spPr>
            <a:xfrm flipH="false" flipV="false" rot="0">
              <a:off x="0" y="0"/>
              <a:ext cx="3481800" cy="1554606"/>
            </a:xfrm>
            <a:custGeom>
              <a:avLst/>
              <a:gdLst/>
              <a:ahLst/>
              <a:cxnLst/>
              <a:rect r="r" b="b" t="t" l="l"/>
              <a:pathLst>
                <a:path h="1554606" w="3481800">
                  <a:moveTo>
                    <a:pt x="0" y="0"/>
                  </a:moveTo>
                  <a:lnTo>
                    <a:pt x="3481800" y="0"/>
                  </a:lnTo>
                  <a:lnTo>
                    <a:pt x="3481800" y="1554606"/>
                  </a:lnTo>
                  <a:lnTo>
                    <a:pt x="0" y="1554606"/>
                  </a:lnTo>
                  <a:close/>
                </a:path>
              </a:pathLst>
            </a:custGeom>
            <a:blipFill>
              <a:blip r:embed="rId3">
                <a:alphaModFix amt="0"/>
              </a:blip>
              <a:stretch>
                <a:fillRect l="-7286" t="0" r="-7286" b="0"/>
              </a:stretch>
            </a:blipFill>
          </p:spPr>
        </p:sp>
        <p:sp>
          <p:nvSpPr>
            <p:cNvPr name="TextBox 34" id="34"/>
            <p:cNvSpPr txBox="true"/>
            <p:nvPr/>
          </p:nvSpPr>
          <p:spPr>
            <a:xfrm>
              <a:off x="0" y="-19050"/>
              <a:ext cx="3481794" cy="1573650"/>
            </a:xfrm>
            <a:prstGeom prst="rect">
              <a:avLst/>
            </a:prstGeom>
          </p:spPr>
          <p:txBody>
            <a:bodyPr anchor="ctr" rtlCol="false" tIns="0" lIns="0" bIns="0" rIns="0"/>
            <a:lstStyle/>
            <a:p>
              <a:pPr algn="ctr">
                <a:lnSpc>
                  <a:spcPts val="1889"/>
                </a:lnSpc>
              </a:pPr>
              <a:r>
                <a:rPr lang="en-US" sz="1575">
                  <a:solidFill>
                    <a:srgbClr val="000000"/>
                  </a:solidFill>
                  <a:latin typeface="Calibri (MS)"/>
                  <a:ea typeface="Calibri (MS)"/>
                  <a:cs typeface="Calibri (MS)"/>
                  <a:sym typeface="Calibri (MS)"/>
                </a:rPr>
                <a:t>Reutilización datos de productos y informacion de usuarios</a:t>
              </a:r>
            </a:p>
          </p:txBody>
        </p:sp>
      </p:grpSp>
      <p:grpSp>
        <p:nvGrpSpPr>
          <p:cNvPr name="Group 35" id="35"/>
          <p:cNvGrpSpPr/>
          <p:nvPr/>
        </p:nvGrpSpPr>
        <p:grpSpPr>
          <a:xfrm rot="0">
            <a:off x="4065422" y="5006340"/>
            <a:ext cx="2940748" cy="3223346"/>
            <a:chOff x="0" y="0"/>
            <a:chExt cx="3920998" cy="4297794"/>
          </a:xfrm>
        </p:grpSpPr>
        <p:sp>
          <p:nvSpPr>
            <p:cNvPr name="Freeform 36" id="36"/>
            <p:cNvSpPr/>
            <p:nvPr/>
          </p:nvSpPr>
          <p:spPr>
            <a:xfrm flipH="false" flipV="false" rot="0">
              <a:off x="0" y="0"/>
              <a:ext cx="3920998" cy="4297807"/>
            </a:xfrm>
            <a:custGeom>
              <a:avLst/>
              <a:gdLst/>
              <a:ahLst/>
              <a:cxnLst/>
              <a:rect r="r" b="b" t="t" l="l"/>
              <a:pathLst>
                <a:path h="4297807" w="3920998">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sp>
      </p:grpSp>
      <p:grpSp>
        <p:nvGrpSpPr>
          <p:cNvPr name="Group 37" id="37"/>
          <p:cNvGrpSpPr/>
          <p:nvPr/>
        </p:nvGrpSpPr>
        <p:grpSpPr>
          <a:xfrm rot="0">
            <a:off x="5192878" y="5280660"/>
            <a:ext cx="685800" cy="685800"/>
            <a:chOff x="0" y="0"/>
            <a:chExt cx="914400" cy="914400"/>
          </a:xfrm>
        </p:grpSpPr>
        <p:sp>
          <p:nvSpPr>
            <p:cNvPr name="Freeform 38" id="3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39" id="39"/>
          <p:cNvGrpSpPr/>
          <p:nvPr/>
        </p:nvGrpSpPr>
        <p:grpSpPr>
          <a:xfrm rot="0">
            <a:off x="4202582" y="6172200"/>
            <a:ext cx="2666248" cy="754199"/>
            <a:chOff x="0" y="0"/>
            <a:chExt cx="3554997" cy="1005599"/>
          </a:xfrm>
        </p:grpSpPr>
        <p:sp>
          <p:nvSpPr>
            <p:cNvPr name="Freeform 40" id="40"/>
            <p:cNvSpPr/>
            <p:nvPr/>
          </p:nvSpPr>
          <p:spPr>
            <a:xfrm flipH="false" flipV="false" rot="0">
              <a:off x="0" y="0"/>
              <a:ext cx="3555000" cy="1005600"/>
            </a:xfrm>
            <a:custGeom>
              <a:avLst/>
              <a:gdLst/>
              <a:ahLst/>
              <a:cxnLst/>
              <a:rect r="r" b="b" t="t" l="l"/>
              <a:pathLst>
                <a:path h="1005600" w="3555000">
                  <a:moveTo>
                    <a:pt x="0" y="0"/>
                  </a:moveTo>
                  <a:lnTo>
                    <a:pt x="3555000" y="0"/>
                  </a:lnTo>
                  <a:lnTo>
                    <a:pt x="3555000" y="1005600"/>
                  </a:lnTo>
                  <a:lnTo>
                    <a:pt x="0" y="1005600"/>
                  </a:lnTo>
                  <a:close/>
                </a:path>
              </a:pathLst>
            </a:custGeom>
            <a:blipFill>
              <a:blip r:embed="rId3">
                <a:alphaModFix amt="0"/>
              </a:blip>
              <a:stretch>
                <a:fillRect l="0" t="-18883" r="0" b="-18883"/>
              </a:stretch>
            </a:blipFill>
          </p:spPr>
        </p:sp>
        <p:sp>
          <p:nvSpPr>
            <p:cNvPr name="TextBox 41" id="41"/>
            <p:cNvSpPr txBox="true"/>
            <p:nvPr/>
          </p:nvSpPr>
          <p:spPr>
            <a:xfrm>
              <a:off x="0" y="-38100"/>
              <a:ext cx="3554997" cy="10436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Facilitar compras en línea</a:t>
              </a:r>
            </a:p>
          </p:txBody>
        </p:sp>
      </p:grpSp>
      <p:grpSp>
        <p:nvGrpSpPr>
          <p:cNvPr name="Group 42" id="42"/>
          <p:cNvGrpSpPr/>
          <p:nvPr/>
        </p:nvGrpSpPr>
        <p:grpSpPr>
          <a:xfrm rot="0">
            <a:off x="4230014" y="6926580"/>
            <a:ext cx="2611345" cy="1165946"/>
            <a:chOff x="0" y="0"/>
            <a:chExt cx="3481794" cy="1554594"/>
          </a:xfrm>
        </p:grpSpPr>
        <p:sp>
          <p:nvSpPr>
            <p:cNvPr name="Freeform 43" id="43"/>
            <p:cNvSpPr/>
            <p:nvPr/>
          </p:nvSpPr>
          <p:spPr>
            <a:xfrm flipH="false" flipV="false" rot="0">
              <a:off x="0" y="0"/>
              <a:ext cx="3481800" cy="1554600"/>
            </a:xfrm>
            <a:custGeom>
              <a:avLst/>
              <a:gdLst/>
              <a:ahLst/>
              <a:cxnLst/>
              <a:rect r="r" b="b" t="t" l="l"/>
              <a:pathLst>
                <a:path h="1554600" w="3481800">
                  <a:moveTo>
                    <a:pt x="0" y="0"/>
                  </a:moveTo>
                  <a:lnTo>
                    <a:pt x="3481800" y="0"/>
                  </a:lnTo>
                  <a:lnTo>
                    <a:pt x="3481800" y="1554600"/>
                  </a:lnTo>
                  <a:lnTo>
                    <a:pt x="0" y="1554600"/>
                  </a:lnTo>
                  <a:close/>
                </a:path>
              </a:pathLst>
            </a:custGeom>
            <a:blipFill>
              <a:blip r:embed="rId3">
                <a:alphaModFix amt="0"/>
              </a:blip>
              <a:stretch>
                <a:fillRect l="-7286" t="0" r="-7286" b="0"/>
              </a:stretch>
            </a:blipFill>
          </p:spPr>
        </p:sp>
        <p:sp>
          <p:nvSpPr>
            <p:cNvPr name="TextBox 44" id="44"/>
            <p:cNvSpPr txBox="true"/>
            <p:nvPr/>
          </p:nvSpPr>
          <p:spPr>
            <a:xfrm>
              <a:off x="0" y="-19050"/>
              <a:ext cx="3481794" cy="1573644"/>
            </a:xfrm>
            <a:prstGeom prst="rect">
              <a:avLst/>
            </a:prstGeom>
          </p:spPr>
          <p:txBody>
            <a:bodyPr anchor="ctr" rtlCol="false" tIns="0" lIns="0" bIns="0" rIns="0"/>
            <a:lstStyle/>
            <a:p>
              <a:pPr algn="ctr">
                <a:lnSpc>
                  <a:spcPts val="1889"/>
                </a:lnSpc>
              </a:pPr>
              <a:r>
                <a:rPr lang="en-US" sz="1575">
                  <a:solidFill>
                    <a:srgbClr val="000000"/>
                  </a:solidFill>
                  <a:latin typeface="Calibri (MS)"/>
                  <a:ea typeface="Calibri (MS)"/>
                  <a:cs typeface="Calibri (MS)"/>
                  <a:sym typeface="Calibri (MS)"/>
                </a:rPr>
                <a:t>Carrito de compras y pagos digitales</a:t>
              </a:r>
            </a:p>
          </p:txBody>
        </p:sp>
      </p:grpSp>
      <p:grpSp>
        <p:nvGrpSpPr>
          <p:cNvPr name="Group 45" id="45"/>
          <p:cNvGrpSpPr/>
          <p:nvPr/>
        </p:nvGrpSpPr>
        <p:grpSpPr>
          <a:xfrm rot="0">
            <a:off x="7307885" y="5006340"/>
            <a:ext cx="2940748" cy="3223346"/>
            <a:chOff x="0" y="0"/>
            <a:chExt cx="3920998" cy="4297794"/>
          </a:xfrm>
        </p:grpSpPr>
        <p:sp>
          <p:nvSpPr>
            <p:cNvPr name="Freeform 46" id="46"/>
            <p:cNvSpPr/>
            <p:nvPr/>
          </p:nvSpPr>
          <p:spPr>
            <a:xfrm flipH="false" flipV="false" rot="0">
              <a:off x="0" y="0"/>
              <a:ext cx="3920998" cy="4297807"/>
            </a:xfrm>
            <a:custGeom>
              <a:avLst/>
              <a:gdLst/>
              <a:ahLst/>
              <a:cxnLst/>
              <a:rect r="r" b="b" t="t" l="l"/>
              <a:pathLst>
                <a:path h="4297807" w="3920998">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sp>
      </p:grpSp>
      <p:grpSp>
        <p:nvGrpSpPr>
          <p:cNvPr name="Group 47" id="47"/>
          <p:cNvGrpSpPr/>
          <p:nvPr/>
        </p:nvGrpSpPr>
        <p:grpSpPr>
          <a:xfrm rot="0">
            <a:off x="8435340" y="5280660"/>
            <a:ext cx="685800" cy="685800"/>
            <a:chOff x="0" y="0"/>
            <a:chExt cx="914400" cy="914400"/>
          </a:xfrm>
        </p:grpSpPr>
        <p:sp>
          <p:nvSpPr>
            <p:cNvPr name="Freeform 48" id="4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49" id="49"/>
          <p:cNvGrpSpPr/>
          <p:nvPr/>
        </p:nvGrpSpPr>
        <p:grpSpPr>
          <a:xfrm rot="0">
            <a:off x="5368976" y="5458968"/>
            <a:ext cx="329184" cy="329184"/>
            <a:chOff x="0" y="0"/>
            <a:chExt cx="438912" cy="438912"/>
          </a:xfrm>
        </p:grpSpPr>
        <p:sp>
          <p:nvSpPr>
            <p:cNvPr name="Freeform 50" id="50" descr="icons/cart.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6"/>
              <a:stretch>
                <a:fillRect l="0" t="0" r="0" b="0"/>
              </a:stretch>
            </a:blipFill>
          </p:spPr>
        </p:sp>
      </p:grpSp>
      <p:grpSp>
        <p:nvGrpSpPr>
          <p:cNvPr name="Group 51" id="51"/>
          <p:cNvGrpSpPr/>
          <p:nvPr/>
        </p:nvGrpSpPr>
        <p:grpSpPr>
          <a:xfrm rot="0">
            <a:off x="8615896" y="5457345"/>
            <a:ext cx="329184" cy="329184"/>
            <a:chOff x="0" y="0"/>
            <a:chExt cx="438912" cy="438912"/>
          </a:xfrm>
        </p:grpSpPr>
        <p:sp>
          <p:nvSpPr>
            <p:cNvPr name="Freeform 52" id="52" descr="icons/boxes.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7"/>
              <a:stretch>
                <a:fillRect l="0" t="0" r="0" b="0"/>
              </a:stretch>
            </a:blipFill>
          </p:spPr>
        </p:sp>
      </p:grpSp>
      <p:grpSp>
        <p:nvGrpSpPr>
          <p:cNvPr name="Group 53" id="53"/>
          <p:cNvGrpSpPr/>
          <p:nvPr/>
        </p:nvGrpSpPr>
        <p:grpSpPr>
          <a:xfrm rot="0">
            <a:off x="7445045" y="6172200"/>
            <a:ext cx="2666248" cy="754199"/>
            <a:chOff x="0" y="0"/>
            <a:chExt cx="3554997" cy="1005599"/>
          </a:xfrm>
        </p:grpSpPr>
        <p:sp>
          <p:nvSpPr>
            <p:cNvPr name="Freeform 54" id="54"/>
            <p:cNvSpPr/>
            <p:nvPr/>
          </p:nvSpPr>
          <p:spPr>
            <a:xfrm flipH="false" flipV="false" rot="0">
              <a:off x="0" y="0"/>
              <a:ext cx="3555000" cy="1005600"/>
            </a:xfrm>
            <a:custGeom>
              <a:avLst/>
              <a:gdLst/>
              <a:ahLst/>
              <a:cxnLst/>
              <a:rect r="r" b="b" t="t" l="l"/>
              <a:pathLst>
                <a:path h="1005600" w="3555000">
                  <a:moveTo>
                    <a:pt x="0" y="0"/>
                  </a:moveTo>
                  <a:lnTo>
                    <a:pt x="3555000" y="0"/>
                  </a:lnTo>
                  <a:lnTo>
                    <a:pt x="3555000" y="1005600"/>
                  </a:lnTo>
                  <a:lnTo>
                    <a:pt x="0" y="1005600"/>
                  </a:lnTo>
                  <a:close/>
                </a:path>
              </a:pathLst>
            </a:custGeom>
            <a:blipFill>
              <a:blip r:embed="rId3">
                <a:alphaModFix amt="0"/>
              </a:blip>
              <a:stretch>
                <a:fillRect l="0" t="-18883" r="0" b="-18883"/>
              </a:stretch>
            </a:blipFill>
          </p:spPr>
        </p:sp>
        <p:sp>
          <p:nvSpPr>
            <p:cNvPr name="TextBox 55" id="55"/>
            <p:cNvSpPr txBox="true"/>
            <p:nvPr/>
          </p:nvSpPr>
          <p:spPr>
            <a:xfrm>
              <a:off x="0" y="-38100"/>
              <a:ext cx="3554997" cy="10436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Gestionar productos</a:t>
              </a:r>
            </a:p>
          </p:txBody>
        </p:sp>
      </p:grpSp>
      <p:grpSp>
        <p:nvGrpSpPr>
          <p:cNvPr name="Group 56" id="56"/>
          <p:cNvGrpSpPr/>
          <p:nvPr/>
        </p:nvGrpSpPr>
        <p:grpSpPr>
          <a:xfrm rot="0">
            <a:off x="7472477" y="6926580"/>
            <a:ext cx="2611345" cy="1165950"/>
            <a:chOff x="0" y="0"/>
            <a:chExt cx="3481794" cy="1554600"/>
          </a:xfrm>
        </p:grpSpPr>
        <p:sp>
          <p:nvSpPr>
            <p:cNvPr name="Freeform 57" id="57"/>
            <p:cNvSpPr/>
            <p:nvPr/>
          </p:nvSpPr>
          <p:spPr>
            <a:xfrm flipH="false" flipV="false" rot="0">
              <a:off x="0" y="0"/>
              <a:ext cx="3481800" cy="1554606"/>
            </a:xfrm>
            <a:custGeom>
              <a:avLst/>
              <a:gdLst/>
              <a:ahLst/>
              <a:cxnLst/>
              <a:rect r="r" b="b" t="t" l="l"/>
              <a:pathLst>
                <a:path h="1554606" w="3481800">
                  <a:moveTo>
                    <a:pt x="0" y="0"/>
                  </a:moveTo>
                  <a:lnTo>
                    <a:pt x="3481800" y="0"/>
                  </a:lnTo>
                  <a:lnTo>
                    <a:pt x="3481800" y="1554606"/>
                  </a:lnTo>
                  <a:lnTo>
                    <a:pt x="0" y="1554606"/>
                  </a:lnTo>
                  <a:close/>
                </a:path>
              </a:pathLst>
            </a:custGeom>
            <a:blipFill>
              <a:blip r:embed="rId3">
                <a:alphaModFix amt="0"/>
              </a:blip>
              <a:stretch>
                <a:fillRect l="-7286" t="0" r="-7286" b="0"/>
              </a:stretch>
            </a:blipFill>
          </p:spPr>
        </p:sp>
        <p:sp>
          <p:nvSpPr>
            <p:cNvPr name="TextBox 58" id="58"/>
            <p:cNvSpPr txBox="true"/>
            <p:nvPr/>
          </p:nvSpPr>
          <p:spPr>
            <a:xfrm>
              <a:off x="0" y="-19050"/>
              <a:ext cx="3481794" cy="1573650"/>
            </a:xfrm>
            <a:prstGeom prst="rect">
              <a:avLst/>
            </a:prstGeom>
          </p:spPr>
          <p:txBody>
            <a:bodyPr anchor="ctr" rtlCol="false" tIns="0" lIns="0" bIns="0" rIns="0"/>
            <a:lstStyle/>
            <a:p>
              <a:pPr algn="ctr">
                <a:lnSpc>
                  <a:spcPts val="1889"/>
                </a:lnSpc>
              </a:pPr>
              <a:r>
                <a:rPr lang="en-US" sz="1575">
                  <a:solidFill>
                    <a:srgbClr val="000000"/>
                  </a:solidFill>
                  <a:latin typeface="Calibri (MS)"/>
                  <a:ea typeface="Calibri (MS)"/>
                  <a:cs typeface="Calibri (MS)"/>
                  <a:sym typeface="Calibri (MS)"/>
                </a:rPr>
                <a:t>Registrar, modificar y eliminar piezas</a:t>
              </a:r>
            </a:p>
          </p:txBody>
        </p:sp>
      </p:grpSp>
      <p:grpSp>
        <p:nvGrpSpPr>
          <p:cNvPr name="Group 59" id="59"/>
          <p:cNvGrpSpPr/>
          <p:nvPr/>
        </p:nvGrpSpPr>
        <p:grpSpPr>
          <a:xfrm rot="0">
            <a:off x="10550347" y="5006340"/>
            <a:ext cx="2940748" cy="3223346"/>
            <a:chOff x="0" y="0"/>
            <a:chExt cx="3920998" cy="4297794"/>
          </a:xfrm>
        </p:grpSpPr>
        <p:sp>
          <p:nvSpPr>
            <p:cNvPr name="Freeform 60" id="60"/>
            <p:cNvSpPr/>
            <p:nvPr/>
          </p:nvSpPr>
          <p:spPr>
            <a:xfrm flipH="false" flipV="false" rot="0">
              <a:off x="0" y="0"/>
              <a:ext cx="3920998" cy="4297807"/>
            </a:xfrm>
            <a:custGeom>
              <a:avLst/>
              <a:gdLst/>
              <a:ahLst/>
              <a:cxnLst/>
              <a:rect r="r" b="b" t="t" l="l"/>
              <a:pathLst>
                <a:path h="4297807" w="3920998">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sp>
      </p:grpSp>
      <p:grpSp>
        <p:nvGrpSpPr>
          <p:cNvPr name="Group 61" id="61"/>
          <p:cNvGrpSpPr/>
          <p:nvPr/>
        </p:nvGrpSpPr>
        <p:grpSpPr>
          <a:xfrm rot="0">
            <a:off x="11677802" y="5280660"/>
            <a:ext cx="685800" cy="685800"/>
            <a:chOff x="0" y="0"/>
            <a:chExt cx="914400" cy="914400"/>
          </a:xfrm>
        </p:grpSpPr>
        <p:sp>
          <p:nvSpPr>
            <p:cNvPr name="Freeform 62" id="6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63" id="63"/>
          <p:cNvGrpSpPr/>
          <p:nvPr/>
        </p:nvGrpSpPr>
        <p:grpSpPr>
          <a:xfrm rot="0">
            <a:off x="11856110" y="5458968"/>
            <a:ext cx="329184" cy="329184"/>
            <a:chOff x="0" y="0"/>
            <a:chExt cx="438912" cy="438912"/>
          </a:xfrm>
        </p:grpSpPr>
        <p:sp>
          <p:nvSpPr>
            <p:cNvPr name="Freeform 64" id="64" descr="icons/mobile.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8"/>
              <a:stretch>
                <a:fillRect l="0" t="0" r="0" b="0"/>
              </a:stretch>
            </a:blipFill>
          </p:spPr>
        </p:sp>
      </p:grpSp>
      <p:grpSp>
        <p:nvGrpSpPr>
          <p:cNvPr name="Group 65" id="65"/>
          <p:cNvGrpSpPr/>
          <p:nvPr/>
        </p:nvGrpSpPr>
        <p:grpSpPr>
          <a:xfrm rot="0">
            <a:off x="10687507" y="6172200"/>
            <a:ext cx="2666248" cy="754199"/>
            <a:chOff x="0" y="0"/>
            <a:chExt cx="3554997" cy="1005599"/>
          </a:xfrm>
        </p:grpSpPr>
        <p:sp>
          <p:nvSpPr>
            <p:cNvPr name="Freeform 66" id="66"/>
            <p:cNvSpPr/>
            <p:nvPr/>
          </p:nvSpPr>
          <p:spPr>
            <a:xfrm flipH="false" flipV="false" rot="0">
              <a:off x="0" y="0"/>
              <a:ext cx="3555000" cy="1005600"/>
            </a:xfrm>
            <a:custGeom>
              <a:avLst/>
              <a:gdLst/>
              <a:ahLst/>
              <a:cxnLst/>
              <a:rect r="r" b="b" t="t" l="l"/>
              <a:pathLst>
                <a:path h="1005600" w="3555000">
                  <a:moveTo>
                    <a:pt x="0" y="0"/>
                  </a:moveTo>
                  <a:lnTo>
                    <a:pt x="3555000" y="0"/>
                  </a:lnTo>
                  <a:lnTo>
                    <a:pt x="3555000" y="1005600"/>
                  </a:lnTo>
                  <a:lnTo>
                    <a:pt x="0" y="1005600"/>
                  </a:lnTo>
                  <a:close/>
                </a:path>
              </a:pathLst>
            </a:custGeom>
            <a:blipFill>
              <a:blip r:embed="rId3">
                <a:alphaModFix amt="0"/>
              </a:blip>
              <a:stretch>
                <a:fillRect l="0" t="-18883" r="0" b="-18883"/>
              </a:stretch>
            </a:blipFill>
          </p:spPr>
        </p:sp>
        <p:sp>
          <p:nvSpPr>
            <p:cNvPr name="TextBox 67" id="67"/>
            <p:cNvSpPr txBox="true"/>
            <p:nvPr/>
          </p:nvSpPr>
          <p:spPr>
            <a:xfrm>
              <a:off x="0" y="-38100"/>
              <a:ext cx="3554997" cy="10436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Mejorar la experiencia</a:t>
              </a:r>
            </a:p>
          </p:txBody>
        </p:sp>
      </p:grpSp>
      <p:grpSp>
        <p:nvGrpSpPr>
          <p:cNvPr name="Group 68" id="68"/>
          <p:cNvGrpSpPr/>
          <p:nvPr/>
        </p:nvGrpSpPr>
        <p:grpSpPr>
          <a:xfrm rot="0">
            <a:off x="10714939" y="6926580"/>
            <a:ext cx="2611345" cy="1165950"/>
            <a:chOff x="0" y="0"/>
            <a:chExt cx="3481794" cy="1554600"/>
          </a:xfrm>
        </p:grpSpPr>
        <p:sp>
          <p:nvSpPr>
            <p:cNvPr name="Freeform 69" id="69"/>
            <p:cNvSpPr/>
            <p:nvPr/>
          </p:nvSpPr>
          <p:spPr>
            <a:xfrm flipH="false" flipV="false" rot="0">
              <a:off x="0" y="0"/>
              <a:ext cx="3481800" cy="1554606"/>
            </a:xfrm>
            <a:custGeom>
              <a:avLst/>
              <a:gdLst/>
              <a:ahLst/>
              <a:cxnLst/>
              <a:rect r="r" b="b" t="t" l="l"/>
              <a:pathLst>
                <a:path h="1554606" w="3481800">
                  <a:moveTo>
                    <a:pt x="0" y="0"/>
                  </a:moveTo>
                  <a:lnTo>
                    <a:pt x="3481800" y="0"/>
                  </a:lnTo>
                  <a:lnTo>
                    <a:pt x="3481800" y="1554606"/>
                  </a:lnTo>
                  <a:lnTo>
                    <a:pt x="0" y="1554606"/>
                  </a:lnTo>
                  <a:close/>
                </a:path>
              </a:pathLst>
            </a:custGeom>
            <a:blipFill>
              <a:blip r:embed="rId3">
                <a:alphaModFix amt="0"/>
              </a:blip>
              <a:stretch>
                <a:fillRect l="-7286" t="0" r="-7286" b="0"/>
              </a:stretch>
            </a:blipFill>
          </p:spPr>
        </p:sp>
        <p:sp>
          <p:nvSpPr>
            <p:cNvPr name="TextBox 70" id="70"/>
            <p:cNvSpPr txBox="true"/>
            <p:nvPr/>
          </p:nvSpPr>
          <p:spPr>
            <a:xfrm>
              <a:off x="0" y="-19050"/>
              <a:ext cx="3481794" cy="1573650"/>
            </a:xfrm>
            <a:prstGeom prst="rect">
              <a:avLst/>
            </a:prstGeom>
          </p:spPr>
          <p:txBody>
            <a:bodyPr anchor="ctr" rtlCol="false" tIns="0" lIns="0" bIns="0" rIns="0"/>
            <a:lstStyle/>
            <a:p>
              <a:pPr algn="ctr">
                <a:lnSpc>
                  <a:spcPts val="1889"/>
                </a:lnSpc>
              </a:pPr>
              <a:r>
                <a:rPr lang="en-US" sz="1575">
                  <a:solidFill>
                    <a:srgbClr val="000000"/>
                  </a:solidFill>
                  <a:latin typeface="Calibri (MS)"/>
                  <a:ea typeface="Calibri (MS)"/>
                  <a:cs typeface="Calibri (MS)"/>
                  <a:sym typeface="Calibri (MS)"/>
                </a:rPr>
                <a:t>Interfaz dinamica y adaptable</a:t>
              </a:r>
            </a:p>
          </p:txBody>
        </p:sp>
      </p:grpSp>
      <p:grpSp>
        <p:nvGrpSpPr>
          <p:cNvPr name="Group 71" id="71"/>
          <p:cNvGrpSpPr/>
          <p:nvPr/>
        </p:nvGrpSpPr>
        <p:grpSpPr>
          <a:xfrm rot="0">
            <a:off x="13792810" y="5006340"/>
            <a:ext cx="2940748" cy="3223346"/>
            <a:chOff x="0" y="0"/>
            <a:chExt cx="3920998" cy="4297794"/>
          </a:xfrm>
        </p:grpSpPr>
        <p:sp>
          <p:nvSpPr>
            <p:cNvPr name="Freeform 72" id="72"/>
            <p:cNvSpPr/>
            <p:nvPr/>
          </p:nvSpPr>
          <p:spPr>
            <a:xfrm flipH="false" flipV="false" rot="0">
              <a:off x="0" y="0"/>
              <a:ext cx="3920998" cy="4297807"/>
            </a:xfrm>
            <a:custGeom>
              <a:avLst/>
              <a:gdLst/>
              <a:ahLst/>
              <a:cxnLst/>
              <a:rect r="r" b="b" t="t" l="l"/>
              <a:pathLst>
                <a:path h="4297807" w="3920998">
                  <a:moveTo>
                    <a:pt x="0" y="146304"/>
                  </a:moveTo>
                  <a:cubicBezTo>
                    <a:pt x="0" y="65532"/>
                    <a:pt x="65532" y="0"/>
                    <a:pt x="146304" y="0"/>
                  </a:cubicBezTo>
                  <a:lnTo>
                    <a:pt x="3774694" y="0"/>
                  </a:lnTo>
                  <a:cubicBezTo>
                    <a:pt x="3855466" y="0"/>
                    <a:pt x="3920998" y="65532"/>
                    <a:pt x="3920998" y="146304"/>
                  </a:cubicBezTo>
                  <a:lnTo>
                    <a:pt x="3920998" y="4151503"/>
                  </a:lnTo>
                  <a:cubicBezTo>
                    <a:pt x="3920998" y="4232275"/>
                    <a:pt x="3855466" y="4297807"/>
                    <a:pt x="3774694" y="4297807"/>
                  </a:cubicBezTo>
                  <a:lnTo>
                    <a:pt x="146304" y="4297807"/>
                  </a:lnTo>
                  <a:cubicBezTo>
                    <a:pt x="65532" y="4297807"/>
                    <a:pt x="0" y="4232275"/>
                    <a:pt x="0" y="4151503"/>
                  </a:cubicBezTo>
                  <a:close/>
                </a:path>
              </a:pathLst>
            </a:custGeom>
            <a:solidFill>
              <a:srgbClr val="F6F6F6"/>
            </a:solidFill>
          </p:spPr>
        </p:sp>
      </p:grpSp>
      <p:grpSp>
        <p:nvGrpSpPr>
          <p:cNvPr name="Group 73" id="73"/>
          <p:cNvGrpSpPr/>
          <p:nvPr/>
        </p:nvGrpSpPr>
        <p:grpSpPr>
          <a:xfrm rot="0">
            <a:off x="14920265" y="5280660"/>
            <a:ext cx="685800" cy="685800"/>
            <a:chOff x="0" y="0"/>
            <a:chExt cx="914400" cy="914400"/>
          </a:xfrm>
        </p:grpSpPr>
        <p:sp>
          <p:nvSpPr>
            <p:cNvPr name="Freeform 74" id="7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75" id="75"/>
          <p:cNvGrpSpPr/>
          <p:nvPr/>
        </p:nvGrpSpPr>
        <p:grpSpPr>
          <a:xfrm rot="0">
            <a:off x="15098573" y="5458968"/>
            <a:ext cx="329184" cy="329184"/>
            <a:chOff x="0" y="0"/>
            <a:chExt cx="438912" cy="438912"/>
          </a:xfrm>
        </p:grpSpPr>
        <p:sp>
          <p:nvSpPr>
            <p:cNvPr name="Freeform 76" id="76" descr="icons/leaf.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9"/>
              <a:stretch>
                <a:fillRect l="0" t="0" r="0" b="0"/>
              </a:stretch>
            </a:blipFill>
          </p:spPr>
        </p:sp>
      </p:grpSp>
      <p:grpSp>
        <p:nvGrpSpPr>
          <p:cNvPr name="Group 77" id="77"/>
          <p:cNvGrpSpPr/>
          <p:nvPr/>
        </p:nvGrpSpPr>
        <p:grpSpPr>
          <a:xfrm rot="0">
            <a:off x="13929970" y="6172200"/>
            <a:ext cx="2666248" cy="754199"/>
            <a:chOff x="0" y="0"/>
            <a:chExt cx="3554997" cy="1005599"/>
          </a:xfrm>
        </p:grpSpPr>
        <p:sp>
          <p:nvSpPr>
            <p:cNvPr name="Freeform 78" id="78"/>
            <p:cNvSpPr/>
            <p:nvPr/>
          </p:nvSpPr>
          <p:spPr>
            <a:xfrm flipH="false" flipV="false" rot="0">
              <a:off x="0" y="0"/>
              <a:ext cx="3555000" cy="1005600"/>
            </a:xfrm>
            <a:custGeom>
              <a:avLst/>
              <a:gdLst/>
              <a:ahLst/>
              <a:cxnLst/>
              <a:rect r="r" b="b" t="t" l="l"/>
              <a:pathLst>
                <a:path h="1005600" w="3555000">
                  <a:moveTo>
                    <a:pt x="0" y="0"/>
                  </a:moveTo>
                  <a:lnTo>
                    <a:pt x="3555000" y="0"/>
                  </a:lnTo>
                  <a:lnTo>
                    <a:pt x="3555000" y="1005600"/>
                  </a:lnTo>
                  <a:lnTo>
                    <a:pt x="0" y="1005600"/>
                  </a:lnTo>
                  <a:close/>
                </a:path>
              </a:pathLst>
            </a:custGeom>
            <a:blipFill>
              <a:blip r:embed="rId3">
                <a:alphaModFix amt="0"/>
              </a:blip>
              <a:stretch>
                <a:fillRect l="0" t="-18883" r="0" b="-18883"/>
              </a:stretch>
            </a:blipFill>
          </p:spPr>
        </p:sp>
        <p:sp>
          <p:nvSpPr>
            <p:cNvPr name="TextBox 79" id="79"/>
            <p:cNvSpPr txBox="true"/>
            <p:nvPr/>
          </p:nvSpPr>
          <p:spPr>
            <a:xfrm>
              <a:off x="0" y="-38100"/>
              <a:ext cx="3554997" cy="10436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Visualizar inventario</a:t>
              </a:r>
            </a:p>
          </p:txBody>
        </p:sp>
      </p:grpSp>
      <p:grpSp>
        <p:nvGrpSpPr>
          <p:cNvPr name="Group 80" id="80"/>
          <p:cNvGrpSpPr/>
          <p:nvPr/>
        </p:nvGrpSpPr>
        <p:grpSpPr>
          <a:xfrm rot="0">
            <a:off x="13971137" y="6926313"/>
            <a:ext cx="2611345" cy="1165950"/>
            <a:chOff x="0" y="0"/>
            <a:chExt cx="3481794" cy="1554600"/>
          </a:xfrm>
        </p:grpSpPr>
        <p:sp>
          <p:nvSpPr>
            <p:cNvPr name="Freeform 81" id="81"/>
            <p:cNvSpPr/>
            <p:nvPr/>
          </p:nvSpPr>
          <p:spPr>
            <a:xfrm flipH="false" flipV="false" rot="0">
              <a:off x="0" y="0"/>
              <a:ext cx="3481800" cy="1554606"/>
            </a:xfrm>
            <a:custGeom>
              <a:avLst/>
              <a:gdLst/>
              <a:ahLst/>
              <a:cxnLst/>
              <a:rect r="r" b="b" t="t" l="l"/>
              <a:pathLst>
                <a:path h="1554606" w="3481800">
                  <a:moveTo>
                    <a:pt x="0" y="0"/>
                  </a:moveTo>
                  <a:lnTo>
                    <a:pt x="3481800" y="0"/>
                  </a:lnTo>
                  <a:lnTo>
                    <a:pt x="3481800" y="1554606"/>
                  </a:lnTo>
                  <a:lnTo>
                    <a:pt x="0" y="1554606"/>
                  </a:lnTo>
                  <a:close/>
                </a:path>
              </a:pathLst>
            </a:custGeom>
            <a:blipFill>
              <a:blip r:embed="rId3">
                <a:alphaModFix amt="0"/>
              </a:blip>
              <a:stretch>
                <a:fillRect l="-7286" t="0" r="-7286" b="0"/>
              </a:stretch>
            </a:blipFill>
          </p:spPr>
        </p:sp>
        <p:sp>
          <p:nvSpPr>
            <p:cNvPr name="TextBox 82" id="82"/>
            <p:cNvSpPr txBox="true"/>
            <p:nvPr/>
          </p:nvSpPr>
          <p:spPr>
            <a:xfrm>
              <a:off x="0" y="-19050"/>
              <a:ext cx="3481794" cy="1573650"/>
            </a:xfrm>
            <a:prstGeom prst="rect">
              <a:avLst/>
            </a:prstGeom>
          </p:spPr>
          <p:txBody>
            <a:bodyPr anchor="ctr" rtlCol="false" tIns="0" lIns="0" bIns="0" rIns="0"/>
            <a:lstStyle/>
            <a:p>
              <a:pPr algn="ctr">
                <a:lnSpc>
                  <a:spcPts val="1889"/>
                </a:lnSpc>
              </a:pPr>
              <a:r>
                <a:rPr lang="en-US" sz="1575">
                  <a:solidFill>
                    <a:srgbClr val="000000"/>
                  </a:solidFill>
                  <a:latin typeface="Calibri (MS)"/>
                  <a:ea typeface="Calibri (MS)"/>
                  <a:cs typeface="Calibri (MS)"/>
                  <a:sym typeface="Calibri (MS)"/>
                </a:rPr>
                <a:t>Observar codigos de producto, stock y precio</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576072"/>
            <a:ext cx="13716000" cy="480146"/>
            <a:chOff x="0" y="0"/>
            <a:chExt cx="18288000" cy="640194"/>
          </a:xfrm>
        </p:grpSpPr>
        <p:sp>
          <p:nvSpPr>
            <p:cNvPr name="Freeform 4" id="4"/>
            <p:cNvSpPr/>
            <p:nvPr/>
          </p:nvSpPr>
          <p:spPr>
            <a:xfrm flipH="false" flipV="false" rot="0">
              <a:off x="0" y="0"/>
              <a:ext cx="18288000" cy="640200"/>
            </a:xfrm>
            <a:custGeom>
              <a:avLst/>
              <a:gdLst/>
              <a:ahLst/>
              <a:cxnLst/>
              <a:rect r="r" b="b" t="t" l="l"/>
              <a:pathLst>
                <a:path h="640200" w="18288000">
                  <a:moveTo>
                    <a:pt x="0" y="0"/>
                  </a:moveTo>
                  <a:lnTo>
                    <a:pt x="18288000" y="0"/>
                  </a:lnTo>
                  <a:lnTo>
                    <a:pt x="18288000" y="640200"/>
                  </a:lnTo>
                  <a:lnTo>
                    <a:pt x="0" y="640200"/>
                  </a:lnTo>
                  <a:close/>
                </a:path>
              </a:pathLst>
            </a:custGeom>
            <a:blipFill>
              <a:blip r:embed="rId4">
                <a:alphaModFix amt="0"/>
              </a:blip>
              <a:stretch>
                <a:fillRect l="0" t="-506611" r="0" b="-506610"/>
              </a:stretch>
            </a:blipFill>
          </p:spPr>
        </p:sp>
        <p:sp>
          <p:nvSpPr>
            <p:cNvPr name="TextBox 5" id="5"/>
            <p:cNvSpPr txBox="true"/>
            <p:nvPr/>
          </p:nvSpPr>
          <p:spPr>
            <a:xfrm>
              <a:off x="0" y="-47625"/>
              <a:ext cx="18288000" cy="687819"/>
            </a:xfrm>
            <a:prstGeom prst="rect">
              <a:avLst/>
            </a:prstGeom>
          </p:spPr>
          <p:txBody>
            <a:bodyPr anchor="ctr" rtlCol="false" tIns="0" lIns="0" bIns="0" rIns="0"/>
            <a:lstStyle/>
            <a:p>
              <a:pPr algn="l">
                <a:lnSpc>
                  <a:spcPts val="2340"/>
                </a:lnSpc>
              </a:pPr>
              <a:r>
                <a:rPr lang="en-US" b="true" sz="1950">
                  <a:solidFill>
                    <a:srgbClr val="39A900"/>
                  </a:solidFill>
                  <a:latin typeface="Calibri (MS) Bold"/>
                  <a:ea typeface="Calibri (MS) Bold"/>
                  <a:cs typeface="Calibri (MS) Bold"/>
                  <a:sym typeface="Calibri (MS) Bold"/>
                </a:rPr>
                <a:t>DELIMITACIÓN</a:t>
              </a:r>
            </a:p>
          </p:txBody>
        </p:sp>
      </p:grpSp>
      <p:grpSp>
        <p:nvGrpSpPr>
          <p:cNvPr name="Group 6" id="6"/>
          <p:cNvGrpSpPr/>
          <p:nvPr/>
        </p:nvGrpSpPr>
        <p:grpSpPr>
          <a:xfrm rot="0">
            <a:off x="822960" y="987552"/>
            <a:ext cx="16184699" cy="1165946"/>
            <a:chOff x="0" y="0"/>
            <a:chExt cx="21579599" cy="1554594"/>
          </a:xfrm>
        </p:grpSpPr>
        <p:sp>
          <p:nvSpPr>
            <p:cNvPr name="Freeform 7" id="7"/>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8" id="8"/>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Alcance del proyecto</a:t>
              </a:r>
            </a:p>
          </p:txBody>
        </p:sp>
      </p:grpSp>
      <p:grpSp>
        <p:nvGrpSpPr>
          <p:cNvPr name="Group 9" id="9"/>
          <p:cNvGrpSpPr/>
          <p:nvPr/>
        </p:nvGrpSpPr>
        <p:grpSpPr>
          <a:xfrm rot="0">
            <a:off x="822960" y="2468880"/>
            <a:ext cx="5075101" cy="6720754"/>
            <a:chOff x="0" y="0"/>
            <a:chExt cx="6766801" cy="8961006"/>
          </a:xfrm>
        </p:grpSpPr>
        <p:sp>
          <p:nvSpPr>
            <p:cNvPr name="Freeform 10" id="10"/>
            <p:cNvSpPr/>
            <p:nvPr/>
          </p:nvSpPr>
          <p:spPr>
            <a:xfrm flipH="false" flipV="false" rot="0">
              <a:off x="0" y="0"/>
              <a:ext cx="6766814" cy="8960993"/>
            </a:xfrm>
            <a:custGeom>
              <a:avLst/>
              <a:gdLst/>
              <a:ahLst/>
              <a:cxnLst/>
              <a:rect r="r" b="b" t="t" l="l"/>
              <a:pathLst>
                <a:path h="8960993" w="6766814">
                  <a:moveTo>
                    <a:pt x="0" y="146304"/>
                  </a:moveTo>
                  <a:cubicBezTo>
                    <a:pt x="0" y="65532"/>
                    <a:pt x="65532" y="0"/>
                    <a:pt x="146304" y="0"/>
                  </a:cubicBezTo>
                  <a:lnTo>
                    <a:pt x="6620510" y="0"/>
                  </a:lnTo>
                  <a:cubicBezTo>
                    <a:pt x="6701282" y="0"/>
                    <a:pt x="6766814" y="65532"/>
                    <a:pt x="6766814" y="146304"/>
                  </a:cubicBezTo>
                  <a:lnTo>
                    <a:pt x="6766814" y="8814689"/>
                  </a:lnTo>
                  <a:cubicBezTo>
                    <a:pt x="6766814" y="8895461"/>
                    <a:pt x="6701282" y="8960993"/>
                    <a:pt x="6620510" y="8960993"/>
                  </a:cubicBezTo>
                  <a:lnTo>
                    <a:pt x="146304" y="8960993"/>
                  </a:lnTo>
                  <a:cubicBezTo>
                    <a:pt x="65532" y="8960993"/>
                    <a:pt x="0" y="8895461"/>
                    <a:pt x="0" y="8814689"/>
                  </a:cubicBezTo>
                  <a:close/>
                </a:path>
              </a:pathLst>
            </a:custGeom>
            <a:solidFill>
              <a:srgbClr val="EDF6E8"/>
            </a:solidFill>
          </p:spPr>
        </p:sp>
      </p:grpSp>
      <p:grpSp>
        <p:nvGrpSpPr>
          <p:cNvPr name="Group 11" id="11"/>
          <p:cNvGrpSpPr/>
          <p:nvPr/>
        </p:nvGrpSpPr>
        <p:grpSpPr>
          <a:xfrm rot="0">
            <a:off x="1303020" y="2880360"/>
            <a:ext cx="823046" cy="823046"/>
            <a:chOff x="0" y="0"/>
            <a:chExt cx="1097394" cy="1097394"/>
          </a:xfrm>
        </p:grpSpPr>
        <p:sp>
          <p:nvSpPr>
            <p:cNvPr name="Freeform 12" id="12"/>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39A900"/>
            </a:solidFill>
          </p:spPr>
        </p:sp>
      </p:grpSp>
      <p:grpSp>
        <p:nvGrpSpPr>
          <p:cNvPr name="Group 13" id="13"/>
          <p:cNvGrpSpPr/>
          <p:nvPr/>
        </p:nvGrpSpPr>
        <p:grpSpPr>
          <a:xfrm rot="0">
            <a:off x="1516990" y="3094330"/>
            <a:ext cx="395021" cy="395021"/>
            <a:chOff x="0" y="0"/>
            <a:chExt cx="526694" cy="526694"/>
          </a:xfrm>
        </p:grpSpPr>
        <p:sp>
          <p:nvSpPr>
            <p:cNvPr name="Freeform 14" id="14" descr="icons/users.png"/>
            <p:cNvSpPr/>
            <p:nvPr/>
          </p:nvSpPr>
          <p:spPr>
            <a:xfrm flipH="false" flipV="false" rot="0">
              <a:off x="0" y="0"/>
              <a:ext cx="526669" cy="526669"/>
            </a:xfrm>
            <a:custGeom>
              <a:avLst/>
              <a:gdLst/>
              <a:ahLst/>
              <a:cxnLst/>
              <a:rect r="r" b="b" t="t" l="l"/>
              <a:pathLst>
                <a:path h="526669" w="526669">
                  <a:moveTo>
                    <a:pt x="0" y="0"/>
                  </a:moveTo>
                  <a:lnTo>
                    <a:pt x="526669" y="0"/>
                  </a:lnTo>
                  <a:lnTo>
                    <a:pt x="526669" y="526669"/>
                  </a:lnTo>
                  <a:lnTo>
                    <a:pt x="0" y="526669"/>
                  </a:lnTo>
                  <a:lnTo>
                    <a:pt x="0" y="0"/>
                  </a:lnTo>
                  <a:close/>
                </a:path>
              </a:pathLst>
            </a:custGeom>
            <a:blipFill>
              <a:blip r:embed="rId5"/>
              <a:stretch>
                <a:fillRect l="0" t="0" r="-4" b="-4"/>
              </a:stretch>
            </a:blipFill>
          </p:spPr>
        </p:sp>
      </p:grpSp>
      <p:grpSp>
        <p:nvGrpSpPr>
          <p:cNvPr name="Group 15" id="15"/>
          <p:cNvGrpSpPr/>
          <p:nvPr/>
        </p:nvGrpSpPr>
        <p:grpSpPr>
          <a:xfrm rot="0">
            <a:off x="2331720" y="2990088"/>
            <a:ext cx="3291754" cy="617401"/>
            <a:chOff x="0" y="0"/>
            <a:chExt cx="4389006" cy="823201"/>
          </a:xfrm>
        </p:grpSpPr>
        <p:sp>
          <p:nvSpPr>
            <p:cNvPr name="Freeform 16" id="16"/>
            <p:cNvSpPr/>
            <p:nvPr/>
          </p:nvSpPr>
          <p:spPr>
            <a:xfrm flipH="false" flipV="false" rot="0">
              <a:off x="0" y="0"/>
              <a:ext cx="4389000" cy="823200"/>
            </a:xfrm>
            <a:custGeom>
              <a:avLst/>
              <a:gdLst/>
              <a:ahLst/>
              <a:cxnLst/>
              <a:rect r="r" b="b" t="t" l="l"/>
              <a:pathLst>
                <a:path h="823200" w="4389000">
                  <a:moveTo>
                    <a:pt x="0" y="0"/>
                  </a:moveTo>
                  <a:lnTo>
                    <a:pt x="4389000" y="0"/>
                  </a:lnTo>
                  <a:lnTo>
                    <a:pt x="4389000" y="823200"/>
                  </a:lnTo>
                  <a:lnTo>
                    <a:pt x="0" y="823200"/>
                  </a:lnTo>
                  <a:close/>
                </a:path>
              </a:pathLst>
            </a:custGeom>
            <a:blipFill>
              <a:blip r:embed="rId4">
                <a:alphaModFix amt="0"/>
              </a:blip>
              <a:stretch>
                <a:fillRect l="0" t="-53887" r="0" b="-53887"/>
              </a:stretch>
            </a:blipFill>
          </p:spPr>
        </p:sp>
        <p:sp>
          <p:nvSpPr>
            <p:cNvPr name="TextBox 17" id="17"/>
            <p:cNvSpPr txBox="true"/>
            <p:nvPr/>
          </p:nvSpPr>
          <p:spPr>
            <a:xfrm>
              <a:off x="0" y="-38100"/>
              <a:ext cx="4389006" cy="861301"/>
            </a:xfrm>
            <a:prstGeom prst="rect">
              <a:avLst/>
            </a:prstGeom>
          </p:spPr>
          <p:txBody>
            <a:bodyPr anchor="ctr" rtlCol="false" tIns="0" lIns="0" bIns="0" rIns="0"/>
            <a:lstStyle/>
            <a:p>
              <a:pPr algn="l">
                <a:lnSpc>
                  <a:spcPts val="2879"/>
                </a:lnSpc>
              </a:pPr>
              <a:r>
                <a:rPr lang="en-US" b="true" sz="2400">
                  <a:solidFill>
                    <a:srgbClr val="00304D"/>
                  </a:solidFill>
                  <a:latin typeface="Calibri (MS) Bold"/>
                  <a:ea typeface="Calibri (MS) Bold"/>
                  <a:cs typeface="Calibri (MS) Bold"/>
                  <a:sym typeface="Calibri (MS) Bold"/>
                </a:rPr>
                <a:t>Cliente</a:t>
              </a:r>
            </a:p>
          </p:txBody>
        </p:sp>
      </p:grpSp>
      <p:sp>
        <p:nvSpPr>
          <p:cNvPr name="TextBox 18" id="18"/>
          <p:cNvSpPr txBox="true"/>
          <p:nvPr/>
        </p:nvSpPr>
        <p:spPr>
          <a:xfrm rot="0">
            <a:off x="1303020" y="3870960"/>
            <a:ext cx="4183199" cy="723900"/>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Registro e inicio de sesión</a:t>
            </a:r>
          </a:p>
        </p:txBody>
      </p:sp>
      <p:sp>
        <p:nvSpPr>
          <p:cNvPr name="TextBox 19" id="19"/>
          <p:cNvSpPr txBox="true"/>
          <p:nvPr/>
        </p:nvSpPr>
        <p:spPr>
          <a:xfrm rot="0">
            <a:off x="1303020" y="4803648"/>
            <a:ext cx="4183199" cy="295275"/>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Ver perfil, registrar vehiculo</a:t>
            </a:r>
          </a:p>
        </p:txBody>
      </p:sp>
      <p:sp>
        <p:nvSpPr>
          <p:cNvPr name="TextBox 20" id="20"/>
          <p:cNvSpPr txBox="true"/>
          <p:nvPr/>
        </p:nvSpPr>
        <p:spPr>
          <a:xfrm rot="0">
            <a:off x="1303020" y="5736336"/>
            <a:ext cx="4183199" cy="295275"/>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Seleccionar caracteristicas del vehiculo</a:t>
            </a:r>
          </a:p>
        </p:txBody>
      </p:sp>
      <p:sp>
        <p:nvSpPr>
          <p:cNvPr name="TextBox 21" id="21"/>
          <p:cNvSpPr txBox="true"/>
          <p:nvPr/>
        </p:nvSpPr>
        <p:spPr>
          <a:xfrm rot="0">
            <a:off x="1303020" y="6669024"/>
            <a:ext cx="4183199" cy="295275"/>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Seleccionar servicio y agendar</a:t>
            </a:r>
          </a:p>
        </p:txBody>
      </p:sp>
      <p:sp>
        <p:nvSpPr>
          <p:cNvPr name="TextBox 22" id="22"/>
          <p:cNvSpPr txBox="true"/>
          <p:nvPr/>
        </p:nvSpPr>
        <p:spPr>
          <a:xfrm rot="0">
            <a:off x="1303020" y="7601712"/>
            <a:ext cx="4183199" cy="295275"/>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Consultar estado del servicio y cotizacion</a:t>
            </a:r>
          </a:p>
        </p:txBody>
      </p:sp>
      <p:grpSp>
        <p:nvGrpSpPr>
          <p:cNvPr name="Group 23" id="23"/>
          <p:cNvGrpSpPr/>
          <p:nvPr/>
        </p:nvGrpSpPr>
        <p:grpSpPr>
          <a:xfrm rot="0">
            <a:off x="6240780" y="2468880"/>
            <a:ext cx="5075101" cy="6720754"/>
            <a:chOff x="0" y="0"/>
            <a:chExt cx="6766801" cy="8961006"/>
          </a:xfrm>
        </p:grpSpPr>
        <p:sp>
          <p:nvSpPr>
            <p:cNvPr name="Freeform 24" id="24"/>
            <p:cNvSpPr/>
            <p:nvPr/>
          </p:nvSpPr>
          <p:spPr>
            <a:xfrm flipH="false" flipV="false" rot="0">
              <a:off x="0" y="0"/>
              <a:ext cx="6766814" cy="8960993"/>
            </a:xfrm>
            <a:custGeom>
              <a:avLst/>
              <a:gdLst/>
              <a:ahLst/>
              <a:cxnLst/>
              <a:rect r="r" b="b" t="t" l="l"/>
              <a:pathLst>
                <a:path h="8960993" w="6766814">
                  <a:moveTo>
                    <a:pt x="0" y="146304"/>
                  </a:moveTo>
                  <a:cubicBezTo>
                    <a:pt x="0" y="65532"/>
                    <a:pt x="65532" y="0"/>
                    <a:pt x="146304" y="0"/>
                  </a:cubicBezTo>
                  <a:lnTo>
                    <a:pt x="6620510" y="0"/>
                  </a:lnTo>
                  <a:cubicBezTo>
                    <a:pt x="6701282" y="0"/>
                    <a:pt x="6766814" y="65532"/>
                    <a:pt x="6766814" y="146304"/>
                  </a:cubicBezTo>
                  <a:lnTo>
                    <a:pt x="6766814" y="8814689"/>
                  </a:lnTo>
                  <a:cubicBezTo>
                    <a:pt x="6766814" y="8895461"/>
                    <a:pt x="6701282" y="8960993"/>
                    <a:pt x="6620510" y="8960993"/>
                  </a:cubicBezTo>
                  <a:lnTo>
                    <a:pt x="146304" y="8960993"/>
                  </a:lnTo>
                  <a:cubicBezTo>
                    <a:pt x="65532" y="8960993"/>
                    <a:pt x="0" y="8895461"/>
                    <a:pt x="0" y="8814689"/>
                  </a:cubicBezTo>
                  <a:close/>
                </a:path>
              </a:pathLst>
            </a:custGeom>
            <a:solidFill>
              <a:srgbClr val="EDF6E8"/>
            </a:solidFill>
          </p:spPr>
        </p:sp>
      </p:grpSp>
      <p:grpSp>
        <p:nvGrpSpPr>
          <p:cNvPr name="Group 25" id="25"/>
          <p:cNvGrpSpPr/>
          <p:nvPr/>
        </p:nvGrpSpPr>
        <p:grpSpPr>
          <a:xfrm rot="0">
            <a:off x="6720840" y="2880360"/>
            <a:ext cx="823046" cy="823046"/>
            <a:chOff x="0" y="0"/>
            <a:chExt cx="1097394" cy="1097394"/>
          </a:xfrm>
        </p:grpSpPr>
        <p:sp>
          <p:nvSpPr>
            <p:cNvPr name="Freeform 26" id="26"/>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39A900"/>
            </a:solidFill>
          </p:spPr>
        </p:sp>
      </p:grpSp>
      <p:grpSp>
        <p:nvGrpSpPr>
          <p:cNvPr name="Group 27" id="27"/>
          <p:cNvGrpSpPr/>
          <p:nvPr/>
        </p:nvGrpSpPr>
        <p:grpSpPr>
          <a:xfrm rot="0">
            <a:off x="6934810" y="3094330"/>
            <a:ext cx="395021" cy="395021"/>
            <a:chOff x="0" y="0"/>
            <a:chExt cx="526694" cy="526694"/>
          </a:xfrm>
        </p:grpSpPr>
        <p:sp>
          <p:nvSpPr>
            <p:cNvPr name="Freeform 28" id="28" descr="icons/cogs.png"/>
            <p:cNvSpPr/>
            <p:nvPr/>
          </p:nvSpPr>
          <p:spPr>
            <a:xfrm flipH="false" flipV="false" rot="0">
              <a:off x="0" y="0"/>
              <a:ext cx="526669" cy="526669"/>
            </a:xfrm>
            <a:custGeom>
              <a:avLst/>
              <a:gdLst/>
              <a:ahLst/>
              <a:cxnLst/>
              <a:rect r="r" b="b" t="t" l="l"/>
              <a:pathLst>
                <a:path h="526669" w="526669">
                  <a:moveTo>
                    <a:pt x="0" y="0"/>
                  </a:moveTo>
                  <a:lnTo>
                    <a:pt x="526669" y="0"/>
                  </a:lnTo>
                  <a:lnTo>
                    <a:pt x="526669" y="526669"/>
                  </a:lnTo>
                  <a:lnTo>
                    <a:pt x="0" y="526669"/>
                  </a:lnTo>
                  <a:lnTo>
                    <a:pt x="0" y="0"/>
                  </a:lnTo>
                  <a:close/>
                </a:path>
              </a:pathLst>
            </a:custGeom>
            <a:blipFill>
              <a:blip r:embed="rId6"/>
              <a:stretch>
                <a:fillRect l="0" t="0" r="-4" b="-4"/>
              </a:stretch>
            </a:blipFill>
          </p:spPr>
        </p:sp>
      </p:grpSp>
      <p:grpSp>
        <p:nvGrpSpPr>
          <p:cNvPr name="Group 29" id="29"/>
          <p:cNvGrpSpPr/>
          <p:nvPr/>
        </p:nvGrpSpPr>
        <p:grpSpPr>
          <a:xfrm rot="0">
            <a:off x="7749540" y="2990088"/>
            <a:ext cx="3429000" cy="617401"/>
            <a:chOff x="0" y="0"/>
            <a:chExt cx="4572000" cy="823201"/>
          </a:xfrm>
        </p:grpSpPr>
        <p:sp>
          <p:nvSpPr>
            <p:cNvPr name="Freeform 30" id="30"/>
            <p:cNvSpPr/>
            <p:nvPr/>
          </p:nvSpPr>
          <p:spPr>
            <a:xfrm flipH="false" flipV="false" rot="0">
              <a:off x="0" y="0"/>
              <a:ext cx="4572000" cy="823200"/>
            </a:xfrm>
            <a:custGeom>
              <a:avLst/>
              <a:gdLst/>
              <a:ahLst/>
              <a:cxnLst/>
              <a:rect r="r" b="b" t="t" l="l"/>
              <a:pathLst>
                <a:path h="823200" w="4572000">
                  <a:moveTo>
                    <a:pt x="0" y="0"/>
                  </a:moveTo>
                  <a:lnTo>
                    <a:pt x="4572000" y="0"/>
                  </a:lnTo>
                  <a:lnTo>
                    <a:pt x="4572000" y="823200"/>
                  </a:lnTo>
                  <a:lnTo>
                    <a:pt x="0" y="823200"/>
                  </a:lnTo>
                  <a:close/>
                </a:path>
              </a:pathLst>
            </a:custGeom>
            <a:blipFill>
              <a:blip r:embed="rId4">
                <a:alphaModFix amt="0"/>
              </a:blip>
              <a:stretch>
                <a:fillRect l="0" t="-58218" r="0" b="-58218"/>
              </a:stretch>
            </a:blipFill>
          </p:spPr>
        </p:sp>
        <p:sp>
          <p:nvSpPr>
            <p:cNvPr name="TextBox 31" id="31"/>
            <p:cNvSpPr txBox="true"/>
            <p:nvPr/>
          </p:nvSpPr>
          <p:spPr>
            <a:xfrm>
              <a:off x="0" y="-38100"/>
              <a:ext cx="4572000" cy="861301"/>
            </a:xfrm>
            <a:prstGeom prst="rect">
              <a:avLst/>
            </a:prstGeom>
          </p:spPr>
          <p:txBody>
            <a:bodyPr anchor="ctr" rtlCol="false" tIns="0" lIns="0" bIns="0" rIns="0"/>
            <a:lstStyle/>
            <a:p>
              <a:pPr algn="l">
                <a:lnSpc>
                  <a:spcPts val="2879"/>
                </a:lnSpc>
              </a:pPr>
              <a:r>
                <a:rPr lang="en-US" b="true" sz="2400">
                  <a:solidFill>
                    <a:srgbClr val="00304D"/>
                  </a:solidFill>
                  <a:latin typeface="Calibri (MS) Bold"/>
                  <a:ea typeface="Calibri (MS) Bold"/>
                  <a:cs typeface="Calibri (MS) Bold"/>
                  <a:sym typeface="Calibri (MS) Bold"/>
                </a:rPr>
                <a:t>Administrador</a:t>
              </a:r>
            </a:p>
          </p:txBody>
        </p:sp>
      </p:grpSp>
      <p:sp>
        <p:nvSpPr>
          <p:cNvPr name="TextBox 32" id="32"/>
          <p:cNvSpPr txBox="true"/>
          <p:nvPr/>
        </p:nvSpPr>
        <p:spPr>
          <a:xfrm rot="0">
            <a:off x="6720840" y="3870960"/>
            <a:ext cx="4183199" cy="295275"/>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Gestionar productos </a:t>
            </a:r>
          </a:p>
        </p:txBody>
      </p:sp>
      <p:sp>
        <p:nvSpPr>
          <p:cNvPr name="TextBox 33" id="33"/>
          <p:cNvSpPr txBox="true"/>
          <p:nvPr/>
        </p:nvSpPr>
        <p:spPr>
          <a:xfrm rot="0">
            <a:off x="6720840" y="4803648"/>
            <a:ext cx="4183199" cy="723900"/>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Administrar inventario</a:t>
            </a:r>
          </a:p>
        </p:txBody>
      </p:sp>
      <p:sp>
        <p:nvSpPr>
          <p:cNvPr name="TextBox 34" id="34"/>
          <p:cNvSpPr txBox="true"/>
          <p:nvPr/>
        </p:nvSpPr>
        <p:spPr>
          <a:xfrm rot="0">
            <a:off x="6720840" y="5736336"/>
            <a:ext cx="4183199" cy="723900"/>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Gestionar usuarios y roles</a:t>
            </a:r>
          </a:p>
        </p:txBody>
      </p:sp>
      <p:sp>
        <p:nvSpPr>
          <p:cNvPr name="TextBox 35" id="35"/>
          <p:cNvSpPr txBox="true"/>
          <p:nvPr/>
        </p:nvSpPr>
        <p:spPr>
          <a:xfrm rot="0">
            <a:off x="6720840" y="6669024"/>
            <a:ext cx="4183199" cy="723900"/>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Ver y gestionar pedidos</a:t>
            </a:r>
          </a:p>
        </p:txBody>
      </p:sp>
      <p:sp>
        <p:nvSpPr>
          <p:cNvPr name="TextBox 36" id="36"/>
          <p:cNvSpPr txBox="true"/>
          <p:nvPr/>
        </p:nvSpPr>
        <p:spPr>
          <a:xfrm rot="0">
            <a:off x="6720840" y="7601712"/>
            <a:ext cx="4183199" cy="723900"/>
          </a:xfrm>
          <a:prstGeom prst="rect">
            <a:avLst/>
          </a:prstGeom>
        </p:spPr>
        <p:txBody>
          <a:bodyPr anchor="t" rtlCol="false" tIns="0" lIns="0" bIns="0" rIns="0">
            <a:spAutoFit/>
          </a:bodyPr>
          <a:lstStyle/>
          <a:p>
            <a:pPr algn="l">
              <a:lnSpc>
                <a:spcPts val="2070"/>
              </a:lnSpc>
            </a:pPr>
            <a:r>
              <a:rPr lang="en-US" b="true" sz="1725">
                <a:solidFill>
                  <a:srgbClr val="39A900"/>
                </a:solidFill>
                <a:latin typeface="Calibri (MS) Bold"/>
                <a:ea typeface="Calibri (MS) Bold"/>
                <a:cs typeface="Calibri (MS) Bold"/>
                <a:sym typeface="Calibri (MS) Bold"/>
              </a:rPr>
              <a:t>•  </a:t>
            </a:r>
            <a:r>
              <a:rPr lang="en-US" sz="1725">
                <a:solidFill>
                  <a:srgbClr val="22292E"/>
                </a:solidFill>
                <a:latin typeface="Calibri (MS)"/>
                <a:ea typeface="Calibri (MS)"/>
                <a:cs typeface="Calibri (MS)"/>
                <a:sym typeface="Calibri (MS)"/>
              </a:rPr>
              <a:t>Notificaciones en tiempo real</a:t>
            </a:r>
          </a:p>
        </p:txBody>
      </p:sp>
      <p:grpSp>
        <p:nvGrpSpPr>
          <p:cNvPr name="Group 37" id="37"/>
          <p:cNvGrpSpPr/>
          <p:nvPr/>
        </p:nvGrpSpPr>
        <p:grpSpPr>
          <a:xfrm rot="0">
            <a:off x="11658600" y="2468880"/>
            <a:ext cx="5897699" cy="6720754"/>
            <a:chOff x="0" y="0"/>
            <a:chExt cx="7863599" cy="8961006"/>
          </a:xfrm>
        </p:grpSpPr>
        <p:sp>
          <p:nvSpPr>
            <p:cNvPr name="Freeform 38" id="38"/>
            <p:cNvSpPr/>
            <p:nvPr/>
          </p:nvSpPr>
          <p:spPr>
            <a:xfrm flipH="false" flipV="false" rot="0">
              <a:off x="0" y="0"/>
              <a:ext cx="7863586" cy="8960993"/>
            </a:xfrm>
            <a:custGeom>
              <a:avLst/>
              <a:gdLst/>
              <a:ahLst/>
              <a:cxnLst/>
              <a:rect r="r" b="b" t="t" l="l"/>
              <a:pathLst>
                <a:path h="8960993" w="7863586">
                  <a:moveTo>
                    <a:pt x="0" y="146304"/>
                  </a:moveTo>
                  <a:cubicBezTo>
                    <a:pt x="0" y="65532"/>
                    <a:pt x="65532" y="0"/>
                    <a:pt x="146304" y="0"/>
                  </a:cubicBezTo>
                  <a:lnTo>
                    <a:pt x="7717282" y="0"/>
                  </a:lnTo>
                  <a:cubicBezTo>
                    <a:pt x="7798053" y="0"/>
                    <a:pt x="7863586" y="65532"/>
                    <a:pt x="7863586" y="146304"/>
                  </a:cubicBezTo>
                  <a:lnTo>
                    <a:pt x="7863586" y="8814689"/>
                  </a:lnTo>
                  <a:cubicBezTo>
                    <a:pt x="7863586" y="8895461"/>
                    <a:pt x="7798053" y="8960993"/>
                    <a:pt x="7717282" y="8960993"/>
                  </a:cubicBezTo>
                  <a:lnTo>
                    <a:pt x="146304" y="8960993"/>
                  </a:lnTo>
                  <a:cubicBezTo>
                    <a:pt x="65532" y="8960993"/>
                    <a:pt x="0" y="8895461"/>
                    <a:pt x="0" y="8814689"/>
                  </a:cubicBezTo>
                  <a:close/>
                </a:path>
              </a:pathLst>
            </a:custGeom>
            <a:solidFill>
              <a:srgbClr val="00304D"/>
            </a:solidFill>
          </p:spPr>
        </p:sp>
      </p:grpSp>
      <p:grpSp>
        <p:nvGrpSpPr>
          <p:cNvPr name="Group 39" id="39"/>
          <p:cNvGrpSpPr/>
          <p:nvPr/>
        </p:nvGrpSpPr>
        <p:grpSpPr>
          <a:xfrm rot="0">
            <a:off x="12138660" y="2880360"/>
            <a:ext cx="823046" cy="823046"/>
            <a:chOff x="0" y="0"/>
            <a:chExt cx="1097394" cy="1097394"/>
          </a:xfrm>
        </p:grpSpPr>
        <p:sp>
          <p:nvSpPr>
            <p:cNvPr name="Freeform 40" id="40"/>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FDC300"/>
            </a:solidFill>
          </p:spPr>
        </p:sp>
      </p:grpSp>
      <p:grpSp>
        <p:nvGrpSpPr>
          <p:cNvPr name="Group 41" id="41"/>
          <p:cNvGrpSpPr/>
          <p:nvPr/>
        </p:nvGrpSpPr>
        <p:grpSpPr>
          <a:xfrm rot="0">
            <a:off x="12352630" y="3094330"/>
            <a:ext cx="395021" cy="395021"/>
            <a:chOff x="0" y="0"/>
            <a:chExt cx="526694" cy="526694"/>
          </a:xfrm>
        </p:grpSpPr>
        <p:sp>
          <p:nvSpPr>
            <p:cNvPr name="Freeform 42" id="42" descr="icons/cloud.png"/>
            <p:cNvSpPr/>
            <p:nvPr/>
          </p:nvSpPr>
          <p:spPr>
            <a:xfrm flipH="false" flipV="false" rot="0">
              <a:off x="0" y="0"/>
              <a:ext cx="526669" cy="526669"/>
            </a:xfrm>
            <a:custGeom>
              <a:avLst/>
              <a:gdLst/>
              <a:ahLst/>
              <a:cxnLst/>
              <a:rect r="r" b="b" t="t" l="l"/>
              <a:pathLst>
                <a:path h="526669" w="526669">
                  <a:moveTo>
                    <a:pt x="0" y="0"/>
                  </a:moveTo>
                  <a:lnTo>
                    <a:pt x="526669" y="0"/>
                  </a:lnTo>
                  <a:lnTo>
                    <a:pt x="526669" y="526669"/>
                  </a:lnTo>
                  <a:lnTo>
                    <a:pt x="0" y="526669"/>
                  </a:lnTo>
                  <a:lnTo>
                    <a:pt x="0" y="0"/>
                  </a:lnTo>
                  <a:close/>
                </a:path>
              </a:pathLst>
            </a:custGeom>
            <a:blipFill>
              <a:blip r:embed="rId7"/>
              <a:stretch>
                <a:fillRect l="0" t="0" r="-4" b="-4"/>
              </a:stretch>
            </a:blipFill>
          </p:spPr>
        </p:sp>
      </p:grpSp>
      <p:grpSp>
        <p:nvGrpSpPr>
          <p:cNvPr name="Group 43" id="43"/>
          <p:cNvGrpSpPr/>
          <p:nvPr/>
        </p:nvGrpSpPr>
        <p:grpSpPr>
          <a:xfrm rot="0">
            <a:off x="13167360" y="2990088"/>
            <a:ext cx="4114800" cy="617401"/>
            <a:chOff x="0" y="0"/>
            <a:chExt cx="5486400" cy="823201"/>
          </a:xfrm>
        </p:grpSpPr>
        <p:sp>
          <p:nvSpPr>
            <p:cNvPr name="Freeform 44" id="44"/>
            <p:cNvSpPr/>
            <p:nvPr/>
          </p:nvSpPr>
          <p:spPr>
            <a:xfrm flipH="false" flipV="false" rot="0">
              <a:off x="0" y="0"/>
              <a:ext cx="5486400" cy="823200"/>
            </a:xfrm>
            <a:custGeom>
              <a:avLst/>
              <a:gdLst/>
              <a:ahLst/>
              <a:cxnLst/>
              <a:rect r="r" b="b" t="t" l="l"/>
              <a:pathLst>
                <a:path h="823200" w="5486400">
                  <a:moveTo>
                    <a:pt x="0" y="0"/>
                  </a:moveTo>
                  <a:lnTo>
                    <a:pt x="5486400" y="0"/>
                  </a:lnTo>
                  <a:lnTo>
                    <a:pt x="5486400" y="823200"/>
                  </a:lnTo>
                  <a:lnTo>
                    <a:pt x="0" y="823200"/>
                  </a:lnTo>
                  <a:close/>
                </a:path>
              </a:pathLst>
            </a:custGeom>
            <a:blipFill>
              <a:blip r:embed="rId4">
                <a:alphaModFix amt="0"/>
              </a:blip>
              <a:stretch>
                <a:fillRect l="0" t="-79862" r="0" b="-79862"/>
              </a:stretch>
            </a:blipFill>
          </p:spPr>
        </p:sp>
        <p:sp>
          <p:nvSpPr>
            <p:cNvPr name="TextBox 45" id="45"/>
            <p:cNvSpPr txBox="true"/>
            <p:nvPr/>
          </p:nvSpPr>
          <p:spPr>
            <a:xfrm>
              <a:off x="0" y="-57150"/>
              <a:ext cx="5486400" cy="880351"/>
            </a:xfrm>
            <a:prstGeom prst="rect">
              <a:avLst/>
            </a:prstGeom>
          </p:spPr>
          <p:txBody>
            <a:bodyPr anchor="ctr" rtlCol="false" tIns="0" lIns="0" bIns="0" rIns="0"/>
            <a:lstStyle/>
            <a:p>
              <a:pPr algn="l">
                <a:lnSpc>
                  <a:spcPts val="2700"/>
                </a:lnSpc>
              </a:pPr>
              <a:r>
                <a:rPr lang="en-US" b="true" sz="2250">
                  <a:solidFill>
                    <a:srgbClr val="FFFFFF"/>
                  </a:solidFill>
                  <a:latin typeface="Calibri (MS) Bold"/>
                  <a:ea typeface="Calibri (MS) Bold"/>
                  <a:cs typeface="Calibri (MS) Bold"/>
                  <a:sym typeface="Calibri (MS) Bold"/>
                </a:rPr>
                <a:t>Alcance tecnológico</a:t>
              </a:r>
            </a:p>
          </p:txBody>
        </p:sp>
      </p:grpSp>
      <p:sp>
        <p:nvSpPr>
          <p:cNvPr name="TextBox 46" id="46"/>
          <p:cNvSpPr txBox="true"/>
          <p:nvPr/>
        </p:nvSpPr>
        <p:spPr>
          <a:xfrm rot="0">
            <a:off x="12138660" y="3870960"/>
            <a:ext cx="5143500" cy="792299"/>
          </a:xfrm>
          <a:prstGeom prst="rect">
            <a:avLst/>
          </a:prstGeom>
        </p:spPr>
        <p:txBody>
          <a:bodyPr anchor="t" rtlCol="false" tIns="0" lIns="0" bIns="0" rIns="0">
            <a:spAutoFit/>
          </a:bodyPr>
          <a:lstStyle/>
          <a:p>
            <a:pPr algn="l">
              <a:lnSpc>
                <a:spcPts val="2070"/>
              </a:lnSpc>
            </a:pPr>
            <a:r>
              <a:rPr lang="en-US" b="true" sz="1725">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Plataforma web adaptable (responsive)</a:t>
            </a:r>
          </a:p>
        </p:txBody>
      </p:sp>
      <p:sp>
        <p:nvSpPr>
          <p:cNvPr name="TextBox 47" id="47"/>
          <p:cNvSpPr txBox="true"/>
          <p:nvPr/>
        </p:nvSpPr>
        <p:spPr>
          <a:xfrm rot="0">
            <a:off x="12138660" y="4803648"/>
            <a:ext cx="5143500" cy="295275"/>
          </a:xfrm>
          <a:prstGeom prst="rect">
            <a:avLst/>
          </a:prstGeom>
        </p:spPr>
        <p:txBody>
          <a:bodyPr anchor="t" rtlCol="false" tIns="0" lIns="0" bIns="0" rIns="0">
            <a:spAutoFit/>
          </a:bodyPr>
          <a:lstStyle/>
          <a:p>
            <a:pPr algn="l">
              <a:lnSpc>
                <a:spcPts val="2070"/>
              </a:lnSpc>
            </a:pPr>
            <a:r>
              <a:rPr lang="en-US" b="true" sz="1725">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Unificacion de procesos</a:t>
            </a:r>
          </a:p>
        </p:txBody>
      </p:sp>
      <p:sp>
        <p:nvSpPr>
          <p:cNvPr name="TextBox 48" id="48"/>
          <p:cNvSpPr txBox="true"/>
          <p:nvPr/>
        </p:nvSpPr>
        <p:spPr>
          <a:xfrm rot="0">
            <a:off x="12138660" y="5736336"/>
            <a:ext cx="5143500" cy="295275"/>
          </a:xfrm>
          <a:prstGeom prst="rect">
            <a:avLst/>
          </a:prstGeom>
        </p:spPr>
        <p:txBody>
          <a:bodyPr anchor="t" rtlCol="false" tIns="0" lIns="0" bIns="0" rIns="0">
            <a:spAutoFit/>
          </a:bodyPr>
          <a:lstStyle/>
          <a:p>
            <a:pPr algn="l">
              <a:lnSpc>
                <a:spcPts val="2070"/>
              </a:lnSpc>
            </a:pPr>
            <a:r>
              <a:rPr lang="en-US" b="true" sz="1725">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Base de datos relacional</a:t>
            </a:r>
          </a:p>
        </p:txBody>
      </p:sp>
      <p:sp>
        <p:nvSpPr>
          <p:cNvPr name="TextBox 49" id="49"/>
          <p:cNvSpPr txBox="true"/>
          <p:nvPr/>
        </p:nvSpPr>
        <p:spPr>
          <a:xfrm rot="0">
            <a:off x="12138660" y="6669024"/>
            <a:ext cx="5143500" cy="295275"/>
          </a:xfrm>
          <a:prstGeom prst="rect">
            <a:avLst/>
          </a:prstGeom>
        </p:spPr>
        <p:txBody>
          <a:bodyPr anchor="t" rtlCol="false" tIns="0" lIns="0" bIns="0" rIns="0">
            <a:spAutoFit/>
          </a:bodyPr>
          <a:lstStyle/>
          <a:p>
            <a:pPr algn="l">
              <a:lnSpc>
                <a:spcPts val="2070"/>
              </a:lnSpc>
            </a:pPr>
            <a:r>
              <a:rPr lang="en-US" b="true" sz="1725">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Integración con servicios en la nube (Supabase)</a:t>
            </a:r>
          </a:p>
        </p:txBody>
      </p:sp>
      <p:sp>
        <p:nvSpPr>
          <p:cNvPr name="TextBox 50" id="50"/>
          <p:cNvSpPr txBox="true"/>
          <p:nvPr/>
        </p:nvSpPr>
        <p:spPr>
          <a:xfrm rot="0">
            <a:off x="12138660" y="7601712"/>
            <a:ext cx="5143500" cy="295275"/>
          </a:xfrm>
          <a:prstGeom prst="rect">
            <a:avLst/>
          </a:prstGeom>
        </p:spPr>
        <p:txBody>
          <a:bodyPr anchor="t" rtlCol="false" tIns="0" lIns="0" bIns="0" rIns="0">
            <a:spAutoFit/>
          </a:bodyPr>
          <a:lstStyle/>
          <a:p>
            <a:pPr algn="l">
              <a:lnSpc>
                <a:spcPts val="2070"/>
              </a:lnSpc>
            </a:pPr>
            <a:r>
              <a:rPr lang="en-US" b="true" sz="1725">
                <a:solidFill>
                  <a:srgbClr val="FDC300"/>
                </a:solidFill>
                <a:latin typeface="Calibri (MS) Bold"/>
                <a:ea typeface="Calibri (MS) Bold"/>
                <a:cs typeface="Calibri (MS) Bold"/>
                <a:sym typeface="Calibri (MS) Bold"/>
              </a:rPr>
              <a:t>•  </a:t>
            </a:r>
            <a:r>
              <a:rPr lang="en-US" sz="1725">
                <a:solidFill>
                  <a:srgbClr val="E4EEF3"/>
                </a:solidFill>
                <a:latin typeface="Calibri (MS)"/>
                <a:ea typeface="Calibri (MS)"/>
                <a:cs typeface="Calibri (MS)"/>
                <a:sym typeface="Calibri (MS)"/>
              </a:rPr>
              <a:t>Enfoque en una sola mecanica</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576072"/>
            <a:ext cx="13716000" cy="480146"/>
            <a:chOff x="0" y="0"/>
            <a:chExt cx="18288000" cy="640194"/>
          </a:xfrm>
        </p:grpSpPr>
        <p:sp>
          <p:nvSpPr>
            <p:cNvPr name="Freeform 4" id="4"/>
            <p:cNvSpPr/>
            <p:nvPr/>
          </p:nvSpPr>
          <p:spPr>
            <a:xfrm flipH="false" flipV="false" rot="0">
              <a:off x="0" y="0"/>
              <a:ext cx="18288000" cy="640200"/>
            </a:xfrm>
            <a:custGeom>
              <a:avLst/>
              <a:gdLst/>
              <a:ahLst/>
              <a:cxnLst/>
              <a:rect r="r" b="b" t="t" l="l"/>
              <a:pathLst>
                <a:path h="640200" w="18288000">
                  <a:moveTo>
                    <a:pt x="0" y="0"/>
                  </a:moveTo>
                  <a:lnTo>
                    <a:pt x="18288000" y="0"/>
                  </a:lnTo>
                  <a:lnTo>
                    <a:pt x="18288000" y="640200"/>
                  </a:lnTo>
                  <a:lnTo>
                    <a:pt x="0" y="640200"/>
                  </a:lnTo>
                  <a:close/>
                </a:path>
              </a:pathLst>
            </a:custGeom>
            <a:blipFill>
              <a:blip r:embed="rId4">
                <a:alphaModFix amt="0"/>
              </a:blip>
              <a:stretch>
                <a:fillRect l="0" t="-506611" r="0" b="-506610"/>
              </a:stretch>
            </a:blipFill>
          </p:spPr>
        </p:sp>
        <p:sp>
          <p:nvSpPr>
            <p:cNvPr name="TextBox 5" id="5"/>
            <p:cNvSpPr txBox="true"/>
            <p:nvPr/>
          </p:nvSpPr>
          <p:spPr>
            <a:xfrm>
              <a:off x="0" y="-47625"/>
              <a:ext cx="18288000" cy="687819"/>
            </a:xfrm>
            <a:prstGeom prst="rect">
              <a:avLst/>
            </a:prstGeom>
          </p:spPr>
          <p:txBody>
            <a:bodyPr anchor="ctr" rtlCol="false" tIns="0" lIns="0" bIns="0" rIns="0"/>
            <a:lstStyle/>
            <a:p>
              <a:pPr algn="l">
                <a:lnSpc>
                  <a:spcPts val="2340"/>
                </a:lnSpc>
              </a:pPr>
              <a:r>
                <a:rPr lang="en-US" b="true" sz="1950">
                  <a:solidFill>
                    <a:srgbClr val="39A900"/>
                  </a:solidFill>
                  <a:latin typeface="Calibri (MS) Bold"/>
                  <a:ea typeface="Calibri (MS) Bold"/>
                  <a:cs typeface="Calibri (MS) Bold"/>
                  <a:sym typeface="Calibri (MS) Bold"/>
                </a:rPr>
                <a:t>CÓMO TRABAJAMOS</a:t>
              </a:r>
            </a:p>
          </p:txBody>
        </p:sp>
      </p:grpSp>
      <p:grpSp>
        <p:nvGrpSpPr>
          <p:cNvPr name="Group 6" id="6"/>
          <p:cNvGrpSpPr/>
          <p:nvPr/>
        </p:nvGrpSpPr>
        <p:grpSpPr>
          <a:xfrm rot="0">
            <a:off x="822960" y="987552"/>
            <a:ext cx="16184699" cy="1165946"/>
            <a:chOff x="0" y="0"/>
            <a:chExt cx="21579599" cy="1554594"/>
          </a:xfrm>
        </p:grpSpPr>
        <p:sp>
          <p:nvSpPr>
            <p:cNvPr name="Freeform 7" id="7"/>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8" id="8"/>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Metodología ágil: Scrum</a:t>
              </a:r>
            </a:p>
          </p:txBody>
        </p:sp>
      </p:grpSp>
      <p:grpSp>
        <p:nvGrpSpPr>
          <p:cNvPr name="Group 9" id="9"/>
          <p:cNvGrpSpPr/>
          <p:nvPr/>
        </p:nvGrpSpPr>
        <p:grpSpPr>
          <a:xfrm rot="0">
            <a:off x="822960" y="2400300"/>
            <a:ext cx="15910646" cy="891454"/>
            <a:chOff x="0" y="0"/>
            <a:chExt cx="21214194" cy="1188606"/>
          </a:xfrm>
        </p:grpSpPr>
        <p:sp>
          <p:nvSpPr>
            <p:cNvPr name="Freeform 10" id="10"/>
            <p:cNvSpPr/>
            <p:nvPr/>
          </p:nvSpPr>
          <p:spPr>
            <a:xfrm flipH="false" flipV="false" rot="0">
              <a:off x="0" y="0"/>
              <a:ext cx="21214200" cy="1188600"/>
            </a:xfrm>
            <a:custGeom>
              <a:avLst/>
              <a:gdLst/>
              <a:ahLst/>
              <a:cxnLst/>
              <a:rect r="r" b="b" t="t" l="l"/>
              <a:pathLst>
                <a:path h="1188600" w="21214200">
                  <a:moveTo>
                    <a:pt x="0" y="0"/>
                  </a:moveTo>
                  <a:lnTo>
                    <a:pt x="21214200" y="0"/>
                  </a:lnTo>
                  <a:lnTo>
                    <a:pt x="21214200" y="1188600"/>
                  </a:lnTo>
                  <a:lnTo>
                    <a:pt x="0" y="1188600"/>
                  </a:lnTo>
                  <a:close/>
                </a:path>
              </a:pathLst>
            </a:custGeom>
            <a:blipFill>
              <a:blip r:embed="rId4">
                <a:alphaModFix amt="0"/>
              </a:blip>
              <a:stretch>
                <a:fillRect l="0" t="-297769" r="0" b="-297770"/>
              </a:stretch>
            </a:blipFill>
          </p:spPr>
        </p:sp>
        <p:sp>
          <p:nvSpPr>
            <p:cNvPr name="TextBox 11" id="11"/>
            <p:cNvSpPr txBox="true"/>
            <p:nvPr/>
          </p:nvSpPr>
          <p:spPr>
            <a:xfrm>
              <a:off x="0" y="-38100"/>
              <a:ext cx="21214194" cy="1226706"/>
            </a:xfrm>
            <a:prstGeom prst="rect">
              <a:avLst/>
            </a:prstGeom>
          </p:spPr>
          <p:txBody>
            <a:bodyPr anchor="ctr" rtlCol="false" tIns="0" lIns="0" bIns="0" rIns="0"/>
            <a:lstStyle/>
            <a:p>
              <a:pPr algn="l">
                <a:lnSpc>
                  <a:spcPts val="2430"/>
                </a:lnSpc>
              </a:pPr>
              <a:r>
                <a:rPr lang="en-US" sz="2025">
                  <a:solidFill>
                    <a:srgbClr val="22292E"/>
                  </a:solidFill>
                  <a:latin typeface="Calibri (MS)"/>
                  <a:ea typeface="Calibri (MS)"/>
                  <a:cs typeface="Calibri (MS)"/>
                  <a:sym typeface="Calibri (MS)"/>
                </a:rPr>
                <a:t>El proyecto se desarrolló bajo un ciclo de vida iterativo e incremental (Scrum), permitiendo incorporar mejoras y nuevas funcionalidades de forma progresiva a lo largo de 6 meses.</a:t>
              </a:r>
            </a:p>
          </p:txBody>
        </p:sp>
      </p:grpSp>
      <p:grpSp>
        <p:nvGrpSpPr>
          <p:cNvPr name="Group 12" id="12"/>
          <p:cNvGrpSpPr/>
          <p:nvPr/>
        </p:nvGrpSpPr>
        <p:grpSpPr>
          <a:xfrm rot="0">
            <a:off x="822960" y="3634740"/>
            <a:ext cx="5143500" cy="1851746"/>
            <a:chOff x="0" y="0"/>
            <a:chExt cx="6858000" cy="2468994"/>
          </a:xfrm>
        </p:grpSpPr>
        <p:sp>
          <p:nvSpPr>
            <p:cNvPr name="Freeform 13" id="13"/>
            <p:cNvSpPr/>
            <p:nvPr/>
          </p:nvSpPr>
          <p:spPr>
            <a:xfrm flipH="false" flipV="false" rot="0">
              <a:off x="0" y="0"/>
              <a:ext cx="6858000" cy="2469007"/>
            </a:xfrm>
            <a:custGeom>
              <a:avLst/>
              <a:gdLst/>
              <a:ahLst/>
              <a:cxnLst/>
              <a:rect r="r" b="b" t="t" l="l"/>
              <a:pathLst>
                <a:path h="2469007" w="6858000">
                  <a:moveTo>
                    <a:pt x="0" y="146304"/>
                  </a:moveTo>
                  <a:cubicBezTo>
                    <a:pt x="0" y="65532"/>
                    <a:pt x="65532" y="0"/>
                    <a:pt x="146304" y="0"/>
                  </a:cubicBezTo>
                  <a:lnTo>
                    <a:pt x="6711696" y="0"/>
                  </a:lnTo>
                  <a:cubicBezTo>
                    <a:pt x="6792468" y="0"/>
                    <a:pt x="6858000" y="65532"/>
                    <a:pt x="6858000" y="146304"/>
                  </a:cubicBezTo>
                  <a:lnTo>
                    <a:pt x="6858000" y="2322703"/>
                  </a:lnTo>
                  <a:cubicBezTo>
                    <a:pt x="6858000" y="2403475"/>
                    <a:pt x="6792468" y="2469007"/>
                    <a:pt x="6711696" y="2469007"/>
                  </a:cubicBezTo>
                  <a:lnTo>
                    <a:pt x="146304" y="2469007"/>
                  </a:lnTo>
                  <a:cubicBezTo>
                    <a:pt x="65532" y="2469007"/>
                    <a:pt x="0" y="2403475"/>
                    <a:pt x="0" y="2322703"/>
                  </a:cubicBezTo>
                  <a:close/>
                </a:path>
              </a:pathLst>
            </a:custGeom>
            <a:solidFill>
              <a:srgbClr val="F6F6F6"/>
            </a:solidFill>
          </p:spPr>
        </p:sp>
      </p:grpSp>
      <p:grpSp>
        <p:nvGrpSpPr>
          <p:cNvPr name="Group 14" id="14"/>
          <p:cNvGrpSpPr/>
          <p:nvPr/>
        </p:nvGrpSpPr>
        <p:grpSpPr>
          <a:xfrm rot="0">
            <a:off x="1069848" y="3881628"/>
            <a:ext cx="823046" cy="823046"/>
            <a:chOff x="0" y="0"/>
            <a:chExt cx="1097394" cy="1097394"/>
          </a:xfrm>
        </p:grpSpPr>
        <p:sp>
          <p:nvSpPr>
            <p:cNvPr name="Freeform 15" id="15"/>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00304D"/>
            </a:solidFill>
          </p:spPr>
        </p:sp>
      </p:grpSp>
      <p:grpSp>
        <p:nvGrpSpPr>
          <p:cNvPr name="Group 16" id="16"/>
          <p:cNvGrpSpPr/>
          <p:nvPr/>
        </p:nvGrpSpPr>
        <p:grpSpPr>
          <a:xfrm rot="0">
            <a:off x="1283818" y="4095598"/>
            <a:ext cx="395021" cy="395021"/>
            <a:chOff x="0" y="0"/>
            <a:chExt cx="526694" cy="526694"/>
          </a:xfrm>
        </p:grpSpPr>
        <p:sp>
          <p:nvSpPr>
            <p:cNvPr name="Freeform 17" id="17" descr="icons/users.png"/>
            <p:cNvSpPr/>
            <p:nvPr/>
          </p:nvSpPr>
          <p:spPr>
            <a:xfrm flipH="false" flipV="false" rot="0">
              <a:off x="0" y="0"/>
              <a:ext cx="526669" cy="526669"/>
            </a:xfrm>
            <a:custGeom>
              <a:avLst/>
              <a:gdLst/>
              <a:ahLst/>
              <a:cxnLst/>
              <a:rect r="r" b="b" t="t" l="l"/>
              <a:pathLst>
                <a:path h="526669" w="526669">
                  <a:moveTo>
                    <a:pt x="0" y="0"/>
                  </a:moveTo>
                  <a:lnTo>
                    <a:pt x="526669" y="0"/>
                  </a:lnTo>
                  <a:lnTo>
                    <a:pt x="526669" y="526669"/>
                  </a:lnTo>
                  <a:lnTo>
                    <a:pt x="0" y="526669"/>
                  </a:lnTo>
                  <a:lnTo>
                    <a:pt x="0" y="0"/>
                  </a:lnTo>
                  <a:close/>
                </a:path>
              </a:pathLst>
            </a:custGeom>
            <a:blipFill>
              <a:blip r:embed="rId5"/>
              <a:stretch>
                <a:fillRect l="0" t="0" r="-4" b="-4"/>
              </a:stretch>
            </a:blipFill>
          </p:spPr>
        </p:sp>
      </p:grpSp>
      <p:grpSp>
        <p:nvGrpSpPr>
          <p:cNvPr name="Group 18" id="18"/>
          <p:cNvGrpSpPr/>
          <p:nvPr/>
        </p:nvGrpSpPr>
        <p:grpSpPr>
          <a:xfrm rot="0">
            <a:off x="2125980" y="3813048"/>
            <a:ext cx="3634654" cy="438750"/>
            <a:chOff x="0" y="0"/>
            <a:chExt cx="4846206" cy="585000"/>
          </a:xfrm>
        </p:grpSpPr>
        <p:sp>
          <p:nvSpPr>
            <p:cNvPr name="Freeform 19" id="19"/>
            <p:cNvSpPr/>
            <p:nvPr/>
          </p:nvSpPr>
          <p:spPr>
            <a:xfrm flipH="false" flipV="false" rot="0">
              <a:off x="0" y="0"/>
              <a:ext cx="4846200" cy="585000"/>
            </a:xfrm>
            <a:custGeom>
              <a:avLst/>
              <a:gdLst/>
              <a:ahLst/>
              <a:cxnLst/>
              <a:rect r="r" b="b" t="t" l="l"/>
              <a:pathLst>
                <a:path h="585000" w="4846200">
                  <a:moveTo>
                    <a:pt x="0" y="0"/>
                  </a:moveTo>
                  <a:lnTo>
                    <a:pt x="4846200" y="0"/>
                  </a:lnTo>
                  <a:lnTo>
                    <a:pt x="4846200" y="585000"/>
                  </a:lnTo>
                  <a:lnTo>
                    <a:pt x="0" y="585000"/>
                  </a:lnTo>
                  <a:close/>
                </a:path>
              </a:pathLst>
            </a:custGeom>
            <a:blipFill>
              <a:blip r:embed="rId4">
                <a:alphaModFix amt="0"/>
              </a:blip>
              <a:stretch>
                <a:fillRect l="0" t="-111416" r="0" b="-111416"/>
              </a:stretch>
            </a:blipFill>
          </p:spPr>
        </p:sp>
        <p:sp>
          <p:nvSpPr>
            <p:cNvPr name="TextBox 20" id="20"/>
            <p:cNvSpPr txBox="true"/>
            <p:nvPr/>
          </p:nvSpPr>
          <p:spPr>
            <a:xfrm>
              <a:off x="0" y="-38100"/>
              <a:ext cx="4846206" cy="623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Kevin Barreto</a:t>
              </a:r>
            </a:p>
          </p:txBody>
        </p:sp>
      </p:grpSp>
      <p:grpSp>
        <p:nvGrpSpPr>
          <p:cNvPr name="Group 21" id="21"/>
          <p:cNvGrpSpPr/>
          <p:nvPr/>
        </p:nvGrpSpPr>
        <p:grpSpPr>
          <a:xfrm rot="0">
            <a:off x="2125980" y="4197096"/>
            <a:ext cx="3634654" cy="411299"/>
            <a:chOff x="0" y="0"/>
            <a:chExt cx="4846206" cy="548399"/>
          </a:xfrm>
        </p:grpSpPr>
        <p:sp>
          <p:nvSpPr>
            <p:cNvPr name="Freeform 22" id="22"/>
            <p:cNvSpPr/>
            <p:nvPr/>
          </p:nvSpPr>
          <p:spPr>
            <a:xfrm flipH="false" flipV="false" rot="0">
              <a:off x="0" y="0"/>
              <a:ext cx="4846200" cy="548400"/>
            </a:xfrm>
            <a:custGeom>
              <a:avLst/>
              <a:gdLst/>
              <a:ahLst/>
              <a:cxnLst/>
              <a:rect r="r" b="b" t="t" l="l"/>
              <a:pathLst>
                <a:path h="548400" w="4846200">
                  <a:moveTo>
                    <a:pt x="0" y="0"/>
                  </a:moveTo>
                  <a:lnTo>
                    <a:pt x="4846200" y="0"/>
                  </a:lnTo>
                  <a:lnTo>
                    <a:pt x="4846200" y="548400"/>
                  </a:lnTo>
                  <a:lnTo>
                    <a:pt x="0" y="548400"/>
                  </a:lnTo>
                  <a:close/>
                </a:path>
              </a:pathLst>
            </a:custGeom>
            <a:blipFill>
              <a:blip r:embed="rId4">
                <a:alphaModFix amt="0"/>
              </a:blip>
              <a:stretch>
                <a:fillRect l="0" t="-122189" r="0" b="-122188"/>
              </a:stretch>
            </a:blipFill>
          </p:spPr>
        </p:sp>
        <p:sp>
          <p:nvSpPr>
            <p:cNvPr name="TextBox 23" id="23"/>
            <p:cNvSpPr txBox="true"/>
            <p:nvPr/>
          </p:nvSpPr>
          <p:spPr>
            <a:xfrm>
              <a:off x="0" y="-19050"/>
              <a:ext cx="4846206" cy="567449"/>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Product Owner</a:t>
              </a:r>
            </a:p>
          </p:txBody>
        </p:sp>
      </p:grpSp>
      <p:grpSp>
        <p:nvGrpSpPr>
          <p:cNvPr name="Group 24" id="24"/>
          <p:cNvGrpSpPr/>
          <p:nvPr/>
        </p:nvGrpSpPr>
        <p:grpSpPr>
          <a:xfrm rot="0">
            <a:off x="1069848" y="4869180"/>
            <a:ext cx="4663354" cy="548554"/>
            <a:chOff x="0" y="0"/>
            <a:chExt cx="6217806" cy="731406"/>
          </a:xfrm>
        </p:grpSpPr>
        <p:sp>
          <p:nvSpPr>
            <p:cNvPr name="Freeform 25" id="25"/>
            <p:cNvSpPr/>
            <p:nvPr/>
          </p:nvSpPr>
          <p:spPr>
            <a:xfrm flipH="false" flipV="false" rot="0">
              <a:off x="0" y="0"/>
              <a:ext cx="6217800" cy="731400"/>
            </a:xfrm>
            <a:custGeom>
              <a:avLst/>
              <a:gdLst/>
              <a:ahLst/>
              <a:cxnLst/>
              <a:rect r="r" b="b" t="t" l="l"/>
              <a:pathLst>
                <a:path h="731400" w="6217800">
                  <a:moveTo>
                    <a:pt x="0" y="0"/>
                  </a:moveTo>
                  <a:lnTo>
                    <a:pt x="6217800" y="0"/>
                  </a:lnTo>
                  <a:lnTo>
                    <a:pt x="6217800" y="731400"/>
                  </a:lnTo>
                  <a:lnTo>
                    <a:pt x="0" y="731400"/>
                  </a:lnTo>
                  <a:close/>
                </a:path>
              </a:pathLst>
            </a:custGeom>
            <a:blipFill>
              <a:blip r:embed="rId4">
                <a:alphaModFix amt="0"/>
              </a:blip>
              <a:stretch>
                <a:fillRect l="0" t="-115646" r="0" b="-115647"/>
              </a:stretch>
            </a:blipFill>
          </p:spPr>
        </p:sp>
        <p:sp>
          <p:nvSpPr>
            <p:cNvPr name="TextBox 26" id="26"/>
            <p:cNvSpPr txBox="true"/>
            <p:nvPr/>
          </p:nvSpPr>
          <p:spPr>
            <a:xfrm>
              <a:off x="0" y="-28575"/>
              <a:ext cx="6217806" cy="759981"/>
            </a:xfrm>
            <a:prstGeom prst="rect">
              <a:avLst/>
            </a:prstGeom>
          </p:spPr>
          <p:txBody>
            <a:bodyPr anchor="ctr" rtlCol="false" tIns="0" lIns="0" bIns="0" rIns="0"/>
            <a:lstStyle/>
            <a:p>
              <a:pPr algn="l">
                <a:lnSpc>
                  <a:spcPts val="1764"/>
                </a:lnSpc>
              </a:pPr>
              <a:r>
                <a:rPr lang="en-US" sz="1470">
                  <a:solidFill>
                    <a:srgbClr val="5B6670"/>
                  </a:solidFill>
                  <a:latin typeface="Calibri (MS)"/>
                  <a:ea typeface="Calibri (MS)"/>
                  <a:cs typeface="Calibri (MS)"/>
                  <a:sym typeface="Calibri (MS)"/>
                </a:rPr>
                <a:t>Define y prioriza el backlog</a:t>
              </a:r>
            </a:p>
          </p:txBody>
        </p:sp>
      </p:grpSp>
      <p:grpSp>
        <p:nvGrpSpPr>
          <p:cNvPr name="Group 27" id="27"/>
          <p:cNvGrpSpPr/>
          <p:nvPr/>
        </p:nvGrpSpPr>
        <p:grpSpPr>
          <a:xfrm rot="0">
            <a:off x="6199632" y="3634740"/>
            <a:ext cx="5143500" cy="1851746"/>
            <a:chOff x="0" y="0"/>
            <a:chExt cx="6858000" cy="2468994"/>
          </a:xfrm>
        </p:grpSpPr>
        <p:sp>
          <p:nvSpPr>
            <p:cNvPr name="Freeform 28" id="28"/>
            <p:cNvSpPr/>
            <p:nvPr/>
          </p:nvSpPr>
          <p:spPr>
            <a:xfrm flipH="false" flipV="false" rot="0">
              <a:off x="0" y="0"/>
              <a:ext cx="6858000" cy="2469007"/>
            </a:xfrm>
            <a:custGeom>
              <a:avLst/>
              <a:gdLst/>
              <a:ahLst/>
              <a:cxnLst/>
              <a:rect r="r" b="b" t="t" l="l"/>
              <a:pathLst>
                <a:path h="2469007" w="6858000">
                  <a:moveTo>
                    <a:pt x="0" y="146304"/>
                  </a:moveTo>
                  <a:cubicBezTo>
                    <a:pt x="0" y="65532"/>
                    <a:pt x="65532" y="0"/>
                    <a:pt x="146304" y="0"/>
                  </a:cubicBezTo>
                  <a:lnTo>
                    <a:pt x="6711696" y="0"/>
                  </a:lnTo>
                  <a:cubicBezTo>
                    <a:pt x="6792468" y="0"/>
                    <a:pt x="6858000" y="65532"/>
                    <a:pt x="6858000" y="146304"/>
                  </a:cubicBezTo>
                  <a:lnTo>
                    <a:pt x="6858000" y="2322703"/>
                  </a:lnTo>
                  <a:cubicBezTo>
                    <a:pt x="6858000" y="2403475"/>
                    <a:pt x="6792468" y="2469007"/>
                    <a:pt x="6711696" y="2469007"/>
                  </a:cubicBezTo>
                  <a:lnTo>
                    <a:pt x="146304" y="2469007"/>
                  </a:lnTo>
                  <a:cubicBezTo>
                    <a:pt x="65532" y="2469007"/>
                    <a:pt x="0" y="2403475"/>
                    <a:pt x="0" y="2322703"/>
                  </a:cubicBezTo>
                  <a:close/>
                </a:path>
              </a:pathLst>
            </a:custGeom>
            <a:solidFill>
              <a:srgbClr val="F6F6F6"/>
            </a:solidFill>
          </p:spPr>
        </p:sp>
      </p:grpSp>
      <p:grpSp>
        <p:nvGrpSpPr>
          <p:cNvPr name="Group 29" id="29"/>
          <p:cNvGrpSpPr/>
          <p:nvPr/>
        </p:nvGrpSpPr>
        <p:grpSpPr>
          <a:xfrm rot="0">
            <a:off x="6446520" y="3881628"/>
            <a:ext cx="823046" cy="823046"/>
            <a:chOff x="0" y="0"/>
            <a:chExt cx="1097394" cy="1097394"/>
          </a:xfrm>
        </p:grpSpPr>
        <p:sp>
          <p:nvSpPr>
            <p:cNvPr name="Freeform 30" id="30"/>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00304D"/>
            </a:solidFill>
          </p:spPr>
        </p:sp>
      </p:grpSp>
      <p:grpSp>
        <p:nvGrpSpPr>
          <p:cNvPr name="Group 31" id="31"/>
          <p:cNvGrpSpPr/>
          <p:nvPr/>
        </p:nvGrpSpPr>
        <p:grpSpPr>
          <a:xfrm rot="0">
            <a:off x="6660490" y="4095598"/>
            <a:ext cx="395021" cy="395021"/>
            <a:chOff x="0" y="0"/>
            <a:chExt cx="526694" cy="526694"/>
          </a:xfrm>
        </p:grpSpPr>
        <p:sp>
          <p:nvSpPr>
            <p:cNvPr name="Freeform 32" id="32" descr="icons/users.png"/>
            <p:cNvSpPr/>
            <p:nvPr/>
          </p:nvSpPr>
          <p:spPr>
            <a:xfrm flipH="false" flipV="false" rot="0">
              <a:off x="0" y="0"/>
              <a:ext cx="526669" cy="526669"/>
            </a:xfrm>
            <a:custGeom>
              <a:avLst/>
              <a:gdLst/>
              <a:ahLst/>
              <a:cxnLst/>
              <a:rect r="r" b="b" t="t" l="l"/>
              <a:pathLst>
                <a:path h="526669" w="526669">
                  <a:moveTo>
                    <a:pt x="0" y="0"/>
                  </a:moveTo>
                  <a:lnTo>
                    <a:pt x="526669" y="0"/>
                  </a:lnTo>
                  <a:lnTo>
                    <a:pt x="526669" y="526669"/>
                  </a:lnTo>
                  <a:lnTo>
                    <a:pt x="0" y="526669"/>
                  </a:lnTo>
                  <a:lnTo>
                    <a:pt x="0" y="0"/>
                  </a:lnTo>
                  <a:close/>
                </a:path>
              </a:pathLst>
            </a:custGeom>
            <a:blipFill>
              <a:blip r:embed="rId5"/>
              <a:stretch>
                <a:fillRect l="0" t="0" r="-4" b="-4"/>
              </a:stretch>
            </a:blipFill>
          </p:spPr>
        </p:sp>
      </p:grpSp>
      <p:grpSp>
        <p:nvGrpSpPr>
          <p:cNvPr name="Group 33" id="33"/>
          <p:cNvGrpSpPr/>
          <p:nvPr/>
        </p:nvGrpSpPr>
        <p:grpSpPr>
          <a:xfrm rot="0">
            <a:off x="7502652" y="3813048"/>
            <a:ext cx="3634654" cy="438750"/>
            <a:chOff x="0" y="0"/>
            <a:chExt cx="4846206" cy="585000"/>
          </a:xfrm>
        </p:grpSpPr>
        <p:sp>
          <p:nvSpPr>
            <p:cNvPr name="Freeform 34" id="34"/>
            <p:cNvSpPr/>
            <p:nvPr/>
          </p:nvSpPr>
          <p:spPr>
            <a:xfrm flipH="false" flipV="false" rot="0">
              <a:off x="0" y="0"/>
              <a:ext cx="4846200" cy="585000"/>
            </a:xfrm>
            <a:custGeom>
              <a:avLst/>
              <a:gdLst/>
              <a:ahLst/>
              <a:cxnLst/>
              <a:rect r="r" b="b" t="t" l="l"/>
              <a:pathLst>
                <a:path h="585000" w="4846200">
                  <a:moveTo>
                    <a:pt x="0" y="0"/>
                  </a:moveTo>
                  <a:lnTo>
                    <a:pt x="4846200" y="0"/>
                  </a:lnTo>
                  <a:lnTo>
                    <a:pt x="4846200" y="585000"/>
                  </a:lnTo>
                  <a:lnTo>
                    <a:pt x="0" y="585000"/>
                  </a:lnTo>
                  <a:close/>
                </a:path>
              </a:pathLst>
            </a:custGeom>
            <a:blipFill>
              <a:blip r:embed="rId4">
                <a:alphaModFix amt="0"/>
              </a:blip>
              <a:stretch>
                <a:fillRect l="0" t="-111416" r="0" b="-111416"/>
              </a:stretch>
            </a:blipFill>
          </p:spPr>
        </p:sp>
        <p:sp>
          <p:nvSpPr>
            <p:cNvPr name="TextBox 35" id="35"/>
            <p:cNvSpPr txBox="true"/>
            <p:nvPr/>
          </p:nvSpPr>
          <p:spPr>
            <a:xfrm>
              <a:off x="0" y="-38100"/>
              <a:ext cx="4846206" cy="623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Joseph Zapata</a:t>
              </a:r>
            </a:p>
          </p:txBody>
        </p:sp>
      </p:grpSp>
      <p:grpSp>
        <p:nvGrpSpPr>
          <p:cNvPr name="Group 36" id="36"/>
          <p:cNvGrpSpPr/>
          <p:nvPr/>
        </p:nvGrpSpPr>
        <p:grpSpPr>
          <a:xfrm rot="0">
            <a:off x="7502652" y="4197096"/>
            <a:ext cx="3634654" cy="411299"/>
            <a:chOff x="0" y="0"/>
            <a:chExt cx="4846206" cy="548399"/>
          </a:xfrm>
        </p:grpSpPr>
        <p:sp>
          <p:nvSpPr>
            <p:cNvPr name="Freeform 37" id="37"/>
            <p:cNvSpPr/>
            <p:nvPr/>
          </p:nvSpPr>
          <p:spPr>
            <a:xfrm flipH="false" flipV="false" rot="0">
              <a:off x="0" y="0"/>
              <a:ext cx="4846200" cy="548400"/>
            </a:xfrm>
            <a:custGeom>
              <a:avLst/>
              <a:gdLst/>
              <a:ahLst/>
              <a:cxnLst/>
              <a:rect r="r" b="b" t="t" l="l"/>
              <a:pathLst>
                <a:path h="548400" w="4846200">
                  <a:moveTo>
                    <a:pt x="0" y="0"/>
                  </a:moveTo>
                  <a:lnTo>
                    <a:pt x="4846200" y="0"/>
                  </a:lnTo>
                  <a:lnTo>
                    <a:pt x="4846200" y="548400"/>
                  </a:lnTo>
                  <a:lnTo>
                    <a:pt x="0" y="548400"/>
                  </a:lnTo>
                  <a:close/>
                </a:path>
              </a:pathLst>
            </a:custGeom>
            <a:blipFill>
              <a:blip r:embed="rId4">
                <a:alphaModFix amt="0"/>
              </a:blip>
              <a:stretch>
                <a:fillRect l="0" t="-122189" r="0" b="-122188"/>
              </a:stretch>
            </a:blipFill>
          </p:spPr>
        </p:sp>
        <p:sp>
          <p:nvSpPr>
            <p:cNvPr name="TextBox 38" id="38"/>
            <p:cNvSpPr txBox="true"/>
            <p:nvPr/>
          </p:nvSpPr>
          <p:spPr>
            <a:xfrm>
              <a:off x="0" y="-19050"/>
              <a:ext cx="4846206" cy="567449"/>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Scrum Master</a:t>
              </a:r>
            </a:p>
          </p:txBody>
        </p:sp>
      </p:grpSp>
      <p:grpSp>
        <p:nvGrpSpPr>
          <p:cNvPr name="Group 39" id="39"/>
          <p:cNvGrpSpPr/>
          <p:nvPr/>
        </p:nvGrpSpPr>
        <p:grpSpPr>
          <a:xfrm rot="0">
            <a:off x="6446520" y="4869180"/>
            <a:ext cx="4663354" cy="548554"/>
            <a:chOff x="0" y="0"/>
            <a:chExt cx="6217806" cy="731406"/>
          </a:xfrm>
        </p:grpSpPr>
        <p:sp>
          <p:nvSpPr>
            <p:cNvPr name="Freeform 40" id="40"/>
            <p:cNvSpPr/>
            <p:nvPr/>
          </p:nvSpPr>
          <p:spPr>
            <a:xfrm flipH="false" flipV="false" rot="0">
              <a:off x="0" y="0"/>
              <a:ext cx="6217800" cy="731400"/>
            </a:xfrm>
            <a:custGeom>
              <a:avLst/>
              <a:gdLst/>
              <a:ahLst/>
              <a:cxnLst/>
              <a:rect r="r" b="b" t="t" l="l"/>
              <a:pathLst>
                <a:path h="731400" w="6217800">
                  <a:moveTo>
                    <a:pt x="0" y="0"/>
                  </a:moveTo>
                  <a:lnTo>
                    <a:pt x="6217800" y="0"/>
                  </a:lnTo>
                  <a:lnTo>
                    <a:pt x="6217800" y="731400"/>
                  </a:lnTo>
                  <a:lnTo>
                    <a:pt x="0" y="731400"/>
                  </a:lnTo>
                  <a:close/>
                </a:path>
              </a:pathLst>
            </a:custGeom>
            <a:blipFill>
              <a:blip r:embed="rId4">
                <a:alphaModFix amt="0"/>
              </a:blip>
              <a:stretch>
                <a:fillRect l="0" t="-115646" r="0" b="-115647"/>
              </a:stretch>
            </a:blipFill>
          </p:spPr>
        </p:sp>
        <p:sp>
          <p:nvSpPr>
            <p:cNvPr name="TextBox 41" id="41"/>
            <p:cNvSpPr txBox="true"/>
            <p:nvPr/>
          </p:nvSpPr>
          <p:spPr>
            <a:xfrm>
              <a:off x="0" y="-28575"/>
              <a:ext cx="6217806" cy="759981"/>
            </a:xfrm>
            <a:prstGeom prst="rect">
              <a:avLst/>
            </a:prstGeom>
          </p:spPr>
          <p:txBody>
            <a:bodyPr anchor="ctr" rtlCol="false" tIns="0" lIns="0" bIns="0" rIns="0"/>
            <a:lstStyle/>
            <a:p>
              <a:pPr algn="l">
                <a:lnSpc>
                  <a:spcPts val="1764"/>
                </a:lnSpc>
              </a:pPr>
              <a:r>
                <a:rPr lang="en-US" sz="1470">
                  <a:solidFill>
                    <a:srgbClr val="5B6670"/>
                  </a:solidFill>
                  <a:latin typeface="Calibri (MS)"/>
                  <a:ea typeface="Calibri (MS)"/>
                  <a:cs typeface="Calibri (MS)"/>
                  <a:sym typeface="Calibri (MS)"/>
                </a:rPr>
                <a:t>Facilita el proceso ágil del equipo</a:t>
              </a:r>
            </a:p>
          </p:txBody>
        </p:sp>
      </p:grpSp>
      <p:grpSp>
        <p:nvGrpSpPr>
          <p:cNvPr name="Group 42" id="42"/>
          <p:cNvGrpSpPr/>
          <p:nvPr/>
        </p:nvGrpSpPr>
        <p:grpSpPr>
          <a:xfrm rot="0">
            <a:off x="11576304" y="3634740"/>
            <a:ext cx="5143500" cy="1851746"/>
            <a:chOff x="0" y="0"/>
            <a:chExt cx="6858000" cy="2468994"/>
          </a:xfrm>
        </p:grpSpPr>
        <p:sp>
          <p:nvSpPr>
            <p:cNvPr name="Freeform 43" id="43"/>
            <p:cNvSpPr/>
            <p:nvPr/>
          </p:nvSpPr>
          <p:spPr>
            <a:xfrm flipH="false" flipV="false" rot="0">
              <a:off x="0" y="0"/>
              <a:ext cx="6858000" cy="2469007"/>
            </a:xfrm>
            <a:custGeom>
              <a:avLst/>
              <a:gdLst/>
              <a:ahLst/>
              <a:cxnLst/>
              <a:rect r="r" b="b" t="t" l="l"/>
              <a:pathLst>
                <a:path h="2469007" w="6858000">
                  <a:moveTo>
                    <a:pt x="0" y="146304"/>
                  </a:moveTo>
                  <a:cubicBezTo>
                    <a:pt x="0" y="65532"/>
                    <a:pt x="65532" y="0"/>
                    <a:pt x="146304" y="0"/>
                  </a:cubicBezTo>
                  <a:lnTo>
                    <a:pt x="6711696" y="0"/>
                  </a:lnTo>
                  <a:cubicBezTo>
                    <a:pt x="6792468" y="0"/>
                    <a:pt x="6858000" y="65532"/>
                    <a:pt x="6858000" y="146304"/>
                  </a:cubicBezTo>
                  <a:lnTo>
                    <a:pt x="6858000" y="2322703"/>
                  </a:lnTo>
                  <a:cubicBezTo>
                    <a:pt x="6858000" y="2403475"/>
                    <a:pt x="6792468" y="2469007"/>
                    <a:pt x="6711696" y="2469007"/>
                  </a:cubicBezTo>
                  <a:lnTo>
                    <a:pt x="146304" y="2469007"/>
                  </a:lnTo>
                  <a:cubicBezTo>
                    <a:pt x="65532" y="2469007"/>
                    <a:pt x="0" y="2403475"/>
                    <a:pt x="0" y="2322703"/>
                  </a:cubicBezTo>
                  <a:close/>
                </a:path>
              </a:pathLst>
            </a:custGeom>
            <a:solidFill>
              <a:srgbClr val="F6F6F6"/>
            </a:solidFill>
          </p:spPr>
        </p:sp>
      </p:grpSp>
      <p:grpSp>
        <p:nvGrpSpPr>
          <p:cNvPr name="Group 44" id="44"/>
          <p:cNvGrpSpPr/>
          <p:nvPr/>
        </p:nvGrpSpPr>
        <p:grpSpPr>
          <a:xfrm rot="0">
            <a:off x="11823192" y="3881628"/>
            <a:ext cx="823046" cy="823046"/>
            <a:chOff x="0" y="0"/>
            <a:chExt cx="1097394" cy="1097394"/>
          </a:xfrm>
        </p:grpSpPr>
        <p:sp>
          <p:nvSpPr>
            <p:cNvPr name="Freeform 45" id="45"/>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789"/>
                    <a:pt x="0" y="548640"/>
                  </a:cubicBezTo>
                  <a:close/>
                </a:path>
              </a:pathLst>
            </a:custGeom>
            <a:solidFill>
              <a:srgbClr val="00304D"/>
            </a:solidFill>
          </p:spPr>
        </p:sp>
      </p:grpSp>
      <p:grpSp>
        <p:nvGrpSpPr>
          <p:cNvPr name="Group 46" id="46"/>
          <p:cNvGrpSpPr/>
          <p:nvPr/>
        </p:nvGrpSpPr>
        <p:grpSpPr>
          <a:xfrm rot="0">
            <a:off x="12037162" y="4095598"/>
            <a:ext cx="395021" cy="395021"/>
            <a:chOff x="0" y="0"/>
            <a:chExt cx="526694" cy="526694"/>
          </a:xfrm>
        </p:grpSpPr>
        <p:sp>
          <p:nvSpPr>
            <p:cNvPr name="Freeform 47" id="47" descr="icons/users.png"/>
            <p:cNvSpPr/>
            <p:nvPr/>
          </p:nvSpPr>
          <p:spPr>
            <a:xfrm flipH="false" flipV="false" rot="0">
              <a:off x="0" y="0"/>
              <a:ext cx="526669" cy="526669"/>
            </a:xfrm>
            <a:custGeom>
              <a:avLst/>
              <a:gdLst/>
              <a:ahLst/>
              <a:cxnLst/>
              <a:rect r="r" b="b" t="t" l="l"/>
              <a:pathLst>
                <a:path h="526669" w="526669">
                  <a:moveTo>
                    <a:pt x="0" y="0"/>
                  </a:moveTo>
                  <a:lnTo>
                    <a:pt x="526669" y="0"/>
                  </a:lnTo>
                  <a:lnTo>
                    <a:pt x="526669" y="526669"/>
                  </a:lnTo>
                  <a:lnTo>
                    <a:pt x="0" y="526669"/>
                  </a:lnTo>
                  <a:lnTo>
                    <a:pt x="0" y="0"/>
                  </a:lnTo>
                  <a:close/>
                </a:path>
              </a:pathLst>
            </a:custGeom>
            <a:blipFill>
              <a:blip r:embed="rId5"/>
              <a:stretch>
                <a:fillRect l="0" t="0" r="-4" b="-4"/>
              </a:stretch>
            </a:blipFill>
          </p:spPr>
        </p:sp>
      </p:grpSp>
      <p:grpSp>
        <p:nvGrpSpPr>
          <p:cNvPr name="Group 48" id="48"/>
          <p:cNvGrpSpPr/>
          <p:nvPr/>
        </p:nvGrpSpPr>
        <p:grpSpPr>
          <a:xfrm rot="0">
            <a:off x="12879324" y="3813048"/>
            <a:ext cx="3634654" cy="438750"/>
            <a:chOff x="0" y="0"/>
            <a:chExt cx="4846206" cy="585000"/>
          </a:xfrm>
        </p:grpSpPr>
        <p:sp>
          <p:nvSpPr>
            <p:cNvPr name="Freeform 49" id="49"/>
            <p:cNvSpPr/>
            <p:nvPr/>
          </p:nvSpPr>
          <p:spPr>
            <a:xfrm flipH="false" flipV="false" rot="0">
              <a:off x="0" y="0"/>
              <a:ext cx="4846200" cy="585000"/>
            </a:xfrm>
            <a:custGeom>
              <a:avLst/>
              <a:gdLst/>
              <a:ahLst/>
              <a:cxnLst/>
              <a:rect r="r" b="b" t="t" l="l"/>
              <a:pathLst>
                <a:path h="585000" w="4846200">
                  <a:moveTo>
                    <a:pt x="0" y="0"/>
                  </a:moveTo>
                  <a:lnTo>
                    <a:pt x="4846200" y="0"/>
                  </a:lnTo>
                  <a:lnTo>
                    <a:pt x="4846200" y="585000"/>
                  </a:lnTo>
                  <a:lnTo>
                    <a:pt x="0" y="585000"/>
                  </a:lnTo>
                  <a:close/>
                </a:path>
              </a:pathLst>
            </a:custGeom>
            <a:blipFill>
              <a:blip r:embed="rId4">
                <a:alphaModFix amt="0"/>
              </a:blip>
              <a:stretch>
                <a:fillRect l="0" t="-111416" r="0" b="-111416"/>
              </a:stretch>
            </a:blipFill>
          </p:spPr>
        </p:sp>
        <p:sp>
          <p:nvSpPr>
            <p:cNvPr name="TextBox 50" id="50"/>
            <p:cNvSpPr txBox="true"/>
            <p:nvPr/>
          </p:nvSpPr>
          <p:spPr>
            <a:xfrm>
              <a:off x="0" y="-38100"/>
              <a:ext cx="4846206" cy="623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Sneider Plata</a:t>
              </a:r>
            </a:p>
          </p:txBody>
        </p:sp>
      </p:grpSp>
      <p:grpSp>
        <p:nvGrpSpPr>
          <p:cNvPr name="Group 51" id="51"/>
          <p:cNvGrpSpPr/>
          <p:nvPr/>
        </p:nvGrpSpPr>
        <p:grpSpPr>
          <a:xfrm rot="0">
            <a:off x="12879324" y="4197096"/>
            <a:ext cx="3634654" cy="411299"/>
            <a:chOff x="0" y="0"/>
            <a:chExt cx="4846206" cy="548399"/>
          </a:xfrm>
        </p:grpSpPr>
        <p:sp>
          <p:nvSpPr>
            <p:cNvPr name="Freeform 52" id="52"/>
            <p:cNvSpPr/>
            <p:nvPr/>
          </p:nvSpPr>
          <p:spPr>
            <a:xfrm flipH="false" flipV="false" rot="0">
              <a:off x="0" y="0"/>
              <a:ext cx="4846200" cy="548400"/>
            </a:xfrm>
            <a:custGeom>
              <a:avLst/>
              <a:gdLst/>
              <a:ahLst/>
              <a:cxnLst/>
              <a:rect r="r" b="b" t="t" l="l"/>
              <a:pathLst>
                <a:path h="548400" w="4846200">
                  <a:moveTo>
                    <a:pt x="0" y="0"/>
                  </a:moveTo>
                  <a:lnTo>
                    <a:pt x="4846200" y="0"/>
                  </a:lnTo>
                  <a:lnTo>
                    <a:pt x="4846200" y="548400"/>
                  </a:lnTo>
                  <a:lnTo>
                    <a:pt x="0" y="548400"/>
                  </a:lnTo>
                  <a:close/>
                </a:path>
              </a:pathLst>
            </a:custGeom>
            <a:blipFill>
              <a:blip r:embed="rId4">
                <a:alphaModFix amt="0"/>
              </a:blip>
              <a:stretch>
                <a:fillRect l="0" t="-122189" r="0" b="-122188"/>
              </a:stretch>
            </a:blipFill>
          </p:spPr>
        </p:sp>
        <p:sp>
          <p:nvSpPr>
            <p:cNvPr name="TextBox 53" id="53"/>
            <p:cNvSpPr txBox="true"/>
            <p:nvPr/>
          </p:nvSpPr>
          <p:spPr>
            <a:xfrm>
              <a:off x="0" y="-19050"/>
              <a:ext cx="4846206" cy="567449"/>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Development Leader</a:t>
              </a:r>
            </a:p>
          </p:txBody>
        </p:sp>
      </p:grpSp>
      <p:grpSp>
        <p:nvGrpSpPr>
          <p:cNvPr name="Group 54" id="54"/>
          <p:cNvGrpSpPr/>
          <p:nvPr/>
        </p:nvGrpSpPr>
        <p:grpSpPr>
          <a:xfrm rot="0">
            <a:off x="11823192" y="4869180"/>
            <a:ext cx="4663354" cy="548554"/>
            <a:chOff x="0" y="0"/>
            <a:chExt cx="6217806" cy="731406"/>
          </a:xfrm>
        </p:grpSpPr>
        <p:sp>
          <p:nvSpPr>
            <p:cNvPr name="Freeform 55" id="55"/>
            <p:cNvSpPr/>
            <p:nvPr/>
          </p:nvSpPr>
          <p:spPr>
            <a:xfrm flipH="false" flipV="false" rot="0">
              <a:off x="0" y="0"/>
              <a:ext cx="6217800" cy="731400"/>
            </a:xfrm>
            <a:custGeom>
              <a:avLst/>
              <a:gdLst/>
              <a:ahLst/>
              <a:cxnLst/>
              <a:rect r="r" b="b" t="t" l="l"/>
              <a:pathLst>
                <a:path h="731400" w="6217800">
                  <a:moveTo>
                    <a:pt x="0" y="0"/>
                  </a:moveTo>
                  <a:lnTo>
                    <a:pt x="6217800" y="0"/>
                  </a:lnTo>
                  <a:lnTo>
                    <a:pt x="6217800" y="731400"/>
                  </a:lnTo>
                  <a:lnTo>
                    <a:pt x="0" y="731400"/>
                  </a:lnTo>
                  <a:close/>
                </a:path>
              </a:pathLst>
            </a:custGeom>
            <a:blipFill>
              <a:blip r:embed="rId4">
                <a:alphaModFix amt="0"/>
              </a:blip>
              <a:stretch>
                <a:fillRect l="0" t="-115646" r="0" b="-115647"/>
              </a:stretch>
            </a:blipFill>
          </p:spPr>
        </p:sp>
        <p:sp>
          <p:nvSpPr>
            <p:cNvPr name="TextBox 56" id="56"/>
            <p:cNvSpPr txBox="true"/>
            <p:nvPr/>
          </p:nvSpPr>
          <p:spPr>
            <a:xfrm>
              <a:off x="0" y="-28575"/>
              <a:ext cx="6217806" cy="759981"/>
            </a:xfrm>
            <a:prstGeom prst="rect">
              <a:avLst/>
            </a:prstGeom>
          </p:spPr>
          <p:txBody>
            <a:bodyPr anchor="ctr" rtlCol="false" tIns="0" lIns="0" bIns="0" rIns="0"/>
            <a:lstStyle/>
            <a:p>
              <a:pPr algn="l">
                <a:lnSpc>
                  <a:spcPts val="1764"/>
                </a:lnSpc>
              </a:pPr>
              <a:r>
                <a:rPr lang="en-US" sz="1470">
                  <a:solidFill>
                    <a:srgbClr val="5B6670"/>
                  </a:solidFill>
                  <a:latin typeface="Calibri (MS)"/>
                  <a:ea typeface="Calibri (MS)"/>
                  <a:cs typeface="Calibri (MS)"/>
                  <a:sym typeface="Calibri (MS)"/>
                </a:rPr>
                <a:t>Lidera la construcción técnica</a:t>
              </a:r>
            </a:p>
          </p:txBody>
        </p:sp>
      </p:grpSp>
      <p:grpSp>
        <p:nvGrpSpPr>
          <p:cNvPr name="Group 57" id="57"/>
          <p:cNvGrpSpPr/>
          <p:nvPr/>
        </p:nvGrpSpPr>
        <p:grpSpPr>
          <a:xfrm rot="0">
            <a:off x="822960" y="5966460"/>
            <a:ext cx="8229600" cy="480146"/>
            <a:chOff x="0" y="0"/>
            <a:chExt cx="10972800" cy="640194"/>
          </a:xfrm>
        </p:grpSpPr>
        <p:sp>
          <p:nvSpPr>
            <p:cNvPr name="Freeform 58" id="58"/>
            <p:cNvSpPr/>
            <p:nvPr/>
          </p:nvSpPr>
          <p:spPr>
            <a:xfrm flipH="false" flipV="false" rot="0">
              <a:off x="0" y="0"/>
              <a:ext cx="10972800" cy="640200"/>
            </a:xfrm>
            <a:custGeom>
              <a:avLst/>
              <a:gdLst/>
              <a:ahLst/>
              <a:cxnLst/>
              <a:rect r="r" b="b" t="t" l="l"/>
              <a:pathLst>
                <a:path h="640200" w="10972800">
                  <a:moveTo>
                    <a:pt x="0" y="0"/>
                  </a:moveTo>
                  <a:lnTo>
                    <a:pt x="10972800" y="0"/>
                  </a:lnTo>
                  <a:lnTo>
                    <a:pt x="10972800" y="640200"/>
                  </a:lnTo>
                  <a:lnTo>
                    <a:pt x="0" y="640200"/>
                  </a:lnTo>
                  <a:close/>
                </a:path>
              </a:pathLst>
            </a:custGeom>
            <a:blipFill>
              <a:blip r:embed="rId4">
                <a:alphaModFix amt="0"/>
              </a:blip>
              <a:stretch>
                <a:fillRect l="0" t="-283967" r="0" b="-283966"/>
              </a:stretch>
            </a:blipFill>
          </p:spPr>
        </p:sp>
        <p:sp>
          <p:nvSpPr>
            <p:cNvPr name="TextBox 59" id="59"/>
            <p:cNvSpPr txBox="true"/>
            <p:nvPr/>
          </p:nvSpPr>
          <p:spPr>
            <a:xfrm>
              <a:off x="0" y="-57150"/>
              <a:ext cx="10972800" cy="697344"/>
            </a:xfrm>
            <a:prstGeom prst="rect">
              <a:avLst/>
            </a:prstGeom>
          </p:spPr>
          <p:txBody>
            <a:bodyPr anchor="ctr" rtlCol="false" tIns="0" lIns="0" bIns="0" rIns="0"/>
            <a:lstStyle/>
            <a:p>
              <a:pPr algn="l">
                <a:lnSpc>
                  <a:spcPts val="2700"/>
                </a:lnSpc>
              </a:pPr>
              <a:r>
                <a:rPr lang="en-US" b="true" sz="2250">
                  <a:solidFill>
                    <a:srgbClr val="00304D"/>
                  </a:solidFill>
                  <a:latin typeface="Calibri (MS) Bold"/>
                  <a:ea typeface="Calibri (MS) Bold"/>
                  <a:cs typeface="Calibri (MS) Bold"/>
                  <a:sym typeface="Calibri (MS) Bold"/>
                </a:rPr>
                <a:t>Fases del proyecto (6 meses)</a:t>
              </a:r>
            </a:p>
          </p:txBody>
        </p:sp>
      </p:grpSp>
      <p:grpSp>
        <p:nvGrpSpPr>
          <p:cNvPr name="Group 60" id="60"/>
          <p:cNvGrpSpPr/>
          <p:nvPr/>
        </p:nvGrpSpPr>
        <p:grpSpPr>
          <a:xfrm rot="0">
            <a:off x="822960" y="6652260"/>
            <a:ext cx="2423246" cy="891454"/>
            <a:chOff x="0" y="0"/>
            <a:chExt cx="3230994" cy="1188606"/>
          </a:xfrm>
        </p:grpSpPr>
        <p:sp>
          <p:nvSpPr>
            <p:cNvPr name="Freeform 61" id="61"/>
            <p:cNvSpPr/>
            <p:nvPr/>
          </p:nvSpPr>
          <p:spPr>
            <a:xfrm flipH="false" flipV="false" rot="0">
              <a:off x="0" y="0"/>
              <a:ext cx="3231007" cy="1188593"/>
            </a:xfrm>
            <a:custGeom>
              <a:avLst/>
              <a:gdLst/>
              <a:ahLst/>
              <a:cxnLst/>
              <a:rect r="r" b="b" t="t" l="l"/>
              <a:pathLst>
                <a:path h="1188593" w="3231007">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39A900"/>
            </a:solidFill>
          </p:spPr>
        </p:sp>
      </p:grpSp>
      <p:grpSp>
        <p:nvGrpSpPr>
          <p:cNvPr name="Group 62" id="62"/>
          <p:cNvGrpSpPr/>
          <p:nvPr/>
        </p:nvGrpSpPr>
        <p:grpSpPr>
          <a:xfrm rot="0">
            <a:off x="822960" y="6652260"/>
            <a:ext cx="2423246" cy="891454"/>
            <a:chOff x="0" y="0"/>
            <a:chExt cx="3230994" cy="1188606"/>
          </a:xfrm>
        </p:grpSpPr>
        <p:sp>
          <p:nvSpPr>
            <p:cNvPr name="Freeform 63" id="63"/>
            <p:cNvSpPr/>
            <p:nvPr/>
          </p:nvSpPr>
          <p:spPr>
            <a:xfrm flipH="false" flipV="false" rot="0">
              <a:off x="0" y="0"/>
              <a:ext cx="3231000" cy="1188600"/>
            </a:xfrm>
            <a:custGeom>
              <a:avLst/>
              <a:gdLst/>
              <a:ahLst/>
              <a:cxnLst/>
              <a:rect r="r" b="b" t="t" l="l"/>
              <a:pathLst>
                <a:path h="1188600" w="3231000">
                  <a:moveTo>
                    <a:pt x="0" y="0"/>
                  </a:moveTo>
                  <a:lnTo>
                    <a:pt x="3231000" y="0"/>
                  </a:lnTo>
                  <a:lnTo>
                    <a:pt x="3231000" y="1188600"/>
                  </a:lnTo>
                  <a:lnTo>
                    <a:pt x="0" y="1188600"/>
                  </a:lnTo>
                  <a:close/>
                </a:path>
              </a:pathLst>
            </a:custGeom>
            <a:blipFill>
              <a:blip r:embed="rId4">
                <a:alphaModFix amt="0"/>
              </a:blip>
              <a:stretch>
                <a:fillRect l="0" t="-2966" r="0" b="-2966"/>
              </a:stretch>
            </a:blipFill>
          </p:spPr>
        </p:sp>
        <p:sp>
          <p:nvSpPr>
            <p:cNvPr name="TextBox 64" id="64"/>
            <p:cNvSpPr txBox="true"/>
            <p:nvPr/>
          </p:nvSpPr>
          <p:spPr>
            <a:xfrm>
              <a:off x="0" y="-28575"/>
              <a:ext cx="3230994" cy="1217181"/>
            </a:xfrm>
            <a:prstGeom prst="rect">
              <a:avLst/>
            </a:prstGeom>
          </p:spPr>
          <p:txBody>
            <a:bodyPr anchor="ctr" rtlCol="false" tIns="0" lIns="0" bIns="0" rIns="0"/>
            <a:lstStyle/>
            <a:p>
              <a:pPr algn="ctr">
                <a:lnSpc>
                  <a:spcPts val="1980"/>
                </a:lnSpc>
              </a:pPr>
              <a:r>
                <a:rPr lang="en-US" b="true" sz="1650">
                  <a:solidFill>
                    <a:srgbClr val="FFFFFF"/>
                  </a:solidFill>
                  <a:latin typeface="Calibri (MS) Bold"/>
                  <a:ea typeface="Calibri (MS) Bold"/>
                  <a:cs typeface="Calibri (MS) Bold"/>
                  <a:sym typeface="Calibri (MS) Bold"/>
                </a:rPr>
                <a:t>Requisitos</a:t>
              </a:r>
            </a:p>
          </p:txBody>
        </p:sp>
      </p:grpSp>
      <p:grpSp>
        <p:nvGrpSpPr>
          <p:cNvPr name="Group 65" id="65"/>
          <p:cNvGrpSpPr/>
          <p:nvPr/>
        </p:nvGrpSpPr>
        <p:grpSpPr>
          <a:xfrm rot="0">
            <a:off x="3246120" y="6652260"/>
            <a:ext cx="274501" cy="891454"/>
            <a:chOff x="0" y="0"/>
            <a:chExt cx="366001" cy="1188606"/>
          </a:xfrm>
        </p:grpSpPr>
        <p:sp>
          <p:nvSpPr>
            <p:cNvPr name="Freeform 66" id="66"/>
            <p:cNvSpPr/>
            <p:nvPr/>
          </p:nvSpPr>
          <p:spPr>
            <a:xfrm flipH="false" flipV="false" rot="0">
              <a:off x="0" y="0"/>
              <a:ext cx="366000" cy="1188600"/>
            </a:xfrm>
            <a:custGeom>
              <a:avLst/>
              <a:gdLst/>
              <a:ahLst/>
              <a:cxnLst/>
              <a:rect r="r" b="b" t="t" l="l"/>
              <a:pathLst>
                <a:path h="1188600" w="366000">
                  <a:moveTo>
                    <a:pt x="0" y="0"/>
                  </a:moveTo>
                  <a:lnTo>
                    <a:pt x="366000" y="0"/>
                  </a:lnTo>
                  <a:lnTo>
                    <a:pt x="366000" y="1188600"/>
                  </a:lnTo>
                  <a:lnTo>
                    <a:pt x="0" y="1188600"/>
                  </a:lnTo>
                  <a:close/>
                </a:path>
              </a:pathLst>
            </a:custGeom>
            <a:blipFill>
              <a:blip r:embed="rId4">
                <a:alphaModFix amt="0"/>
              </a:blip>
              <a:stretch>
                <a:fillRect l="-366672" t="0" r="-366673" b="0"/>
              </a:stretch>
            </a:blipFill>
          </p:spPr>
        </p:sp>
        <p:sp>
          <p:nvSpPr>
            <p:cNvPr name="TextBox 67" id="67"/>
            <p:cNvSpPr txBox="true"/>
            <p:nvPr/>
          </p:nvSpPr>
          <p:spPr>
            <a:xfrm>
              <a:off x="0" y="-47625"/>
              <a:ext cx="366001" cy="1236231"/>
            </a:xfrm>
            <a:prstGeom prst="rect">
              <a:avLst/>
            </a:prstGeom>
          </p:spPr>
          <p:txBody>
            <a:bodyPr anchor="ctr" rtlCol="false" tIns="0" lIns="0" bIns="0" rIns="0"/>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name="Group 68" id="68"/>
          <p:cNvGrpSpPr/>
          <p:nvPr/>
        </p:nvGrpSpPr>
        <p:grpSpPr>
          <a:xfrm rot="0">
            <a:off x="3520440" y="6652260"/>
            <a:ext cx="2423246" cy="891454"/>
            <a:chOff x="0" y="0"/>
            <a:chExt cx="3230994" cy="1188606"/>
          </a:xfrm>
        </p:grpSpPr>
        <p:sp>
          <p:nvSpPr>
            <p:cNvPr name="Freeform 69" id="69"/>
            <p:cNvSpPr/>
            <p:nvPr/>
          </p:nvSpPr>
          <p:spPr>
            <a:xfrm flipH="false" flipV="false" rot="0">
              <a:off x="0" y="0"/>
              <a:ext cx="3231007" cy="1188593"/>
            </a:xfrm>
            <a:custGeom>
              <a:avLst/>
              <a:gdLst/>
              <a:ahLst/>
              <a:cxnLst/>
              <a:rect r="r" b="b" t="t" l="l"/>
              <a:pathLst>
                <a:path h="1188593" w="3231007">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00304D"/>
            </a:solidFill>
          </p:spPr>
        </p:sp>
      </p:grpSp>
      <p:grpSp>
        <p:nvGrpSpPr>
          <p:cNvPr name="Group 70" id="70"/>
          <p:cNvGrpSpPr/>
          <p:nvPr/>
        </p:nvGrpSpPr>
        <p:grpSpPr>
          <a:xfrm rot="0">
            <a:off x="3520440" y="6652260"/>
            <a:ext cx="2423246" cy="891454"/>
            <a:chOff x="0" y="0"/>
            <a:chExt cx="3230994" cy="1188606"/>
          </a:xfrm>
        </p:grpSpPr>
        <p:sp>
          <p:nvSpPr>
            <p:cNvPr name="Freeform 71" id="71"/>
            <p:cNvSpPr/>
            <p:nvPr/>
          </p:nvSpPr>
          <p:spPr>
            <a:xfrm flipH="false" flipV="false" rot="0">
              <a:off x="0" y="0"/>
              <a:ext cx="3231000" cy="1188600"/>
            </a:xfrm>
            <a:custGeom>
              <a:avLst/>
              <a:gdLst/>
              <a:ahLst/>
              <a:cxnLst/>
              <a:rect r="r" b="b" t="t" l="l"/>
              <a:pathLst>
                <a:path h="1188600" w="3231000">
                  <a:moveTo>
                    <a:pt x="0" y="0"/>
                  </a:moveTo>
                  <a:lnTo>
                    <a:pt x="3231000" y="0"/>
                  </a:lnTo>
                  <a:lnTo>
                    <a:pt x="3231000" y="1188600"/>
                  </a:lnTo>
                  <a:lnTo>
                    <a:pt x="0" y="1188600"/>
                  </a:lnTo>
                  <a:close/>
                </a:path>
              </a:pathLst>
            </a:custGeom>
            <a:blipFill>
              <a:blip r:embed="rId4">
                <a:alphaModFix amt="0"/>
              </a:blip>
              <a:stretch>
                <a:fillRect l="0" t="-2966" r="0" b="-2966"/>
              </a:stretch>
            </a:blipFill>
          </p:spPr>
        </p:sp>
        <p:sp>
          <p:nvSpPr>
            <p:cNvPr name="TextBox 72" id="72"/>
            <p:cNvSpPr txBox="true"/>
            <p:nvPr/>
          </p:nvSpPr>
          <p:spPr>
            <a:xfrm>
              <a:off x="0" y="-28575"/>
              <a:ext cx="3230994" cy="1217181"/>
            </a:xfrm>
            <a:prstGeom prst="rect">
              <a:avLst/>
            </a:prstGeom>
          </p:spPr>
          <p:txBody>
            <a:bodyPr anchor="ctr" rtlCol="false" tIns="0" lIns="0" bIns="0" rIns="0"/>
            <a:lstStyle/>
            <a:p>
              <a:pPr algn="ctr">
                <a:lnSpc>
                  <a:spcPts val="1980"/>
                </a:lnSpc>
              </a:pPr>
              <a:r>
                <a:rPr lang="en-US" b="true" sz="1650">
                  <a:solidFill>
                    <a:srgbClr val="FFFFFF"/>
                  </a:solidFill>
                  <a:latin typeface="Calibri (MS) Bold"/>
                  <a:ea typeface="Calibri (MS) Bold"/>
                  <a:cs typeface="Calibri (MS) Bold"/>
                  <a:sym typeface="Calibri (MS) Bold"/>
                </a:rPr>
                <a:t>Diseño</a:t>
              </a:r>
            </a:p>
          </p:txBody>
        </p:sp>
      </p:grpSp>
      <p:grpSp>
        <p:nvGrpSpPr>
          <p:cNvPr name="Group 73" id="73"/>
          <p:cNvGrpSpPr/>
          <p:nvPr/>
        </p:nvGrpSpPr>
        <p:grpSpPr>
          <a:xfrm rot="0">
            <a:off x="5943600" y="6652260"/>
            <a:ext cx="274501" cy="891454"/>
            <a:chOff x="0" y="0"/>
            <a:chExt cx="366001" cy="1188606"/>
          </a:xfrm>
        </p:grpSpPr>
        <p:sp>
          <p:nvSpPr>
            <p:cNvPr name="Freeform 74" id="74"/>
            <p:cNvSpPr/>
            <p:nvPr/>
          </p:nvSpPr>
          <p:spPr>
            <a:xfrm flipH="false" flipV="false" rot="0">
              <a:off x="0" y="0"/>
              <a:ext cx="366000" cy="1188600"/>
            </a:xfrm>
            <a:custGeom>
              <a:avLst/>
              <a:gdLst/>
              <a:ahLst/>
              <a:cxnLst/>
              <a:rect r="r" b="b" t="t" l="l"/>
              <a:pathLst>
                <a:path h="1188600" w="366000">
                  <a:moveTo>
                    <a:pt x="0" y="0"/>
                  </a:moveTo>
                  <a:lnTo>
                    <a:pt x="366000" y="0"/>
                  </a:lnTo>
                  <a:lnTo>
                    <a:pt x="366000" y="1188600"/>
                  </a:lnTo>
                  <a:lnTo>
                    <a:pt x="0" y="1188600"/>
                  </a:lnTo>
                  <a:close/>
                </a:path>
              </a:pathLst>
            </a:custGeom>
            <a:blipFill>
              <a:blip r:embed="rId4">
                <a:alphaModFix amt="0"/>
              </a:blip>
              <a:stretch>
                <a:fillRect l="-366672" t="0" r="-366673" b="0"/>
              </a:stretch>
            </a:blipFill>
          </p:spPr>
        </p:sp>
        <p:sp>
          <p:nvSpPr>
            <p:cNvPr name="TextBox 75" id="75"/>
            <p:cNvSpPr txBox="true"/>
            <p:nvPr/>
          </p:nvSpPr>
          <p:spPr>
            <a:xfrm>
              <a:off x="0" y="-47625"/>
              <a:ext cx="366001" cy="1236231"/>
            </a:xfrm>
            <a:prstGeom prst="rect">
              <a:avLst/>
            </a:prstGeom>
          </p:spPr>
          <p:txBody>
            <a:bodyPr anchor="ctr" rtlCol="false" tIns="0" lIns="0" bIns="0" rIns="0"/>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name="Group 76" id="76"/>
          <p:cNvGrpSpPr/>
          <p:nvPr/>
        </p:nvGrpSpPr>
        <p:grpSpPr>
          <a:xfrm rot="0">
            <a:off x="6217920" y="6652260"/>
            <a:ext cx="2423246" cy="891454"/>
            <a:chOff x="0" y="0"/>
            <a:chExt cx="3230994" cy="1188606"/>
          </a:xfrm>
        </p:grpSpPr>
        <p:sp>
          <p:nvSpPr>
            <p:cNvPr name="Freeform 77" id="77"/>
            <p:cNvSpPr/>
            <p:nvPr/>
          </p:nvSpPr>
          <p:spPr>
            <a:xfrm flipH="false" flipV="false" rot="0">
              <a:off x="0" y="0"/>
              <a:ext cx="3231007" cy="1188593"/>
            </a:xfrm>
            <a:custGeom>
              <a:avLst/>
              <a:gdLst/>
              <a:ahLst/>
              <a:cxnLst/>
              <a:rect r="r" b="b" t="t" l="l"/>
              <a:pathLst>
                <a:path h="1188593" w="3231007">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39A900"/>
            </a:solidFill>
          </p:spPr>
        </p:sp>
      </p:grpSp>
      <p:grpSp>
        <p:nvGrpSpPr>
          <p:cNvPr name="Group 78" id="78"/>
          <p:cNvGrpSpPr/>
          <p:nvPr/>
        </p:nvGrpSpPr>
        <p:grpSpPr>
          <a:xfrm rot="0">
            <a:off x="6217920" y="6652260"/>
            <a:ext cx="2423246" cy="891454"/>
            <a:chOff x="0" y="0"/>
            <a:chExt cx="3230994" cy="1188606"/>
          </a:xfrm>
        </p:grpSpPr>
        <p:sp>
          <p:nvSpPr>
            <p:cNvPr name="Freeform 79" id="79"/>
            <p:cNvSpPr/>
            <p:nvPr/>
          </p:nvSpPr>
          <p:spPr>
            <a:xfrm flipH="false" flipV="false" rot="0">
              <a:off x="0" y="0"/>
              <a:ext cx="3231000" cy="1188600"/>
            </a:xfrm>
            <a:custGeom>
              <a:avLst/>
              <a:gdLst/>
              <a:ahLst/>
              <a:cxnLst/>
              <a:rect r="r" b="b" t="t" l="l"/>
              <a:pathLst>
                <a:path h="1188600" w="3231000">
                  <a:moveTo>
                    <a:pt x="0" y="0"/>
                  </a:moveTo>
                  <a:lnTo>
                    <a:pt x="3231000" y="0"/>
                  </a:lnTo>
                  <a:lnTo>
                    <a:pt x="3231000" y="1188600"/>
                  </a:lnTo>
                  <a:lnTo>
                    <a:pt x="0" y="1188600"/>
                  </a:lnTo>
                  <a:close/>
                </a:path>
              </a:pathLst>
            </a:custGeom>
            <a:blipFill>
              <a:blip r:embed="rId4">
                <a:alphaModFix amt="0"/>
              </a:blip>
              <a:stretch>
                <a:fillRect l="0" t="-2966" r="0" b="-2966"/>
              </a:stretch>
            </a:blipFill>
          </p:spPr>
        </p:sp>
        <p:sp>
          <p:nvSpPr>
            <p:cNvPr name="TextBox 80" id="80"/>
            <p:cNvSpPr txBox="true"/>
            <p:nvPr/>
          </p:nvSpPr>
          <p:spPr>
            <a:xfrm>
              <a:off x="0" y="-28575"/>
              <a:ext cx="3230994" cy="1217181"/>
            </a:xfrm>
            <a:prstGeom prst="rect">
              <a:avLst/>
            </a:prstGeom>
          </p:spPr>
          <p:txBody>
            <a:bodyPr anchor="ctr" rtlCol="false" tIns="0" lIns="0" bIns="0" rIns="0"/>
            <a:lstStyle/>
            <a:p>
              <a:pPr algn="ctr">
                <a:lnSpc>
                  <a:spcPts val="1980"/>
                </a:lnSpc>
              </a:pPr>
              <a:r>
                <a:rPr lang="en-US" b="true" sz="1650">
                  <a:solidFill>
                    <a:srgbClr val="FFFFFF"/>
                  </a:solidFill>
                  <a:latin typeface="Calibri (MS) Bold"/>
                  <a:ea typeface="Calibri (MS) Bold"/>
                  <a:cs typeface="Calibri (MS) Bold"/>
                  <a:sym typeface="Calibri (MS) Bold"/>
                </a:rPr>
                <a:t>Implementación</a:t>
              </a:r>
            </a:p>
          </p:txBody>
        </p:sp>
      </p:grpSp>
      <p:grpSp>
        <p:nvGrpSpPr>
          <p:cNvPr name="Group 81" id="81"/>
          <p:cNvGrpSpPr/>
          <p:nvPr/>
        </p:nvGrpSpPr>
        <p:grpSpPr>
          <a:xfrm rot="0">
            <a:off x="8641080" y="6652260"/>
            <a:ext cx="274501" cy="891454"/>
            <a:chOff x="0" y="0"/>
            <a:chExt cx="366001" cy="1188606"/>
          </a:xfrm>
        </p:grpSpPr>
        <p:sp>
          <p:nvSpPr>
            <p:cNvPr name="Freeform 82" id="82"/>
            <p:cNvSpPr/>
            <p:nvPr/>
          </p:nvSpPr>
          <p:spPr>
            <a:xfrm flipH="false" flipV="false" rot="0">
              <a:off x="0" y="0"/>
              <a:ext cx="366000" cy="1188600"/>
            </a:xfrm>
            <a:custGeom>
              <a:avLst/>
              <a:gdLst/>
              <a:ahLst/>
              <a:cxnLst/>
              <a:rect r="r" b="b" t="t" l="l"/>
              <a:pathLst>
                <a:path h="1188600" w="366000">
                  <a:moveTo>
                    <a:pt x="0" y="0"/>
                  </a:moveTo>
                  <a:lnTo>
                    <a:pt x="366000" y="0"/>
                  </a:lnTo>
                  <a:lnTo>
                    <a:pt x="366000" y="1188600"/>
                  </a:lnTo>
                  <a:lnTo>
                    <a:pt x="0" y="1188600"/>
                  </a:lnTo>
                  <a:close/>
                </a:path>
              </a:pathLst>
            </a:custGeom>
            <a:blipFill>
              <a:blip r:embed="rId4">
                <a:alphaModFix amt="0"/>
              </a:blip>
              <a:stretch>
                <a:fillRect l="-366672" t="0" r="-366673" b="0"/>
              </a:stretch>
            </a:blipFill>
          </p:spPr>
        </p:sp>
        <p:sp>
          <p:nvSpPr>
            <p:cNvPr name="TextBox 83" id="83"/>
            <p:cNvSpPr txBox="true"/>
            <p:nvPr/>
          </p:nvSpPr>
          <p:spPr>
            <a:xfrm>
              <a:off x="0" y="-47625"/>
              <a:ext cx="366001" cy="1236231"/>
            </a:xfrm>
            <a:prstGeom prst="rect">
              <a:avLst/>
            </a:prstGeom>
          </p:spPr>
          <p:txBody>
            <a:bodyPr anchor="ctr" rtlCol="false" tIns="0" lIns="0" bIns="0" rIns="0"/>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name="Group 84" id="84"/>
          <p:cNvGrpSpPr/>
          <p:nvPr/>
        </p:nvGrpSpPr>
        <p:grpSpPr>
          <a:xfrm rot="0">
            <a:off x="8915400" y="6652260"/>
            <a:ext cx="2423246" cy="891454"/>
            <a:chOff x="0" y="0"/>
            <a:chExt cx="3230994" cy="1188606"/>
          </a:xfrm>
        </p:grpSpPr>
        <p:sp>
          <p:nvSpPr>
            <p:cNvPr name="Freeform 85" id="85"/>
            <p:cNvSpPr/>
            <p:nvPr/>
          </p:nvSpPr>
          <p:spPr>
            <a:xfrm flipH="false" flipV="false" rot="0">
              <a:off x="0" y="0"/>
              <a:ext cx="3231007" cy="1188593"/>
            </a:xfrm>
            <a:custGeom>
              <a:avLst/>
              <a:gdLst/>
              <a:ahLst/>
              <a:cxnLst/>
              <a:rect r="r" b="b" t="t" l="l"/>
              <a:pathLst>
                <a:path h="1188593" w="3231007">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00304D"/>
            </a:solidFill>
          </p:spPr>
        </p:sp>
      </p:grpSp>
      <p:grpSp>
        <p:nvGrpSpPr>
          <p:cNvPr name="Group 86" id="86"/>
          <p:cNvGrpSpPr/>
          <p:nvPr/>
        </p:nvGrpSpPr>
        <p:grpSpPr>
          <a:xfrm rot="0">
            <a:off x="8915400" y="6652260"/>
            <a:ext cx="2423246" cy="891454"/>
            <a:chOff x="0" y="0"/>
            <a:chExt cx="3230994" cy="1188606"/>
          </a:xfrm>
        </p:grpSpPr>
        <p:sp>
          <p:nvSpPr>
            <p:cNvPr name="Freeform 87" id="87"/>
            <p:cNvSpPr/>
            <p:nvPr/>
          </p:nvSpPr>
          <p:spPr>
            <a:xfrm flipH="false" flipV="false" rot="0">
              <a:off x="0" y="0"/>
              <a:ext cx="3231000" cy="1188600"/>
            </a:xfrm>
            <a:custGeom>
              <a:avLst/>
              <a:gdLst/>
              <a:ahLst/>
              <a:cxnLst/>
              <a:rect r="r" b="b" t="t" l="l"/>
              <a:pathLst>
                <a:path h="1188600" w="3231000">
                  <a:moveTo>
                    <a:pt x="0" y="0"/>
                  </a:moveTo>
                  <a:lnTo>
                    <a:pt x="3231000" y="0"/>
                  </a:lnTo>
                  <a:lnTo>
                    <a:pt x="3231000" y="1188600"/>
                  </a:lnTo>
                  <a:lnTo>
                    <a:pt x="0" y="1188600"/>
                  </a:lnTo>
                  <a:close/>
                </a:path>
              </a:pathLst>
            </a:custGeom>
            <a:blipFill>
              <a:blip r:embed="rId4">
                <a:alphaModFix amt="0"/>
              </a:blip>
              <a:stretch>
                <a:fillRect l="0" t="-2966" r="0" b="-2966"/>
              </a:stretch>
            </a:blipFill>
          </p:spPr>
        </p:sp>
        <p:sp>
          <p:nvSpPr>
            <p:cNvPr name="TextBox 88" id="88"/>
            <p:cNvSpPr txBox="true"/>
            <p:nvPr/>
          </p:nvSpPr>
          <p:spPr>
            <a:xfrm>
              <a:off x="0" y="-28575"/>
              <a:ext cx="3230994" cy="1217181"/>
            </a:xfrm>
            <a:prstGeom prst="rect">
              <a:avLst/>
            </a:prstGeom>
          </p:spPr>
          <p:txBody>
            <a:bodyPr anchor="ctr" rtlCol="false" tIns="0" lIns="0" bIns="0" rIns="0"/>
            <a:lstStyle/>
            <a:p>
              <a:pPr algn="ctr">
                <a:lnSpc>
                  <a:spcPts val="1980"/>
                </a:lnSpc>
              </a:pPr>
              <a:r>
                <a:rPr lang="en-US" b="true" sz="1650">
                  <a:solidFill>
                    <a:srgbClr val="FFFFFF"/>
                  </a:solidFill>
                  <a:latin typeface="Calibri (MS) Bold"/>
                  <a:ea typeface="Calibri (MS) Bold"/>
                  <a:cs typeface="Calibri (MS) Bold"/>
                  <a:sym typeface="Calibri (MS) Bold"/>
                </a:rPr>
                <a:t>Integración</a:t>
              </a:r>
            </a:p>
          </p:txBody>
        </p:sp>
      </p:grpSp>
      <p:grpSp>
        <p:nvGrpSpPr>
          <p:cNvPr name="Group 89" id="89"/>
          <p:cNvGrpSpPr/>
          <p:nvPr/>
        </p:nvGrpSpPr>
        <p:grpSpPr>
          <a:xfrm rot="0">
            <a:off x="11338560" y="6652260"/>
            <a:ext cx="274501" cy="891454"/>
            <a:chOff x="0" y="0"/>
            <a:chExt cx="366001" cy="1188606"/>
          </a:xfrm>
        </p:grpSpPr>
        <p:sp>
          <p:nvSpPr>
            <p:cNvPr name="Freeform 90" id="90"/>
            <p:cNvSpPr/>
            <p:nvPr/>
          </p:nvSpPr>
          <p:spPr>
            <a:xfrm flipH="false" flipV="false" rot="0">
              <a:off x="0" y="0"/>
              <a:ext cx="366000" cy="1188600"/>
            </a:xfrm>
            <a:custGeom>
              <a:avLst/>
              <a:gdLst/>
              <a:ahLst/>
              <a:cxnLst/>
              <a:rect r="r" b="b" t="t" l="l"/>
              <a:pathLst>
                <a:path h="1188600" w="366000">
                  <a:moveTo>
                    <a:pt x="0" y="0"/>
                  </a:moveTo>
                  <a:lnTo>
                    <a:pt x="366000" y="0"/>
                  </a:lnTo>
                  <a:lnTo>
                    <a:pt x="366000" y="1188600"/>
                  </a:lnTo>
                  <a:lnTo>
                    <a:pt x="0" y="1188600"/>
                  </a:lnTo>
                  <a:close/>
                </a:path>
              </a:pathLst>
            </a:custGeom>
            <a:blipFill>
              <a:blip r:embed="rId4">
                <a:alphaModFix amt="0"/>
              </a:blip>
              <a:stretch>
                <a:fillRect l="-366672" t="0" r="-366673" b="0"/>
              </a:stretch>
            </a:blipFill>
          </p:spPr>
        </p:sp>
        <p:sp>
          <p:nvSpPr>
            <p:cNvPr name="TextBox 91" id="91"/>
            <p:cNvSpPr txBox="true"/>
            <p:nvPr/>
          </p:nvSpPr>
          <p:spPr>
            <a:xfrm>
              <a:off x="0" y="-47625"/>
              <a:ext cx="366001" cy="1236231"/>
            </a:xfrm>
            <a:prstGeom prst="rect">
              <a:avLst/>
            </a:prstGeom>
          </p:spPr>
          <p:txBody>
            <a:bodyPr anchor="ctr" rtlCol="false" tIns="0" lIns="0" bIns="0" rIns="0"/>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name="Group 92" id="92"/>
          <p:cNvGrpSpPr/>
          <p:nvPr/>
        </p:nvGrpSpPr>
        <p:grpSpPr>
          <a:xfrm rot="0">
            <a:off x="11612880" y="6652260"/>
            <a:ext cx="2423246" cy="891454"/>
            <a:chOff x="0" y="0"/>
            <a:chExt cx="3230994" cy="1188606"/>
          </a:xfrm>
        </p:grpSpPr>
        <p:sp>
          <p:nvSpPr>
            <p:cNvPr name="Freeform 93" id="93"/>
            <p:cNvSpPr/>
            <p:nvPr/>
          </p:nvSpPr>
          <p:spPr>
            <a:xfrm flipH="false" flipV="false" rot="0">
              <a:off x="0" y="0"/>
              <a:ext cx="3231007" cy="1188593"/>
            </a:xfrm>
            <a:custGeom>
              <a:avLst/>
              <a:gdLst/>
              <a:ahLst/>
              <a:cxnLst/>
              <a:rect r="r" b="b" t="t" l="l"/>
              <a:pathLst>
                <a:path h="1188593" w="3231007">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39A900"/>
            </a:solidFill>
          </p:spPr>
        </p:sp>
      </p:grpSp>
      <p:grpSp>
        <p:nvGrpSpPr>
          <p:cNvPr name="Group 94" id="94"/>
          <p:cNvGrpSpPr/>
          <p:nvPr/>
        </p:nvGrpSpPr>
        <p:grpSpPr>
          <a:xfrm rot="0">
            <a:off x="11612880" y="6652260"/>
            <a:ext cx="2423246" cy="891454"/>
            <a:chOff x="0" y="0"/>
            <a:chExt cx="3230994" cy="1188606"/>
          </a:xfrm>
        </p:grpSpPr>
        <p:sp>
          <p:nvSpPr>
            <p:cNvPr name="Freeform 95" id="95"/>
            <p:cNvSpPr/>
            <p:nvPr/>
          </p:nvSpPr>
          <p:spPr>
            <a:xfrm flipH="false" flipV="false" rot="0">
              <a:off x="0" y="0"/>
              <a:ext cx="3231000" cy="1188600"/>
            </a:xfrm>
            <a:custGeom>
              <a:avLst/>
              <a:gdLst/>
              <a:ahLst/>
              <a:cxnLst/>
              <a:rect r="r" b="b" t="t" l="l"/>
              <a:pathLst>
                <a:path h="1188600" w="3231000">
                  <a:moveTo>
                    <a:pt x="0" y="0"/>
                  </a:moveTo>
                  <a:lnTo>
                    <a:pt x="3231000" y="0"/>
                  </a:lnTo>
                  <a:lnTo>
                    <a:pt x="3231000" y="1188600"/>
                  </a:lnTo>
                  <a:lnTo>
                    <a:pt x="0" y="1188600"/>
                  </a:lnTo>
                  <a:close/>
                </a:path>
              </a:pathLst>
            </a:custGeom>
            <a:blipFill>
              <a:blip r:embed="rId4">
                <a:alphaModFix amt="0"/>
              </a:blip>
              <a:stretch>
                <a:fillRect l="0" t="-2966" r="0" b="-2966"/>
              </a:stretch>
            </a:blipFill>
          </p:spPr>
        </p:sp>
        <p:sp>
          <p:nvSpPr>
            <p:cNvPr name="TextBox 96" id="96"/>
            <p:cNvSpPr txBox="true"/>
            <p:nvPr/>
          </p:nvSpPr>
          <p:spPr>
            <a:xfrm>
              <a:off x="0" y="-28575"/>
              <a:ext cx="3230994" cy="1217181"/>
            </a:xfrm>
            <a:prstGeom prst="rect">
              <a:avLst/>
            </a:prstGeom>
          </p:spPr>
          <p:txBody>
            <a:bodyPr anchor="ctr" rtlCol="false" tIns="0" lIns="0" bIns="0" rIns="0"/>
            <a:lstStyle/>
            <a:p>
              <a:pPr algn="ctr">
                <a:lnSpc>
                  <a:spcPts val="1980"/>
                </a:lnSpc>
              </a:pPr>
              <a:r>
                <a:rPr lang="en-US" b="true" sz="1650">
                  <a:solidFill>
                    <a:srgbClr val="FFFFFF"/>
                  </a:solidFill>
                  <a:latin typeface="Calibri (MS) Bold"/>
                  <a:ea typeface="Calibri (MS) Bold"/>
                  <a:cs typeface="Calibri (MS) Bold"/>
                  <a:sym typeface="Calibri (MS) Bold"/>
                </a:rPr>
                <a:t>Pruebas</a:t>
              </a:r>
            </a:p>
          </p:txBody>
        </p:sp>
      </p:grpSp>
      <p:grpSp>
        <p:nvGrpSpPr>
          <p:cNvPr name="Group 97" id="97"/>
          <p:cNvGrpSpPr/>
          <p:nvPr/>
        </p:nvGrpSpPr>
        <p:grpSpPr>
          <a:xfrm rot="0">
            <a:off x="14036040" y="6652260"/>
            <a:ext cx="274501" cy="891454"/>
            <a:chOff x="0" y="0"/>
            <a:chExt cx="366001" cy="1188606"/>
          </a:xfrm>
        </p:grpSpPr>
        <p:sp>
          <p:nvSpPr>
            <p:cNvPr name="Freeform 98" id="98"/>
            <p:cNvSpPr/>
            <p:nvPr/>
          </p:nvSpPr>
          <p:spPr>
            <a:xfrm flipH="false" flipV="false" rot="0">
              <a:off x="0" y="0"/>
              <a:ext cx="366000" cy="1188600"/>
            </a:xfrm>
            <a:custGeom>
              <a:avLst/>
              <a:gdLst/>
              <a:ahLst/>
              <a:cxnLst/>
              <a:rect r="r" b="b" t="t" l="l"/>
              <a:pathLst>
                <a:path h="1188600" w="366000">
                  <a:moveTo>
                    <a:pt x="0" y="0"/>
                  </a:moveTo>
                  <a:lnTo>
                    <a:pt x="366000" y="0"/>
                  </a:lnTo>
                  <a:lnTo>
                    <a:pt x="366000" y="1188600"/>
                  </a:lnTo>
                  <a:lnTo>
                    <a:pt x="0" y="1188600"/>
                  </a:lnTo>
                  <a:close/>
                </a:path>
              </a:pathLst>
            </a:custGeom>
            <a:blipFill>
              <a:blip r:embed="rId4">
                <a:alphaModFix amt="0"/>
              </a:blip>
              <a:stretch>
                <a:fillRect l="-366672" t="0" r="-366673" b="0"/>
              </a:stretch>
            </a:blipFill>
          </p:spPr>
        </p:sp>
        <p:sp>
          <p:nvSpPr>
            <p:cNvPr name="TextBox 99" id="99"/>
            <p:cNvSpPr txBox="true"/>
            <p:nvPr/>
          </p:nvSpPr>
          <p:spPr>
            <a:xfrm>
              <a:off x="0" y="-47625"/>
              <a:ext cx="366001" cy="1236231"/>
            </a:xfrm>
            <a:prstGeom prst="rect">
              <a:avLst/>
            </a:prstGeom>
          </p:spPr>
          <p:txBody>
            <a:bodyPr anchor="ctr" rtlCol="false" tIns="0" lIns="0" bIns="0" rIns="0"/>
            <a:lstStyle/>
            <a:p>
              <a:pPr algn="ctr">
                <a:lnSpc>
                  <a:spcPts val="2520"/>
                </a:lnSpc>
              </a:pPr>
              <a:r>
                <a:rPr lang="en-US" sz="2100">
                  <a:solidFill>
                    <a:srgbClr val="5B6670"/>
                  </a:solidFill>
                  <a:latin typeface="Calibri (MS)"/>
                  <a:ea typeface="Calibri (MS)"/>
                  <a:cs typeface="Calibri (MS)"/>
                  <a:sym typeface="Calibri (MS)"/>
                </a:rPr>
                <a:t>→</a:t>
              </a:r>
            </a:p>
          </p:txBody>
        </p:sp>
      </p:grpSp>
      <p:grpSp>
        <p:nvGrpSpPr>
          <p:cNvPr name="Group 100" id="100"/>
          <p:cNvGrpSpPr/>
          <p:nvPr/>
        </p:nvGrpSpPr>
        <p:grpSpPr>
          <a:xfrm rot="0">
            <a:off x="14310360" y="6652260"/>
            <a:ext cx="2423246" cy="891454"/>
            <a:chOff x="0" y="0"/>
            <a:chExt cx="3230994" cy="1188606"/>
          </a:xfrm>
        </p:grpSpPr>
        <p:sp>
          <p:nvSpPr>
            <p:cNvPr name="Freeform 101" id="101"/>
            <p:cNvSpPr/>
            <p:nvPr/>
          </p:nvSpPr>
          <p:spPr>
            <a:xfrm flipH="false" flipV="false" rot="0">
              <a:off x="0" y="0"/>
              <a:ext cx="3231007" cy="1188593"/>
            </a:xfrm>
            <a:custGeom>
              <a:avLst/>
              <a:gdLst/>
              <a:ahLst/>
              <a:cxnLst/>
              <a:rect r="r" b="b" t="t" l="l"/>
              <a:pathLst>
                <a:path h="1188593" w="3231007">
                  <a:moveTo>
                    <a:pt x="0" y="109728"/>
                  </a:moveTo>
                  <a:cubicBezTo>
                    <a:pt x="0" y="49149"/>
                    <a:pt x="49149" y="0"/>
                    <a:pt x="109728" y="0"/>
                  </a:cubicBezTo>
                  <a:lnTo>
                    <a:pt x="3121279" y="0"/>
                  </a:lnTo>
                  <a:cubicBezTo>
                    <a:pt x="3181858" y="0"/>
                    <a:pt x="3231007" y="49149"/>
                    <a:pt x="3231007" y="109728"/>
                  </a:cubicBezTo>
                  <a:lnTo>
                    <a:pt x="3231007" y="1078865"/>
                  </a:lnTo>
                  <a:cubicBezTo>
                    <a:pt x="3231007" y="1139444"/>
                    <a:pt x="3181858" y="1188593"/>
                    <a:pt x="3121279" y="1188593"/>
                  </a:cubicBezTo>
                  <a:lnTo>
                    <a:pt x="109728" y="1188593"/>
                  </a:lnTo>
                  <a:cubicBezTo>
                    <a:pt x="49149" y="1188593"/>
                    <a:pt x="0" y="1139444"/>
                    <a:pt x="0" y="1078865"/>
                  </a:cubicBezTo>
                  <a:close/>
                </a:path>
              </a:pathLst>
            </a:custGeom>
            <a:solidFill>
              <a:srgbClr val="00304D"/>
            </a:solidFill>
          </p:spPr>
        </p:sp>
      </p:grpSp>
      <p:grpSp>
        <p:nvGrpSpPr>
          <p:cNvPr name="Group 102" id="102"/>
          <p:cNvGrpSpPr/>
          <p:nvPr/>
        </p:nvGrpSpPr>
        <p:grpSpPr>
          <a:xfrm rot="0">
            <a:off x="14310360" y="6652260"/>
            <a:ext cx="2423246" cy="891454"/>
            <a:chOff x="0" y="0"/>
            <a:chExt cx="3230994" cy="1188606"/>
          </a:xfrm>
        </p:grpSpPr>
        <p:sp>
          <p:nvSpPr>
            <p:cNvPr name="Freeform 103" id="103"/>
            <p:cNvSpPr/>
            <p:nvPr/>
          </p:nvSpPr>
          <p:spPr>
            <a:xfrm flipH="false" flipV="false" rot="0">
              <a:off x="0" y="0"/>
              <a:ext cx="3231000" cy="1188600"/>
            </a:xfrm>
            <a:custGeom>
              <a:avLst/>
              <a:gdLst/>
              <a:ahLst/>
              <a:cxnLst/>
              <a:rect r="r" b="b" t="t" l="l"/>
              <a:pathLst>
                <a:path h="1188600" w="3231000">
                  <a:moveTo>
                    <a:pt x="0" y="0"/>
                  </a:moveTo>
                  <a:lnTo>
                    <a:pt x="3231000" y="0"/>
                  </a:lnTo>
                  <a:lnTo>
                    <a:pt x="3231000" y="1188600"/>
                  </a:lnTo>
                  <a:lnTo>
                    <a:pt x="0" y="1188600"/>
                  </a:lnTo>
                  <a:close/>
                </a:path>
              </a:pathLst>
            </a:custGeom>
            <a:blipFill>
              <a:blip r:embed="rId4">
                <a:alphaModFix amt="0"/>
              </a:blip>
              <a:stretch>
                <a:fillRect l="0" t="-2966" r="0" b="-2966"/>
              </a:stretch>
            </a:blipFill>
          </p:spPr>
        </p:sp>
        <p:sp>
          <p:nvSpPr>
            <p:cNvPr name="TextBox 104" id="104"/>
            <p:cNvSpPr txBox="true"/>
            <p:nvPr/>
          </p:nvSpPr>
          <p:spPr>
            <a:xfrm>
              <a:off x="0" y="-28575"/>
              <a:ext cx="3230994" cy="1217181"/>
            </a:xfrm>
            <a:prstGeom prst="rect">
              <a:avLst/>
            </a:prstGeom>
          </p:spPr>
          <p:txBody>
            <a:bodyPr anchor="ctr" rtlCol="false" tIns="0" lIns="0" bIns="0" rIns="0"/>
            <a:lstStyle/>
            <a:p>
              <a:pPr algn="ctr">
                <a:lnSpc>
                  <a:spcPts val="1980"/>
                </a:lnSpc>
              </a:pPr>
              <a:r>
                <a:rPr lang="en-US" b="true" sz="1650">
                  <a:solidFill>
                    <a:srgbClr val="FFFFFF"/>
                  </a:solidFill>
                  <a:latin typeface="Calibri (MS) Bold"/>
                  <a:ea typeface="Calibri (MS) Bold"/>
                  <a:cs typeface="Calibri (MS) Bold"/>
                  <a:sym typeface="Calibri (MS) Bold"/>
                </a:rPr>
                <a:t>Despliegue</a:t>
              </a:r>
            </a:p>
          </p:txBody>
        </p:sp>
      </p:grpSp>
      <p:grpSp>
        <p:nvGrpSpPr>
          <p:cNvPr name="Group 105" id="105"/>
          <p:cNvGrpSpPr/>
          <p:nvPr/>
        </p:nvGrpSpPr>
        <p:grpSpPr>
          <a:xfrm rot="0">
            <a:off x="822960" y="8023860"/>
            <a:ext cx="15910646" cy="1165946"/>
            <a:chOff x="0" y="0"/>
            <a:chExt cx="21214194" cy="1554594"/>
          </a:xfrm>
        </p:grpSpPr>
        <p:sp>
          <p:nvSpPr>
            <p:cNvPr name="Freeform 106" id="106"/>
            <p:cNvSpPr/>
            <p:nvPr/>
          </p:nvSpPr>
          <p:spPr>
            <a:xfrm flipH="false" flipV="false" rot="0">
              <a:off x="0" y="0"/>
              <a:ext cx="21214207" cy="1554607"/>
            </a:xfrm>
            <a:custGeom>
              <a:avLst/>
              <a:gdLst/>
              <a:ahLst/>
              <a:cxnLst/>
              <a:rect r="r" b="b" t="t" l="l"/>
              <a:pathLst>
                <a:path h="1554607" w="21214207">
                  <a:moveTo>
                    <a:pt x="0" y="146304"/>
                  </a:moveTo>
                  <a:cubicBezTo>
                    <a:pt x="0" y="65532"/>
                    <a:pt x="65532" y="0"/>
                    <a:pt x="146304" y="0"/>
                  </a:cubicBezTo>
                  <a:lnTo>
                    <a:pt x="21067903" y="0"/>
                  </a:lnTo>
                  <a:cubicBezTo>
                    <a:pt x="21148675" y="0"/>
                    <a:pt x="21214207" y="65532"/>
                    <a:pt x="21214207" y="146304"/>
                  </a:cubicBezTo>
                  <a:lnTo>
                    <a:pt x="21214207" y="1408303"/>
                  </a:lnTo>
                  <a:cubicBezTo>
                    <a:pt x="21214207" y="1489075"/>
                    <a:pt x="21148675" y="1554607"/>
                    <a:pt x="21067903" y="1554607"/>
                  </a:cubicBezTo>
                  <a:lnTo>
                    <a:pt x="146304" y="1554607"/>
                  </a:lnTo>
                  <a:cubicBezTo>
                    <a:pt x="65532" y="1554607"/>
                    <a:pt x="0" y="1489075"/>
                    <a:pt x="0" y="1408303"/>
                  </a:cubicBezTo>
                  <a:close/>
                </a:path>
              </a:pathLst>
            </a:custGeom>
            <a:solidFill>
              <a:srgbClr val="FFF3D6"/>
            </a:solidFill>
          </p:spPr>
        </p:sp>
      </p:grpSp>
      <p:grpSp>
        <p:nvGrpSpPr>
          <p:cNvPr name="Group 107" id="107"/>
          <p:cNvGrpSpPr/>
          <p:nvPr/>
        </p:nvGrpSpPr>
        <p:grpSpPr>
          <a:xfrm rot="0">
            <a:off x="1234440" y="8023860"/>
            <a:ext cx="15087600" cy="1165950"/>
            <a:chOff x="0" y="0"/>
            <a:chExt cx="20116800" cy="1554600"/>
          </a:xfrm>
        </p:grpSpPr>
        <p:sp>
          <p:nvSpPr>
            <p:cNvPr name="Freeform 108" id="108"/>
            <p:cNvSpPr/>
            <p:nvPr/>
          </p:nvSpPr>
          <p:spPr>
            <a:xfrm flipH="false" flipV="false" rot="0">
              <a:off x="0" y="0"/>
              <a:ext cx="20116800" cy="1554606"/>
            </a:xfrm>
            <a:custGeom>
              <a:avLst/>
              <a:gdLst/>
              <a:ahLst/>
              <a:cxnLst/>
              <a:rect r="r" b="b" t="t" l="l"/>
              <a:pathLst>
                <a:path h="1554606" w="20116800">
                  <a:moveTo>
                    <a:pt x="0" y="0"/>
                  </a:moveTo>
                  <a:lnTo>
                    <a:pt x="20116800" y="0"/>
                  </a:lnTo>
                  <a:lnTo>
                    <a:pt x="20116800" y="1554606"/>
                  </a:lnTo>
                  <a:lnTo>
                    <a:pt x="0" y="1554606"/>
                  </a:lnTo>
                  <a:close/>
                </a:path>
              </a:pathLst>
            </a:custGeom>
            <a:blipFill>
              <a:blip r:embed="rId4">
                <a:alphaModFix amt="0"/>
              </a:blip>
              <a:stretch>
                <a:fillRect l="0" t="-202139" r="0" b="-202138"/>
              </a:stretch>
            </a:blipFill>
          </p:spPr>
        </p:sp>
        <p:sp>
          <p:nvSpPr>
            <p:cNvPr name="TextBox 109" id="109"/>
            <p:cNvSpPr txBox="true"/>
            <p:nvPr/>
          </p:nvSpPr>
          <p:spPr>
            <a:xfrm>
              <a:off x="0" y="-38100"/>
              <a:ext cx="20116800" cy="15927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Control de versiones:  </a:t>
              </a:r>
              <a:r>
                <a:rPr lang="en-US" sz="1875">
                  <a:solidFill>
                    <a:srgbClr val="22292E"/>
                  </a:solidFill>
                  <a:latin typeface="Calibri (MS)"/>
                  <a:ea typeface="Calibri (MS)"/>
                  <a:cs typeface="Calibri (MS)"/>
                  <a:sym typeface="Calibri (MS)"/>
                </a:rPr>
                <a:t>Git + GitHub Desktop, con sincronización a la nube y despliegue continuo hacia Vercel/Render.</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5246" y="576072"/>
            <a:ext cx="13716000" cy="480146"/>
            <a:chOff x="0" y="0"/>
            <a:chExt cx="18288000" cy="640194"/>
          </a:xfrm>
        </p:grpSpPr>
        <p:sp>
          <p:nvSpPr>
            <p:cNvPr name="Freeform 4" id="4"/>
            <p:cNvSpPr/>
            <p:nvPr/>
          </p:nvSpPr>
          <p:spPr>
            <a:xfrm flipH="false" flipV="false" rot="0">
              <a:off x="0" y="0"/>
              <a:ext cx="18288000" cy="640200"/>
            </a:xfrm>
            <a:custGeom>
              <a:avLst/>
              <a:gdLst/>
              <a:ahLst/>
              <a:cxnLst/>
              <a:rect r="r" b="b" t="t" l="l"/>
              <a:pathLst>
                <a:path h="640200" w="18288000">
                  <a:moveTo>
                    <a:pt x="0" y="0"/>
                  </a:moveTo>
                  <a:lnTo>
                    <a:pt x="18288000" y="0"/>
                  </a:lnTo>
                  <a:lnTo>
                    <a:pt x="18288000" y="640200"/>
                  </a:lnTo>
                  <a:lnTo>
                    <a:pt x="0" y="640200"/>
                  </a:lnTo>
                  <a:close/>
                </a:path>
              </a:pathLst>
            </a:custGeom>
            <a:blipFill>
              <a:blip r:embed="rId4">
                <a:alphaModFix amt="0"/>
              </a:blip>
              <a:stretch>
                <a:fillRect l="0" t="-506611" r="0" b="-506610"/>
              </a:stretch>
            </a:blipFill>
          </p:spPr>
        </p:sp>
        <p:sp>
          <p:nvSpPr>
            <p:cNvPr name="TextBox 5" id="5"/>
            <p:cNvSpPr txBox="true"/>
            <p:nvPr/>
          </p:nvSpPr>
          <p:spPr>
            <a:xfrm>
              <a:off x="0" y="-47625"/>
              <a:ext cx="18288000" cy="687819"/>
            </a:xfrm>
            <a:prstGeom prst="rect">
              <a:avLst/>
            </a:prstGeom>
          </p:spPr>
          <p:txBody>
            <a:bodyPr anchor="ctr" rtlCol="false" tIns="0" lIns="0" bIns="0" rIns="0"/>
            <a:lstStyle/>
            <a:p>
              <a:pPr algn="l">
                <a:lnSpc>
                  <a:spcPts val="2340"/>
                </a:lnSpc>
              </a:pPr>
              <a:r>
                <a:rPr lang="en-US" b="true" sz="1950">
                  <a:solidFill>
                    <a:srgbClr val="39A900"/>
                  </a:solidFill>
                  <a:latin typeface="Calibri (MS) Bold"/>
                  <a:ea typeface="Calibri (MS) Bold"/>
                  <a:cs typeface="Calibri (MS) Bold"/>
                  <a:sym typeface="Calibri (MS) Bold"/>
                </a:rPr>
                <a:t>ESPECIFICACIÓN DE REQUISITOS · IEEE 830</a:t>
              </a:r>
            </a:p>
          </p:txBody>
        </p:sp>
      </p:grpSp>
      <p:grpSp>
        <p:nvGrpSpPr>
          <p:cNvPr name="Group 6" id="6"/>
          <p:cNvGrpSpPr/>
          <p:nvPr/>
        </p:nvGrpSpPr>
        <p:grpSpPr>
          <a:xfrm rot="0">
            <a:off x="825246" y="987552"/>
            <a:ext cx="16184699" cy="1165946"/>
            <a:chOff x="0" y="0"/>
            <a:chExt cx="21579599" cy="1554594"/>
          </a:xfrm>
        </p:grpSpPr>
        <p:sp>
          <p:nvSpPr>
            <p:cNvPr name="Freeform 7" id="7"/>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8" id="8"/>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Funcionalidades esenciales</a:t>
              </a:r>
            </a:p>
          </p:txBody>
        </p:sp>
      </p:grpSp>
      <p:grpSp>
        <p:nvGrpSpPr>
          <p:cNvPr name="Group 9" id="9"/>
          <p:cNvGrpSpPr/>
          <p:nvPr/>
        </p:nvGrpSpPr>
        <p:grpSpPr>
          <a:xfrm rot="0">
            <a:off x="825246" y="2359152"/>
            <a:ext cx="15910646" cy="548554"/>
            <a:chOff x="0" y="0"/>
            <a:chExt cx="21214194" cy="731406"/>
          </a:xfrm>
        </p:grpSpPr>
        <p:sp>
          <p:nvSpPr>
            <p:cNvPr name="Freeform 10" id="10"/>
            <p:cNvSpPr/>
            <p:nvPr/>
          </p:nvSpPr>
          <p:spPr>
            <a:xfrm flipH="false" flipV="false" rot="0">
              <a:off x="0" y="0"/>
              <a:ext cx="21214200" cy="731400"/>
            </a:xfrm>
            <a:custGeom>
              <a:avLst/>
              <a:gdLst/>
              <a:ahLst/>
              <a:cxnLst/>
              <a:rect r="r" b="b" t="t" l="l"/>
              <a:pathLst>
                <a:path h="731400" w="21214200">
                  <a:moveTo>
                    <a:pt x="0" y="0"/>
                  </a:moveTo>
                  <a:lnTo>
                    <a:pt x="21214200" y="0"/>
                  </a:lnTo>
                  <a:lnTo>
                    <a:pt x="21214200" y="731400"/>
                  </a:lnTo>
                  <a:lnTo>
                    <a:pt x="0" y="731400"/>
                  </a:lnTo>
                  <a:close/>
                </a:path>
              </a:pathLst>
            </a:custGeom>
            <a:blipFill>
              <a:blip r:embed="rId4">
                <a:alphaModFix amt="0"/>
              </a:blip>
              <a:stretch>
                <a:fillRect l="0" t="-515161" r="0" b="-515162"/>
              </a:stretch>
            </a:blipFill>
          </p:spPr>
        </p:sp>
        <p:sp>
          <p:nvSpPr>
            <p:cNvPr name="TextBox 11" id="11"/>
            <p:cNvSpPr txBox="true"/>
            <p:nvPr/>
          </p:nvSpPr>
          <p:spPr>
            <a:xfrm>
              <a:off x="0" y="-47625"/>
              <a:ext cx="21214194" cy="779031"/>
            </a:xfrm>
            <a:prstGeom prst="rect">
              <a:avLst/>
            </a:prstGeom>
          </p:spPr>
          <p:txBody>
            <a:bodyPr anchor="ctr" rtlCol="false" tIns="0" lIns="0" bIns="0" rIns="0"/>
            <a:lstStyle/>
            <a:p>
              <a:pPr algn="l">
                <a:lnSpc>
                  <a:spcPts val="2340"/>
                </a:lnSpc>
              </a:pPr>
              <a:r>
                <a:rPr lang="en-US" sz="1950" i="true">
                  <a:solidFill>
                    <a:srgbClr val="5B6670"/>
                  </a:solidFill>
                  <a:latin typeface="Calibri (MS) Italics"/>
                  <a:ea typeface="Calibri (MS) Italics"/>
                  <a:cs typeface="Calibri (MS) Italics"/>
                  <a:sym typeface="Calibri (MS) Italics"/>
                </a:rPr>
                <a:t>Los requisitos se documentaron bajo la norma IEEE 830, garantizando que cada funcionalidad fuera clara, completa y verificable.</a:t>
              </a:r>
            </a:p>
          </p:txBody>
        </p:sp>
      </p:grpSp>
      <p:grpSp>
        <p:nvGrpSpPr>
          <p:cNvPr name="Group 12" id="12"/>
          <p:cNvGrpSpPr/>
          <p:nvPr/>
        </p:nvGrpSpPr>
        <p:grpSpPr>
          <a:xfrm rot="0">
            <a:off x="825246" y="3154680"/>
            <a:ext cx="5257800" cy="3154499"/>
            <a:chOff x="0" y="0"/>
            <a:chExt cx="7010400" cy="4205999"/>
          </a:xfrm>
        </p:grpSpPr>
        <p:sp>
          <p:nvSpPr>
            <p:cNvPr name="Freeform 13" id="13"/>
            <p:cNvSpPr/>
            <p:nvPr/>
          </p:nvSpPr>
          <p:spPr>
            <a:xfrm flipH="false" flipV="false" rot="0">
              <a:off x="0" y="0"/>
              <a:ext cx="7010400" cy="4205986"/>
            </a:xfrm>
            <a:custGeom>
              <a:avLst/>
              <a:gdLst/>
              <a:ahLst/>
              <a:cxnLst/>
              <a:rect r="r" b="b" t="t" l="l"/>
              <a:pathLst>
                <a:path h="4205986" w="7010400">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sp>
      </p:grpSp>
      <p:grpSp>
        <p:nvGrpSpPr>
          <p:cNvPr name="Group 14" id="14"/>
          <p:cNvGrpSpPr/>
          <p:nvPr/>
        </p:nvGrpSpPr>
        <p:grpSpPr>
          <a:xfrm rot="0">
            <a:off x="1072134" y="3401568"/>
            <a:ext cx="685800" cy="685800"/>
            <a:chOff x="0" y="0"/>
            <a:chExt cx="914400" cy="914400"/>
          </a:xfrm>
        </p:grpSpPr>
        <p:sp>
          <p:nvSpPr>
            <p:cNvPr name="Freeform 15" id="1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16" id="16"/>
          <p:cNvGrpSpPr/>
          <p:nvPr/>
        </p:nvGrpSpPr>
        <p:grpSpPr>
          <a:xfrm rot="0">
            <a:off x="1250442" y="3579876"/>
            <a:ext cx="329184" cy="329184"/>
            <a:chOff x="0" y="0"/>
            <a:chExt cx="438912" cy="438912"/>
          </a:xfrm>
        </p:grpSpPr>
        <p:sp>
          <p:nvSpPr>
            <p:cNvPr name="Freeform 17" id="17" descr="icons/search.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5"/>
              <a:stretch>
                <a:fillRect l="0" t="0" r="0" b="0"/>
              </a:stretch>
            </a:blipFill>
          </p:spPr>
        </p:sp>
      </p:grpSp>
      <p:grpSp>
        <p:nvGrpSpPr>
          <p:cNvPr name="Group 18" id="18"/>
          <p:cNvGrpSpPr/>
          <p:nvPr/>
        </p:nvGrpSpPr>
        <p:grpSpPr>
          <a:xfrm rot="0">
            <a:off x="1922526" y="3429000"/>
            <a:ext cx="3954599" cy="383848"/>
            <a:chOff x="0" y="0"/>
            <a:chExt cx="5272799" cy="511797"/>
          </a:xfrm>
        </p:grpSpPr>
        <p:sp>
          <p:nvSpPr>
            <p:cNvPr name="Freeform 19" id="19"/>
            <p:cNvSpPr/>
            <p:nvPr/>
          </p:nvSpPr>
          <p:spPr>
            <a:xfrm flipH="false" flipV="false" rot="0">
              <a:off x="0" y="0"/>
              <a:ext cx="5272800" cy="511800"/>
            </a:xfrm>
            <a:custGeom>
              <a:avLst/>
              <a:gdLst/>
              <a:ahLst/>
              <a:cxnLst/>
              <a:rect r="r" b="b" t="t" l="l"/>
              <a:pathLst>
                <a:path h="511800" w="5272800">
                  <a:moveTo>
                    <a:pt x="0" y="0"/>
                  </a:moveTo>
                  <a:lnTo>
                    <a:pt x="5272800" y="0"/>
                  </a:lnTo>
                  <a:lnTo>
                    <a:pt x="5272800" y="511800"/>
                  </a:lnTo>
                  <a:lnTo>
                    <a:pt x="0" y="511800"/>
                  </a:lnTo>
                  <a:close/>
                </a:path>
              </a:pathLst>
            </a:custGeom>
            <a:blipFill>
              <a:blip r:embed="rId4">
                <a:alphaModFix amt="0"/>
              </a:blip>
              <a:stretch>
                <a:fillRect l="0" t="-150744" r="0" b="-150743"/>
              </a:stretch>
            </a:blipFill>
          </p:spPr>
        </p:sp>
        <p:sp>
          <p:nvSpPr>
            <p:cNvPr name="TextBox 20" id="20"/>
            <p:cNvSpPr txBox="true"/>
            <p:nvPr/>
          </p:nvSpPr>
          <p:spPr>
            <a:xfrm>
              <a:off x="0" y="-19050"/>
              <a:ext cx="5272799" cy="530847"/>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REQ 01–03</a:t>
              </a:r>
            </a:p>
          </p:txBody>
        </p:sp>
      </p:grpSp>
      <p:grpSp>
        <p:nvGrpSpPr>
          <p:cNvPr name="Group 21" id="21"/>
          <p:cNvGrpSpPr/>
          <p:nvPr/>
        </p:nvGrpSpPr>
        <p:grpSpPr>
          <a:xfrm rot="0">
            <a:off x="1072134" y="4251960"/>
            <a:ext cx="4764148" cy="576000"/>
            <a:chOff x="0" y="0"/>
            <a:chExt cx="6352197" cy="768000"/>
          </a:xfrm>
        </p:grpSpPr>
        <p:sp>
          <p:nvSpPr>
            <p:cNvPr name="Freeform 22" id="22"/>
            <p:cNvSpPr/>
            <p:nvPr/>
          </p:nvSpPr>
          <p:spPr>
            <a:xfrm flipH="false" flipV="false" rot="0">
              <a:off x="0" y="0"/>
              <a:ext cx="6352200" cy="768006"/>
            </a:xfrm>
            <a:custGeom>
              <a:avLst/>
              <a:gdLst/>
              <a:ahLst/>
              <a:cxnLst/>
              <a:rect r="r" b="b" t="t" l="l"/>
              <a:pathLst>
                <a:path h="768006" w="6352200">
                  <a:moveTo>
                    <a:pt x="0" y="0"/>
                  </a:moveTo>
                  <a:lnTo>
                    <a:pt x="6352200" y="0"/>
                  </a:lnTo>
                  <a:lnTo>
                    <a:pt x="6352200" y="768006"/>
                  </a:lnTo>
                  <a:lnTo>
                    <a:pt x="0" y="768006"/>
                  </a:lnTo>
                  <a:close/>
                </a:path>
              </a:pathLst>
            </a:custGeom>
            <a:blipFill>
              <a:blip r:embed="rId4">
                <a:alphaModFix amt="0"/>
              </a:blip>
              <a:stretch>
                <a:fillRect l="0" t="-111162" r="0" b="-111160"/>
              </a:stretch>
            </a:blipFill>
          </p:spPr>
        </p:sp>
        <p:sp>
          <p:nvSpPr>
            <p:cNvPr name="TextBox 23" id="23"/>
            <p:cNvSpPr txBox="true"/>
            <p:nvPr/>
          </p:nvSpPr>
          <p:spPr>
            <a:xfrm>
              <a:off x="0" y="-38100"/>
              <a:ext cx="6352197" cy="806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Búsqueda y paginación</a:t>
              </a:r>
            </a:p>
          </p:txBody>
        </p:sp>
      </p:grpSp>
      <p:grpSp>
        <p:nvGrpSpPr>
          <p:cNvPr name="Group 24" id="24"/>
          <p:cNvGrpSpPr/>
          <p:nvPr/>
        </p:nvGrpSpPr>
        <p:grpSpPr>
          <a:xfrm rot="0">
            <a:off x="1072134" y="4855464"/>
            <a:ext cx="4764148" cy="1371600"/>
            <a:chOff x="0" y="0"/>
            <a:chExt cx="6352197" cy="1828800"/>
          </a:xfrm>
        </p:grpSpPr>
        <p:sp>
          <p:nvSpPr>
            <p:cNvPr name="Freeform 25" id="25"/>
            <p:cNvSpPr/>
            <p:nvPr/>
          </p:nvSpPr>
          <p:spPr>
            <a:xfrm flipH="false" flipV="false" rot="0">
              <a:off x="0" y="0"/>
              <a:ext cx="6352200" cy="1828800"/>
            </a:xfrm>
            <a:custGeom>
              <a:avLst/>
              <a:gdLst/>
              <a:ahLst/>
              <a:cxnLst/>
              <a:rect r="r" b="b" t="t" l="l"/>
              <a:pathLst>
                <a:path h="1828800" w="6352200">
                  <a:moveTo>
                    <a:pt x="0" y="0"/>
                  </a:moveTo>
                  <a:lnTo>
                    <a:pt x="6352200" y="0"/>
                  </a:lnTo>
                  <a:lnTo>
                    <a:pt x="6352200" y="1828800"/>
                  </a:lnTo>
                  <a:lnTo>
                    <a:pt x="0" y="1828800"/>
                  </a:lnTo>
                  <a:close/>
                </a:path>
              </a:pathLst>
            </a:custGeom>
            <a:blipFill>
              <a:blip r:embed="rId4">
                <a:alphaModFix amt="0"/>
              </a:blip>
              <a:stretch>
                <a:fillRect l="0" t="-17679" r="0" b="-17679"/>
              </a:stretch>
            </a:blipFill>
          </p:spPr>
        </p:sp>
        <p:sp>
          <p:nvSpPr>
            <p:cNvPr name="TextBox 26" id="26"/>
            <p:cNvSpPr txBox="true"/>
            <p:nvPr/>
          </p:nvSpPr>
          <p:spPr>
            <a:xfrm>
              <a:off x="0" y="-38100"/>
              <a:ext cx="6352197" cy="1866900"/>
            </a:xfrm>
            <a:prstGeom prst="rect">
              <a:avLst/>
            </a:prstGeom>
          </p:spPr>
          <p:txBody>
            <a:bodyPr anchor="ctr" rtlCol="false" tIns="0" lIns="0" bIns="0" rIns="0"/>
            <a:lstStyle/>
            <a:p>
              <a:pPr algn="l">
                <a:lnSpc>
                  <a:spcPts val="1800"/>
                </a:lnSpc>
              </a:pPr>
              <a:r>
                <a:rPr lang="en-US" sz="1500">
                  <a:solidFill>
                    <a:srgbClr val="5B6670"/>
                  </a:solidFill>
                  <a:latin typeface="Calibri (MS)"/>
                  <a:ea typeface="Calibri (MS)"/>
                  <a:cs typeface="Calibri (MS)"/>
                  <a:sym typeface="Calibri (MS)"/>
                </a:rPr>
                <a:t>Permitir buscar repuestos por nombre, referencia, código u otros criterios disponibles y navegar por páginas.</a:t>
              </a:r>
            </a:p>
          </p:txBody>
        </p:sp>
      </p:grpSp>
      <p:grpSp>
        <p:nvGrpSpPr>
          <p:cNvPr name="Group 27" id="27"/>
          <p:cNvGrpSpPr/>
          <p:nvPr/>
        </p:nvGrpSpPr>
        <p:grpSpPr>
          <a:xfrm rot="0">
            <a:off x="6494526" y="3154680"/>
            <a:ext cx="5257800" cy="3154499"/>
            <a:chOff x="0" y="0"/>
            <a:chExt cx="7010400" cy="4205999"/>
          </a:xfrm>
        </p:grpSpPr>
        <p:sp>
          <p:nvSpPr>
            <p:cNvPr name="Freeform 28" id="28"/>
            <p:cNvSpPr/>
            <p:nvPr/>
          </p:nvSpPr>
          <p:spPr>
            <a:xfrm flipH="false" flipV="false" rot="0">
              <a:off x="0" y="0"/>
              <a:ext cx="7010400" cy="4205986"/>
            </a:xfrm>
            <a:custGeom>
              <a:avLst/>
              <a:gdLst/>
              <a:ahLst/>
              <a:cxnLst/>
              <a:rect r="r" b="b" t="t" l="l"/>
              <a:pathLst>
                <a:path h="4205986" w="7010400">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sp>
      </p:grpSp>
      <p:grpSp>
        <p:nvGrpSpPr>
          <p:cNvPr name="Group 29" id="29"/>
          <p:cNvGrpSpPr/>
          <p:nvPr/>
        </p:nvGrpSpPr>
        <p:grpSpPr>
          <a:xfrm rot="0">
            <a:off x="6741414" y="3401568"/>
            <a:ext cx="685800" cy="685800"/>
            <a:chOff x="0" y="0"/>
            <a:chExt cx="914400" cy="914400"/>
          </a:xfrm>
        </p:grpSpPr>
        <p:sp>
          <p:nvSpPr>
            <p:cNvPr name="Freeform 30" id="3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31" id="31"/>
          <p:cNvGrpSpPr/>
          <p:nvPr/>
        </p:nvGrpSpPr>
        <p:grpSpPr>
          <a:xfrm rot="0">
            <a:off x="6919722" y="3579876"/>
            <a:ext cx="329184" cy="329184"/>
            <a:chOff x="0" y="0"/>
            <a:chExt cx="438912" cy="438912"/>
          </a:xfrm>
        </p:grpSpPr>
        <p:sp>
          <p:nvSpPr>
            <p:cNvPr name="Freeform 32" id="32" descr="icons/image.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6"/>
              <a:stretch>
                <a:fillRect l="0" t="0" r="0" b="0"/>
              </a:stretch>
            </a:blipFill>
          </p:spPr>
        </p:sp>
      </p:grpSp>
      <p:grpSp>
        <p:nvGrpSpPr>
          <p:cNvPr name="Group 33" id="33"/>
          <p:cNvGrpSpPr/>
          <p:nvPr/>
        </p:nvGrpSpPr>
        <p:grpSpPr>
          <a:xfrm rot="0">
            <a:off x="7591806" y="3429000"/>
            <a:ext cx="3954599" cy="383848"/>
            <a:chOff x="0" y="0"/>
            <a:chExt cx="5272799" cy="511797"/>
          </a:xfrm>
        </p:grpSpPr>
        <p:sp>
          <p:nvSpPr>
            <p:cNvPr name="Freeform 34" id="34"/>
            <p:cNvSpPr/>
            <p:nvPr/>
          </p:nvSpPr>
          <p:spPr>
            <a:xfrm flipH="false" flipV="false" rot="0">
              <a:off x="0" y="0"/>
              <a:ext cx="5272800" cy="511800"/>
            </a:xfrm>
            <a:custGeom>
              <a:avLst/>
              <a:gdLst/>
              <a:ahLst/>
              <a:cxnLst/>
              <a:rect r="r" b="b" t="t" l="l"/>
              <a:pathLst>
                <a:path h="511800" w="5272800">
                  <a:moveTo>
                    <a:pt x="0" y="0"/>
                  </a:moveTo>
                  <a:lnTo>
                    <a:pt x="5272800" y="0"/>
                  </a:lnTo>
                  <a:lnTo>
                    <a:pt x="5272800" y="511800"/>
                  </a:lnTo>
                  <a:lnTo>
                    <a:pt x="0" y="511800"/>
                  </a:lnTo>
                  <a:close/>
                </a:path>
              </a:pathLst>
            </a:custGeom>
            <a:blipFill>
              <a:blip r:embed="rId4">
                <a:alphaModFix amt="0"/>
              </a:blip>
              <a:stretch>
                <a:fillRect l="0" t="-150744" r="0" b="-150743"/>
              </a:stretch>
            </a:blipFill>
          </p:spPr>
        </p:sp>
        <p:sp>
          <p:nvSpPr>
            <p:cNvPr name="TextBox 35" id="35"/>
            <p:cNvSpPr txBox="true"/>
            <p:nvPr/>
          </p:nvSpPr>
          <p:spPr>
            <a:xfrm>
              <a:off x="0" y="-19050"/>
              <a:ext cx="5272799" cy="530847"/>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REQ 04</a:t>
              </a:r>
            </a:p>
          </p:txBody>
        </p:sp>
      </p:grpSp>
      <p:grpSp>
        <p:nvGrpSpPr>
          <p:cNvPr name="Group 36" id="36"/>
          <p:cNvGrpSpPr/>
          <p:nvPr/>
        </p:nvGrpSpPr>
        <p:grpSpPr>
          <a:xfrm rot="0">
            <a:off x="6741414" y="4251960"/>
            <a:ext cx="4764148" cy="576000"/>
            <a:chOff x="0" y="0"/>
            <a:chExt cx="6352197" cy="768000"/>
          </a:xfrm>
        </p:grpSpPr>
        <p:sp>
          <p:nvSpPr>
            <p:cNvPr name="Freeform 37" id="37"/>
            <p:cNvSpPr/>
            <p:nvPr/>
          </p:nvSpPr>
          <p:spPr>
            <a:xfrm flipH="false" flipV="false" rot="0">
              <a:off x="0" y="0"/>
              <a:ext cx="6352200" cy="768006"/>
            </a:xfrm>
            <a:custGeom>
              <a:avLst/>
              <a:gdLst/>
              <a:ahLst/>
              <a:cxnLst/>
              <a:rect r="r" b="b" t="t" l="l"/>
              <a:pathLst>
                <a:path h="768006" w="6352200">
                  <a:moveTo>
                    <a:pt x="0" y="0"/>
                  </a:moveTo>
                  <a:lnTo>
                    <a:pt x="6352200" y="0"/>
                  </a:lnTo>
                  <a:lnTo>
                    <a:pt x="6352200" y="768006"/>
                  </a:lnTo>
                  <a:lnTo>
                    <a:pt x="0" y="768006"/>
                  </a:lnTo>
                  <a:close/>
                </a:path>
              </a:pathLst>
            </a:custGeom>
            <a:blipFill>
              <a:blip r:embed="rId4">
                <a:alphaModFix amt="0"/>
              </a:blip>
              <a:stretch>
                <a:fillRect l="0" t="-111162" r="0" b="-111160"/>
              </a:stretch>
            </a:blipFill>
          </p:spPr>
        </p:sp>
        <p:sp>
          <p:nvSpPr>
            <p:cNvPr name="TextBox 38" id="38"/>
            <p:cNvSpPr txBox="true"/>
            <p:nvPr/>
          </p:nvSpPr>
          <p:spPr>
            <a:xfrm>
              <a:off x="0" y="-38100"/>
              <a:ext cx="6352197" cy="806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Control de existencias</a:t>
              </a:r>
            </a:p>
          </p:txBody>
        </p:sp>
      </p:grpSp>
      <p:grpSp>
        <p:nvGrpSpPr>
          <p:cNvPr name="Group 39" id="39"/>
          <p:cNvGrpSpPr/>
          <p:nvPr/>
        </p:nvGrpSpPr>
        <p:grpSpPr>
          <a:xfrm rot="0">
            <a:off x="6741414" y="4855464"/>
            <a:ext cx="4764148" cy="1371600"/>
            <a:chOff x="0" y="0"/>
            <a:chExt cx="6352197" cy="1828800"/>
          </a:xfrm>
        </p:grpSpPr>
        <p:sp>
          <p:nvSpPr>
            <p:cNvPr name="Freeform 40" id="40"/>
            <p:cNvSpPr/>
            <p:nvPr/>
          </p:nvSpPr>
          <p:spPr>
            <a:xfrm flipH="false" flipV="false" rot="0">
              <a:off x="0" y="0"/>
              <a:ext cx="6352200" cy="1828800"/>
            </a:xfrm>
            <a:custGeom>
              <a:avLst/>
              <a:gdLst/>
              <a:ahLst/>
              <a:cxnLst/>
              <a:rect r="r" b="b" t="t" l="l"/>
              <a:pathLst>
                <a:path h="1828800" w="6352200">
                  <a:moveTo>
                    <a:pt x="0" y="0"/>
                  </a:moveTo>
                  <a:lnTo>
                    <a:pt x="6352200" y="0"/>
                  </a:lnTo>
                  <a:lnTo>
                    <a:pt x="6352200" y="1828800"/>
                  </a:lnTo>
                  <a:lnTo>
                    <a:pt x="0" y="1828800"/>
                  </a:lnTo>
                  <a:close/>
                </a:path>
              </a:pathLst>
            </a:custGeom>
            <a:blipFill>
              <a:blip r:embed="rId4">
                <a:alphaModFix amt="0"/>
              </a:blip>
              <a:stretch>
                <a:fillRect l="0" t="-17679" r="0" b="-17679"/>
              </a:stretch>
            </a:blipFill>
          </p:spPr>
        </p:sp>
        <p:sp>
          <p:nvSpPr>
            <p:cNvPr name="TextBox 41" id="41"/>
            <p:cNvSpPr txBox="true"/>
            <p:nvPr/>
          </p:nvSpPr>
          <p:spPr>
            <a:xfrm>
              <a:off x="0" y="-38100"/>
              <a:ext cx="6352197" cy="1866900"/>
            </a:xfrm>
            <a:prstGeom prst="rect">
              <a:avLst/>
            </a:prstGeom>
          </p:spPr>
          <p:txBody>
            <a:bodyPr anchor="ctr" rtlCol="false" tIns="0" lIns="0" bIns="0" rIns="0"/>
            <a:lstStyle/>
            <a:p>
              <a:pPr algn="l">
                <a:lnSpc>
                  <a:spcPts val="1800"/>
                </a:lnSpc>
              </a:pPr>
              <a:r>
                <a:rPr lang="en-US" sz="1500">
                  <a:solidFill>
                    <a:srgbClr val="5B6670"/>
                  </a:solidFill>
                  <a:latin typeface="Calibri (MS)"/>
                  <a:ea typeface="Calibri (MS)"/>
                  <a:cs typeface="Calibri (MS)"/>
                  <a:sym typeface="Calibri (MS)"/>
                </a:rPr>
                <a:t>Ma</a:t>
              </a:r>
              <a:r>
                <a:rPr lang="en-US" sz="1500">
                  <a:solidFill>
                    <a:srgbClr val="5B6670"/>
                  </a:solidFill>
                  <a:latin typeface="Calibri (MS)"/>
                  <a:ea typeface="Calibri (MS)"/>
                  <a:cs typeface="Calibri (MS)"/>
                  <a:sym typeface="Calibri (MS)"/>
                </a:rPr>
                <a:t>ntener cantidades disponibles para apoyar el catálogo y las ventas.</a:t>
              </a:r>
            </a:p>
          </p:txBody>
        </p:sp>
      </p:grpSp>
      <p:grpSp>
        <p:nvGrpSpPr>
          <p:cNvPr name="Group 42" id="42"/>
          <p:cNvGrpSpPr/>
          <p:nvPr/>
        </p:nvGrpSpPr>
        <p:grpSpPr>
          <a:xfrm rot="0">
            <a:off x="12163806" y="3154680"/>
            <a:ext cx="5257800" cy="3154499"/>
            <a:chOff x="0" y="0"/>
            <a:chExt cx="7010400" cy="4205999"/>
          </a:xfrm>
        </p:grpSpPr>
        <p:sp>
          <p:nvSpPr>
            <p:cNvPr name="Freeform 43" id="43"/>
            <p:cNvSpPr/>
            <p:nvPr/>
          </p:nvSpPr>
          <p:spPr>
            <a:xfrm flipH="false" flipV="false" rot="0">
              <a:off x="0" y="0"/>
              <a:ext cx="7010400" cy="4205986"/>
            </a:xfrm>
            <a:custGeom>
              <a:avLst/>
              <a:gdLst/>
              <a:ahLst/>
              <a:cxnLst/>
              <a:rect r="r" b="b" t="t" l="l"/>
              <a:pathLst>
                <a:path h="4205986" w="7010400">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sp>
      </p:grpSp>
      <p:grpSp>
        <p:nvGrpSpPr>
          <p:cNvPr name="Group 44" id="44"/>
          <p:cNvGrpSpPr/>
          <p:nvPr/>
        </p:nvGrpSpPr>
        <p:grpSpPr>
          <a:xfrm rot="0">
            <a:off x="12410694" y="3401568"/>
            <a:ext cx="685800" cy="685800"/>
            <a:chOff x="0" y="0"/>
            <a:chExt cx="914400" cy="914400"/>
          </a:xfrm>
        </p:grpSpPr>
        <p:sp>
          <p:nvSpPr>
            <p:cNvPr name="Freeform 45" id="4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46" id="46"/>
          <p:cNvGrpSpPr/>
          <p:nvPr/>
        </p:nvGrpSpPr>
        <p:grpSpPr>
          <a:xfrm rot="0">
            <a:off x="12589002" y="3579876"/>
            <a:ext cx="329184" cy="329184"/>
            <a:chOff x="0" y="0"/>
            <a:chExt cx="438912" cy="438912"/>
          </a:xfrm>
        </p:grpSpPr>
        <p:sp>
          <p:nvSpPr>
            <p:cNvPr name="Freeform 47" id="47" descr="icons/cart.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7"/>
              <a:stretch>
                <a:fillRect l="0" t="0" r="0" b="0"/>
              </a:stretch>
            </a:blipFill>
          </p:spPr>
        </p:sp>
      </p:grpSp>
      <p:grpSp>
        <p:nvGrpSpPr>
          <p:cNvPr name="Group 48" id="48"/>
          <p:cNvGrpSpPr/>
          <p:nvPr/>
        </p:nvGrpSpPr>
        <p:grpSpPr>
          <a:xfrm rot="0">
            <a:off x="13261086" y="3429000"/>
            <a:ext cx="3954599" cy="383848"/>
            <a:chOff x="0" y="0"/>
            <a:chExt cx="5272799" cy="511797"/>
          </a:xfrm>
        </p:grpSpPr>
        <p:sp>
          <p:nvSpPr>
            <p:cNvPr name="Freeform 49" id="49"/>
            <p:cNvSpPr/>
            <p:nvPr/>
          </p:nvSpPr>
          <p:spPr>
            <a:xfrm flipH="false" flipV="false" rot="0">
              <a:off x="0" y="0"/>
              <a:ext cx="5272800" cy="511800"/>
            </a:xfrm>
            <a:custGeom>
              <a:avLst/>
              <a:gdLst/>
              <a:ahLst/>
              <a:cxnLst/>
              <a:rect r="r" b="b" t="t" l="l"/>
              <a:pathLst>
                <a:path h="511800" w="5272800">
                  <a:moveTo>
                    <a:pt x="0" y="0"/>
                  </a:moveTo>
                  <a:lnTo>
                    <a:pt x="5272800" y="0"/>
                  </a:lnTo>
                  <a:lnTo>
                    <a:pt x="5272800" y="511800"/>
                  </a:lnTo>
                  <a:lnTo>
                    <a:pt x="0" y="511800"/>
                  </a:lnTo>
                  <a:close/>
                </a:path>
              </a:pathLst>
            </a:custGeom>
            <a:blipFill>
              <a:blip r:embed="rId4">
                <a:alphaModFix amt="0"/>
              </a:blip>
              <a:stretch>
                <a:fillRect l="0" t="-150744" r="0" b="-150743"/>
              </a:stretch>
            </a:blipFill>
          </p:spPr>
        </p:sp>
        <p:sp>
          <p:nvSpPr>
            <p:cNvPr name="TextBox 50" id="50"/>
            <p:cNvSpPr txBox="true"/>
            <p:nvPr/>
          </p:nvSpPr>
          <p:spPr>
            <a:xfrm>
              <a:off x="0" y="-19050"/>
              <a:ext cx="5272799" cy="530847"/>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REQ 05</a:t>
              </a:r>
            </a:p>
          </p:txBody>
        </p:sp>
      </p:grpSp>
      <p:grpSp>
        <p:nvGrpSpPr>
          <p:cNvPr name="Group 51" id="51"/>
          <p:cNvGrpSpPr/>
          <p:nvPr/>
        </p:nvGrpSpPr>
        <p:grpSpPr>
          <a:xfrm rot="0">
            <a:off x="12410694" y="4251960"/>
            <a:ext cx="4764148" cy="576000"/>
            <a:chOff x="0" y="0"/>
            <a:chExt cx="6352197" cy="768000"/>
          </a:xfrm>
        </p:grpSpPr>
        <p:sp>
          <p:nvSpPr>
            <p:cNvPr name="Freeform 52" id="52"/>
            <p:cNvSpPr/>
            <p:nvPr/>
          </p:nvSpPr>
          <p:spPr>
            <a:xfrm flipH="false" flipV="false" rot="0">
              <a:off x="0" y="0"/>
              <a:ext cx="6352200" cy="768006"/>
            </a:xfrm>
            <a:custGeom>
              <a:avLst/>
              <a:gdLst/>
              <a:ahLst/>
              <a:cxnLst/>
              <a:rect r="r" b="b" t="t" l="l"/>
              <a:pathLst>
                <a:path h="768006" w="6352200">
                  <a:moveTo>
                    <a:pt x="0" y="0"/>
                  </a:moveTo>
                  <a:lnTo>
                    <a:pt x="6352200" y="0"/>
                  </a:lnTo>
                  <a:lnTo>
                    <a:pt x="6352200" y="768006"/>
                  </a:lnTo>
                  <a:lnTo>
                    <a:pt x="0" y="768006"/>
                  </a:lnTo>
                  <a:close/>
                </a:path>
              </a:pathLst>
            </a:custGeom>
            <a:blipFill>
              <a:blip r:embed="rId4">
                <a:alphaModFix amt="0"/>
              </a:blip>
              <a:stretch>
                <a:fillRect l="0" t="-111162" r="0" b="-111160"/>
              </a:stretch>
            </a:blipFill>
          </p:spPr>
        </p:sp>
        <p:sp>
          <p:nvSpPr>
            <p:cNvPr name="TextBox 53" id="53"/>
            <p:cNvSpPr txBox="true"/>
            <p:nvPr/>
          </p:nvSpPr>
          <p:spPr>
            <a:xfrm>
              <a:off x="0" y="-38100"/>
              <a:ext cx="6352197" cy="806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Gestión de vehículos</a:t>
              </a:r>
            </a:p>
          </p:txBody>
        </p:sp>
      </p:grpSp>
      <p:grpSp>
        <p:nvGrpSpPr>
          <p:cNvPr name="Group 54" id="54"/>
          <p:cNvGrpSpPr/>
          <p:nvPr/>
        </p:nvGrpSpPr>
        <p:grpSpPr>
          <a:xfrm rot="0">
            <a:off x="12410694" y="4855464"/>
            <a:ext cx="4764148" cy="1371600"/>
            <a:chOff x="0" y="0"/>
            <a:chExt cx="6352197" cy="1828800"/>
          </a:xfrm>
        </p:grpSpPr>
        <p:sp>
          <p:nvSpPr>
            <p:cNvPr name="Freeform 55" id="55"/>
            <p:cNvSpPr/>
            <p:nvPr/>
          </p:nvSpPr>
          <p:spPr>
            <a:xfrm flipH="false" flipV="false" rot="0">
              <a:off x="0" y="0"/>
              <a:ext cx="6352200" cy="1828800"/>
            </a:xfrm>
            <a:custGeom>
              <a:avLst/>
              <a:gdLst/>
              <a:ahLst/>
              <a:cxnLst/>
              <a:rect r="r" b="b" t="t" l="l"/>
              <a:pathLst>
                <a:path h="1828800" w="6352200">
                  <a:moveTo>
                    <a:pt x="0" y="0"/>
                  </a:moveTo>
                  <a:lnTo>
                    <a:pt x="6352200" y="0"/>
                  </a:lnTo>
                  <a:lnTo>
                    <a:pt x="6352200" y="1828800"/>
                  </a:lnTo>
                  <a:lnTo>
                    <a:pt x="0" y="1828800"/>
                  </a:lnTo>
                  <a:close/>
                </a:path>
              </a:pathLst>
            </a:custGeom>
            <a:blipFill>
              <a:blip r:embed="rId4">
                <a:alphaModFix amt="0"/>
              </a:blip>
              <a:stretch>
                <a:fillRect l="0" t="-17679" r="0" b="-17679"/>
              </a:stretch>
            </a:blipFill>
          </p:spPr>
        </p:sp>
        <p:sp>
          <p:nvSpPr>
            <p:cNvPr name="TextBox 56" id="56"/>
            <p:cNvSpPr txBox="true"/>
            <p:nvPr/>
          </p:nvSpPr>
          <p:spPr>
            <a:xfrm>
              <a:off x="0" y="-38100"/>
              <a:ext cx="6352197" cy="1866900"/>
            </a:xfrm>
            <a:prstGeom prst="rect">
              <a:avLst/>
            </a:prstGeom>
          </p:spPr>
          <p:txBody>
            <a:bodyPr anchor="ctr" rtlCol="false" tIns="0" lIns="0" bIns="0" rIns="0"/>
            <a:lstStyle/>
            <a:p>
              <a:pPr algn="l">
                <a:lnSpc>
                  <a:spcPts val="1800"/>
                </a:lnSpc>
              </a:pPr>
              <a:r>
                <a:rPr lang="en-US" sz="1500">
                  <a:solidFill>
                    <a:srgbClr val="5B6670"/>
                  </a:solidFill>
                  <a:latin typeface="Calibri (MS)"/>
                  <a:ea typeface="Calibri (MS)"/>
                  <a:cs typeface="Calibri (MS)"/>
                  <a:sym typeface="Calibri (MS)"/>
                </a:rPr>
                <a:t>Pe</a:t>
              </a:r>
              <a:r>
                <a:rPr lang="en-US" sz="1500">
                  <a:solidFill>
                    <a:srgbClr val="5B6670"/>
                  </a:solidFill>
                  <a:latin typeface="Calibri (MS)"/>
                  <a:ea typeface="Calibri (MS)"/>
                  <a:cs typeface="Calibri (MS)"/>
                  <a:sym typeface="Calibri (MS)"/>
                </a:rPr>
                <a:t>rmitir registrar y consultar vehículos asociados al cliente.</a:t>
              </a:r>
            </a:p>
          </p:txBody>
        </p:sp>
      </p:grpSp>
      <p:grpSp>
        <p:nvGrpSpPr>
          <p:cNvPr name="Group 57" id="57"/>
          <p:cNvGrpSpPr/>
          <p:nvPr/>
        </p:nvGrpSpPr>
        <p:grpSpPr>
          <a:xfrm rot="0">
            <a:off x="825246" y="6583680"/>
            <a:ext cx="5257800" cy="3154499"/>
            <a:chOff x="0" y="0"/>
            <a:chExt cx="7010400" cy="4205999"/>
          </a:xfrm>
        </p:grpSpPr>
        <p:sp>
          <p:nvSpPr>
            <p:cNvPr name="Freeform 58" id="58"/>
            <p:cNvSpPr/>
            <p:nvPr/>
          </p:nvSpPr>
          <p:spPr>
            <a:xfrm flipH="false" flipV="false" rot="0">
              <a:off x="0" y="0"/>
              <a:ext cx="7010400" cy="4205986"/>
            </a:xfrm>
            <a:custGeom>
              <a:avLst/>
              <a:gdLst/>
              <a:ahLst/>
              <a:cxnLst/>
              <a:rect r="r" b="b" t="t" l="l"/>
              <a:pathLst>
                <a:path h="4205986" w="7010400">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sp>
      </p:grpSp>
      <p:grpSp>
        <p:nvGrpSpPr>
          <p:cNvPr name="Group 59" id="59"/>
          <p:cNvGrpSpPr/>
          <p:nvPr/>
        </p:nvGrpSpPr>
        <p:grpSpPr>
          <a:xfrm rot="0">
            <a:off x="1072134" y="6830568"/>
            <a:ext cx="685800" cy="685800"/>
            <a:chOff x="0" y="0"/>
            <a:chExt cx="914400" cy="914400"/>
          </a:xfrm>
        </p:grpSpPr>
        <p:sp>
          <p:nvSpPr>
            <p:cNvPr name="Freeform 60" id="6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61" id="61"/>
          <p:cNvGrpSpPr/>
          <p:nvPr/>
        </p:nvGrpSpPr>
        <p:grpSpPr>
          <a:xfrm rot="0">
            <a:off x="1250442" y="7008876"/>
            <a:ext cx="329184" cy="329184"/>
            <a:chOff x="0" y="0"/>
            <a:chExt cx="438912" cy="438912"/>
          </a:xfrm>
        </p:grpSpPr>
        <p:sp>
          <p:nvSpPr>
            <p:cNvPr name="Freeform 62" id="62" descr="icons/tags.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8"/>
              <a:stretch>
                <a:fillRect l="0" t="0" r="0" b="0"/>
              </a:stretch>
            </a:blipFill>
          </p:spPr>
        </p:sp>
      </p:grpSp>
      <p:grpSp>
        <p:nvGrpSpPr>
          <p:cNvPr name="Group 63" id="63"/>
          <p:cNvGrpSpPr/>
          <p:nvPr/>
        </p:nvGrpSpPr>
        <p:grpSpPr>
          <a:xfrm rot="0">
            <a:off x="1922526" y="6858000"/>
            <a:ext cx="3954599" cy="383848"/>
            <a:chOff x="0" y="0"/>
            <a:chExt cx="5272799" cy="511797"/>
          </a:xfrm>
        </p:grpSpPr>
        <p:sp>
          <p:nvSpPr>
            <p:cNvPr name="Freeform 64" id="64"/>
            <p:cNvSpPr/>
            <p:nvPr/>
          </p:nvSpPr>
          <p:spPr>
            <a:xfrm flipH="false" flipV="false" rot="0">
              <a:off x="0" y="0"/>
              <a:ext cx="5272800" cy="511800"/>
            </a:xfrm>
            <a:custGeom>
              <a:avLst/>
              <a:gdLst/>
              <a:ahLst/>
              <a:cxnLst/>
              <a:rect r="r" b="b" t="t" l="l"/>
              <a:pathLst>
                <a:path h="511800" w="5272800">
                  <a:moveTo>
                    <a:pt x="0" y="0"/>
                  </a:moveTo>
                  <a:lnTo>
                    <a:pt x="5272800" y="0"/>
                  </a:lnTo>
                  <a:lnTo>
                    <a:pt x="5272800" y="511800"/>
                  </a:lnTo>
                  <a:lnTo>
                    <a:pt x="0" y="511800"/>
                  </a:lnTo>
                  <a:close/>
                </a:path>
              </a:pathLst>
            </a:custGeom>
            <a:blipFill>
              <a:blip r:embed="rId4">
                <a:alphaModFix amt="0"/>
              </a:blip>
              <a:stretch>
                <a:fillRect l="0" t="-150744" r="0" b="-150743"/>
              </a:stretch>
            </a:blipFill>
          </p:spPr>
        </p:sp>
        <p:sp>
          <p:nvSpPr>
            <p:cNvPr name="TextBox 65" id="65"/>
            <p:cNvSpPr txBox="true"/>
            <p:nvPr/>
          </p:nvSpPr>
          <p:spPr>
            <a:xfrm>
              <a:off x="0" y="-19050"/>
              <a:ext cx="5272799" cy="530847"/>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REQ 06</a:t>
              </a:r>
            </a:p>
          </p:txBody>
        </p:sp>
      </p:grpSp>
      <p:grpSp>
        <p:nvGrpSpPr>
          <p:cNvPr name="Group 66" id="66"/>
          <p:cNvGrpSpPr/>
          <p:nvPr/>
        </p:nvGrpSpPr>
        <p:grpSpPr>
          <a:xfrm rot="0">
            <a:off x="1072134" y="7680960"/>
            <a:ext cx="4764148" cy="576000"/>
            <a:chOff x="0" y="0"/>
            <a:chExt cx="6352197" cy="768000"/>
          </a:xfrm>
        </p:grpSpPr>
        <p:sp>
          <p:nvSpPr>
            <p:cNvPr name="Freeform 67" id="67"/>
            <p:cNvSpPr/>
            <p:nvPr/>
          </p:nvSpPr>
          <p:spPr>
            <a:xfrm flipH="false" flipV="false" rot="0">
              <a:off x="0" y="0"/>
              <a:ext cx="6352200" cy="768006"/>
            </a:xfrm>
            <a:custGeom>
              <a:avLst/>
              <a:gdLst/>
              <a:ahLst/>
              <a:cxnLst/>
              <a:rect r="r" b="b" t="t" l="l"/>
              <a:pathLst>
                <a:path h="768006" w="6352200">
                  <a:moveTo>
                    <a:pt x="0" y="0"/>
                  </a:moveTo>
                  <a:lnTo>
                    <a:pt x="6352200" y="0"/>
                  </a:lnTo>
                  <a:lnTo>
                    <a:pt x="6352200" y="768006"/>
                  </a:lnTo>
                  <a:lnTo>
                    <a:pt x="0" y="768006"/>
                  </a:lnTo>
                  <a:close/>
                </a:path>
              </a:pathLst>
            </a:custGeom>
            <a:blipFill>
              <a:blip r:embed="rId4">
                <a:alphaModFix amt="0"/>
              </a:blip>
              <a:stretch>
                <a:fillRect l="0" t="-111162" r="0" b="-111160"/>
              </a:stretch>
            </a:blipFill>
          </p:spPr>
        </p:sp>
        <p:sp>
          <p:nvSpPr>
            <p:cNvPr name="TextBox 68" id="68"/>
            <p:cNvSpPr txBox="true"/>
            <p:nvPr/>
          </p:nvSpPr>
          <p:spPr>
            <a:xfrm>
              <a:off x="0" y="-38100"/>
              <a:ext cx="6352197" cy="806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Gestion de inventario</a:t>
              </a:r>
            </a:p>
          </p:txBody>
        </p:sp>
      </p:grpSp>
      <p:grpSp>
        <p:nvGrpSpPr>
          <p:cNvPr name="Group 69" id="69"/>
          <p:cNvGrpSpPr/>
          <p:nvPr/>
        </p:nvGrpSpPr>
        <p:grpSpPr>
          <a:xfrm rot="0">
            <a:off x="1072134" y="8284464"/>
            <a:ext cx="4764148" cy="1371600"/>
            <a:chOff x="0" y="0"/>
            <a:chExt cx="6352197" cy="1828800"/>
          </a:xfrm>
        </p:grpSpPr>
        <p:sp>
          <p:nvSpPr>
            <p:cNvPr name="Freeform 70" id="70"/>
            <p:cNvSpPr/>
            <p:nvPr/>
          </p:nvSpPr>
          <p:spPr>
            <a:xfrm flipH="false" flipV="false" rot="0">
              <a:off x="0" y="0"/>
              <a:ext cx="6352200" cy="1828800"/>
            </a:xfrm>
            <a:custGeom>
              <a:avLst/>
              <a:gdLst/>
              <a:ahLst/>
              <a:cxnLst/>
              <a:rect r="r" b="b" t="t" l="l"/>
              <a:pathLst>
                <a:path h="1828800" w="6352200">
                  <a:moveTo>
                    <a:pt x="0" y="0"/>
                  </a:moveTo>
                  <a:lnTo>
                    <a:pt x="6352200" y="0"/>
                  </a:lnTo>
                  <a:lnTo>
                    <a:pt x="6352200" y="1828800"/>
                  </a:lnTo>
                  <a:lnTo>
                    <a:pt x="0" y="1828800"/>
                  </a:lnTo>
                  <a:close/>
                </a:path>
              </a:pathLst>
            </a:custGeom>
            <a:blipFill>
              <a:blip r:embed="rId4">
                <a:alphaModFix amt="0"/>
              </a:blip>
              <a:stretch>
                <a:fillRect l="0" t="-17679" r="0" b="-17679"/>
              </a:stretch>
            </a:blipFill>
          </p:spPr>
        </p:sp>
        <p:sp>
          <p:nvSpPr>
            <p:cNvPr name="TextBox 71" id="71"/>
            <p:cNvSpPr txBox="true"/>
            <p:nvPr/>
          </p:nvSpPr>
          <p:spPr>
            <a:xfrm>
              <a:off x="0" y="-38100"/>
              <a:ext cx="6352197" cy="1866900"/>
            </a:xfrm>
            <a:prstGeom prst="rect">
              <a:avLst/>
            </a:prstGeom>
          </p:spPr>
          <p:txBody>
            <a:bodyPr anchor="ctr" rtlCol="false" tIns="0" lIns="0" bIns="0" rIns="0"/>
            <a:lstStyle/>
            <a:p>
              <a:pPr algn="l">
                <a:lnSpc>
                  <a:spcPts val="1800"/>
                </a:lnSpc>
              </a:pPr>
              <a:r>
                <a:rPr lang="en-US" sz="1500">
                  <a:solidFill>
                    <a:srgbClr val="5B6670"/>
                  </a:solidFill>
                  <a:latin typeface="Calibri (MS)"/>
                  <a:ea typeface="Calibri (MS)"/>
                  <a:cs typeface="Calibri (MS)"/>
                  <a:sym typeface="Calibri (MS)"/>
                </a:rPr>
                <a:t>Per</a:t>
              </a:r>
              <a:r>
                <a:rPr lang="en-US" sz="1500">
                  <a:solidFill>
                    <a:srgbClr val="5B6670"/>
                  </a:solidFill>
                  <a:latin typeface="Calibri (MS)"/>
                  <a:ea typeface="Calibri (MS)"/>
                  <a:cs typeface="Calibri (MS)"/>
                  <a:sym typeface="Calibri (MS)"/>
                </a:rPr>
                <a:t>mitir registrar, editar, consultar y eliminar productos.</a:t>
              </a:r>
            </a:p>
            <a:p>
              <a:pPr algn="l">
                <a:lnSpc>
                  <a:spcPts val="1800"/>
                </a:lnSpc>
              </a:pPr>
            </a:p>
          </p:txBody>
        </p:sp>
      </p:grpSp>
      <p:grpSp>
        <p:nvGrpSpPr>
          <p:cNvPr name="Group 72" id="72"/>
          <p:cNvGrpSpPr/>
          <p:nvPr/>
        </p:nvGrpSpPr>
        <p:grpSpPr>
          <a:xfrm rot="0">
            <a:off x="6494526" y="6583680"/>
            <a:ext cx="5257800" cy="3154499"/>
            <a:chOff x="0" y="0"/>
            <a:chExt cx="7010400" cy="4205999"/>
          </a:xfrm>
        </p:grpSpPr>
        <p:sp>
          <p:nvSpPr>
            <p:cNvPr name="Freeform 73" id="73"/>
            <p:cNvSpPr/>
            <p:nvPr/>
          </p:nvSpPr>
          <p:spPr>
            <a:xfrm flipH="false" flipV="false" rot="0">
              <a:off x="0" y="0"/>
              <a:ext cx="7010400" cy="4205986"/>
            </a:xfrm>
            <a:custGeom>
              <a:avLst/>
              <a:gdLst/>
              <a:ahLst/>
              <a:cxnLst/>
              <a:rect r="r" b="b" t="t" l="l"/>
              <a:pathLst>
                <a:path h="4205986" w="7010400">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sp>
      </p:grpSp>
      <p:grpSp>
        <p:nvGrpSpPr>
          <p:cNvPr name="Group 74" id="74"/>
          <p:cNvGrpSpPr/>
          <p:nvPr/>
        </p:nvGrpSpPr>
        <p:grpSpPr>
          <a:xfrm rot="0">
            <a:off x="6741414" y="6830568"/>
            <a:ext cx="685800" cy="685800"/>
            <a:chOff x="0" y="0"/>
            <a:chExt cx="914400" cy="914400"/>
          </a:xfrm>
        </p:grpSpPr>
        <p:sp>
          <p:nvSpPr>
            <p:cNvPr name="Freeform 75" id="7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76" id="76"/>
          <p:cNvGrpSpPr/>
          <p:nvPr/>
        </p:nvGrpSpPr>
        <p:grpSpPr>
          <a:xfrm rot="0">
            <a:off x="6919722" y="7008876"/>
            <a:ext cx="329184" cy="329184"/>
            <a:chOff x="0" y="0"/>
            <a:chExt cx="438912" cy="438912"/>
          </a:xfrm>
        </p:grpSpPr>
        <p:sp>
          <p:nvSpPr>
            <p:cNvPr name="Freeform 77" id="77" descr="icons/cogs.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9"/>
              <a:stretch>
                <a:fillRect l="0" t="0" r="0" b="0"/>
              </a:stretch>
            </a:blipFill>
          </p:spPr>
        </p:sp>
      </p:grpSp>
      <p:grpSp>
        <p:nvGrpSpPr>
          <p:cNvPr name="Group 78" id="78"/>
          <p:cNvGrpSpPr/>
          <p:nvPr/>
        </p:nvGrpSpPr>
        <p:grpSpPr>
          <a:xfrm rot="0">
            <a:off x="7591806" y="6858000"/>
            <a:ext cx="3954599" cy="383848"/>
            <a:chOff x="0" y="0"/>
            <a:chExt cx="5272799" cy="511797"/>
          </a:xfrm>
        </p:grpSpPr>
        <p:sp>
          <p:nvSpPr>
            <p:cNvPr name="Freeform 79" id="79"/>
            <p:cNvSpPr/>
            <p:nvPr/>
          </p:nvSpPr>
          <p:spPr>
            <a:xfrm flipH="false" flipV="false" rot="0">
              <a:off x="0" y="0"/>
              <a:ext cx="5272800" cy="511800"/>
            </a:xfrm>
            <a:custGeom>
              <a:avLst/>
              <a:gdLst/>
              <a:ahLst/>
              <a:cxnLst/>
              <a:rect r="r" b="b" t="t" l="l"/>
              <a:pathLst>
                <a:path h="511800" w="5272800">
                  <a:moveTo>
                    <a:pt x="0" y="0"/>
                  </a:moveTo>
                  <a:lnTo>
                    <a:pt x="5272800" y="0"/>
                  </a:lnTo>
                  <a:lnTo>
                    <a:pt x="5272800" y="511800"/>
                  </a:lnTo>
                  <a:lnTo>
                    <a:pt x="0" y="511800"/>
                  </a:lnTo>
                  <a:close/>
                </a:path>
              </a:pathLst>
            </a:custGeom>
            <a:blipFill>
              <a:blip r:embed="rId4">
                <a:alphaModFix amt="0"/>
              </a:blip>
              <a:stretch>
                <a:fillRect l="0" t="-150744" r="0" b="-150743"/>
              </a:stretch>
            </a:blipFill>
          </p:spPr>
        </p:sp>
        <p:sp>
          <p:nvSpPr>
            <p:cNvPr name="TextBox 80" id="80"/>
            <p:cNvSpPr txBox="true"/>
            <p:nvPr/>
          </p:nvSpPr>
          <p:spPr>
            <a:xfrm>
              <a:off x="0" y="-19050"/>
              <a:ext cx="5272799" cy="530847"/>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REQ 07</a:t>
              </a:r>
            </a:p>
          </p:txBody>
        </p:sp>
      </p:grpSp>
      <p:grpSp>
        <p:nvGrpSpPr>
          <p:cNvPr name="Group 81" id="81"/>
          <p:cNvGrpSpPr/>
          <p:nvPr/>
        </p:nvGrpSpPr>
        <p:grpSpPr>
          <a:xfrm rot="0">
            <a:off x="6741414" y="7680960"/>
            <a:ext cx="4764148" cy="576000"/>
            <a:chOff x="0" y="0"/>
            <a:chExt cx="6352197" cy="768000"/>
          </a:xfrm>
        </p:grpSpPr>
        <p:sp>
          <p:nvSpPr>
            <p:cNvPr name="Freeform 82" id="82"/>
            <p:cNvSpPr/>
            <p:nvPr/>
          </p:nvSpPr>
          <p:spPr>
            <a:xfrm flipH="false" flipV="false" rot="0">
              <a:off x="0" y="0"/>
              <a:ext cx="6352200" cy="768006"/>
            </a:xfrm>
            <a:custGeom>
              <a:avLst/>
              <a:gdLst/>
              <a:ahLst/>
              <a:cxnLst/>
              <a:rect r="r" b="b" t="t" l="l"/>
              <a:pathLst>
                <a:path h="768006" w="6352200">
                  <a:moveTo>
                    <a:pt x="0" y="0"/>
                  </a:moveTo>
                  <a:lnTo>
                    <a:pt x="6352200" y="0"/>
                  </a:lnTo>
                  <a:lnTo>
                    <a:pt x="6352200" y="768006"/>
                  </a:lnTo>
                  <a:lnTo>
                    <a:pt x="0" y="768006"/>
                  </a:lnTo>
                  <a:close/>
                </a:path>
              </a:pathLst>
            </a:custGeom>
            <a:blipFill>
              <a:blip r:embed="rId4">
                <a:alphaModFix amt="0"/>
              </a:blip>
              <a:stretch>
                <a:fillRect l="0" t="-111162" r="0" b="-111160"/>
              </a:stretch>
            </a:blipFill>
          </p:spPr>
        </p:sp>
        <p:sp>
          <p:nvSpPr>
            <p:cNvPr name="TextBox 83" id="83"/>
            <p:cNvSpPr txBox="true"/>
            <p:nvPr/>
          </p:nvSpPr>
          <p:spPr>
            <a:xfrm>
              <a:off x="0" y="-38100"/>
              <a:ext cx="6352197" cy="806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nicio</a:t>
              </a:r>
              <a:r>
                <a:rPr lang="en-US" b="true" sz="1875">
                  <a:solidFill>
                    <a:srgbClr val="00304D"/>
                  </a:solidFill>
                  <a:latin typeface="Calibri (MS) Bold"/>
                  <a:ea typeface="Calibri (MS) Bold"/>
                  <a:cs typeface="Calibri (MS) Bold"/>
                  <a:sym typeface="Calibri (MS) Bold"/>
                </a:rPr>
                <a:t> de sesión y control de acceso</a:t>
              </a:r>
            </a:p>
          </p:txBody>
        </p:sp>
      </p:grpSp>
      <p:grpSp>
        <p:nvGrpSpPr>
          <p:cNvPr name="Group 84" id="84"/>
          <p:cNvGrpSpPr/>
          <p:nvPr/>
        </p:nvGrpSpPr>
        <p:grpSpPr>
          <a:xfrm rot="0">
            <a:off x="6741414" y="8284464"/>
            <a:ext cx="4764148" cy="1371600"/>
            <a:chOff x="0" y="0"/>
            <a:chExt cx="6352197" cy="1828800"/>
          </a:xfrm>
        </p:grpSpPr>
        <p:sp>
          <p:nvSpPr>
            <p:cNvPr name="Freeform 85" id="85"/>
            <p:cNvSpPr/>
            <p:nvPr/>
          </p:nvSpPr>
          <p:spPr>
            <a:xfrm flipH="false" flipV="false" rot="0">
              <a:off x="0" y="0"/>
              <a:ext cx="6352200" cy="1828800"/>
            </a:xfrm>
            <a:custGeom>
              <a:avLst/>
              <a:gdLst/>
              <a:ahLst/>
              <a:cxnLst/>
              <a:rect r="r" b="b" t="t" l="l"/>
              <a:pathLst>
                <a:path h="1828800" w="6352200">
                  <a:moveTo>
                    <a:pt x="0" y="0"/>
                  </a:moveTo>
                  <a:lnTo>
                    <a:pt x="6352200" y="0"/>
                  </a:lnTo>
                  <a:lnTo>
                    <a:pt x="6352200" y="1828800"/>
                  </a:lnTo>
                  <a:lnTo>
                    <a:pt x="0" y="1828800"/>
                  </a:lnTo>
                  <a:close/>
                </a:path>
              </a:pathLst>
            </a:custGeom>
            <a:blipFill>
              <a:blip r:embed="rId4">
                <a:alphaModFix amt="0"/>
              </a:blip>
              <a:stretch>
                <a:fillRect l="0" t="-17679" r="0" b="-17679"/>
              </a:stretch>
            </a:blipFill>
          </p:spPr>
        </p:sp>
        <p:sp>
          <p:nvSpPr>
            <p:cNvPr name="TextBox 86" id="86"/>
            <p:cNvSpPr txBox="true"/>
            <p:nvPr/>
          </p:nvSpPr>
          <p:spPr>
            <a:xfrm>
              <a:off x="0" y="-38100"/>
              <a:ext cx="6352197" cy="1866900"/>
            </a:xfrm>
            <a:prstGeom prst="rect">
              <a:avLst/>
            </a:prstGeom>
          </p:spPr>
          <p:txBody>
            <a:bodyPr anchor="ctr" rtlCol="false" tIns="0" lIns="0" bIns="0" rIns="0"/>
            <a:lstStyle/>
            <a:p>
              <a:pPr algn="l">
                <a:lnSpc>
                  <a:spcPts val="1800"/>
                </a:lnSpc>
              </a:pPr>
              <a:r>
                <a:rPr lang="en-US" sz="1500">
                  <a:solidFill>
                    <a:srgbClr val="5B6670"/>
                  </a:solidFill>
                  <a:latin typeface="Calibri (MS)"/>
                  <a:ea typeface="Calibri (MS)"/>
                  <a:cs typeface="Calibri (MS)"/>
                  <a:sym typeface="Calibri (MS)"/>
                </a:rPr>
                <a:t>P</a:t>
              </a:r>
              <a:r>
                <a:rPr lang="en-US" sz="1500">
                  <a:solidFill>
                    <a:srgbClr val="5B6670"/>
                  </a:solidFill>
                  <a:latin typeface="Calibri (MS)"/>
                  <a:ea typeface="Calibri (MS)"/>
                  <a:cs typeface="Calibri (MS)"/>
                  <a:sym typeface="Calibri (MS)"/>
                </a:rPr>
                <a:t>ermitir iniciar sesión y restringir funciones según rol.</a:t>
              </a:r>
            </a:p>
          </p:txBody>
        </p:sp>
      </p:grpSp>
      <p:grpSp>
        <p:nvGrpSpPr>
          <p:cNvPr name="Group 87" id="87"/>
          <p:cNvGrpSpPr/>
          <p:nvPr/>
        </p:nvGrpSpPr>
        <p:grpSpPr>
          <a:xfrm rot="0">
            <a:off x="12163806" y="6583680"/>
            <a:ext cx="5257800" cy="3154499"/>
            <a:chOff x="0" y="0"/>
            <a:chExt cx="7010400" cy="4205999"/>
          </a:xfrm>
        </p:grpSpPr>
        <p:sp>
          <p:nvSpPr>
            <p:cNvPr name="Freeform 88" id="88"/>
            <p:cNvSpPr/>
            <p:nvPr/>
          </p:nvSpPr>
          <p:spPr>
            <a:xfrm flipH="false" flipV="false" rot="0">
              <a:off x="0" y="0"/>
              <a:ext cx="7010400" cy="4205986"/>
            </a:xfrm>
            <a:custGeom>
              <a:avLst/>
              <a:gdLst/>
              <a:ahLst/>
              <a:cxnLst/>
              <a:rect r="r" b="b" t="t" l="l"/>
              <a:pathLst>
                <a:path h="4205986" w="7010400">
                  <a:moveTo>
                    <a:pt x="0" y="146304"/>
                  </a:moveTo>
                  <a:cubicBezTo>
                    <a:pt x="0" y="65532"/>
                    <a:pt x="65532" y="0"/>
                    <a:pt x="146304" y="0"/>
                  </a:cubicBezTo>
                  <a:lnTo>
                    <a:pt x="6864096" y="0"/>
                  </a:lnTo>
                  <a:cubicBezTo>
                    <a:pt x="6944868" y="0"/>
                    <a:pt x="7010400" y="65532"/>
                    <a:pt x="7010400" y="146304"/>
                  </a:cubicBezTo>
                  <a:lnTo>
                    <a:pt x="7010400" y="4059682"/>
                  </a:lnTo>
                  <a:cubicBezTo>
                    <a:pt x="7010400" y="4140454"/>
                    <a:pt x="6944868" y="4205986"/>
                    <a:pt x="6864096" y="4205986"/>
                  </a:cubicBezTo>
                  <a:lnTo>
                    <a:pt x="146304" y="4205986"/>
                  </a:lnTo>
                  <a:cubicBezTo>
                    <a:pt x="65532" y="4205986"/>
                    <a:pt x="0" y="4140454"/>
                    <a:pt x="0" y="4059682"/>
                  </a:cubicBezTo>
                  <a:close/>
                </a:path>
              </a:pathLst>
            </a:custGeom>
            <a:solidFill>
              <a:srgbClr val="FFFFFF"/>
            </a:solidFill>
          </p:spPr>
        </p:sp>
      </p:grpSp>
      <p:grpSp>
        <p:nvGrpSpPr>
          <p:cNvPr name="Group 89" id="89"/>
          <p:cNvGrpSpPr/>
          <p:nvPr/>
        </p:nvGrpSpPr>
        <p:grpSpPr>
          <a:xfrm rot="0">
            <a:off x="12410694" y="6830568"/>
            <a:ext cx="685800" cy="685800"/>
            <a:chOff x="0" y="0"/>
            <a:chExt cx="914400" cy="914400"/>
          </a:xfrm>
        </p:grpSpPr>
        <p:sp>
          <p:nvSpPr>
            <p:cNvPr name="Freeform 90" id="9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91" id="91"/>
          <p:cNvGrpSpPr/>
          <p:nvPr/>
        </p:nvGrpSpPr>
        <p:grpSpPr>
          <a:xfrm rot="0">
            <a:off x="12589002" y="7008876"/>
            <a:ext cx="329184" cy="329184"/>
            <a:chOff x="0" y="0"/>
            <a:chExt cx="438912" cy="438912"/>
          </a:xfrm>
        </p:grpSpPr>
        <p:sp>
          <p:nvSpPr>
            <p:cNvPr name="Freeform 92" id="92" descr="icons/bell.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10"/>
              <a:stretch>
                <a:fillRect l="0" t="0" r="0" b="0"/>
              </a:stretch>
            </a:blipFill>
          </p:spPr>
        </p:sp>
      </p:grpSp>
      <p:grpSp>
        <p:nvGrpSpPr>
          <p:cNvPr name="Group 93" id="93"/>
          <p:cNvGrpSpPr/>
          <p:nvPr/>
        </p:nvGrpSpPr>
        <p:grpSpPr>
          <a:xfrm rot="0">
            <a:off x="13261086" y="6858000"/>
            <a:ext cx="3954599" cy="383848"/>
            <a:chOff x="0" y="0"/>
            <a:chExt cx="5272799" cy="511797"/>
          </a:xfrm>
        </p:grpSpPr>
        <p:sp>
          <p:nvSpPr>
            <p:cNvPr name="Freeform 94" id="94"/>
            <p:cNvSpPr/>
            <p:nvPr/>
          </p:nvSpPr>
          <p:spPr>
            <a:xfrm flipH="false" flipV="false" rot="0">
              <a:off x="0" y="0"/>
              <a:ext cx="5272800" cy="511800"/>
            </a:xfrm>
            <a:custGeom>
              <a:avLst/>
              <a:gdLst/>
              <a:ahLst/>
              <a:cxnLst/>
              <a:rect r="r" b="b" t="t" l="l"/>
              <a:pathLst>
                <a:path h="511800" w="5272800">
                  <a:moveTo>
                    <a:pt x="0" y="0"/>
                  </a:moveTo>
                  <a:lnTo>
                    <a:pt x="5272800" y="0"/>
                  </a:lnTo>
                  <a:lnTo>
                    <a:pt x="5272800" y="511800"/>
                  </a:lnTo>
                  <a:lnTo>
                    <a:pt x="0" y="511800"/>
                  </a:lnTo>
                  <a:close/>
                </a:path>
              </a:pathLst>
            </a:custGeom>
            <a:blipFill>
              <a:blip r:embed="rId4">
                <a:alphaModFix amt="0"/>
              </a:blip>
              <a:stretch>
                <a:fillRect l="0" t="-150744" r="0" b="-150743"/>
              </a:stretch>
            </a:blipFill>
          </p:spPr>
        </p:sp>
        <p:sp>
          <p:nvSpPr>
            <p:cNvPr name="TextBox 95" id="95"/>
            <p:cNvSpPr txBox="true"/>
            <p:nvPr/>
          </p:nvSpPr>
          <p:spPr>
            <a:xfrm>
              <a:off x="0" y="-19050"/>
              <a:ext cx="5272799" cy="530847"/>
            </a:xfrm>
            <a:prstGeom prst="rect">
              <a:avLst/>
            </a:prstGeom>
          </p:spPr>
          <p:txBody>
            <a:bodyPr anchor="ctr" rtlCol="false" tIns="0" lIns="0" bIns="0" rIns="0"/>
            <a:lstStyle/>
            <a:p>
              <a:pPr algn="l">
                <a:lnSpc>
                  <a:spcPts val="1889"/>
                </a:lnSpc>
              </a:pPr>
              <a:r>
                <a:rPr lang="en-US" b="true" sz="1575">
                  <a:solidFill>
                    <a:srgbClr val="39A900"/>
                  </a:solidFill>
                  <a:latin typeface="Calibri (MS) Bold"/>
                  <a:ea typeface="Calibri (MS) Bold"/>
                  <a:cs typeface="Calibri (MS) Bold"/>
                  <a:sym typeface="Calibri (MS) Bold"/>
                </a:rPr>
                <a:t>No funcional</a:t>
              </a:r>
            </a:p>
          </p:txBody>
        </p:sp>
      </p:grpSp>
      <p:grpSp>
        <p:nvGrpSpPr>
          <p:cNvPr name="Group 96" id="96"/>
          <p:cNvGrpSpPr/>
          <p:nvPr/>
        </p:nvGrpSpPr>
        <p:grpSpPr>
          <a:xfrm rot="0">
            <a:off x="12410694" y="7680960"/>
            <a:ext cx="4764148" cy="576000"/>
            <a:chOff x="0" y="0"/>
            <a:chExt cx="6352197" cy="768000"/>
          </a:xfrm>
        </p:grpSpPr>
        <p:sp>
          <p:nvSpPr>
            <p:cNvPr name="Freeform 97" id="97"/>
            <p:cNvSpPr/>
            <p:nvPr/>
          </p:nvSpPr>
          <p:spPr>
            <a:xfrm flipH="false" flipV="false" rot="0">
              <a:off x="0" y="0"/>
              <a:ext cx="6352200" cy="768006"/>
            </a:xfrm>
            <a:custGeom>
              <a:avLst/>
              <a:gdLst/>
              <a:ahLst/>
              <a:cxnLst/>
              <a:rect r="r" b="b" t="t" l="l"/>
              <a:pathLst>
                <a:path h="768006" w="6352200">
                  <a:moveTo>
                    <a:pt x="0" y="0"/>
                  </a:moveTo>
                  <a:lnTo>
                    <a:pt x="6352200" y="0"/>
                  </a:lnTo>
                  <a:lnTo>
                    <a:pt x="6352200" y="768006"/>
                  </a:lnTo>
                  <a:lnTo>
                    <a:pt x="0" y="768006"/>
                  </a:lnTo>
                  <a:close/>
                </a:path>
              </a:pathLst>
            </a:custGeom>
            <a:blipFill>
              <a:blip r:embed="rId4">
                <a:alphaModFix amt="0"/>
              </a:blip>
              <a:stretch>
                <a:fillRect l="0" t="-111162" r="0" b="-111160"/>
              </a:stretch>
            </a:blipFill>
          </p:spPr>
        </p:sp>
        <p:sp>
          <p:nvSpPr>
            <p:cNvPr name="TextBox 98" id="98"/>
            <p:cNvSpPr txBox="true"/>
            <p:nvPr/>
          </p:nvSpPr>
          <p:spPr>
            <a:xfrm>
              <a:off x="0" y="-38100"/>
              <a:ext cx="6352197" cy="8061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Registro de usuario</a:t>
              </a:r>
            </a:p>
          </p:txBody>
        </p:sp>
      </p:grpSp>
      <p:grpSp>
        <p:nvGrpSpPr>
          <p:cNvPr name="Group 99" id="99"/>
          <p:cNvGrpSpPr/>
          <p:nvPr/>
        </p:nvGrpSpPr>
        <p:grpSpPr>
          <a:xfrm rot="0">
            <a:off x="12410694" y="8284464"/>
            <a:ext cx="4764148" cy="1371600"/>
            <a:chOff x="0" y="0"/>
            <a:chExt cx="6352197" cy="1828800"/>
          </a:xfrm>
        </p:grpSpPr>
        <p:sp>
          <p:nvSpPr>
            <p:cNvPr name="Freeform 100" id="100"/>
            <p:cNvSpPr/>
            <p:nvPr/>
          </p:nvSpPr>
          <p:spPr>
            <a:xfrm flipH="false" flipV="false" rot="0">
              <a:off x="0" y="0"/>
              <a:ext cx="6352200" cy="1828800"/>
            </a:xfrm>
            <a:custGeom>
              <a:avLst/>
              <a:gdLst/>
              <a:ahLst/>
              <a:cxnLst/>
              <a:rect r="r" b="b" t="t" l="l"/>
              <a:pathLst>
                <a:path h="1828800" w="6352200">
                  <a:moveTo>
                    <a:pt x="0" y="0"/>
                  </a:moveTo>
                  <a:lnTo>
                    <a:pt x="6352200" y="0"/>
                  </a:lnTo>
                  <a:lnTo>
                    <a:pt x="6352200" y="1828800"/>
                  </a:lnTo>
                  <a:lnTo>
                    <a:pt x="0" y="1828800"/>
                  </a:lnTo>
                  <a:close/>
                </a:path>
              </a:pathLst>
            </a:custGeom>
            <a:blipFill>
              <a:blip r:embed="rId4">
                <a:alphaModFix amt="0"/>
              </a:blip>
              <a:stretch>
                <a:fillRect l="0" t="-17679" r="0" b="-17679"/>
              </a:stretch>
            </a:blipFill>
          </p:spPr>
        </p:sp>
        <p:sp>
          <p:nvSpPr>
            <p:cNvPr name="TextBox 101" id="101"/>
            <p:cNvSpPr txBox="true"/>
            <p:nvPr/>
          </p:nvSpPr>
          <p:spPr>
            <a:xfrm>
              <a:off x="0" y="-38100"/>
              <a:ext cx="6352197" cy="1866900"/>
            </a:xfrm>
            <a:prstGeom prst="rect">
              <a:avLst/>
            </a:prstGeom>
          </p:spPr>
          <p:txBody>
            <a:bodyPr anchor="ctr" rtlCol="false" tIns="0" lIns="0" bIns="0" rIns="0"/>
            <a:lstStyle/>
            <a:p>
              <a:pPr algn="l">
                <a:lnSpc>
                  <a:spcPts val="1800"/>
                </a:lnSpc>
              </a:pPr>
              <a:r>
                <a:rPr lang="en-US" sz="1500">
                  <a:solidFill>
                    <a:srgbClr val="5B6670"/>
                  </a:solidFill>
                  <a:latin typeface="Calibri (MS)"/>
                  <a:ea typeface="Calibri (MS)"/>
                  <a:cs typeface="Calibri (MS)"/>
                  <a:sym typeface="Calibri (MS)"/>
                </a:rPr>
                <a:t>P</a:t>
              </a:r>
              <a:r>
                <a:rPr lang="en-US" sz="1500">
                  <a:solidFill>
                    <a:srgbClr val="5B6670"/>
                  </a:solidFill>
                  <a:latin typeface="Calibri (MS)"/>
                  <a:ea typeface="Calibri (MS)"/>
                  <a:cs typeface="Calibri (MS)"/>
                  <a:sym typeface="Calibri (MS)"/>
                </a:rPr>
                <a:t>ermitir registrar una cuenta para acceder a las funciones autenticadas.</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987552"/>
            <a:ext cx="16184699" cy="1165946"/>
            <a:chOff x="0" y="0"/>
            <a:chExt cx="21579599" cy="1554594"/>
          </a:xfrm>
        </p:grpSpPr>
        <p:sp>
          <p:nvSpPr>
            <p:cNvPr name="Freeform 4" id="4"/>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5" id="5"/>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Arquitectura y stack tecnológico</a:t>
              </a:r>
            </a:p>
          </p:txBody>
        </p:sp>
      </p:grpSp>
      <p:grpSp>
        <p:nvGrpSpPr>
          <p:cNvPr name="Group 6" id="6"/>
          <p:cNvGrpSpPr/>
          <p:nvPr/>
        </p:nvGrpSpPr>
        <p:grpSpPr>
          <a:xfrm rot="0">
            <a:off x="822960" y="2468880"/>
            <a:ext cx="5308197" cy="3429000"/>
            <a:chOff x="0" y="0"/>
            <a:chExt cx="7077596" cy="4572000"/>
          </a:xfrm>
        </p:grpSpPr>
        <p:sp>
          <p:nvSpPr>
            <p:cNvPr name="Freeform 7" id="7"/>
            <p:cNvSpPr/>
            <p:nvPr/>
          </p:nvSpPr>
          <p:spPr>
            <a:xfrm flipH="false" flipV="false" rot="0">
              <a:off x="0" y="0"/>
              <a:ext cx="7077583" cy="4572000"/>
            </a:xfrm>
            <a:custGeom>
              <a:avLst/>
              <a:gdLst/>
              <a:ahLst/>
              <a:cxnLst/>
              <a:rect r="r" b="b" t="t" l="l"/>
              <a:pathLst>
                <a:path h="4572000" w="7077583">
                  <a:moveTo>
                    <a:pt x="0" y="146304"/>
                  </a:moveTo>
                  <a:cubicBezTo>
                    <a:pt x="0" y="65532"/>
                    <a:pt x="65532" y="0"/>
                    <a:pt x="146304" y="0"/>
                  </a:cubicBezTo>
                  <a:lnTo>
                    <a:pt x="6931279" y="0"/>
                  </a:lnTo>
                  <a:cubicBezTo>
                    <a:pt x="7012051" y="0"/>
                    <a:pt x="7077583" y="65532"/>
                    <a:pt x="7077583" y="146304"/>
                  </a:cubicBezTo>
                  <a:lnTo>
                    <a:pt x="7077583" y="4425696"/>
                  </a:lnTo>
                  <a:cubicBezTo>
                    <a:pt x="7077583" y="4506468"/>
                    <a:pt x="7012051" y="4572000"/>
                    <a:pt x="6931279" y="4572000"/>
                  </a:cubicBezTo>
                  <a:lnTo>
                    <a:pt x="146304" y="4572000"/>
                  </a:lnTo>
                  <a:cubicBezTo>
                    <a:pt x="65532" y="4572000"/>
                    <a:pt x="0" y="4506468"/>
                    <a:pt x="0" y="4425696"/>
                  </a:cubicBezTo>
                  <a:close/>
                </a:path>
              </a:pathLst>
            </a:custGeom>
            <a:solidFill>
              <a:srgbClr val="00304D"/>
            </a:solidFill>
          </p:spPr>
        </p:sp>
      </p:grpSp>
      <p:grpSp>
        <p:nvGrpSpPr>
          <p:cNvPr name="Group 8" id="8"/>
          <p:cNvGrpSpPr/>
          <p:nvPr/>
        </p:nvGrpSpPr>
        <p:grpSpPr>
          <a:xfrm rot="0">
            <a:off x="2962656" y="2811780"/>
            <a:ext cx="1028700" cy="1028700"/>
            <a:chOff x="0" y="0"/>
            <a:chExt cx="1371600" cy="1371600"/>
          </a:xfrm>
        </p:grpSpPr>
        <p:sp>
          <p:nvSpPr>
            <p:cNvPr name="Freeform 9" id="9"/>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39A900"/>
            </a:solidFill>
          </p:spPr>
        </p:sp>
      </p:grpSp>
      <p:grpSp>
        <p:nvGrpSpPr>
          <p:cNvPr name="Group 10" id="10"/>
          <p:cNvGrpSpPr/>
          <p:nvPr/>
        </p:nvGrpSpPr>
        <p:grpSpPr>
          <a:xfrm rot="0">
            <a:off x="3230118" y="3079242"/>
            <a:ext cx="493776" cy="493776"/>
            <a:chOff x="0" y="0"/>
            <a:chExt cx="658368" cy="658368"/>
          </a:xfrm>
        </p:grpSpPr>
        <p:sp>
          <p:nvSpPr>
            <p:cNvPr name="Freeform 11" id="11" descr="icons/code.png"/>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lnTo>
                    <a:pt x="0" y="0"/>
                  </a:lnTo>
                  <a:close/>
                </a:path>
              </a:pathLst>
            </a:custGeom>
            <a:blipFill>
              <a:blip r:embed="rId5"/>
              <a:stretch>
                <a:fillRect l="0" t="0" r="0" b="0"/>
              </a:stretch>
            </a:blipFill>
          </p:spPr>
        </p:sp>
      </p:grpSp>
      <p:grpSp>
        <p:nvGrpSpPr>
          <p:cNvPr name="Group 12" id="12"/>
          <p:cNvGrpSpPr/>
          <p:nvPr/>
        </p:nvGrpSpPr>
        <p:grpSpPr>
          <a:xfrm rot="0">
            <a:off x="1028700" y="3977640"/>
            <a:ext cx="4896450" cy="438750"/>
            <a:chOff x="0" y="0"/>
            <a:chExt cx="6528600" cy="585000"/>
          </a:xfrm>
        </p:grpSpPr>
        <p:sp>
          <p:nvSpPr>
            <p:cNvPr name="Freeform 13" id="13"/>
            <p:cNvSpPr/>
            <p:nvPr/>
          </p:nvSpPr>
          <p:spPr>
            <a:xfrm flipH="false" flipV="false" rot="0">
              <a:off x="0" y="0"/>
              <a:ext cx="6528600" cy="585000"/>
            </a:xfrm>
            <a:custGeom>
              <a:avLst/>
              <a:gdLst/>
              <a:ahLst/>
              <a:cxnLst/>
              <a:rect r="r" b="b" t="t" l="l"/>
              <a:pathLst>
                <a:path h="585000" w="6528600">
                  <a:moveTo>
                    <a:pt x="0" y="0"/>
                  </a:moveTo>
                  <a:lnTo>
                    <a:pt x="6528600" y="0"/>
                  </a:lnTo>
                  <a:lnTo>
                    <a:pt x="6528600" y="585000"/>
                  </a:lnTo>
                  <a:lnTo>
                    <a:pt x="0" y="585000"/>
                  </a:lnTo>
                  <a:close/>
                </a:path>
              </a:pathLst>
            </a:custGeom>
            <a:blipFill>
              <a:blip r:embed="rId4">
                <a:alphaModFix amt="0"/>
              </a:blip>
              <a:stretch>
                <a:fillRect l="0" t="-167453" r="0" b="-167453"/>
              </a:stretch>
            </a:blipFill>
          </p:spPr>
        </p:sp>
        <p:sp>
          <p:nvSpPr>
            <p:cNvPr name="TextBox 14" id="14"/>
            <p:cNvSpPr txBox="true"/>
            <p:nvPr/>
          </p:nvSpPr>
          <p:spPr>
            <a:xfrm>
              <a:off x="0" y="-47625"/>
              <a:ext cx="6528600" cy="632625"/>
            </a:xfrm>
            <a:prstGeom prst="rect">
              <a:avLst/>
            </a:prstGeom>
          </p:spPr>
          <p:txBody>
            <a:bodyPr anchor="ctr" rtlCol="false" tIns="0" lIns="0" bIns="0" rIns="0"/>
            <a:lstStyle/>
            <a:p>
              <a:pPr algn="ctr">
                <a:lnSpc>
                  <a:spcPts val="2340"/>
                </a:lnSpc>
              </a:pPr>
              <a:r>
                <a:rPr lang="en-US" b="true" sz="1950">
                  <a:solidFill>
                    <a:srgbClr val="FDC300"/>
                  </a:solidFill>
                  <a:latin typeface="Calibri (MS) Bold"/>
                  <a:ea typeface="Calibri (MS) Bold"/>
                  <a:cs typeface="Calibri (MS) Bold"/>
                  <a:sym typeface="Calibri (MS) Bold"/>
                </a:rPr>
                <a:t>Frontend</a:t>
              </a:r>
            </a:p>
          </p:txBody>
        </p:sp>
      </p:grpSp>
      <p:grpSp>
        <p:nvGrpSpPr>
          <p:cNvPr name="Group 15" id="15"/>
          <p:cNvGrpSpPr/>
          <p:nvPr/>
        </p:nvGrpSpPr>
        <p:grpSpPr>
          <a:xfrm rot="0">
            <a:off x="1028700" y="4416552"/>
            <a:ext cx="4896450" cy="548550"/>
            <a:chOff x="0" y="0"/>
            <a:chExt cx="6528600" cy="731400"/>
          </a:xfrm>
        </p:grpSpPr>
        <p:sp>
          <p:nvSpPr>
            <p:cNvPr name="Freeform 16" id="16"/>
            <p:cNvSpPr/>
            <p:nvPr/>
          </p:nvSpPr>
          <p:spPr>
            <a:xfrm flipH="false" flipV="false" rot="0">
              <a:off x="0" y="0"/>
              <a:ext cx="6528600" cy="731394"/>
            </a:xfrm>
            <a:custGeom>
              <a:avLst/>
              <a:gdLst/>
              <a:ahLst/>
              <a:cxnLst/>
              <a:rect r="r" b="b" t="t" l="l"/>
              <a:pathLst>
                <a:path h="731394" w="6528600">
                  <a:moveTo>
                    <a:pt x="0" y="0"/>
                  </a:moveTo>
                  <a:lnTo>
                    <a:pt x="6528600" y="0"/>
                  </a:lnTo>
                  <a:lnTo>
                    <a:pt x="6528600" y="731394"/>
                  </a:lnTo>
                  <a:lnTo>
                    <a:pt x="0" y="731394"/>
                  </a:lnTo>
                  <a:close/>
                </a:path>
              </a:pathLst>
            </a:custGeom>
            <a:blipFill>
              <a:blip r:embed="rId4">
                <a:alphaModFix amt="0"/>
              </a:blip>
              <a:stretch>
                <a:fillRect l="0" t="-123927" r="0" b="-123928"/>
              </a:stretch>
            </a:blipFill>
          </p:spPr>
        </p:sp>
        <p:sp>
          <p:nvSpPr>
            <p:cNvPr name="TextBox 17" id="17"/>
            <p:cNvSpPr txBox="true"/>
            <p:nvPr/>
          </p:nvSpPr>
          <p:spPr>
            <a:xfrm>
              <a:off x="0" y="-38100"/>
              <a:ext cx="6528600" cy="769500"/>
            </a:xfrm>
            <a:prstGeom prst="rect">
              <a:avLst/>
            </a:prstGeom>
          </p:spPr>
          <p:txBody>
            <a:bodyPr anchor="ctr" rtlCol="false" tIns="0" lIns="0" bIns="0" rIns="0"/>
            <a:lstStyle/>
            <a:p>
              <a:pPr algn="ctr">
                <a:lnSpc>
                  <a:spcPts val="2070"/>
                </a:lnSpc>
              </a:pPr>
              <a:r>
                <a:rPr lang="en-US" b="true" sz="1725">
                  <a:solidFill>
                    <a:srgbClr val="FFFFFF"/>
                  </a:solidFill>
                  <a:latin typeface="Calibri (MS) Bold"/>
                  <a:ea typeface="Calibri (MS) Bold"/>
                  <a:cs typeface="Calibri (MS) Bold"/>
                  <a:sym typeface="Calibri (MS) Bold"/>
                </a:rPr>
                <a:t>React + Boostrap</a:t>
              </a:r>
            </a:p>
          </p:txBody>
        </p:sp>
      </p:grpSp>
      <p:grpSp>
        <p:nvGrpSpPr>
          <p:cNvPr name="Group 18" id="18"/>
          <p:cNvGrpSpPr/>
          <p:nvPr/>
        </p:nvGrpSpPr>
        <p:grpSpPr>
          <a:xfrm rot="0">
            <a:off x="1097280" y="5006340"/>
            <a:ext cx="4759652" cy="823050"/>
            <a:chOff x="0" y="0"/>
            <a:chExt cx="6346203" cy="1097400"/>
          </a:xfrm>
        </p:grpSpPr>
        <p:sp>
          <p:nvSpPr>
            <p:cNvPr name="Freeform 19" id="19"/>
            <p:cNvSpPr/>
            <p:nvPr/>
          </p:nvSpPr>
          <p:spPr>
            <a:xfrm flipH="false" flipV="false" rot="0">
              <a:off x="0" y="0"/>
              <a:ext cx="6346200" cy="1097406"/>
            </a:xfrm>
            <a:custGeom>
              <a:avLst/>
              <a:gdLst/>
              <a:ahLst/>
              <a:cxnLst/>
              <a:rect r="r" b="b" t="t" l="l"/>
              <a:pathLst>
                <a:path h="1097406" w="6346200">
                  <a:moveTo>
                    <a:pt x="0" y="0"/>
                  </a:moveTo>
                  <a:lnTo>
                    <a:pt x="6346200" y="0"/>
                  </a:lnTo>
                  <a:lnTo>
                    <a:pt x="6346200" y="1097406"/>
                  </a:lnTo>
                  <a:lnTo>
                    <a:pt x="0" y="1097406"/>
                  </a:lnTo>
                  <a:close/>
                </a:path>
              </a:pathLst>
            </a:custGeom>
            <a:blipFill>
              <a:blip r:embed="rId4">
                <a:alphaModFix amt="0"/>
              </a:blip>
              <a:stretch>
                <a:fillRect l="0" t="-62680" r="0" b="-62679"/>
              </a:stretch>
            </a:blipFill>
          </p:spPr>
        </p:sp>
        <p:sp>
          <p:nvSpPr>
            <p:cNvPr name="TextBox 20" id="20"/>
            <p:cNvSpPr txBox="true"/>
            <p:nvPr/>
          </p:nvSpPr>
          <p:spPr>
            <a:xfrm>
              <a:off x="0" y="-38100"/>
              <a:ext cx="6346203" cy="1135500"/>
            </a:xfrm>
            <a:prstGeom prst="rect">
              <a:avLst/>
            </a:prstGeom>
          </p:spPr>
          <p:txBody>
            <a:bodyPr anchor="ctr" rtlCol="false" tIns="0" lIns="0" bIns="0" rIns="0"/>
            <a:lstStyle/>
            <a:p>
              <a:pPr algn="ctr">
                <a:lnSpc>
                  <a:spcPts val="1709"/>
                </a:lnSpc>
              </a:pPr>
              <a:r>
                <a:rPr lang="en-US" sz="1425">
                  <a:solidFill>
                    <a:srgbClr val="B9CBD6"/>
                  </a:solidFill>
                  <a:latin typeface="Calibri (MS)"/>
                  <a:ea typeface="Calibri (MS)"/>
                  <a:cs typeface="Calibri (MS)"/>
                  <a:sym typeface="Calibri (MS)"/>
                </a:rPr>
                <a:t>SPA con Lazy Loading, diseño responsive y consumo de API REST desde el navegador del cliente.</a:t>
              </a:r>
            </a:p>
          </p:txBody>
        </p:sp>
      </p:grpSp>
      <p:grpSp>
        <p:nvGrpSpPr>
          <p:cNvPr name="Group 21" id="21"/>
          <p:cNvGrpSpPr/>
          <p:nvPr/>
        </p:nvGrpSpPr>
        <p:grpSpPr>
          <a:xfrm rot="0">
            <a:off x="6199632" y="2468880"/>
            <a:ext cx="5308197" cy="3429000"/>
            <a:chOff x="0" y="0"/>
            <a:chExt cx="7077596" cy="4572000"/>
          </a:xfrm>
        </p:grpSpPr>
        <p:sp>
          <p:nvSpPr>
            <p:cNvPr name="Freeform 22" id="22"/>
            <p:cNvSpPr/>
            <p:nvPr/>
          </p:nvSpPr>
          <p:spPr>
            <a:xfrm flipH="false" flipV="false" rot="0">
              <a:off x="0" y="0"/>
              <a:ext cx="7077583" cy="4572000"/>
            </a:xfrm>
            <a:custGeom>
              <a:avLst/>
              <a:gdLst/>
              <a:ahLst/>
              <a:cxnLst/>
              <a:rect r="r" b="b" t="t" l="l"/>
              <a:pathLst>
                <a:path h="4572000" w="7077583">
                  <a:moveTo>
                    <a:pt x="0" y="146304"/>
                  </a:moveTo>
                  <a:cubicBezTo>
                    <a:pt x="0" y="65532"/>
                    <a:pt x="65532" y="0"/>
                    <a:pt x="146304" y="0"/>
                  </a:cubicBezTo>
                  <a:lnTo>
                    <a:pt x="6931279" y="0"/>
                  </a:lnTo>
                  <a:cubicBezTo>
                    <a:pt x="7012051" y="0"/>
                    <a:pt x="7077583" y="65532"/>
                    <a:pt x="7077583" y="146304"/>
                  </a:cubicBezTo>
                  <a:lnTo>
                    <a:pt x="7077583" y="4425696"/>
                  </a:lnTo>
                  <a:cubicBezTo>
                    <a:pt x="7077583" y="4506468"/>
                    <a:pt x="7012051" y="4572000"/>
                    <a:pt x="6931279" y="4572000"/>
                  </a:cubicBezTo>
                  <a:lnTo>
                    <a:pt x="146304" y="4572000"/>
                  </a:lnTo>
                  <a:cubicBezTo>
                    <a:pt x="65532" y="4572000"/>
                    <a:pt x="0" y="4506468"/>
                    <a:pt x="0" y="4425696"/>
                  </a:cubicBezTo>
                  <a:close/>
                </a:path>
              </a:pathLst>
            </a:custGeom>
            <a:solidFill>
              <a:srgbClr val="00304D"/>
            </a:solidFill>
          </p:spPr>
        </p:sp>
      </p:grpSp>
      <p:grpSp>
        <p:nvGrpSpPr>
          <p:cNvPr name="Group 23" id="23"/>
          <p:cNvGrpSpPr/>
          <p:nvPr/>
        </p:nvGrpSpPr>
        <p:grpSpPr>
          <a:xfrm rot="0">
            <a:off x="8339328" y="2811780"/>
            <a:ext cx="1028700" cy="1028700"/>
            <a:chOff x="0" y="0"/>
            <a:chExt cx="1371600" cy="1371600"/>
          </a:xfrm>
        </p:grpSpPr>
        <p:sp>
          <p:nvSpPr>
            <p:cNvPr name="Freeform 24" id="24"/>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39A900"/>
            </a:solidFill>
          </p:spPr>
        </p:sp>
      </p:grpSp>
      <p:grpSp>
        <p:nvGrpSpPr>
          <p:cNvPr name="Group 25" id="25"/>
          <p:cNvGrpSpPr/>
          <p:nvPr/>
        </p:nvGrpSpPr>
        <p:grpSpPr>
          <a:xfrm rot="0">
            <a:off x="8606790" y="3079242"/>
            <a:ext cx="493776" cy="493776"/>
            <a:chOff x="0" y="0"/>
            <a:chExt cx="658368" cy="658368"/>
          </a:xfrm>
        </p:grpSpPr>
        <p:sp>
          <p:nvSpPr>
            <p:cNvPr name="Freeform 26" id="26" descr="icons/server.png"/>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lnTo>
                    <a:pt x="0" y="0"/>
                  </a:lnTo>
                  <a:close/>
                </a:path>
              </a:pathLst>
            </a:custGeom>
            <a:blipFill>
              <a:blip r:embed="rId6"/>
              <a:stretch>
                <a:fillRect l="0" t="0" r="0" b="0"/>
              </a:stretch>
            </a:blipFill>
          </p:spPr>
        </p:sp>
      </p:grpSp>
      <p:grpSp>
        <p:nvGrpSpPr>
          <p:cNvPr name="Group 27" id="27"/>
          <p:cNvGrpSpPr/>
          <p:nvPr/>
        </p:nvGrpSpPr>
        <p:grpSpPr>
          <a:xfrm rot="0">
            <a:off x="6405372" y="3977640"/>
            <a:ext cx="4896450" cy="438750"/>
            <a:chOff x="0" y="0"/>
            <a:chExt cx="6528600" cy="585000"/>
          </a:xfrm>
        </p:grpSpPr>
        <p:sp>
          <p:nvSpPr>
            <p:cNvPr name="Freeform 28" id="28"/>
            <p:cNvSpPr/>
            <p:nvPr/>
          </p:nvSpPr>
          <p:spPr>
            <a:xfrm flipH="false" flipV="false" rot="0">
              <a:off x="0" y="0"/>
              <a:ext cx="6528600" cy="585000"/>
            </a:xfrm>
            <a:custGeom>
              <a:avLst/>
              <a:gdLst/>
              <a:ahLst/>
              <a:cxnLst/>
              <a:rect r="r" b="b" t="t" l="l"/>
              <a:pathLst>
                <a:path h="585000" w="6528600">
                  <a:moveTo>
                    <a:pt x="0" y="0"/>
                  </a:moveTo>
                  <a:lnTo>
                    <a:pt x="6528600" y="0"/>
                  </a:lnTo>
                  <a:lnTo>
                    <a:pt x="6528600" y="585000"/>
                  </a:lnTo>
                  <a:lnTo>
                    <a:pt x="0" y="585000"/>
                  </a:lnTo>
                  <a:close/>
                </a:path>
              </a:pathLst>
            </a:custGeom>
            <a:blipFill>
              <a:blip r:embed="rId4">
                <a:alphaModFix amt="0"/>
              </a:blip>
              <a:stretch>
                <a:fillRect l="0" t="-167453" r="0" b="-167453"/>
              </a:stretch>
            </a:blipFill>
          </p:spPr>
        </p:sp>
        <p:sp>
          <p:nvSpPr>
            <p:cNvPr name="TextBox 29" id="29"/>
            <p:cNvSpPr txBox="true"/>
            <p:nvPr/>
          </p:nvSpPr>
          <p:spPr>
            <a:xfrm>
              <a:off x="0" y="-47625"/>
              <a:ext cx="6528600" cy="632625"/>
            </a:xfrm>
            <a:prstGeom prst="rect">
              <a:avLst/>
            </a:prstGeom>
          </p:spPr>
          <p:txBody>
            <a:bodyPr anchor="ctr" rtlCol="false" tIns="0" lIns="0" bIns="0" rIns="0"/>
            <a:lstStyle/>
            <a:p>
              <a:pPr algn="ctr">
                <a:lnSpc>
                  <a:spcPts val="2340"/>
                </a:lnSpc>
              </a:pPr>
              <a:r>
                <a:rPr lang="en-US" b="true" sz="1950">
                  <a:solidFill>
                    <a:srgbClr val="FDC300"/>
                  </a:solidFill>
                  <a:latin typeface="Calibri (MS) Bold"/>
                  <a:ea typeface="Calibri (MS) Bold"/>
                  <a:cs typeface="Calibri (MS) Bold"/>
                  <a:sym typeface="Calibri (MS) Bold"/>
                </a:rPr>
                <a:t>Backend</a:t>
              </a:r>
            </a:p>
          </p:txBody>
        </p:sp>
      </p:grpSp>
      <p:grpSp>
        <p:nvGrpSpPr>
          <p:cNvPr name="Group 30" id="30"/>
          <p:cNvGrpSpPr/>
          <p:nvPr/>
        </p:nvGrpSpPr>
        <p:grpSpPr>
          <a:xfrm rot="0">
            <a:off x="6405372" y="4416552"/>
            <a:ext cx="4896450" cy="548550"/>
            <a:chOff x="0" y="0"/>
            <a:chExt cx="6528600" cy="731400"/>
          </a:xfrm>
        </p:grpSpPr>
        <p:sp>
          <p:nvSpPr>
            <p:cNvPr name="Freeform 31" id="31"/>
            <p:cNvSpPr/>
            <p:nvPr/>
          </p:nvSpPr>
          <p:spPr>
            <a:xfrm flipH="false" flipV="false" rot="0">
              <a:off x="0" y="0"/>
              <a:ext cx="6528600" cy="731394"/>
            </a:xfrm>
            <a:custGeom>
              <a:avLst/>
              <a:gdLst/>
              <a:ahLst/>
              <a:cxnLst/>
              <a:rect r="r" b="b" t="t" l="l"/>
              <a:pathLst>
                <a:path h="731394" w="6528600">
                  <a:moveTo>
                    <a:pt x="0" y="0"/>
                  </a:moveTo>
                  <a:lnTo>
                    <a:pt x="6528600" y="0"/>
                  </a:lnTo>
                  <a:lnTo>
                    <a:pt x="6528600" y="731394"/>
                  </a:lnTo>
                  <a:lnTo>
                    <a:pt x="0" y="731394"/>
                  </a:lnTo>
                  <a:close/>
                </a:path>
              </a:pathLst>
            </a:custGeom>
            <a:blipFill>
              <a:blip r:embed="rId4">
                <a:alphaModFix amt="0"/>
              </a:blip>
              <a:stretch>
                <a:fillRect l="0" t="-123927" r="0" b="-123928"/>
              </a:stretch>
            </a:blipFill>
          </p:spPr>
        </p:sp>
        <p:sp>
          <p:nvSpPr>
            <p:cNvPr name="TextBox 32" id="32"/>
            <p:cNvSpPr txBox="true"/>
            <p:nvPr/>
          </p:nvSpPr>
          <p:spPr>
            <a:xfrm>
              <a:off x="0" y="-38100"/>
              <a:ext cx="6528600" cy="769500"/>
            </a:xfrm>
            <a:prstGeom prst="rect">
              <a:avLst/>
            </a:prstGeom>
          </p:spPr>
          <p:txBody>
            <a:bodyPr anchor="ctr" rtlCol="false" tIns="0" lIns="0" bIns="0" rIns="0"/>
            <a:lstStyle/>
            <a:p>
              <a:pPr algn="ctr">
                <a:lnSpc>
                  <a:spcPts val="2070"/>
                </a:lnSpc>
              </a:pPr>
              <a:r>
                <a:rPr lang="en-US" b="true" sz="1725">
                  <a:solidFill>
                    <a:srgbClr val="FFFFFF"/>
                  </a:solidFill>
                  <a:latin typeface="Calibri (MS) Bold"/>
                  <a:ea typeface="Calibri (MS) Bold"/>
                  <a:cs typeface="Calibri (MS) Bold"/>
                  <a:sym typeface="Calibri (MS) Bold"/>
                </a:rPr>
                <a:t>Python FastAPI</a:t>
              </a:r>
            </a:p>
          </p:txBody>
        </p:sp>
      </p:grpSp>
      <p:grpSp>
        <p:nvGrpSpPr>
          <p:cNvPr name="Group 33" id="33"/>
          <p:cNvGrpSpPr/>
          <p:nvPr/>
        </p:nvGrpSpPr>
        <p:grpSpPr>
          <a:xfrm rot="0">
            <a:off x="6473952" y="5006340"/>
            <a:ext cx="4759652" cy="823050"/>
            <a:chOff x="0" y="0"/>
            <a:chExt cx="6346203" cy="1097400"/>
          </a:xfrm>
        </p:grpSpPr>
        <p:sp>
          <p:nvSpPr>
            <p:cNvPr name="Freeform 34" id="34"/>
            <p:cNvSpPr/>
            <p:nvPr/>
          </p:nvSpPr>
          <p:spPr>
            <a:xfrm flipH="false" flipV="false" rot="0">
              <a:off x="0" y="0"/>
              <a:ext cx="6346200" cy="1097406"/>
            </a:xfrm>
            <a:custGeom>
              <a:avLst/>
              <a:gdLst/>
              <a:ahLst/>
              <a:cxnLst/>
              <a:rect r="r" b="b" t="t" l="l"/>
              <a:pathLst>
                <a:path h="1097406" w="6346200">
                  <a:moveTo>
                    <a:pt x="0" y="0"/>
                  </a:moveTo>
                  <a:lnTo>
                    <a:pt x="6346200" y="0"/>
                  </a:lnTo>
                  <a:lnTo>
                    <a:pt x="6346200" y="1097406"/>
                  </a:lnTo>
                  <a:lnTo>
                    <a:pt x="0" y="1097406"/>
                  </a:lnTo>
                  <a:close/>
                </a:path>
              </a:pathLst>
            </a:custGeom>
            <a:blipFill>
              <a:blip r:embed="rId4">
                <a:alphaModFix amt="0"/>
              </a:blip>
              <a:stretch>
                <a:fillRect l="0" t="-62680" r="0" b="-62679"/>
              </a:stretch>
            </a:blipFill>
          </p:spPr>
        </p:sp>
        <p:sp>
          <p:nvSpPr>
            <p:cNvPr name="TextBox 35" id="35"/>
            <p:cNvSpPr txBox="true"/>
            <p:nvPr/>
          </p:nvSpPr>
          <p:spPr>
            <a:xfrm>
              <a:off x="0" y="-38100"/>
              <a:ext cx="6346203" cy="1135500"/>
            </a:xfrm>
            <a:prstGeom prst="rect">
              <a:avLst/>
            </a:prstGeom>
          </p:spPr>
          <p:txBody>
            <a:bodyPr anchor="ctr" rtlCol="false" tIns="0" lIns="0" bIns="0" rIns="0"/>
            <a:lstStyle/>
            <a:p>
              <a:pPr algn="ctr">
                <a:lnSpc>
                  <a:spcPts val="1709"/>
                </a:lnSpc>
              </a:pPr>
              <a:r>
                <a:rPr lang="en-US" sz="1425">
                  <a:solidFill>
                    <a:srgbClr val="B9CBD6"/>
                  </a:solidFill>
                  <a:latin typeface="Calibri (MS)"/>
                  <a:ea typeface="Calibri (MS)"/>
                  <a:cs typeface="Calibri (MS)"/>
                  <a:sym typeface="Calibri (MS)"/>
                </a:rPr>
                <a:t>procesa</a:t>
              </a:r>
              <a:r>
                <a:rPr lang="en-US" sz="1425">
                  <a:solidFill>
                    <a:srgbClr val="B9CBD6"/>
                  </a:solidFill>
                  <a:latin typeface="Calibri (MS)"/>
                  <a:ea typeface="Calibri (MS)"/>
                  <a:cs typeface="Calibri (MS)"/>
                  <a:sym typeface="Calibri (MS)"/>
                </a:rPr>
                <a:t> las solicitudes del sistema, aplicar las reglas de negocio, gestionar la seguridad y conectar la aplicación con la base de datos y otros servicios externos.</a:t>
              </a:r>
            </a:p>
          </p:txBody>
        </p:sp>
      </p:grpSp>
      <p:grpSp>
        <p:nvGrpSpPr>
          <p:cNvPr name="Group 36" id="36"/>
          <p:cNvGrpSpPr/>
          <p:nvPr/>
        </p:nvGrpSpPr>
        <p:grpSpPr>
          <a:xfrm rot="0">
            <a:off x="11576304" y="2468880"/>
            <a:ext cx="5308197" cy="3429000"/>
            <a:chOff x="0" y="0"/>
            <a:chExt cx="7077596" cy="4572000"/>
          </a:xfrm>
        </p:grpSpPr>
        <p:sp>
          <p:nvSpPr>
            <p:cNvPr name="Freeform 37" id="37"/>
            <p:cNvSpPr/>
            <p:nvPr/>
          </p:nvSpPr>
          <p:spPr>
            <a:xfrm flipH="false" flipV="false" rot="0">
              <a:off x="0" y="0"/>
              <a:ext cx="7077583" cy="4572000"/>
            </a:xfrm>
            <a:custGeom>
              <a:avLst/>
              <a:gdLst/>
              <a:ahLst/>
              <a:cxnLst/>
              <a:rect r="r" b="b" t="t" l="l"/>
              <a:pathLst>
                <a:path h="4572000" w="7077583">
                  <a:moveTo>
                    <a:pt x="0" y="146304"/>
                  </a:moveTo>
                  <a:cubicBezTo>
                    <a:pt x="0" y="65532"/>
                    <a:pt x="65532" y="0"/>
                    <a:pt x="146304" y="0"/>
                  </a:cubicBezTo>
                  <a:lnTo>
                    <a:pt x="6931279" y="0"/>
                  </a:lnTo>
                  <a:cubicBezTo>
                    <a:pt x="7012051" y="0"/>
                    <a:pt x="7077583" y="65532"/>
                    <a:pt x="7077583" y="146304"/>
                  </a:cubicBezTo>
                  <a:lnTo>
                    <a:pt x="7077583" y="4425696"/>
                  </a:lnTo>
                  <a:cubicBezTo>
                    <a:pt x="7077583" y="4506468"/>
                    <a:pt x="7012051" y="4572000"/>
                    <a:pt x="6931279" y="4572000"/>
                  </a:cubicBezTo>
                  <a:lnTo>
                    <a:pt x="146304" y="4572000"/>
                  </a:lnTo>
                  <a:cubicBezTo>
                    <a:pt x="65532" y="4572000"/>
                    <a:pt x="0" y="4506468"/>
                    <a:pt x="0" y="4425696"/>
                  </a:cubicBezTo>
                  <a:close/>
                </a:path>
              </a:pathLst>
            </a:custGeom>
            <a:solidFill>
              <a:srgbClr val="00304D"/>
            </a:solidFill>
          </p:spPr>
        </p:sp>
      </p:grpSp>
      <p:grpSp>
        <p:nvGrpSpPr>
          <p:cNvPr name="Group 38" id="38"/>
          <p:cNvGrpSpPr/>
          <p:nvPr/>
        </p:nvGrpSpPr>
        <p:grpSpPr>
          <a:xfrm rot="0">
            <a:off x="13716000" y="2811780"/>
            <a:ext cx="1028700" cy="1028700"/>
            <a:chOff x="0" y="0"/>
            <a:chExt cx="1371600" cy="1371600"/>
          </a:xfrm>
        </p:grpSpPr>
        <p:sp>
          <p:nvSpPr>
            <p:cNvPr name="Freeform 39" id="39"/>
            <p:cNvSpPr/>
            <p:nvPr/>
          </p:nvSpPr>
          <p:spPr>
            <a:xfrm flipH="false" flipV="false" rot="0">
              <a:off x="0" y="0"/>
              <a:ext cx="1371600" cy="1371600"/>
            </a:xfrm>
            <a:custGeom>
              <a:avLst/>
              <a:gdLst/>
              <a:ahLst/>
              <a:cxnLst/>
              <a:rect r="r" b="b" t="t" l="l"/>
              <a:pathLst>
                <a:path h="1371600" w="1371600">
                  <a:moveTo>
                    <a:pt x="0" y="685800"/>
                  </a:moveTo>
                  <a:cubicBezTo>
                    <a:pt x="0" y="307086"/>
                    <a:pt x="307086" y="0"/>
                    <a:pt x="685800" y="0"/>
                  </a:cubicBezTo>
                  <a:cubicBezTo>
                    <a:pt x="1064514" y="0"/>
                    <a:pt x="1371600" y="307086"/>
                    <a:pt x="1371600" y="685800"/>
                  </a:cubicBezTo>
                  <a:cubicBezTo>
                    <a:pt x="1371600" y="1064514"/>
                    <a:pt x="1064514" y="1371600"/>
                    <a:pt x="685800" y="1371600"/>
                  </a:cubicBezTo>
                  <a:cubicBezTo>
                    <a:pt x="307086" y="1371600"/>
                    <a:pt x="0" y="1064514"/>
                    <a:pt x="0" y="685800"/>
                  </a:cubicBezTo>
                  <a:close/>
                </a:path>
              </a:pathLst>
            </a:custGeom>
            <a:solidFill>
              <a:srgbClr val="39A900"/>
            </a:solidFill>
          </p:spPr>
        </p:sp>
      </p:grpSp>
      <p:grpSp>
        <p:nvGrpSpPr>
          <p:cNvPr name="Group 40" id="40"/>
          <p:cNvGrpSpPr/>
          <p:nvPr/>
        </p:nvGrpSpPr>
        <p:grpSpPr>
          <a:xfrm rot="0">
            <a:off x="13983462" y="3079242"/>
            <a:ext cx="493776" cy="493776"/>
            <a:chOff x="0" y="0"/>
            <a:chExt cx="658368" cy="658368"/>
          </a:xfrm>
        </p:grpSpPr>
        <p:sp>
          <p:nvSpPr>
            <p:cNvPr name="Freeform 41" id="41" descr="icons/database.png"/>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lnTo>
                    <a:pt x="0" y="0"/>
                  </a:lnTo>
                  <a:close/>
                </a:path>
              </a:pathLst>
            </a:custGeom>
            <a:blipFill>
              <a:blip r:embed="rId7"/>
              <a:stretch>
                <a:fillRect l="0" t="0" r="0" b="0"/>
              </a:stretch>
            </a:blipFill>
          </p:spPr>
        </p:sp>
      </p:grpSp>
      <p:grpSp>
        <p:nvGrpSpPr>
          <p:cNvPr name="Group 42" id="42"/>
          <p:cNvGrpSpPr/>
          <p:nvPr/>
        </p:nvGrpSpPr>
        <p:grpSpPr>
          <a:xfrm rot="0">
            <a:off x="11782044" y="3977640"/>
            <a:ext cx="4896450" cy="438750"/>
            <a:chOff x="0" y="0"/>
            <a:chExt cx="6528600" cy="585000"/>
          </a:xfrm>
        </p:grpSpPr>
        <p:sp>
          <p:nvSpPr>
            <p:cNvPr name="Freeform 43" id="43"/>
            <p:cNvSpPr/>
            <p:nvPr/>
          </p:nvSpPr>
          <p:spPr>
            <a:xfrm flipH="false" flipV="false" rot="0">
              <a:off x="0" y="0"/>
              <a:ext cx="6528600" cy="585000"/>
            </a:xfrm>
            <a:custGeom>
              <a:avLst/>
              <a:gdLst/>
              <a:ahLst/>
              <a:cxnLst/>
              <a:rect r="r" b="b" t="t" l="l"/>
              <a:pathLst>
                <a:path h="585000" w="6528600">
                  <a:moveTo>
                    <a:pt x="0" y="0"/>
                  </a:moveTo>
                  <a:lnTo>
                    <a:pt x="6528600" y="0"/>
                  </a:lnTo>
                  <a:lnTo>
                    <a:pt x="6528600" y="585000"/>
                  </a:lnTo>
                  <a:lnTo>
                    <a:pt x="0" y="585000"/>
                  </a:lnTo>
                  <a:close/>
                </a:path>
              </a:pathLst>
            </a:custGeom>
            <a:blipFill>
              <a:blip r:embed="rId4">
                <a:alphaModFix amt="0"/>
              </a:blip>
              <a:stretch>
                <a:fillRect l="0" t="-167453" r="0" b="-167453"/>
              </a:stretch>
            </a:blipFill>
          </p:spPr>
        </p:sp>
        <p:sp>
          <p:nvSpPr>
            <p:cNvPr name="TextBox 44" id="44"/>
            <p:cNvSpPr txBox="true"/>
            <p:nvPr/>
          </p:nvSpPr>
          <p:spPr>
            <a:xfrm>
              <a:off x="0" y="-47625"/>
              <a:ext cx="6528600" cy="632625"/>
            </a:xfrm>
            <a:prstGeom prst="rect">
              <a:avLst/>
            </a:prstGeom>
          </p:spPr>
          <p:txBody>
            <a:bodyPr anchor="ctr" rtlCol="false" tIns="0" lIns="0" bIns="0" rIns="0"/>
            <a:lstStyle/>
            <a:p>
              <a:pPr algn="ctr">
                <a:lnSpc>
                  <a:spcPts val="2340"/>
                </a:lnSpc>
              </a:pPr>
              <a:r>
                <a:rPr lang="en-US" b="true" sz="1950">
                  <a:solidFill>
                    <a:srgbClr val="FDC300"/>
                  </a:solidFill>
                  <a:latin typeface="Calibri (MS) Bold"/>
                  <a:ea typeface="Calibri (MS) Bold"/>
                  <a:cs typeface="Calibri (MS) Bold"/>
                  <a:sym typeface="Calibri (MS) Bold"/>
                </a:rPr>
                <a:t>Base de datos</a:t>
              </a:r>
            </a:p>
          </p:txBody>
        </p:sp>
      </p:grpSp>
      <p:grpSp>
        <p:nvGrpSpPr>
          <p:cNvPr name="Group 45" id="45"/>
          <p:cNvGrpSpPr/>
          <p:nvPr/>
        </p:nvGrpSpPr>
        <p:grpSpPr>
          <a:xfrm rot="0">
            <a:off x="11782044" y="4416552"/>
            <a:ext cx="4896450" cy="548550"/>
            <a:chOff x="0" y="0"/>
            <a:chExt cx="6528600" cy="731400"/>
          </a:xfrm>
        </p:grpSpPr>
        <p:sp>
          <p:nvSpPr>
            <p:cNvPr name="Freeform 46" id="46"/>
            <p:cNvSpPr/>
            <p:nvPr/>
          </p:nvSpPr>
          <p:spPr>
            <a:xfrm flipH="false" flipV="false" rot="0">
              <a:off x="0" y="0"/>
              <a:ext cx="6528600" cy="731394"/>
            </a:xfrm>
            <a:custGeom>
              <a:avLst/>
              <a:gdLst/>
              <a:ahLst/>
              <a:cxnLst/>
              <a:rect r="r" b="b" t="t" l="l"/>
              <a:pathLst>
                <a:path h="731394" w="6528600">
                  <a:moveTo>
                    <a:pt x="0" y="0"/>
                  </a:moveTo>
                  <a:lnTo>
                    <a:pt x="6528600" y="0"/>
                  </a:lnTo>
                  <a:lnTo>
                    <a:pt x="6528600" y="731394"/>
                  </a:lnTo>
                  <a:lnTo>
                    <a:pt x="0" y="731394"/>
                  </a:lnTo>
                  <a:close/>
                </a:path>
              </a:pathLst>
            </a:custGeom>
            <a:blipFill>
              <a:blip r:embed="rId4">
                <a:alphaModFix amt="0"/>
              </a:blip>
              <a:stretch>
                <a:fillRect l="0" t="-123927" r="0" b="-123928"/>
              </a:stretch>
            </a:blipFill>
          </p:spPr>
        </p:sp>
        <p:sp>
          <p:nvSpPr>
            <p:cNvPr name="TextBox 47" id="47"/>
            <p:cNvSpPr txBox="true"/>
            <p:nvPr/>
          </p:nvSpPr>
          <p:spPr>
            <a:xfrm>
              <a:off x="0" y="-38100"/>
              <a:ext cx="6528600" cy="769500"/>
            </a:xfrm>
            <a:prstGeom prst="rect">
              <a:avLst/>
            </a:prstGeom>
          </p:spPr>
          <p:txBody>
            <a:bodyPr anchor="ctr" rtlCol="false" tIns="0" lIns="0" bIns="0" rIns="0"/>
            <a:lstStyle/>
            <a:p>
              <a:pPr algn="ctr">
                <a:lnSpc>
                  <a:spcPts val="2070"/>
                </a:lnSpc>
              </a:pPr>
              <a:r>
                <a:rPr lang="en-US" b="true" sz="1725">
                  <a:solidFill>
                    <a:srgbClr val="FFFFFF"/>
                  </a:solidFill>
                  <a:latin typeface="Calibri (MS) Bold"/>
                  <a:ea typeface="Calibri (MS) Bold"/>
                  <a:cs typeface="Calibri (MS) Bold"/>
                  <a:sym typeface="Calibri (MS) Bold"/>
                </a:rPr>
                <a:t>Supabase (PostgreSQL)</a:t>
              </a:r>
            </a:p>
          </p:txBody>
        </p:sp>
      </p:grpSp>
      <p:grpSp>
        <p:nvGrpSpPr>
          <p:cNvPr name="Group 48" id="48"/>
          <p:cNvGrpSpPr/>
          <p:nvPr/>
        </p:nvGrpSpPr>
        <p:grpSpPr>
          <a:xfrm rot="0">
            <a:off x="11850624" y="5006340"/>
            <a:ext cx="4759652" cy="823050"/>
            <a:chOff x="0" y="0"/>
            <a:chExt cx="6346203" cy="1097400"/>
          </a:xfrm>
        </p:grpSpPr>
        <p:sp>
          <p:nvSpPr>
            <p:cNvPr name="Freeform 49" id="49"/>
            <p:cNvSpPr/>
            <p:nvPr/>
          </p:nvSpPr>
          <p:spPr>
            <a:xfrm flipH="false" flipV="false" rot="0">
              <a:off x="0" y="0"/>
              <a:ext cx="6346200" cy="1097406"/>
            </a:xfrm>
            <a:custGeom>
              <a:avLst/>
              <a:gdLst/>
              <a:ahLst/>
              <a:cxnLst/>
              <a:rect r="r" b="b" t="t" l="l"/>
              <a:pathLst>
                <a:path h="1097406" w="6346200">
                  <a:moveTo>
                    <a:pt x="0" y="0"/>
                  </a:moveTo>
                  <a:lnTo>
                    <a:pt x="6346200" y="0"/>
                  </a:lnTo>
                  <a:lnTo>
                    <a:pt x="6346200" y="1097406"/>
                  </a:lnTo>
                  <a:lnTo>
                    <a:pt x="0" y="1097406"/>
                  </a:lnTo>
                  <a:close/>
                </a:path>
              </a:pathLst>
            </a:custGeom>
            <a:blipFill>
              <a:blip r:embed="rId4">
                <a:alphaModFix amt="0"/>
              </a:blip>
              <a:stretch>
                <a:fillRect l="0" t="-62680" r="0" b="-62679"/>
              </a:stretch>
            </a:blipFill>
          </p:spPr>
        </p:sp>
        <p:sp>
          <p:nvSpPr>
            <p:cNvPr name="TextBox 50" id="50"/>
            <p:cNvSpPr txBox="true"/>
            <p:nvPr/>
          </p:nvSpPr>
          <p:spPr>
            <a:xfrm>
              <a:off x="0" y="-38100"/>
              <a:ext cx="6346203" cy="1135500"/>
            </a:xfrm>
            <a:prstGeom prst="rect">
              <a:avLst/>
            </a:prstGeom>
          </p:spPr>
          <p:txBody>
            <a:bodyPr anchor="ctr" rtlCol="false" tIns="0" lIns="0" bIns="0" rIns="0"/>
            <a:lstStyle/>
            <a:p>
              <a:pPr algn="ctr">
                <a:lnSpc>
                  <a:spcPts val="1709"/>
                </a:lnSpc>
              </a:pPr>
              <a:r>
                <a:rPr lang="en-US" sz="1425">
                  <a:solidFill>
                    <a:srgbClr val="B9CBD6"/>
                  </a:solidFill>
                  <a:latin typeface="Calibri (MS)"/>
                  <a:ea typeface="Calibri (MS)"/>
                  <a:cs typeface="Calibri (MS)"/>
                  <a:sym typeface="Calibri (MS)"/>
                </a:rPr>
                <a:t>Centraliza y organiza los datos del sistema de forma segura y eficiente.</a:t>
              </a:r>
            </a:p>
          </p:txBody>
        </p:sp>
      </p:grpSp>
      <p:grpSp>
        <p:nvGrpSpPr>
          <p:cNvPr name="Group 51" id="51"/>
          <p:cNvGrpSpPr/>
          <p:nvPr/>
        </p:nvGrpSpPr>
        <p:grpSpPr>
          <a:xfrm rot="0">
            <a:off x="822960" y="6240780"/>
            <a:ext cx="8229600" cy="480146"/>
            <a:chOff x="0" y="0"/>
            <a:chExt cx="10972800" cy="640194"/>
          </a:xfrm>
        </p:grpSpPr>
        <p:sp>
          <p:nvSpPr>
            <p:cNvPr name="Freeform 52" id="52"/>
            <p:cNvSpPr/>
            <p:nvPr/>
          </p:nvSpPr>
          <p:spPr>
            <a:xfrm flipH="false" flipV="false" rot="0">
              <a:off x="0" y="0"/>
              <a:ext cx="10972800" cy="640200"/>
            </a:xfrm>
            <a:custGeom>
              <a:avLst/>
              <a:gdLst/>
              <a:ahLst/>
              <a:cxnLst/>
              <a:rect r="r" b="b" t="t" l="l"/>
              <a:pathLst>
                <a:path h="640200" w="10972800">
                  <a:moveTo>
                    <a:pt x="0" y="0"/>
                  </a:moveTo>
                  <a:lnTo>
                    <a:pt x="10972800" y="0"/>
                  </a:lnTo>
                  <a:lnTo>
                    <a:pt x="10972800" y="640200"/>
                  </a:lnTo>
                  <a:lnTo>
                    <a:pt x="0" y="640200"/>
                  </a:lnTo>
                  <a:close/>
                </a:path>
              </a:pathLst>
            </a:custGeom>
            <a:blipFill>
              <a:blip r:embed="rId4">
                <a:alphaModFix amt="0"/>
              </a:blip>
              <a:stretch>
                <a:fillRect l="0" t="-283967" r="0" b="-283966"/>
              </a:stretch>
            </a:blipFill>
          </p:spPr>
        </p:sp>
        <p:sp>
          <p:nvSpPr>
            <p:cNvPr name="TextBox 53" id="53"/>
            <p:cNvSpPr txBox="true"/>
            <p:nvPr/>
          </p:nvSpPr>
          <p:spPr>
            <a:xfrm>
              <a:off x="0" y="-47625"/>
              <a:ext cx="10972800" cy="687819"/>
            </a:xfrm>
            <a:prstGeom prst="rect">
              <a:avLst/>
            </a:prstGeom>
          </p:spPr>
          <p:txBody>
            <a:bodyPr anchor="ctr" rtlCol="false" tIns="0" lIns="0" bIns="0" rIns="0"/>
            <a:lstStyle/>
            <a:p>
              <a:pPr algn="l">
                <a:lnSpc>
                  <a:spcPts val="2520"/>
                </a:lnSpc>
              </a:pPr>
              <a:r>
                <a:rPr lang="en-US" b="true" sz="2100">
                  <a:solidFill>
                    <a:srgbClr val="00304D"/>
                  </a:solidFill>
                  <a:latin typeface="Calibri (MS) Bold"/>
                  <a:ea typeface="Calibri (MS) Bold"/>
                  <a:cs typeface="Calibri (MS) Bold"/>
                  <a:sym typeface="Calibri (MS) Bold"/>
                </a:rPr>
                <a:t>Servicios externos integrados</a:t>
              </a:r>
            </a:p>
          </p:txBody>
        </p:sp>
      </p:grpSp>
      <p:grpSp>
        <p:nvGrpSpPr>
          <p:cNvPr name="Group 54" id="54"/>
          <p:cNvGrpSpPr/>
          <p:nvPr/>
        </p:nvGrpSpPr>
        <p:grpSpPr>
          <a:xfrm rot="0">
            <a:off x="822960" y="6854276"/>
            <a:ext cx="3755873" cy="2076906"/>
            <a:chOff x="0" y="0"/>
            <a:chExt cx="4960798" cy="2743200"/>
          </a:xfrm>
        </p:grpSpPr>
        <p:sp>
          <p:nvSpPr>
            <p:cNvPr name="Freeform 55" id="55"/>
            <p:cNvSpPr/>
            <p:nvPr/>
          </p:nvSpPr>
          <p:spPr>
            <a:xfrm flipH="false" flipV="false" rot="0">
              <a:off x="0" y="0"/>
              <a:ext cx="4960747" cy="2743200"/>
            </a:xfrm>
            <a:custGeom>
              <a:avLst/>
              <a:gdLst/>
              <a:ahLst/>
              <a:cxnLst/>
              <a:rect r="r" b="b" t="t" l="l"/>
              <a:pathLst>
                <a:path h="2743200" w="4960747">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sp>
      </p:grpSp>
      <p:grpSp>
        <p:nvGrpSpPr>
          <p:cNvPr name="Group 56" id="56"/>
          <p:cNvGrpSpPr/>
          <p:nvPr/>
        </p:nvGrpSpPr>
        <p:grpSpPr>
          <a:xfrm rot="0">
            <a:off x="2354678" y="7131197"/>
            <a:ext cx="692302" cy="692302"/>
            <a:chOff x="0" y="0"/>
            <a:chExt cx="914400" cy="914400"/>
          </a:xfrm>
        </p:grpSpPr>
        <p:sp>
          <p:nvSpPr>
            <p:cNvPr name="Freeform 57" id="57"/>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58" id="58"/>
          <p:cNvGrpSpPr/>
          <p:nvPr/>
        </p:nvGrpSpPr>
        <p:grpSpPr>
          <a:xfrm rot="0">
            <a:off x="2534677" y="7311195"/>
            <a:ext cx="332305" cy="332305"/>
            <a:chOff x="0" y="0"/>
            <a:chExt cx="438912" cy="438912"/>
          </a:xfrm>
        </p:grpSpPr>
        <p:sp>
          <p:nvSpPr>
            <p:cNvPr name="Freeform 59" id="59" descr="icons/cloud.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8"/>
              <a:stretch>
                <a:fillRect l="0" t="0" r="0" b="0"/>
              </a:stretch>
            </a:blipFill>
          </p:spPr>
        </p:sp>
      </p:grpSp>
      <p:grpSp>
        <p:nvGrpSpPr>
          <p:cNvPr name="Group 60" id="60"/>
          <p:cNvGrpSpPr/>
          <p:nvPr/>
        </p:nvGrpSpPr>
        <p:grpSpPr>
          <a:xfrm rot="0">
            <a:off x="961420" y="7934267"/>
            <a:ext cx="3478769" cy="415199"/>
            <a:chOff x="0" y="0"/>
            <a:chExt cx="4594796" cy="548399"/>
          </a:xfrm>
        </p:grpSpPr>
        <p:sp>
          <p:nvSpPr>
            <p:cNvPr name="Freeform 61" id="61"/>
            <p:cNvSpPr/>
            <p:nvPr/>
          </p:nvSpPr>
          <p:spPr>
            <a:xfrm flipH="false" flipV="false" rot="0">
              <a:off x="0" y="0"/>
              <a:ext cx="4594800" cy="548400"/>
            </a:xfrm>
            <a:custGeom>
              <a:avLst/>
              <a:gdLst/>
              <a:ahLst/>
              <a:cxnLst/>
              <a:rect r="r" b="b" t="t" l="l"/>
              <a:pathLst>
                <a:path h="548400" w="4594800">
                  <a:moveTo>
                    <a:pt x="0" y="0"/>
                  </a:moveTo>
                  <a:lnTo>
                    <a:pt x="4594800" y="0"/>
                  </a:lnTo>
                  <a:lnTo>
                    <a:pt x="4594800" y="548400"/>
                  </a:lnTo>
                  <a:lnTo>
                    <a:pt x="0" y="548400"/>
                  </a:lnTo>
                  <a:close/>
                </a:path>
              </a:pathLst>
            </a:custGeom>
            <a:blipFill>
              <a:blip r:embed="rId4">
                <a:alphaModFix amt="0"/>
              </a:blip>
              <a:stretch>
                <a:fillRect l="0" t="-113256" r="0" b="-113256"/>
              </a:stretch>
            </a:blipFill>
          </p:spPr>
        </p:sp>
        <p:sp>
          <p:nvSpPr>
            <p:cNvPr name="TextBox 62" id="62"/>
            <p:cNvSpPr txBox="true"/>
            <p:nvPr/>
          </p:nvSpPr>
          <p:spPr>
            <a:xfrm>
              <a:off x="0" y="-38100"/>
              <a:ext cx="4594796" cy="5864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Cloudinary</a:t>
              </a:r>
            </a:p>
          </p:txBody>
        </p:sp>
      </p:grpSp>
      <p:grpSp>
        <p:nvGrpSpPr>
          <p:cNvPr name="Group 63" id="63"/>
          <p:cNvGrpSpPr/>
          <p:nvPr/>
        </p:nvGrpSpPr>
        <p:grpSpPr>
          <a:xfrm rot="0">
            <a:off x="961420" y="8321956"/>
            <a:ext cx="3478769" cy="484698"/>
            <a:chOff x="0" y="0"/>
            <a:chExt cx="4594796" cy="640194"/>
          </a:xfrm>
        </p:grpSpPr>
        <p:sp>
          <p:nvSpPr>
            <p:cNvPr name="Freeform 64" id="64"/>
            <p:cNvSpPr/>
            <p:nvPr/>
          </p:nvSpPr>
          <p:spPr>
            <a:xfrm flipH="false" flipV="false" rot="0">
              <a:off x="0" y="0"/>
              <a:ext cx="4594800" cy="640200"/>
            </a:xfrm>
            <a:custGeom>
              <a:avLst/>
              <a:gdLst/>
              <a:ahLst/>
              <a:cxnLst/>
              <a:rect r="r" b="b" t="t" l="l"/>
              <a:pathLst>
                <a:path h="640200" w="4594800">
                  <a:moveTo>
                    <a:pt x="0" y="0"/>
                  </a:moveTo>
                  <a:lnTo>
                    <a:pt x="4594800" y="0"/>
                  </a:lnTo>
                  <a:lnTo>
                    <a:pt x="4594800" y="640200"/>
                  </a:lnTo>
                  <a:lnTo>
                    <a:pt x="0" y="640200"/>
                  </a:lnTo>
                  <a:close/>
                </a:path>
              </a:pathLst>
            </a:custGeom>
            <a:blipFill>
              <a:blip r:embed="rId4">
                <a:alphaModFix amt="0"/>
              </a:blip>
              <a:stretch>
                <a:fillRect l="0" t="-89847" r="0" b="-89846"/>
              </a:stretch>
            </a:blipFill>
          </p:spPr>
        </p:sp>
        <p:sp>
          <p:nvSpPr>
            <p:cNvPr name="TextBox 65" id="65"/>
            <p:cNvSpPr txBox="true"/>
            <p:nvPr/>
          </p:nvSpPr>
          <p:spPr>
            <a:xfrm>
              <a:off x="0" y="-38100"/>
              <a:ext cx="4594796" cy="678294"/>
            </a:xfrm>
            <a:prstGeom prst="rect">
              <a:avLst/>
            </a:prstGeom>
          </p:spPr>
          <p:txBody>
            <a:bodyPr anchor="ctr" rtlCol="false" tIns="0" lIns="0" bIns="0" rIns="0"/>
            <a:lstStyle/>
            <a:p>
              <a:pPr algn="ctr">
                <a:lnSpc>
                  <a:spcPts val="1709"/>
                </a:lnSpc>
              </a:pPr>
              <a:r>
                <a:rPr lang="en-US" sz="1425">
                  <a:solidFill>
                    <a:srgbClr val="5B6670"/>
                  </a:solidFill>
                  <a:latin typeface="Calibri (MS)"/>
                  <a:ea typeface="Calibri (MS)"/>
                  <a:cs typeface="Calibri (MS)"/>
                  <a:sym typeface="Calibri (MS)"/>
                </a:rPr>
                <a:t>Imágenes de productos</a:t>
              </a:r>
            </a:p>
          </p:txBody>
        </p:sp>
      </p:grpSp>
      <p:grpSp>
        <p:nvGrpSpPr>
          <p:cNvPr name="Group 66" id="66"/>
          <p:cNvGrpSpPr/>
          <p:nvPr/>
        </p:nvGrpSpPr>
        <p:grpSpPr>
          <a:xfrm rot="0">
            <a:off x="4924849" y="6854276"/>
            <a:ext cx="3755873" cy="2076906"/>
            <a:chOff x="0" y="0"/>
            <a:chExt cx="4960798" cy="2743200"/>
          </a:xfrm>
        </p:grpSpPr>
        <p:sp>
          <p:nvSpPr>
            <p:cNvPr name="Freeform 67" id="67"/>
            <p:cNvSpPr/>
            <p:nvPr/>
          </p:nvSpPr>
          <p:spPr>
            <a:xfrm flipH="false" flipV="false" rot="0">
              <a:off x="0" y="0"/>
              <a:ext cx="4960747" cy="2743200"/>
            </a:xfrm>
            <a:custGeom>
              <a:avLst/>
              <a:gdLst/>
              <a:ahLst/>
              <a:cxnLst/>
              <a:rect r="r" b="b" t="t" l="l"/>
              <a:pathLst>
                <a:path h="2743200" w="4960747">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sp>
      </p:grpSp>
      <p:grpSp>
        <p:nvGrpSpPr>
          <p:cNvPr name="Group 68" id="68"/>
          <p:cNvGrpSpPr/>
          <p:nvPr/>
        </p:nvGrpSpPr>
        <p:grpSpPr>
          <a:xfrm rot="0">
            <a:off x="6456567" y="7131197"/>
            <a:ext cx="692302" cy="692302"/>
            <a:chOff x="0" y="0"/>
            <a:chExt cx="914400" cy="914400"/>
          </a:xfrm>
        </p:grpSpPr>
        <p:sp>
          <p:nvSpPr>
            <p:cNvPr name="Freeform 69" id="6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70" id="70"/>
          <p:cNvGrpSpPr/>
          <p:nvPr/>
        </p:nvGrpSpPr>
        <p:grpSpPr>
          <a:xfrm rot="0">
            <a:off x="6636566" y="7311195"/>
            <a:ext cx="332305" cy="332305"/>
            <a:chOff x="0" y="0"/>
            <a:chExt cx="438912" cy="438912"/>
          </a:xfrm>
        </p:grpSpPr>
        <p:sp>
          <p:nvSpPr>
            <p:cNvPr name="Freeform 71" id="71" descr="icons/card.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9"/>
              <a:stretch>
                <a:fillRect l="0" t="0" r="0" b="0"/>
              </a:stretch>
            </a:blipFill>
          </p:spPr>
        </p:sp>
      </p:grpSp>
      <p:grpSp>
        <p:nvGrpSpPr>
          <p:cNvPr name="Group 72" id="72"/>
          <p:cNvGrpSpPr/>
          <p:nvPr/>
        </p:nvGrpSpPr>
        <p:grpSpPr>
          <a:xfrm rot="0">
            <a:off x="5063310" y="7934267"/>
            <a:ext cx="3478769" cy="415199"/>
            <a:chOff x="0" y="0"/>
            <a:chExt cx="4594796" cy="548399"/>
          </a:xfrm>
        </p:grpSpPr>
        <p:sp>
          <p:nvSpPr>
            <p:cNvPr name="Freeform 73" id="73"/>
            <p:cNvSpPr/>
            <p:nvPr/>
          </p:nvSpPr>
          <p:spPr>
            <a:xfrm flipH="false" flipV="false" rot="0">
              <a:off x="0" y="0"/>
              <a:ext cx="4594800" cy="548400"/>
            </a:xfrm>
            <a:custGeom>
              <a:avLst/>
              <a:gdLst/>
              <a:ahLst/>
              <a:cxnLst/>
              <a:rect r="r" b="b" t="t" l="l"/>
              <a:pathLst>
                <a:path h="548400" w="4594800">
                  <a:moveTo>
                    <a:pt x="0" y="0"/>
                  </a:moveTo>
                  <a:lnTo>
                    <a:pt x="4594800" y="0"/>
                  </a:lnTo>
                  <a:lnTo>
                    <a:pt x="4594800" y="548400"/>
                  </a:lnTo>
                  <a:lnTo>
                    <a:pt x="0" y="548400"/>
                  </a:lnTo>
                  <a:close/>
                </a:path>
              </a:pathLst>
            </a:custGeom>
            <a:blipFill>
              <a:blip r:embed="rId4">
                <a:alphaModFix amt="0"/>
              </a:blip>
              <a:stretch>
                <a:fillRect l="0" t="-113256" r="0" b="-113256"/>
              </a:stretch>
            </a:blipFill>
          </p:spPr>
        </p:sp>
        <p:sp>
          <p:nvSpPr>
            <p:cNvPr name="TextBox 74" id="74"/>
            <p:cNvSpPr txBox="true"/>
            <p:nvPr/>
          </p:nvSpPr>
          <p:spPr>
            <a:xfrm>
              <a:off x="0" y="-38100"/>
              <a:ext cx="4594796" cy="5864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Wompi</a:t>
              </a:r>
            </a:p>
          </p:txBody>
        </p:sp>
      </p:grpSp>
      <p:grpSp>
        <p:nvGrpSpPr>
          <p:cNvPr name="Group 75" id="75"/>
          <p:cNvGrpSpPr/>
          <p:nvPr/>
        </p:nvGrpSpPr>
        <p:grpSpPr>
          <a:xfrm rot="0">
            <a:off x="5063310" y="8321956"/>
            <a:ext cx="3478769" cy="484698"/>
            <a:chOff x="0" y="0"/>
            <a:chExt cx="4594796" cy="640194"/>
          </a:xfrm>
        </p:grpSpPr>
        <p:sp>
          <p:nvSpPr>
            <p:cNvPr name="Freeform 76" id="76"/>
            <p:cNvSpPr/>
            <p:nvPr/>
          </p:nvSpPr>
          <p:spPr>
            <a:xfrm flipH="false" flipV="false" rot="0">
              <a:off x="0" y="0"/>
              <a:ext cx="4594800" cy="640200"/>
            </a:xfrm>
            <a:custGeom>
              <a:avLst/>
              <a:gdLst/>
              <a:ahLst/>
              <a:cxnLst/>
              <a:rect r="r" b="b" t="t" l="l"/>
              <a:pathLst>
                <a:path h="640200" w="4594800">
                  <a:moveTo>
                    <a:pt x="0" y="0"/>
                  </a:moveTo>
                  <a:lnTo>
                    <a:pt x="4594800" y="0"/>
                  </a:lnTo>
                  <a:lnTo>
                    <a:pt x="4594800" y="640200"/>
                  </a:lnTo>
                  <a:lnTo>
                    <a:pt x="0" y="640200"/>
                  </a:lnTo>
                  <a:close/>
                </a:path>
              </a:pathLst>
            </a:custGeom>
            <a:blipFill>
              <a:blip r:embed="rId4">
                <a:alphaModFix amt="0"/>
              </a:blip>
              <a:stretch>
                <a:fillRect l="0" t="-89847" r="0" b="-89846"/>
              </a:stretch>
            </a:blipFill>
          </p:spPr>
        </p:sp>
        <p:sp>
          <p:nvSpPr>
            <p:cNvPr name="TextBox 77" id="77"/>
            <p:cNvSpPr txBox="true"/>
            <p:nvPr/>
          </p:nvSpPr>
          <p:spPr>
            <a:xfrm>
              <a:off x="0" y="-38100"/>
              <a:ext cx="4594796" cy="678294"/>
            </a:xfrm>
            <a:prstGeom prst="rect">
              <a:avLst/>
            </a:prstGeom>
          </p:spPr>
          <p:txBody>
            <a:bodyPr anchor="ctr" rtlCol="false" tIns="0" lIns="0" bIns="0" rIns="0"/>
            <a:lstStyle/>
            <a:p>
              <a:pPr algn="ctr">
                <a:lnSpc>
                  <a:spcPts val="1709"/>
                </a:lnSpc>
              </a:pPr>
              <a:r>
                <a:rPr lang="en-US" sz="1425">
                  <a:solidFill>
                    <a:srgbClr val="5B6670"/>
                  </a:solidFill>
                  <a:latin typeface="Calibri (MS)"/>
                  <a:ea typeface="Calibri (MS)"/>
                  <a:cs typeface="Calibri (MS)"/>
                  <a:sym typeface="Calibri (MS)"/>
                </a:rPr>
                <a:t>Pagos (modo sandbox)</a:t>
              </a:r>
            </a:p>
          </p:txBody>
        </p:sp>
      </p:grpSp>
      <p:grpSp>
        <p:nvGrpSpPr>
          <p:cNvPr name="Group 78" id="78"/>
          <p:cNvGrpSpPr/>
          <p:nvPr/>
        </p:nvGrpSpPr>
        <p:grpSpPr>
          <a:xfrm rot="0">
            <a:off x="9026739" y="6854276"/>
            <a:ext cx="3755873" cy="2076906"/>
            <a:chOff x="0" y="0"/>
            <a:chExt cx="4960798" cy="2743200"/>
          </a:xfrm>
        </p:grpSpPr>
        <p:sp>
          <p:nvSpPr>
            <p:cNvPr name="Freeform 79" id="79"/>
            <p:cNvSpPr/>
            <p:nvPr/>
          </p:nvSpPr>
          <p:spPr>
            <a:xfrm flipH="false" flipV="false" rot="0">
              <a:off x="0" y="0"/>
              <a:ext cx="4960747" cy="2743200"/>
            </a:xfrm>
            <a:custGeom>
              <a:avLst/>
              <a:gdLst/>
              <a:ahLst/>
              <a:cxnLst/>
              <a:rect r="r" b="b" t="t" l="l"/>
              <a:pathLst>
                <a:path h="2743200" w="4960747">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sp>
      </p:grpSp>
      <p:grpSp>
        <p:nvGrpSpPr>
          <p:cNvPr name="Group 80" id="80"/>
          <p:cNvGrpSpPr/>
          <p:nvPr/>
        </p:nvGrpSpPr>
        <p:grpSpPr>
          <a:xfrm rot="0">
            <a:off x="10558457" y="7131197"/>
            <a:ext cx="692302" cy="692302"/>
            <a:chOff x="0" y="0"/>
            <a:chExt cx="914400" cy="914400"/>
          </a:xfrm>
        </p:grpSpPr>
        <p:sp>
          <p:nvSpPr>
            <p:cNvPr name="Freeform 81" id="81"/>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82" id="82"/>
          <p:cNvGrpSpPr/>
          <p:nvPr/>
        </p:nvGrpSpPr>
        <p:grpSpPr>
          <a:xfrm rot="0">
            <a:off x="10738455" y="7311195"/>
            <a:ext cx="332305" cy="332305"/>
            <a:chOff x="0" y="0"/>
            <a:chExt cx="438912" cy="438912"/>
          </a:xfrm>
        </p:grpSpPr>
        <p:sp>
          <p:nvSpPr>
            <p:cNvPr name="Freeform 83" id="83" descr="icons/envelope.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10"/>
              <a:stretch>
                <a:fillRect l="0" t="0" r="0" b="0"/>
              </a:stretch>
            </a:blipFill>
          </p:spPr>
        </p:sp>
      </p:grpSp>
      <p:grpSp>
        <p:nvGrpSpPr>
          <p:cNvPr name="Group 84" id="84"/>
          <p:cNvGrpSpPr/>
          <p:nvPr/>
        </p:nvGrpSpPr>
        <p:grpSpPr>
          <a:xfrm rot="0">
            <a:off x="9165199" y="7934267"/>
            <a:ext cx="3478769" cy="415199"/>
            <a:chOff x="0" y="0"/>
            <a:chExt cx="4594796" cy="548400"/>
          </a:xfrm>
        </p:grpSpPr>
        <p:sp>
          <p:nvSpPr>
            <p:cNvPr name="Freeform 85" id="85"/>
            <p:cNvSpPr/>
            <p:nvPr/>
          </p:nvSpPr>
          <p:spPr>
            <a:xfrm flipH="false" flipV="false" rot="0">
              <a:off x="0" y="0"/>
              <a:ext cx="4594800" cy="548401"/>
            </a:xfrm>
            <a:custGeom>
              <a:avLst/>
              <a:gdLst/>
              <a:ahLst/>
              <a:cxnLst/>
              <a:rect r="r" b="b" t="t" l="l"/>
              <a:pathLst>
                <a:path h="548401" w="4594800">
                  <a:moveTo>
                    <a:pt x="0" y="0"/>
                  </a:moveTo>
                  <a:lnTo>
                    <a:pt x="4594800" y="0"/>
                  </a:lnTo>
                  <a:lnTo>
                    <a:pt x="4594800" y="548401"/>
                  </a:lnTo>
                  <a:lnTo>
                    <a:pt x="0" y="548401"/>
                  </a:lnTo>
                  <a:close/>
                </a:path>
              </a:pathLst>
            </a:custGeom>
            <a:blipFill>
              <a:blip r:embed="rId4">
                <a:alphaModFix amt="0"/>
              </a:blip>
              <a:stretch>
                <a:fillRect l="0" t="-113256" r="0" b="-113255"/>
              </a:stretch>
            </a:blipFill>
          </p:spPr>
        </p:sp>
        <p:sp>
          <p:nvSpPr>
            <p:cNvPr name="TextBox 86" id="86"/>
            <p:cNvSpPr txBox="true"/>
            <p:nvPr/>
          </p:nvSpPr>
          <p:spPr>
            <a:xfrm>
              <a:off x="0" y="-38100"/>
              <a:ext cx="4594796" cy="586500"/>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Brevo</a:t>
              </a:r>
            </a:p>
          </p:txBody>
        </p:sp>
      </p:grpSp>
      <p:grpSp>
        <p:nvGrpSpPr>
          <p:cNvPr name="Group 87" id="87"/>
          <p:cNvGrpSpPr/>
          <p:nvPr/>
        </p:nvGrpSpPr>
        <p:grpSpPr>
          <a:xfrm rot="0">
            <a:off x="9165199" y="8321956"/>
            <a:ext cx="3478769" cy="484698"/>
            <a:chOff x="0" y="0"/>
            <a:chExt cx="4594796" cy="640194"/>
          </a:xfrm>
        </p:grpSpPr>
        <p:sp>
          <p:nvSpPr>
            <p:cNvPr name="Freeform 88" id="88"/>
            <p:cNvSpPr/>
            <p:nvPr/>
          </p:nvSpPr>
          <p:spPr>
            <a:xfrm flipH="false" flipV="false" rot="0">
              <a:off x="0" y="0"/>
              <a:ext cx="4594800" cy="640200"/>
            </a:xfrm>
            <a:custGeom>
              <a:avLst/>
              <a:gdLst/>
              <a:ahLst/>
              <a:cxnLst/>
              <a:rect r="r" b="b" t="t" l="l"/>
              <a:pathLst>
                <a:path h="640200" w="4594800">
                  <a:moveTo>
                    <a:pt x="0" y="0"/>
                  </a:moveTo>
                  <a:lnTo>
                    <a:pt x="4594800" y="0"/>
                  </a:lnTo>
                  <a:lnTo>
                    <a:pt x="4594800" y="640200"/>
                  </a:lnTo>
                  <a:lnTo>
                    <a:pt x="0" y="640200"/>
                  </a:lnTo>
                  <a:close/>
                </a:path>
              </a:pathLst>
            </a:custGeom>
            <a:blipFill>
              <a:blip r:embed="rId4">
                <a:alphaModFix amt="0"/>
              </a:blip>
              <a:stretch>
                <a:fillRect l="0" t="-89847" r="0" b="-89846"/>
              </a:stretch>
            </a:blipFill>
          </p:spPr>
        </p:sp>
        <p:sp>
          <p:nvSpPr>
            <p:cNvPr name="TextBox 89" id="89"/>
            <p:cNvSpPr txBox="true"/>
            <p:nvPr/>
          </p:nvSpPr>
          <p:spPr>
            <a:xfrm>
              <a:off x="0" y="-38100"/>
              <a:ext cx="4594796" cy="678294"/>
            </a:xfrm>
            <a:prstGeom prst="rect">
              <a:avLst/>
            </a:prstGeom>
          </p:spPr>
          <p:txBody>
            <a:bodyPr anchor="ctr" rtlCol="false" tIns="0" lIns="0" bIns="0" rIns="0"/>
            <a:lstStyle/>
            <a:p>
              <a:pPr algn="ctr">
                <a:lnSpc>
                  <a:spcPts val="1709"/>
                </a:lnSpc>
              </a:pPr>
              <a:r>
                <a:rPr lang="en-US" sz="1425">
                  <a:solidFill>
                    <a:srgbClr val="5B6670"/>
                  </a:solidFill>
                  <a:latin typeface="Calibri (MS)"/>
                  <a:ea typeface="Calibri (MS)"/>
                  <a:cs typeface="Calibri (MS)"/>
                  <a:sym typeface="Calibri (MS)"/>
                </a:rPr>
                <a:t>Correo (recuperar contraseña)</a:t>
              </a:r>
            </a:p>
          </p:txBody>
        </p:sp>
      </p:grpSp>
      <p:grpSp>
        <p:nvGrpSpPr>
          <p:cNvPr name="Group 90" id="90"/>
          <p:cNvGrpSpPr/>
          <p:nvPr/>
        </p:nvGrpSpPr>
        <p:grpSpPr>
          <a:xfrm rot="0">
            <a:off x="13128628" y="6854276"/>
            <a:ext cx="3755873" cy="2076906"/>
            <a:chOff x="0" y="0"/>
            <a:chExt cx="4960798" cy="2743200"/>
          </a:xfrm>
        </p:grpSpPr>
        <p:sp>
          <p:nvSpPr>
            <p:cNvPr name="Freeform 91" id="91"/>
            <p:cNvSpPr/>
            <p:nvPr/>
          </p:nvSpPr>
          <p:spPr>
            <a:xfrm flipH="false" flipV="false" rot="0">
              <a:off x="0" y="0"/>
              <a:ext cx="4960747" cy="2743200"/>
            </a:xfrm>
            <a:custGeom>
              <a:avLst/>
              <a:gdLst/>
              <a:ahLst/>
              <a:cxnLst/>
              <a:rect r="r" b="b" t="t" l="l"/>
              <a:pathLst>
                <a:path h="2743200" w="4960747">
                  <a:moveTo>
                    <a:pt x="0" y="146304"/>
                  </a:moveTo>
                  <a:cubicBezTo>
                    <a:pt x="0" y="65532"/>
                    <a:pt x="65532" y="0"/>
                    <a:pt x="146304" y="0"/>
                  </a:cubicBezTo>
                  <a:lnTo>
                    <a:pt x="4814443" y="0"/>
                  </a:lnTo>
                  <a:cubicBezTo>
                    <a:pt x="4895215" y="0"/>
                    <a:pt x="4960747" y="65532"/>
                    <a:pt x="4960747" y="146304"/>
                  </a:cubicBezTo>
                  <a:lnTo>
                    <a:pt x="4960747" y="2596896"/>
                  </a:lnTo>
                  <a:cubicBezTo>
                    <a:pt x="4960747" y="2677668"/>
                    <a:pt x="4895215" y="2743200"/>
                    <a:pt x="4814443" y="2743200"/>
                  </a:cubicBezTo>
                  <a:lnTo>
                    <a:pt x="146304" y="2743200"/>
                  </a:lnTo>
                  <a:cubicBezTo>
                    <a:pt x="65532" y="2743200"/>
                    <a:pt x="0" y="2677668"/>
                    <a:pt x="0" y="2596896"/>
                  </a:cubicBezTo>
                  <a:close/>
                </a:path>
              </a:pathLst>
            </a:custGeom>
            <a:solidFill>
              <a:srgbClr val="EDF6E8"/>
            </a:solidFill>
          </p:spPr>
        </p:sp>
      </p:grpSp>
      <p:grpSp>
        <p:nvGrpSpPr>
          <p:cNvPr name="Group 92" id="92"/>
          <p:cNvGrpSpPr/>
          <p:nvPr/>
        </p:nvGrpSpPr>
        <p:grpSpPr>
          <a:xfrm rot="0">
            <a:off x="14660346" y="7131197"/>
            <a:ext cx="692302" cy="692302"/>
            <a:chOff x="0" y="0"/>
            <a:chExt cx="914400" cy="914400"/>
          </a:xfrm>
        </p:grpSpPr>
        <p:sp>
          <p:nvSpPr>
            <p:cNvPr name="Freeform 93" id="9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A900"/>
            </a:solidFill>
          </p:spPr>
        </p:sp>
      </p:grpSp>
      <p:grpSp>
        <p:nvGrpSpPr>
          <p:cNvPr name="Group 94" id="94"/>
          <p:cNvGrpSpPr/>
          <p:nvPr/>
        </p:nvGrpSpPr>
        <p:grpSpPr>
          <a:xfrm rot="0">
            <a:off x="14840345" y="7311195"/>
            <a:ext cx="332305" cy="332305"/>
            <a:chOff x="0" y="0"/>
            <a:chExt cx="438912" cy="438912"/>
          </a:xfrm>
        </p:grpSpPr>
        <p:sp>
          <p:nvSpPr>
            <p:cNvPr name="Freeform 95" id="95" descr="icons/sync.png"/>
            <p:cNvSpPr/>
            <p:nvPr/>
          </p:nvSpPr>
          <p:spPr>
            <a:xfrm flipH="false" flipV="false" rot="0">
              <a:off x="0" y="0"/>
              <a:ext cx="438912" cy="438912"/>
            </a:xfrm>
            <a:custGeom>
              <a:avLst/>
              <a:gdLst/>
              <a:ahLst/>
              <a:cxnLst/>
              <a:rect r="r" b="b" t="t" l="l"/>
              <a:pathLst>
                <a:path h="438912" w="438912">
                  <a:moveTo>
                    <a:pt x="0" y="0"/>
                  </a:moveTo>
                  <a:lnTo>
                    <a:pt x="438912" y="0"/>
                  </a:lnTo>
                  <a:lnTo>
                    <a:pt x="438912" y="438912"/>
                  </a:lnTo>
                  <a:lnTo>
                    <a:pt x="0" y="438912"/>
                  </a:lnTo>
                  <a:lnTo>
                    <a:pt x="0" y="0"/>
                  </a:lnTo>
                  <a:close/>
                </a:path>
              </a:pathLst>
            </a:custGeom>
            <a:blipFill>
              <a:blip r:embed="rId11"/>
              <a:stretch>
                <a:fillRect l="0" t="0" r="0" b="0"/>
              </a:stretch>
            </a:blipFill>
          </p:spPr>
        </p:sp>
      </p:grpSp>
      <p:grpSp>
        <p:nvGrpSpPr>
          <p:cNvPr name="Group 96" id="96"/>
          <p:cNvGrpSpPr/>
          <p:nvPr/>
        </p:nvGrpSpPr>
        <p:grpSpPr>
          <a:xfrm rot="0">
            <a:off x="13267088" y="7934267"/>
            <a:ext cx="3478769" cy="415199"/>
            <a:chOff x="0" y="0"/>
            <a:chExt cx="4594796" cy="548399"/>
          </a:xfrm>
        </p:grpSpPr>
        <p:sp>
          <p:nvSpPr>
            <p:cNvPr name="Freeform 97" id="97"/>
            <p:cNvSpPr/>
            <p:nvPr/>
          </p:nvSpPr>
          <p:spPr>
            <a:xfrm flipH="false" flipV="false" rot="0">
              <a:off x="0" y="0"/>
              <a:ext cx="4594800" cy="548400"/>
            </a:xfrm>
            <a:custGeom>
              <a:avLst/>
              <a:gdLst/>
              <a:ahLst/>
              <a:cxnLst/>
              <a:rect r="r" b="b" t="t" l="l"/>
              <a:pathLst>
                <a:path h="548400" w="4594800">
                  <a:moveTo>
                    <a:pt x="0" y="0"/>
                  </a:moveTo>
                  <a:lnTo>
                    <a:pt x="4594800" y="0"/>
                  </a:lnTo>
                  <a:lnTo>
                    <a:pt x="4594800" y="548400"/>
                  </a:lnTo>
                  <a:lnTo>
                    <a:pt x="0" y="548400"/>
                  </a:lnTo>
                  <a:close/>
                </a:path>
              </a:pathLst>
            </a:custGeom>
            <a:blipFill>
              <a:blip r:embed="rId4">
                <a:alphaModFix amt="0"/>
              </a:blip>
              <a:stretch>
                <a:fillRect l="0" t="-113256" r="0" b="-113256"/>
              </a:stretch>
            </a:blipFill>
          </p:spPr>
        </p:sp>
        <p:sp>
          <p:nvSpPr>
            <p:cNvPr name="TextBox 98" id="98"/>
            <p:cNvSpPr txBox="true"/>
            <p:nvPr/>
          </p:nvSpPr>
          <p:spPr>
            <a:xfrm>
              <a:off x="0" y="-38100"/>
              <a:ext cx="4594796" cy="586499"/>
            </a:xfrm>
            <a:prstGeom prst="rect">
              <a:avLst/>
            </a:prstGeom>
          </p:spPr>
          <p:txBody>
            <a:bodyPr anchor="ctr" rtlCol="false" tIns="0" lIns="0" bIns="0" rIns="0"/>
            <a:lstStyle/>
            <a:p>
              <a:pPr algn="ctr">
                <a:lnSpc>
                  <a:spcPts val="2160"/>
                </a:lnSpc>
              </a:pPr>
              <a:r>
                <a:rPr lang="en-US" b="true" sz="1800">
                  <a:solidFill>
                    <a:srgbClr val="00304D"/>
                  </a:solidFill>
                  <a:latin typeface="Calibri (MS) Bold"/>
                  <a:ea typeface="Calibri (MS) Bold"/>
                  <a:cs typeface="Calibri (MS) Bold"/>
                  <a:sym typeface="Calibri (MS) Bold"/>
                </a:rPr>
                <a:t>CronJob</a:t>
              </a:r>
            </a:p>
          </p:txBody>
        </p:sp>
      </p:grpSp>
      <p:grpSp>
        <p:nvGrpSpPr>
          <p:cNvPr name="Group 99" id="99"/>
          <p:cNvGrpSpPr/>
          <p:nvPr/>
        </p:nvGrpSpPr>
        <p:grpSpPr>
          <a:xfrm rot="0">
            <a:off x="13267088" y="8321956"/>
            <a:ext cx="3478769" cy="484698"/>
            <a:chOff x="0" y="0"/>
            <a:chExt cx="4594796" cy="640194"/>
          </a:xfrm>
        </p:grpSpPr>
        <p:sp>
          <p:nvSpPr>
            <p:cNvPr name="Freeform 100" id="100"/>
            <p:cNvSpPr/>
            <p:nvPr/>
          </p:nvSpPr>
          <p:spPr>
            <a:xfrm flipH="false" flipV="false" rot="0">
              <a:off x="0" y="0"/>
              <a:ext cx="4594800" cy="640200"/>
            </a:xfrm>
            <a:custGeom>
              <a:avLst/>
              <a:gdLst/>
              <a:ahLst/>
              <a:cxnLst/>
              <a:rect r="r" b="b" t="t" l="l"/>
              <a:pathLst>
                <a:path h="640200" w="4594800">
                  <a:moveTo>
                    <a:pt x="0" y="0"/>
                  </a:moveTo>
                  <a:lnTo>
                    <a:pt x="4594800" y="0"/>
                  </a:lnTo>
                  <a:lnTo>
                    <a:pt x="4594800" y="640200"/>
                  </a:lnTo>
                  <a:lnTo>
                    <a:pt x="0" y="640200"/>
                  </a:lnTo>
                  <a:close/>
                </a:path>
              </a:pathLst>
            </a:custGeom>
            <a:blipFill>
              <a:blip r:embed="rId4">
                <a:alphaModFix amt="0"/>
              </a:blip>
              <a:stretch>
                <a:fillRect l="0" t="-89847" r="0" b="-89846"/>
              </a:stretch>
            </a:blipFill>
          </p:spPr>
        </p:sp>
        <p:sp>
          <p:nvSpPr>
            <p:cNvPr name="TextBox 101" id="101"/>
            <p:cNvSpPr txBox="true"/>
            <p:nvPr/>
          </p:nvSpPr>
          <p:spPr>
            <a:xfrm>
              <a:off x="0" y="-38100"/>
              <a:ext cx="4594796" cy="678294"/>
            </a:xfrm>
            <a:prstGeom prst="rect">
              <a:avLst/>
            </a:prstGeom>
          </p:spPr>
          <p:txBody>
            <a:bodyPr anchor="ctr" rtlCol="false" tIns="0" lIns="0" bIns="0" rIns="0"/>
            <a:lstStyle/>
            <a:p>
              <a:pPr algn="ctr">
                <a:lnSpc>
                  <a:spcPts val="1709"/>
                </a:lnSpc>
              </a:pPr>
              <a:r>
                <a:rPr lang="en-US" sz="1425">
                  <a:solidFill>
                    <a:srgbClr val="5B6670"/>
                  </a:solidFill>
                  <a:latin typeface="Calibri (MS)"/>
                  <a:ea typeface="Calibri (MS)"/>
                  <a:cs typeface="Calibri (MS)"/>
                  <a:sym typeface="Calibri (MS)"/>
                </a:rPr>
                <a:t>Notificaciones en tiempo real</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132378" y="111395"/>
            <a:ext cx="16184699" cy="1165946"/>
            <a:chOff x="0" y="0"/>
            <a:chExt cx="21579599" cy="1554594"/>
          </a:xfrm>
        </p:grpSpPr>
        <p:sp>
          <p:nvSpPr>
            <p:cNvPr name="Freeform 4" id="4"/>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5" id="5"/>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Modelo Logico</a:t>
              </a:r>
            </a:p>
          </p:txBody>
        </p:sp>
      </p:grpSp>
      <p:grpSp>
        <p:nvGrpSpPr>
          <p:cNvPr name="Group 6" id="6"/>
          <p:cNvGrpSpPr/>
          <p:nvPr/>
        </p:nvGrpSpPr>
        <p:grpSpPr>
          <a:xfrm rot="0">
            <a:off x="2894637" y="1028700"/>
            <a:ext cx="12252522" cy="9173480"/>
            <a:chOff x="0" y="0"/>
            <a:chExt cx="16336696" cy="12231306"/>
          </a:xfrm>
        </p:grpSpPr>
        <p:sp>
          <p:nvSpPr>
            <p:cNvPr name="Freeform 7" id="7"/>
            <p:cNvSpPr/>
            <p:nvPr/>
          </p:nvSpPr>
          <p:spPr>
            <a:xfrm flipH="false" flipV="false" rot="0">
              <a:off x="0" y="0"/>
              <a:ext cx="16336645" cy="12231243"/>
            </a:xfrm>
            <a:custGeom>
              <a:avLst/>
              <a:gdLst/>
              <a:ahLst/>
              <a:cxnLst/>
              <a:rect r="r" b="b" t="t" l="l"/>
              <a:pathLst>
                <a:path h="12231243" w="16336645">
                  <a:moveTo>
                    <a:pt x="0" y="0"/>
                  </a:moveTo>
                  <a:lnTo>
                    <a:pt x="16336645" y="0"/>
                  </a:lnTo>
                  <a:lnTo>
                    <a:pt x="16336645" y="12231243"/>
                  </a:lnTo>
                  <a:lnTo>
                    <a:pt x="0" y="12231243"/>
                  </a:lnTo>
                  <a:lnTo>
                    <a:pt x="0" y="0"/>
                  </a:lnTo>
                  <a:close/>
                </a:path>
              </a:pathLst>
            </a:custGeom>
            <a:blipFill>
              <a:blip r:embed="rId5"/>
              <a:stretch>
                <a:fillRect l="-476" t="0" r="-476" b="0"/>
              </a:stretch>
            </a:blipFill>
          </p:spPr>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323612" y="250898"/>
            <a:ext cx="16184699" cy="1165946"/>
            <a:chOff x="0" y="0"/>
            <a:chExt cx="21579599" cy="1554594"/>
          </a:xfrm>
        </p:grpSpPr>
        <p:sp>
          <p:nvSpPr>
            <p:cNvPr name="Freeform 4" id="4"/>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5" id="5"/>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Diagrama Casos de Uso</a:t>
              </a:r>
            </a:p>
          </p:txBody>
        </p:sp>
      </p:grpSp>
      <p:grpSp>
        <p:nvGrpSpPr>
          <p:cNvPr name="Group 6" id="6"/>
          <p:cNvGrpSpPr/>
          <p:nvPr/>
        </p:nvGrpSpPr>
        <p:grpSpPr>
          <a:xfrm rot="0">
            <a:off x="2792085" y="1556776"/>
            <a:ext cx="12703830" cy="8730224"/>
            <a:chOff x="0" y="0"/>
            <a:chExt cx="16938441" cy="11640299"/>
          </a:xfrm>
        </p:grpSpPr>
        <p:sp>
          <p:nvSpPr>
            <p:cNvPr name="Freeform 7" id="7"/>
            <p:cNvSpPr/>
            <p:nvPr/>
          </p:nvSpPr>
          <p:spPr>
            <a:xfrm flipH="false" flipV="false" rot="0">
              <a:off x="0" y="0"/>
              <a:ext cx="16938408" cy="11640312"/>
            </a:xfrm>
            <a:custGeom>
              <a:avLst/>
              <a:gdLst/>
              <a:ahLst/>
              <a:cxnLst/>
              <a:rect r="r" b="b" t="t" l="l"/>
              <a:pathLst>
                <a:path h="11640312" w="16938408">
                  <a:moveTo>
                    <a:pt x="0" y="0"/>
                  </a:moveTo>
                  <a:lnTo>
                    <a:pt x="16938408" y="0"/>
                  </a:lnTo>
                  <a:lnTo>
                    <a:pt x="16938408" y="11640312"/>
                  </a:lnTo>
                  <a:lnTo>
                    <a:pt x="0" y="11640312"/>
                  </a:lnTo>
                  <a:lnTo>
                    <a:pt x="0" y="0"/>
                  </a:lnTo>
                  <a:close/>
                </a:path>
              </a:pathLst>
            </a:custGeom>
            <a:blipFill>
              <a:blip r:embed="rId5"/>
              <a:stretch>
                <a:fillRect l="-160" t="0" r="-160" b="0"/>
              </a:stretch>
            </a:blipFill>
          </p:spPr>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987552"/>
            <a:ext cx="16184699" cy="1165946"/>
            <a:chOff x="0" y="0"/>
            <a:chExt cx="21579599" cy="1554594"/>
          </a:xfrm>
        </p:grpSpPr>
        <p:sp>
          <p:nvSpPr>
            <p:cNvPr name="Freeform 4" id="4"/>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5" id="5"/>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Pruebas de software</a:t>
              </a:r>
            </a:p>
          </p:txBody>
        </p:sp>
      </p:grpSp>
      <p:grpSp>
        <p:nvGrpSpPr>
          <p:cNvPr name="Group 6" id="6"/>
          <p:cNvGrpSpPr/>
          <p:nvPr/>
        </p:nvGrpSpPr>
        <p:grpSpPr>
          <a:xfrm rot="0">
            <a:off x="822960" y="2468880"/>
            <a:ext cx="7681046" cy="6720754"/>
            <a:chOff x="0" y="0"/>
            <a:chExt cx="10241394" cy="8961006"/>
          </a:xfrm>
        </p:grpSpPr>
        <p:sp>
          <p:nvSpPr>
            <p:cNvPr name="Freeform 7" id="7"/>
            <p:cNvSpPr/>
            <p:nvPr/>
          </p:nvSpPr>
          <p:spPr>
            <a:xfrm flipH="false" flipV="false" rot="0">
              <a:off x="0" y="0"/>
              <a:ext cx="10241407" cy="8960993"/>
            </a:xfrm>
            <a:custGeom>
              <a:avLst/>
              <a:gdLst/>
              <a:ahLst/>
              <a:cxnLst/>
              <a:rect r="r" b="b" t="t" l="l"/>
              <a:pathLst>
                <a:path h="8960993" w="10241407">
                  <a:moveTo>
                    <a:pt x="0" y="146304"/>
                  </a:moveTo>
                  <a:cubicBezTo>
                    <a:pt x="0" y="65532"/>
                    <a:pt x="65532" y="0"/>
                    <a:pt x="146304" y="0"/>
                  </a:cubicBezTo>
                  <a:lnTo>
                    <a:pt x="10095103" y="0"/>
                  </a:lnTo>
                  <a:cubicBezTo>
                    <a:pt x="10175875" y="0"/>
                    <a:pt x="10241407" y="65532"/>
                    <a:pt x="10241407" y="146304"/>
                  </a:cubicBezTo>
                  <a:lnTo>
                    <a:pt x="10241407" y="8814689"/>
                  </a:lnTo>
                  <a:cubicBezTo>
                    <a:pt x="10241407" y="8895461"/>
                    <a:pt x="10175875" y="8960993"/>
                    <a:pt x="10095103" y="8960993"/>
                  </a:cubicBezTo>
                  <a:lnTo>
                    <a:pt x="146304" y="8960993"/>
                  </a:lnTo>
                  <a:cubicBezTo>
                    <a:pt x="65532" y="8960993"/>
                    <a:pt x="0" y="8895461"/>
                    <a:pt x="0" y="8814689"/>
                  </a:cubicBezTo>
                  <a:close/>
                </a:path>
              </a:pathLst>
            </a:custGeom>
            <a:solidFill>
              <a:srgbClr val="EDF6E8"/>
            </a:solidFill>
          </p:spPr>
        </p:sp>
      </p:grpSp>
      <p:grpSp>
        <p:nvGrpSpPr>
          <p:cNvPr name="Group 8" id="8"/>
          <p:cNvGrpSpPr/>
          <p:nvPr/>
        </p:nvGrpSpPr>
        <p:grpSpPr>
          <a:xfrm rot="0">
            <a:off x="1303020" y="2880360"/>
            <a:ext cx="891454" cy="891454"/>
            <a:chOff x="0" y="0"/>
            <a:chExt cx="1188606" cy="1188606"/>
          </a:xfrm>
        </p:grpSpPr>
        <p:sp>
          <p:nvSpPr>
            <p:cNvPr name="Freeform 9" id="9"/>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sp>
      </p:grpSp>
      <p:grpSp>
        <p:nvGrpSpPr>
          <p:cNvPr name="Group 10" id="10"/>
          <p:cNvGrpSpPr/>
          <p:nvPr/>
        </p:nvGrpSpPr>
        <p:grpSpPr>
          <a:xfrm rot="0">
            <a:off x="1534820" y="3112160"/>
            <a:ext cx="427939" cy="427939"/>
            <a:chOff x="0" y="0"/>
            <a:chExt cx="570586" cy="570586"/>
          </a:xfrm>
        </p:grpSpPr>
        <p:sp>
          <p:nvSpPr>
            <p:cNvPr name="Freeform 11" id="11" descr="icons/vial.png"/>
            <p:cNvSpPr/>
            <p:nvPr/>
          </p:nvSpPr>
          <p:spPr>
            <a:xfrm flipH="false" flipV="false" rot="0">
              <a:off x="0" y="0"/>
              <a:ext cx="570611" cy="570611"/>
            </a:xfrm>
            <a:custGeom>
              <a:avLst/>
              <a:gdLst/>
              <a:ahLst/>
              <a:cxnLst/>
              <a:rect r="r" b="b" t="t" l="l"/>
              <a:pathLst>
                <a:path h="570611" w="570611">
                  <a:moveTo>
                    <a:pt x="0" y="0"/>
                  </a:moveTo>
                  <a:lnTo>
                    <a:pt x="570611" y="0"/>
                  </a:lnTo>
                  <a:lnTo>
                    <a:pt x="570611" y="570611"/>
                  </a:lnTo>
                  <a:lnTo>
                    <a:pt x="0" y="570611"/>
                  </a:lnTo>
                  <a:lnTo>
                    <a:pt x="0" y="0"/>
                  </a:lnTo>
                  <a:close/>
                </a:path>
              </a:pathLst>
            </a:custGeom>
            <a:blipFill>
              <a:blip r:embed="rId5"/>
              <a:stretch>
                <a:fillRect l="0" t="0" r="4" b="4"/>
              </a:stretch>
            </a:blipFill>
          </p:spPr>
        </p:sp>
      </p:grpSp>
      <p:grpSp>
        <p:nvGrpSpPr>
          <p:cNvPr name="Group 12" id="12"/>
          <p:cNvGrpSpPr/>
          <p:nvPr/>
        </p:nvGrpSpPr>
        <p:grpSpPr>
          <a:xfrm rot="0">
            <a:off x="2400300" y="3017520"/>
            <a:ext cx="5486400" cy="548550"/>
            <a:chOff x="0" y="0"/>
            <a:chExt cx="7315200" cy="731400"/>
          </a:xfrm>
        </p:grpSpPr>
        <p:sp>
          <p:nvSpPr>
            <p:cNvPr name="Freeform 13" id="13"/>
            <p:cNvSpPr/>
            <p:nvPr/>
          </p:nvSpPr>
          <p:spPr>
            <a:xfrm flipH="false" flipV="false" rot="0">
              <a:off x="0" y="0"/>
              <a:ext cx="7315200" cy="731394"/>
            </a:xfrm>
            <a:custGeom>
              <a:avLst/>
              <a:gdLst/>
              <a:ahLst/>
              <a:cxnLst/>
              <a:rect r="r" b="b" t="t" l="l"/>
              <a:pathLst>
                <a:path h="731394" w="7315200">
                  <a:moveTo>
                    <a:pt x="0" y="0"/>
                  </a:moveTo>
                  <a:lnTo>
                    <a:pt x="7315200" y="0"/>
                  </a:lnTo>
                  <a:lnTo>
                    <a:pt x="7315200" y="731394"/>
                  </a:lnTo>
                  <a:lnTo>
                    <a:pt x="0" y="731394"/>
                  </a:lnTo>
                  <a:close/>
                </a:path>
              </a:pathLst>
            </a:custGeom>
            <a:blipFill>
              <a:blip r:embed="rId4">
                <a:alphaModFix amt="0"/>
              </a:blip>
              <a:stretch>
                <a:fillRect l="0" t="-144883" r="0" b="-144884"/>
              </a:stretch>
            </a:blipFill>
          </p:spPr>
        </p:sp>
        <p:sp>
          <p:nvSpPr>
            <p:cNvPr name="TextBox 14" id="14"/>
            <p:cNvSpPr txBox="true"/>
            <p:nvPr/>
          </p:nvSpPr>
          <p:spPr>
            <a:xfrm>
              <a:off x="0" y="-47625"/>
              <a:ext cx="7315200" cy="779025"/>
            </a:xfrm>
            <a:prstGeom prst="rect">
              <a:avLst/>
            </a:prstGeom>
          </p:spPr>
          <p:txBody>
            <a:bodyPr anchor="ctr" rtlCol="false" tIns="0" lIns="0" bIns="0" rIns="0"/>
            <a:lstStyle/>
            <a:p>
              <a:pPr algn="l">
                <a:lnSpc>
                  <a:spcPts val="3060"/>
                </a:lnSpc>
              </a:pPr>
              <a:r>
                <a:rPr lang="en-US" b="true" sz="2550">
                  <a:solidFill>
                    <a:srgbClr val="00304D"/>
                  </a:solidFill>
                  <a:latin typeface="Calibri (MS) Bold"/>
                  <a:ea typeface="Calibri (MS) Bold"/>
                  <a:cs typeface="Calibri (MS) Bold"/>
                  <a:sym typeface="Calibri (MS) Bold"/>
                </a:rPr>
                <a:t>Caja blanca (backend, con JUnit)</a:t>
              </a:r>
            </a:p>
          </p:txBody>
        </p:sp>
      </p:grpSp>
      <p:grpSp>
        <p:nvGrpSpPr>
          <p:cNvPr name="Group 15" id="15"/>
          <p:cNvGrpSpPr/>
          <p:nvPr/>
        </p:nvGrpSpPr>
        <p:grpSpPr>
          <a:xfrm rot="0">
            <a:off x="1303020" y="3771900"/>
            <a:ext cx="6858000" cy="754199"/>
            <a:chOff x="0" y="0"/>
            <a:chExt cx="9144000" cy="1005599"/>
          </a:xfrm>
        </p:grpSpPr>
        <p:sp>
          <p:nvSpPr>
            <p:cNvPr name="Freeform 16" id="16"/>
            <p:cNvSpPr/>
            <p:nvPr/>
          </p:nvSpPr>
          <p:spPr>
            <a:xfrm flipH="false" flipV="false" rot="0">
              <a:off x="0" y="0"/>
              <a:ext cx="9144000" cy="1005600"/>
            </a:xfrm>
            <a:custGeom>
              <a:avLst/>
              <a:gdLst/>
              <a:ahLst/>
              <a:cxnLst/>
              <a:rect r="r" b="b" t="t" l="l"/>
              <a:pathLst>
                <a:path h="1005600" w="9144000">
                  <a:moveTo>
                    <a:pt x="0" y="0"/>
                  </a:moveTo>
                  <a:lnTo>
                    <a:pt x="9144000" y="0"/>
                  </a:lnTo>
                  <a:lnTo>
                    <a:pt x="9144000" y="1005600"/>
                  </a:lnTo>
                  <a:lnTo>
                    <a:pt x="0" y="1005600"/>
                  </a:lnTo>
                  <a:close/>
                </a:path>
              </a:pathLst>
            </a:custGeom>
            <a:blipFill>
              <a:blip r:embed="rId4">
                <a:alphaModFix amt="0"/>
              </a:blip>
              <a:stretch>
                <a:fillRect l="0" t="-127179" r="0" b="-127178"/>
              </a:stretch>
            </a:blipFill>
          </p:spPr>
        </p:sp>
        <p:sp>
          <p:nvSpPr>
            <p:cNvPr name="TextBox 17" id="17"/>
            <p:cNvSpPr txBox="true"/>
            <p:nvPr/>
          </p:nvSpPr>
          <p:spPr>
            <a:xfrm>
              <a:off x="0" y="-38100"/>
              <a:ext cx="9144000" cy="1043699"/>
            </a:xfrm>
            <a:prstGeom prst="rect">
              <a:avLst/>
            </a:prstGeom>
          </p:spPr>
          <p:txBody>
            <a:bodyPr anchor="ctr" rtlCol="false" tIns="0" lIns="0" bIns="0" rIns="0"/>
            <a:lstStyle/>
            <a:p>
              <a:pPr algn="l">
                <a:lnSpc>
                  <a:spcPts val="2160"/>
                </a:lnSpc>
              </a:pPr>
              <a:r>
                <a:rPr lang="en-US" sz="1800">
                  <a:solidFill>
                    <a:srgbClr val="22292E"/>
                  </a:solidFill>
                  <a:latin typeface="Calibri (MS)"/>
                  <a:ea typeface="Calibri (MS)"/>
                  <a:cs typeface="Calibri (MS)"/>
                  <a:sym typeface="Calibri (MS)"/>
                </a:rPr>
                <a:t>Se valida la lógica interna del código del backend (mocking de datos).</a:t>
              </a:r>
            </a:p>
          </p:txBody>
        </p:sp>
      </p:grpSp>
      <p:grpSp>
        <p:nvGrpSpPr>
          <p:cNvPr name="Group 18" id="18"/>
          <p:cNvGrpSpPr/>
          <p:nvPr/>
        </p:nvGrpSpPr>
        <p:grpSpPr>
          <a:xfrm rot="0">
            <a:off x="1303020" y="4663440"/>
            <a:ext cx="6858000" cy="548554"/>
            <a:chOff x="0" y="0"/>
            <a:chExt cx="9144000" cy="731406"/>
          </a:xfrm>
        </p:grpSpPr>
        <p:sp>
          <p:nvSpPr>
            <p:cNvPr name="Freeform 19" id="19"/>
            <p:cNvSpPr/>
            <p:nvPr/>
          </p:nvSpPr>
          <p:spPr>
            <a:xfrm flipH="false" flipV="false" rot="0">
              <a:off x="0" y="0"/>
              <a:ext cx="9144000" cy="731400"/>
            </a:xfrm>
            <a:custGeom>
              <a:avLst/>
              <a:gdLst/>
              <a:ahLst/>
              <a:cxnLst/>
              <a:rect r="r" b="b" t="t" l="l"/>
              <a:pathLst>
                <a:path h="731400" w="9144000">
                  <a:moveTo>
                    <a:pt x="0" y="0"/>
                  </a:moveTo>
                  <a:lnTo>
                    <a:pt x="9144000" y="0"/>
                  </a:lnTo>
                  <a:lnTo>
                    <a:pt x="9144000" y="731400"/>
                  </a:lnTo>
                  <a:lnTo>
                    <a:pt x="0" y="731400"/>
                  </a:lnTo>
                  <a:close/>
                </a:path>
              </a:pathLst>
            </a:custGeom>
            <a:blipFill>
              <a:blip r:embed="rId4">
                <a:alphaModFix amt="0"/>
              </a:blip>
              <a:stretch>
                <a:fillRect l="0" t="-193602" r="0" b="-193603"/>
              </a:stretch>
            </a:blipFill>
          </p:spPr>
        </p:sp>
        <p:sp>
          <p:nvSpPr>
            <p:cNvPr name="TextBox 20" id="20"/>
            <p:cNvSpPr txBox="true"/>
            <p:nvPr/>
          </p:nvSpPr>
          <p:spPr>
            <a:xfrm>
              <a:off x="0" y="-38100"/>
              <a:ext cx="9144000" cy="769506"/>
            </a:xfrm>
            <a:prstGeom prst="rect">
              <a:avLst/>
            </a:prstGeom>
          </p:spPr>
          <p:txBody>
            <a:bodyPr anchor="ctr" rtlCol="false" tIns="0" lIns="0" bIns="0" rIns="0"/>
            <a:lstStyle/>
            <a:p>
              <a:pPr algn="l">
                <a:lnSpc>
                  <a:spcPts val="2160"/>
                </a:lnSpc>
              </a:pPr>
              <a:r>
                <a:rPr lang="en-US" b="true" sz="1800">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PU-1  Registro de usuarios</a:t>
              </a:r>
            </a:p>
          </p:txBody>
        </p:sp>
      </p:grpSp>
      <p:grpSp>
        <p:nvGrpSpPr>
          <p:cNvPr name="Group 21" id="21"/>
          <p:cNvGrpSpPr/>
          <p:nvPr/>
        </p:nvGrpSpPr>
        <p:grpSpPr>
          <a:xfrm rot="0">
            <a:off x="1303020" y="5321808"/>
            <a:ext cx="6858000" cy="548550"/>
            <a:chOff x="0" y="0"/>
            <a:chExt cx="9144000" cy="731400"/>
          </a:xfrm>
        </p:grpSpPr>
        <p:sp>
          <p:nvSpPr>
            <p:cNvPr name="Freeform 22" id="22"/>
            <p:cNvSpPr/>
            <p:nvPr/>
          </p:nvSpPr>
          <p:spPr>
            <a:xfrm flipH="false" flipV="false" rot="0">
              <a:off x="0" y="0"/>
              <a:ext cx="9144000" cy="731394"/>
            </a:xfrm>
            <a:custGeom>
              <a:avLst/>
              <a:gdLst/>
              <a:ahLst/>
              <a:cxnLst/>
              <a:rect r="r" b="b" t="t" l="l"/>
              <a:pathLst>
                <a:path h="731394" w="9144000">
                  <a:moveTo>
                    <a:pt x="0" y="0"/>
                  </a:moveTo>
                  <a:lnTo>
                    <a:pt x="9144000" y="0"/>
                  </a:lnTo>
                  <a:lnTo>
                    <a:pt x="9144000" y="731394"/>
                  </a:lnTo>
                  <a:lnTo>
                    <a:pt x="0" y="731394"/>
                  </a:lnTo>
                  <a:close/>
                </a:path>
              </a:pathLst>
            </a:custGeom>
            <a:blipFill>
              <a:blip r:embed="rId4">
                <a:alphaModFix amt="0"/>
              </a:blip>
              <a:stretch>
                <a:fillRect l="0" t="-193604" r="0" b="-193605"/>
              </a:stretch>
            </a:blipFill>
          </p:spPr>
        </p:sp>
        <p:sp>
          <p:nvSpPr>
            <p:cNvPr name="TextBox 23" id="23"/>
            <p:cNvSpPr txBox="true"/>
            <p:nvPr/>
          </p:nvSpPr>
          <p:spPr>
            <a:xfrm>
              <a:off x="0" y="-38100"/>
              <a:ext cx="9144000" cy="769500"/>
            </a:xfrm>
            <a:prstGeom prst="rect">
              <a:avLst/>
            </a:prstGeom>
          </p:spPr>
          <p:txBody>
            <a:bodyPr anchor="ctr" rtlCol="false" tIns="0" lIns="0" bIns="0" rIns="0"/>
            <a:lstStyle/>
            <a:p>
              <a:pPr algn="l">
                <a:lnSpc>
                  <a:spcPts val="2160"/>
                </a:lnSpc>
              </a:pPr>
              <a:r>
                <a:rPr lang="en-US" b="true" sz="1800">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PU-2  Autenticación de usuarios (Login/Roles)</a:t>
              </a:r>
            </a:p>
          </p:txBody>
        </p:sp>
      </p:grpSp>
      <p:grpSp>
        <p:nvGrpSpPr>
          <p:cNvPr name="Group 24" id="24"/>
          <p:cNvGrpSpPr/>
          <p:nvPr/>
        </p:nvGrpSpPr>
        <p:grpSpPr>
          <a:xfrm rot="0">
            <a:off x="1303020" y="5980176"/>
            <a:ext cx="6858000" cy="548554"/>
            <a:chOff x="0" y="0"/>
            <a:chExt cx="9144000" cy="731406"/>
          </a:xfrm>
        </p:grpSpPr>
        <p:sp>
          <p:nvSpPr>
            <p:cNvPr name="Freeform 25" id="25"/>
            <p:cNvSpPr/>
            <p:nvPr/>
          </p:nvSpPr>
          <p:spPr>
            <a:xfrm flipH="false" flipV="false" rot="0">
              <a:off x="0" y="0"/>
              <a:ext cx="9144000" cy="731400"/>
            </a:xfrm>
            <a:custGeom>
              <a:avLst/>
              <a:gdLst/>
              <a:ahLst/>
              <a:cxnLst/>
              <a:rect r="r" b="b" t="t" l="l"/>
              <a:pathLst>
                <a:path h="731400" w="9144000">
                  <a:moveTo>
                    <a:pt x="0" y="0"/>
                  </a:moveTo>
                  <a:lnTo>
                    <a:pt x="9144000" y="0"/>
                  </a:lnTo>
                  <a:lnTo>
                    <a:pt x="9144000" y="731400"/>
                  </a:lnTo>
                  <a:lnTo>
                    <a:pt x="0" y="731400"/>
                  </a:lnTo>
                  <a:close/>
                </a:path>
              </a:pathLst>
            </a:custGeom>
            <a:blipFill>
              <a:blip r:embed="rId4">
                <a:alphaModFix amt="0"/>
              </a:blip>
              <a:stretch>
                <a:fillRect l="0" t="-193602" r="0" b="-193603"/>
              </a:stretch>
            </a:blipFill>
          </p:spPr>
        </p:sp>
        <p:sp>
          <p:nvSpPr>
            <p:cNvPr name="TextBox 26" id="26"/>
            <p:cNvSpPr txBox="true"/>
            <p:nvPr/>
          </p:nvSpPr>
          <p:spPr>
            <a:xfrm>
              <a:off x="0" y="-38100"/>
              <a:ext cx="9144000" cy="769506"/>
            </a:xfrm>
            <a:prstGeom prst="rect">
              <a:avLst/>
            </a:prstGeom>
          </p:spPr>
          <p:txBody>
            <a:bodyPr anchor="ctr" rtlCol="false" tIns="0" lIns="0" bIns="0" rIns="0"/>
            <a:lstStyle/>
            <a:p>
              <a:pPr algn="l">
                <a:lnSpc>
                  <a:spcPts val="2160"/>
                </a:lnSpc>
              </a:pPr>
              <a:r>
                <a:rPr lang="en-US" b="true" sz="1800">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PU-3  Gestión de productos (CRUD)</a:t>
              </a:r>
            </a:p>
          </p:txBody>
        </p:sp>
      </p:grpSp>
      <p:grpSp>
        <p:nvGrpSpPr>
          <p:cNvPr name="Group 27" id="27"/>
          <p:cNvGrpSpPr/>
          <p:nvPr/>
        </p:nvGrpSpPr>
        <p:grpSpPr>
          <a:xfrm rot="0">
            <a:off x="1303020" y="6638544"/>
            <a:ext cx="6858000" cy="548550"/>
            <a:chOff x="0" y="0"/>
            <a:chExt cx="9144000" cy="731400"/>
          </a:xfrm>
        </p:grpSpPr>
        <p:sp>
          <p:nvSpPr>
            <p:cNvPr name="Freeform 28" id="28"/>
            <p:cNvSpPr/>
            <p:nvPr/>
          </p:nvSpPr>
          <p:spPr>
            <a:xfrm flipH="false" flipV="false" rot="0">
              <a:off x="0" y="0"/>
              <a:ext cx="9144000" cy="731394"/>
            </a:xfrm>
            <a:custGeom>
              <a:avLst/>
              <a:gdLst/>
              <a:ahLst/>
              <a:cxnLst/>
              <a:rect r="r" b="b" t="t" l="l"/>
              <a:pathLst>
                <a:path h="731394" w="9144000">
                  <a:moveTo>
                    <a:pt x="0" y="0"/>
                  </a:moveTo>
                  <a:lnTo>
                    <a:pt x="9144000" y="0"/>
                  </a:lnTo>
                  <a:lnTo>
                    <a:pt x="9144000" y="731394"/>
                  </a:lnTo>
                  <a:lnTo>
                    <a:pt x="0" y="731394"/>
                  </a:lnTo>
                  <a:close/>
                </a:path>
              </a:pathLst>
            </a:custGeom>
            <a:blipFill>
              <a:blip r:embed="rId4">
                <a:alphaModFix amt="0"/>
              </a:blip>
              <a:stretch>
                <a:fillRect l="0" t="-193604" r="0" b="-193605"/>
              </a:stretch>
            </a:blipFill>
          </p:spPr>
        </p:sp>
        <p:sp>
          <p:nvSpPr>
            <p:cNvPr name="TextBox 29" id="29"/>
            <p:cNvSpPr txBox="true"/>
            <p:nvPr/>
          </p:nvSpPr>
          <p:spPr>
            <a:xfrm>
              <a:off x="0" y="-38100"/>
              <a:ext cx="9144000" cy="769500"/>
            </a:xfrm>
            <a:prstGeom prst="rect">
              <a:avLst/>
            </a:prstGeom>
          </p:spPr>
          <p:txBody>
            <a:bodyPr anchor="ctr" rtlCol="false" tIns="0" lIns="0" bIns="0" rIns="0"/>
            <a:lstStyle/>
            <a:p>
              <a:pPr algn="l">
                <a:lnSpc>
                  <a:spcPts val="2160"/>
                </a:lnSpc>
              </a:pPr>
              <a:r>
                <a:rPr lang="en-US" b="true" sz="1800">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PU-4  Gestión de ordenes de trabajo / servicios</a:t>
              </a:r>
            </a:p>
          </p:txBody>
        </p:sp>
      </p:grpSp>
      <p:grpSp>
        <p:nvGrpSpPr>
          <p:cNvPr name="Group 30" id="30"/>
          <p:cNvGrpSpPr/>
          <p:nvPr/>
        </p:nvGrpSpPr>
        <p:grpSpPr>
          <a:xfrm rot="0">
            <a:off x="1303020" y="7296912"/>
            <a:ext cx="6858000" cy="548550"/>
            <a:chOff x="0" y="0"/>
            <a:chExt cx="9144000" cy="731400"/>
          </a:xfrm>
        </p:grpSpPr>
        <p:sp>
          <p:nvSpPr>
            <p:cNvPr name="Freeform 31" id="31"/>
            <p:cNvSpPr/>
            <p:nvPr/>
          </p:nvSpPr>
          <p:spPr>
            <a:xfrm flipH="false" flipV="false" rot="0">
              <a:off x="0" y="0"/>
              <a:ext cx="9144000" cy="731394"/>
            </a:xfrm>
            <a:custGeom>
              <a:avLst/>
              <a:gdLst/>
              <a:ahLst/>
              <a:cxnLst/>
              <a:rect r="r" b="b" t="t" l="l"/>
              <a:pathLst>
                <a:path h="731394" w="9144000">
                  <a:moveTo>
                    <a:pt x="0" y="0"/>
                  </a:moveTo>
                  <a:lnTo>
                    <a:pt x="9144000" y="0"/>
                  </a:lnTo>
                  <a:lnTo>
                    <a:pt x="9144000" y="731394"/>
                  </a:lnTo>
                  <a:lnTo>
                    <a:pt x="0" y="731394"/>
                  </a:lnTo>
                  <a:close/>
                </a:path>
              </a:pathLst>
            </a:custGeom>
            <a:blipFill>
              <a:blip r:embed="rId4">
                <a:alphaModFix amt="0"/>
              </a:blip>
              <a:stretch>
                <a:fillRect l="0" t="-193604" r="0" b="-193605"/>
              </a:stretch>
            </a:blipFill>
          </p:spPr>
        </p:sp>
        <p:sp>
          <p:nvSpPr>
            <p:cNvPr name="TextBox 32" id="32"/>
            <p:cNvSpPr txBox="true"/>
            <p:nvPr/>
          </p:nvSpPr>
          <p:spPr>
            <a:xfrm>
              <a:off x="0" y="-38100"/>
              <a:ext cx="9144000" cy="769500"/>
            </a:xfrm>
            <a:prstGeom prst="rect">
              <a:avLst/>
            </a:prstGeom>
          </p:spPr>
          <p:txBody>
            <a:bodyPr anchor="ctr" rtlCol="false" tIns="0" lIns="0" bIns="0" rIns="0"/>
            <a:lstStyle/>
            <a:p>
              <a:pPr algn="l">
                <a:lnSpc>
                  <a:spcPts val="2160"/>
                </a:lnSpc>
              </a:pPr>
              <a:r>
                <a:rPr lang="en-US" b="true" sz="1800">
                  <a:solidFill>
                    <a:srgbClr val="39A900"/>
                  </a:solidFill>
                  <a:latin typeface="Calibri (MS) Bold"/>
                  <a:ea typeface="Calibri (MS) Bold"/>
                  <a:cs typeface="Calibri (MS) Bold"/>
                  <a:sym typeface="Calibri (MS) Bold"/>
                </a:rPr>
                <a:t>✓  </a:t>
              </a:r>
              <a:r>
                <a:rPr lang="en-US" sz="1800">
                  <a:solidFill>
                    <a:srgbClr val="22292E"/>
                  </a:solidFill>
                  <a:latin typeface="Calibri (MS)"/>
                  <a:ea typeface="Calibri (MS)"/>
                  <a:cs typeface="Calibri (MS)"/>
                  <a:sym typeface="Calibri (MS)"/>
                </a:rPr>
                <a:t>PU-5  Gestion de facturacion y cotizaciones</a:t>
              </a:r>
            </a:p>
          </p:txBody>
        </p:sp>
      </p:grpSp>
      <p:grpSp>
        <p:nvGrpSpPr>
          <p:cNvPr name="Group 33" id="33"/>
          <p:cNvGrpSpPr/>
          <p:nvPr/>
        </p:nvGrpSpPr>
        <p:grpSpPr>
          <a:xfrm rot="0">
            <a:off x="8915400" y="2468880"/>
            <a:ext cx="8545049" cy="6720754"/>
            <a:chOff x="0" y="0"/>
            <a:chExt cx="11393399" cy="8961006"/>
          </a:xfrm>
        </p:grpSpPr>
        <p:sp>
          <p:nvSpPr>
            <p:cNvPr name="Freeform 34" id="34"/>
            <p:cNvSpPr/>
            <p:nvPr/>
          </p:nvSpPr>
          <p:spPr>
            <a:xfrm flipH="false" flipV="false" rot="0">
              <a:off x="0" y="0"/>
              <a:ext cx="11393424" cy="8960993"/>
            </a:xfrm>
            <a:custGeom>
              <a:avLst/>
              <a:gdLst/>
              <a:ahLst/>
              <a:cxnLst/>
              <a:rect r="r" b="b" t="t" l="l"/>
              <a:pathLst>
                <a:path h="8960993" w="11393424">
                  <a:moveTo>
                    <a:pt x="0" y="146304"/>
                  </a:moveTo>
                  <a:cubicBezTo>
                    <a:pt x="0" y="65532"/>
                    <a:pt x="65532" y="0"/>
                    <a:pt x="146304" y="0"/>
                  </a:cubicBezTo>
                  <a:lnTo>
                    <a:pt x="11247120" y="0"/>
                  </a:lnTo>
                  <a:cubicBezTo>
                    <a:pt x="11327892" y="0"/>
                    <a:pt x="11393424" y="65532"/>
                    <a:pt x="11393424" y="146304"/>
                  </a:cubicBezTo>
                  <a:lnTo>
                    <a:pt x="11393424" y="8814689"/>
                  </a:lnTo>
                  <a:cubicBezTo>
                    <a:pt x="11393424" y="8895461"/>
                    <a:pt x="11327892" y="8960993"/>
                    <a:pt x="11247120" y="8960993"/>
                  </a:cubicBezTo>
                  <a:lnTo>
                    <a:pt x="146304" y="8960993"/>
                  </a:lnTo>
                  <a:cubicBezTo>
                    <a:pt x="65532" y="8960993"/>
                    <a:pt x="0" y="8895461"/>
                    <a:pt x="0" y="8814689"/>
                  </a:cubicBezTo>
                  <a:close/>
                </a:path>
              </a:pathLst>
            </a:custGeom>
            <a:solidFill>
              <a:srgbClr val="00304D"/>
            </a:solidFill>
          </p:spPr>
        </p:sp>
      </p:grpSp>
      <p:grpSp>
        <p:nvGrpSpPr>
          <p:cNvPr name="Group 35" id="35"/>
          <p:cNvGrpSpPr/>
          <p:nvPr/>
        </p:nvGrpSpPr>
        <p:grpSpPr>
          <a:xfrm rot="0">
            <a:off x="9395460" y="2880360"/>
            <a:ext cx="891454" cy="891454"/>
            <a:chOff x="0" y="0"/>
            <a:chExt cx="1188606" cy="1188606"/>
          </a:xfrm>
        </p:grpSpPr>
        <p:sp>
          <p:nvSpPr>
            <p:cNvPr name="Freeform 36" id="36"/>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FDC300"/>
            </a:solidFill>
          </p:spPr>
        </p:sp>
      </p:grpSp>
      <p:grpSp>
        <p:nvGrpSpPr>
          <p:cNvPr name="Group 37" id="37"/>
          <p:cNvGrpSpPr/>
          <p:nvPr/>
        </p:nvGrpSpPr>
        <p:grpSpPr>
          <a:xfrm rot="0">
            <a:off x="9627260" y="3112160"/>
            <a:ext cx="427939" cy="427939"/>
            <a:chOff x="0" y="0"/>
            <a:chExt cx="570586" cy="570586"/>
          </a:xfrm>
        </p:grpSpPr>
        <p:sp>
          <p:nvSpPr>
            <p:cNvPr name="Freeform 38" id="38" descr="icons/check.png"/>
            <p:cNvSpPr/>
            <p:nvPr/>
          </p:nvSpPr>
          <p:spPr>
            <a:xfrm flipH="false" flipV="false" rot="0">
              <a:off x="0" y="0"/>
              <a:ext cx="570611" cy="570611"/>
            </a:xfrm>
            <a:custGeom>
              <a:avLst/>
              <a:gdLst/>
              <a:ahLst/>
              <a:cxnLst/>
              <a:rect r="r" b="b" t="t" l="l"/>
              <a:pathLst>
                <a:path h="570611" w="570611">
                  <a:moveTo>
                    <a:pt x="0" y="0"/>
                  </a:moveTo>
                  <a:lnTo>
                    <a:pt x="570611" y="0"/>
                  </a:lnTo>
                  <a:lnTo>
                    <a:pt x="570611" y="570611"/>
                  </a:lnTo>
                  <a:lnTo>
                    <a:pt x="0" y="570611"/>
                  </a:lnTo>
                  <a:lnTo>
                    <a:pt x="0" y="0"/>
                  </a:lnTo>
                  <a:close/>
                </a:path>
              </a:pathLst>
            </a:custGeom>
            <a:blipFill>
              <a:blip r:embed="rId6"/>
              <a:stretch>
                <a:fillRect l="0" t="0" r="4" b="4"/>
              </a:stretch>
            </a:blipFill>
          </p:spPr>
        </p:sp>
      </p:grpSp>
      <p:grpSp>
        <p:nvGrpSpPr>
          <p:cNvPr name="Group 39" id="39"/>
          <p:cNvGrpSpPr/>
          <p:nvPr/>
        </p:nvGrpSpPr>
        <p:grpSpPr>
          <a:xfrm rot="0">
            <a:off x="10492740" y="3017520"/>
            <a:ext cx="5486400" cy="548550"/>
            <a:chOff x="0" y="0"/>
            <a:chExt cx="7315200" cy="731400"/>
          </a:xfrm>
        </p:grpSpPr>
        <p:sp>
          <p:nvSpPr>
            <p:cNvPr name="Freeform 40" id="40"/>
            <p:cNvSpPr/>
            <p:nvPr/>
          </p:nvSpPr>
          <p:spPr>
            <a:xfrm flipH="false" flipV="false" rot="0">
              <a:off x="0" y="0"/>
              <a:ext cx="7315200" cy="731394"/>
            </a:xfrm>
            <a:custGeom>
              <a:avLst/>
              <a:gdLst/>
              <a:ahLst/>
              <a:cxnLst/>
              <a:rect r="r" b="b" t="t" l="l"/>
              <a:pathLst>
                <a:path h="731394" w="7315200">
                  <a:moveTo>
                    <a:pt x="0" y="0"/>
                  </a:moveTo>
                  <a:lnTo>
                    <a:pt x="7315200" y="0"/>
                  </a:lnTo>
                  <a:lnTo>
                    <a:pt x="7315200" y="731394"/>
                  </a:lnTo>
                  <a:lnTo>
                    <a:pt x="0" y="731394"/>
                  </a:lnTo>
                  <a:close/>
                </a:path>
              </a:pathLst>
            </a:custGeom>
            <a:blipFill>
              <a:blip r:embed="rId4">
                <a:alphaModFix amt="0"/>
              </a:blip>
              <a:stretch>
                <a:fillRect l="0" t="-144883" r="0" b="-144884"/>
              </a:stretch>
            </a:blipFill>
          </p:spPr>
        </p:sp>
        <p:sp>
          <p:nvSpPr>
            <p:cNvPr name="TextBox 41" id="41"/>
            <p:cNvSpPr txBox="true"/>
            <p:nvPr/>
          </p:nvSpPr>
          <p:spPr>
            <a:xfrm>
              <a:off x="0" y="-47625"/>
              <a:ext cx="7315200" cy="779025"/>
            </a:xfrm>
            <a:prstGeom prst="rect">
              <a:avLst/>
            </a:prstGeom>
          </p:spPr>
          <p:txBody>
            <a:bodyPr anchor="ctr" rtlCol="false" tIns="0" lIns="0" bIns="0" rIns="0"/>
            <a:lstStyle/>
            <a:p>
              <a:pPr algn="l">
                <a:lnSpc>
                  <a:spcPts val="3060"/>
                </a:lnSpc>
              </a:pPr>
              <a:r>
                <a:rPr lang="en-US" b="true" sz="2550">
                  <a:solidFill>
                    <a:srgbClr val="FFFFFF"/>
                  </a:solidFill>
                  <a:latin typeface="Calibri (MS) Bold"/>
                  <a:ea typeface="Calibri (MS) Bold"/>
                  <a:cs typeface="Calibri (MS) Bold"/>
                  <a:sym typeface="Calibri (MS) Bold"/>
                </a:rPr>
                <a:t>Caja negra (Selenium/TestNG)</a:t>
              </a:r>
            </a:p>
          </p:txBody>
        </p:sp>
      </p:grpSp>
      <p:grpSp>
        <p:nvGrpSpPr>
          <p:cNvPr name="Group 42" id="42"/>
          <p:cNvGrpSpPr/>
          <p:nvPr/>
        </p:nvGrpSpPr>
        <p:grpSpPr>
          <a:xfrm rot="0">
            <a:off x="9395460" y="3771900"/>
            <a:ext cx="7681046" cy="1028700"/>
            <a:chOff x="0" y="0"/>
            <a:chExt cx="10241394" cy="1371600"/>
          </a:xfrm>
        </p:grpSpPr>
        <p:sp>
          <p:nvSpPr>
            <p:cNvPr name="Freeform 43" id="43"/>
            <p:cNvSpPr/>
            <p:nvPr/>
          </p:nvSpPr>
          <p:spPr>
            <a:xfrm flipH="false" flipV="false" rot="0">
              <a:off x="0" y="0"/>
              <a:ext cx="10241400" cy="1371600"/>
            </a:xfrm>
            <a:custGeom>
              <a:avLst/>
              <a:gdLst/>
              <a:ahLst/>
              <a:cxnLst/>
              <a:rect r="r" b="b" t="t" l="l"/>
              <a:pathLst>
                <a:path h="1371600" w="10241400">
                  <a:moveTo>
                    <a:pt x="0" y="0"/>
                  </a:moveTo>
                  <a:lnTo>
                    <a:pt x="10241400" y="0"/>
                  </a:lnTo>
                  <a:lnTo>
                    <a:pt x="10241400" y="1371600"/>
                  </a:lnTo>
                  <a:lnTo>
                    <a:pt x="0" y="1371600"/>
                  </a:lnTo>
                  <a:close/>
                </a:path>
              </a:pathLst>
            </a:custGeom>
            <a:blipFill>
              <a:blip r:embed="rId4">
                <a:alphaModFix amt="0"/>
              </a:blip>
              <a:stretch>
                <a:fillRect l="0" t="-95489" r="0" b="-95489"/>
              </a:stretch>
            </a:blipFill>
          </p:spPr>
        </p:sp>
        <p:sp>
          <p:nvSpPr>
            <p:cNvPr name="TextBox 44" id="44"/>
            <p:cNvSpPr txBox="true"/>
            <p:nvPr/>
          </p:nvSpPr>
          <p:spPr>
            <a:xfrm>
              <a:off x="0" y="-38100"/>
              <a:ext cx="10241394" cy="1409700"/>
            </a:xfrm>
            <a:prstGeom prst="rect">
              <a:avLst/>
            </a:prstGeom>
          </p:spPr>
          <p:txBody>
            <a:bodyPr anchor="ctr" rtlCol="false" tIns="0" lIns="0" bIns="0" rIns="0"/>
            <a:lstStyle/>
            <a:p>
              <a:pPr algn="l">
                <a:lnSpc>
                  <a:spcPts val="2160"/>
                </a:lnSpc>
              </a:pPr>
              <a:r>
                <a:rPr lang="en-US" sz="1800">
                  <a:solidFill>
                    <a:srgbClr val="E4EEF3"/>
                  </a:solidFill>
                  <a:latin typeface="Calibri (MS)"/>
                  <a:ea typeface="Calibri (MS)"/>
                  <a:cs typeface="Calibri (MS)"/>
                  <a:sym typeface="Calibri (MS)"/>
                </a:rPr>
                <a:t>Se navega el sistema como lo haría un usuario real, verificando que cada requisito funcional (REQ) se cumpla sin mirar el código.</a:t>
              </a:r>
            </a:p>
          </p:txBody>
        </p:sp>
      </p:grpSp>
      <p:grpSp>
        <p:nvGrpSpPr>
          <p:cNvPr name="Group 45" id="45"/>
          <p:cNvGrpSpPr/>
          <p:nvPr/>
        </p:nvGrpSpPr>
        <p:grpSpPr>
          <a:xfrm rot="0">
            <a:off x="9395460" y="5074920"/>
            <a:ext cx="7681046" cy="548554"/>
            <a:chOff x="0" y="0"/>
            <a:chExt cx="10241394" cy="731406"/>
          </a:xfrm>
        </p:grpSpPr>
        <p:sp>
          <p:nvSpPr>
            <p:cNvPr name="Freeform 46" id="46"/>
            <p:cNvSpPr/>
            <p:nvPr/>
          </p:nvSpPr>
          <p:spPr>
            <a:xfrm flipH="false" flipV="false" rot="0">
              <a:off x="0" y="0"/>
              <a:ext cx="10241400" cy="731400"/>
            </a:xfrm>
            <a:custGeom>
              <a:avLst/>
              <a:gdLst/>
              <a:ahLst/>
              <a:cxnLst/>
              <a:rect r="r" b="b" t="t" l="l"/>
              <a:pathLst>
                <a:path h="731400" w="10241400">
                  <a:moveTo>
                    <a:pt x="0" y="0"/>
                  </a:moveTo>
                  <a:lnTo>
                    <a:pt x="10241400" y="0"/>
                  </a:lnTo>
                  <a:lnTo>
                    <a:pt x="10241400" y="731400"/>
                  </a:lnTo>
                  <a:lnTo>
                    <a:pt x="0" y="731400"/>
                  </a:lnTo>
                  <a:close/>
                </a:path>
              </a:pathLst>
            </a:custGeom>
            <a:blipFill>
              <a:blip r:embed="rId4">
                <a:alphaModFix amt="0"/>
              </a:blip>
              <a:stretch>
                <a:fillRect l="0" t="-222837" r="0" b="-222838"/>
              </a:stretch>
            </a:blipFill>
          </p:spPr>
        </p:sp>
        <p:sp>
          <p:nvSpPr>
            <p:cNvPr name="TextBox 47" id="47"/>
            <p:cNvSpPr txBox="true"/>
            <p:nvPr/>
          </p:nvSpPr>
          <p:spPr>
            <a:xfrm>
              <a:off x="0" y="-38100"/>
              <a:ext cx="10241394" cy="769506"/>
            </a:xfrm>
            <a:prstGeom prst="rect">
              <a:avLst/>
            </a:prstGeom>
          </p:spPr>
          <p:txBody>
            <a:bodyPr anchor="ctr" rtlCol="false" tIns="0" lIns="0" bIns="0" rIns="0"/>
            <a:lstStyle/>
            <a:p>
              <a:pPr algn="l">
                <a:lnSpc>
                  <a:spcPts val="2160"/>
                </a:lnSpc>
              </a:pPr>
              <a:r>
                <a:rPr lang="en-US" b="true" sz="1800">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Registro e inicio de sesión</a:t>
              </a:r>
            </a:p>
          </p:txBody>
        </p:sp>
      </p:grpSp>
      <p:grpSp>
        <p:nvGrpSpPr>
          <p:cNvPr name="Group 48" id="48"/>
          <p:cNvGrpSpPr/>
          <p:nvPr/>
        </p:nvGrpSpPr>
        <p:grpSpPr>
          <a:xfrm rot="0">
            <a:off x="9395460" y="5733288"/>
            <a:ext cx="7681046" cy="548550"/>
            <a:chOff x="0" y="0"/>
            <a:chExt cx="10241394" cy="731400"/>
          </a:xfrm>
        </p:grpSpPr>
        <p:sp>
          <p:nvSpPr>
            <p:cNvPr name="Freeform 49" id="49"/>
            <p:cNvSpPr/>
            <p:nvPr/>
          </p:nvSpPr>
          <p:spPr>
            <a:xfrm flipH="false" flipV="false" rot="0">
              <a:off x="0" y="0"/>
              <a:ext cx="10241400" cy="731394"/>
            </a:xfrm>
            <a:custGeom>
              <a:avLst/>
              <a:gdLst/>
              <a:ahLst/>
              <a:cxnLst/>
              <a:rect r="r" b="b" t="t" l="l"/>
              <a:pathLst>
                <a:path h="731394" w="10241400">
                  <a:moveTo>
                    <a:pt x="0" y="0"/>
                  </a:moveTo>
                  <a:lnTo>
                    <a:pt x="10241400" y="0"/>
                  </a:lnTo>
                  <a:lnTo>
                    <a:pt x="10241400" y="731394"/>
                  </a:lnTo>
                  <a:lnTo>
                    <a:pt x="0" y="731394"/>
                  </a:lnTo>
                  <a:close/>
                </a:path>
              </a:pathLst>
            </a:custGeom>
            <a:blipFill>
              <a:blip r:embed="rId4">
                <a:alphaModFix amt="0"/>
              </a:blip>
              <a:stretch>
                <a:fillRect l="0" t="-222839" r="0" b="-222841"/>
              </a:stretch>
            </a:blipFill>
          </p:spPr>
        </p:sp>
        <p:sp>
          <p:nvSpPr>
            <p:cNvPr name="TextBox 50" id="50"/>
            <p:cNvSpPr txBox="true"/>
            <p:nvPr/>
          </p:nvSpPr>
          <p:spPr>
            <a:xfrm>
              <a:off x="0" y="-38100"/>
              <a:ext cx="10241394" cy="769500"/>
            </a:xfrm>
            <a:prstGeom prst="rect">
              <a:avLst/>
            </a:prstGeom>
          </p:spPr>
          <p:txBody>
            <a:bodyPr anchor="ctr" rtlCol="false" tIns="0" lIns="0" bIns="0" rIns="0"/>
            <a:lstStyle/>
            <a:p>
              <a:pPr algn="l">
                <a:lnSpc>
                  <a:spcPts val="2160"/>
                </a:lnSpc>
              </a:pPr>
              <a:r>
                <a:rPr lang="en-US" b="true" sz="1800">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Búsqueda y filtros de servicios/productos en el catálogo</a:t>
              </a:r>
            </a:p>
          </p:txBody>
        </p:sp>
      </p:grpSp>
      <p:grpSp>
        <p:nvGrpSpPr>
          <p:cNvPr name="Group 51" id="51"/>
          <p:cNvGrpSpPr/>
          <p:nvPr/>
        </p:nvGrpSpPr>
        <p:grpSpPr>
          <a:xfrm rot="0">
            <a:off x="9395460" y="6391656"/>
            <a:ext cx="7681046" cy="548550"/>
            <a:chOff x="0" y="0"/>
            <a:chExt cx="10241394" cy="731400"/>
          </a:xfrm>
        </p:grpSpPr>
        <p:sp>
          <p:nvSpPr>
            <p:cNvPr name="Freeform 52" id="52"/>
            <p:cNvSpPr/>
            <p:nvPr/>
          </p:nvSpPr>
          <p:spPr>
            <a:xfrm flipH="false" flipV="false" rot="0">
              <a:off x="0" y="0"/>
              <a:ext cx="10241400" cy="731394"/>
            </a:xfrm>
            <a:custGeom>
              <a:avLst/>
              <a:gdLst/>
              <a:ahLst/>
              <a:cxnLst/>
              <a:rect r="r" b="b" t="t" l="l"/>
              <a:pathLst>
                <a:path h="731394" w="10241400">
                  <a:moveTo>
                    <a:pt x="0" y="0"/>
                  </a:moveTo>
                  <a:lnTo>
                    <a:pt x="10241400" y="0"/>
                  </a:lnTo>
                  <a:lnTo>
                    <a:pt x="10241400" y="731394"/>
                  </a:lnTo>
                  <a:lnTo>
                    <a:pt x="0" y="731394"/>
                  </a:lnTo>
                  <a:close/>
                </a:path>
              </a:pathLst>
            </a:custGeom>
            <a:blipFill>
              <a:blip r:embed="rId4">
                <a:alphaModFix amt="0"/>
              </a:blip>
              <a:stretch>
                <a:fillRect l="0" t="-222839" r="0" b="-222841"/>
              </a:stretch>
            </a:blipFill>
          </p:spPr>
        </p:sp>
        <p:sp>
          <p:nvSpPr>
            <p:cNvPr name="TextBox 53" id="53"/>
            <p:cNvSpPr txBox="true"/>
            <p:nvPr/>
          </p:nvSpPr>
          <p:spPr>
            <a:xfrm>
              <a:off x="0" y="-38100"/>
              <a:ext cx="10241394" cy="769500"/>
            </a:xfrm>
            <a:prstGeom prst="rect">
              <a:avLst/>
            </a:prstGeom>
          </p:spPr>
          <p:txBody>
            <a:bodyPr anchor="ctr" rtlCol="false" tIns="0" lIns="0" bIns="0" rIns="0"/>
            <a:lstStyle/>
            <a:p>
              <a:pPr algn="l">
                <a:lnSpc>
                  <a:spcPts val="2160"/>
                </a:lnSpc>
              </a:pPr>
              <a:r>
                <a:rPr lang="en-US" b="true" sz="1800">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Agendamiento de citas y creación de orden de trabajo</a:t>
              </a:r>
            </a:p>
          </p:txBody>
        </p:sp>
      </p:grpSp>
      <p:grpSp>
        <p:nvGrpSpPr>
          <p:cNvPr name="Group 54" id="54"/>
          <p:cNvGrpSpPr/>
          <p:nvPr/>
        </p:nvGrpSpPr>
        <p:grpSpPr>
          <a:xfrm rot="0">
            <a:off x="9395460" y="7708392"/>
            <a:ext cx="7681046" cy="548550"/>
            <a:chOff x="0" y="0"/>
            <a:chExt cx="10241394" cy="731400"/>
          </a:xfrm>
        </p:grpSpPr>
        <p:sp>
          <p:nvSpPr>
            <p:cNvPr name="Freeform 55" id="55"/>
            <p:cNvSpPr/>
            <p:nvPr/>
          </p:nvSpPr>
          <p:spPr>
            <a:xfrm flipH="false" flipV="false" rot="0">
              <a:off x="0" y="0"/>
              <a:ext cx="10241400" cy="731394"/>
            </a:xfrm>
            <a:custGeom>
              <a:avLst/>
              <a:gdLst/>
              <a:ahLst/>
              <a:cxnLst/>
              <a:rect r="r" b="b" t="t" l="l"/>
              <a:pathLst>
                <a:path h="731394" w="10241400">
                  <a:moveTo>
                    <a:pt x="0" y="0"/>
                  </a:moveTo>
                  <a:lnTo>
                    <a:pt x="10241400" y="0"/>
                  </a:lnTo>
                  <a:lnTo>
                    <a:pt x="10241400" y="731394"/>
                  </a:lnTo>
                  <a:lnTo>
                    <a:pt x="0" y="731394"/>
                  </a:lnTo>
                  <a:close/>
                </a:path>
              </a:pathLst>
            </a:custGeom>
            <a:blipFill>
              <a:blip r:embed="rId4">
                <a:alphaModFix amt="0"/>
              </a:blip>
              <a:stretch>
                <a:fillRect l="0" t="-222839" r="0" b="-222841"/>
              </a:stretch>
            </a:blipFill>
          </p:spPr>
        </p:sp>
        <p:sp>
          <p:nvSpPr>
            <p:cNvPr name="TextBox 56" id="56"/>
            <p:cNvSpPr txBox="true"/>
            <p:nvPr/>
          </p:nvSpPr>
          <p:spPr>
            <a:xfrm>
              <a:off x="0" y="-38100"/>
              <a:ext cx="10241394" cy="769500"/>
            </a:xfrm>
            <a:prstGeom prst="rect">
              <a:avLst/>
            </a:prstGeom>
          </p:spPr>
          <p:txBody>
            <a:bodyPr anchor="ctr" rtlCol="false" tIns="0" lIns="0" bIns="0" rIns="0"/>
            <a:lstStyle/>
            <a:p>
              <a:pPr algn="l">
                <a:lnSpc>
                  <a:spcPts val="2160"/>
                </a:lnSpc>
              </a:pPr>
              <a:r>
                <a:rPr lang="en-US" b="true" sz="1800">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Panel administrativo, pedidos y facturas</a:t>
              </a:r>
            </a:p>
          </p:txBody>
        </p:sp>
      </p:grpSp>
      <p:grpSp>
        <p:nvGrpSpPr>
          <p:cNvPr name="Group 57" id="57"/>
          <p:cNvGrpSpPr/>
          <p:nvPr/>
        </p:nvGrpSpPr>
        <p:grpSpPr>
          <a:xfrm rot="0">
            <a:off x="9395460" y="7054510"/>
            <a:ext cx="7681046" cy="548550"/>
            <a:chOff x="0" y="0"/>
            <a:chExt cx="10241394" cy="731400"/>
          </a:xfrm>
        </p:grpSpPr>
        <p:sp>
          <p:nvSpPr>
            <p:cNvPr name="Freeform 58" id="58"/>
            <p:cNvSpPr/>
            <p:nvPr/>
          </p:nvSpPr>
          <p:spPr>
            <a:xfrm flipH="false" flipV="false" rot="0">
              <a:off x="0" y="0"/>
              <a:ext cx="10241400" cy="731394"/>
            </a:xfrm>
            <a:custGeom>
              <a:avLst/>
              <a:gdLst/>
              <a:ahLst/>
              <a:cxnLst/>
              <a:rect r="r" b="b" t="t" l="l"/>
              <a:pathLst>
                <a:path h="731394" w="10241400">
                  <a:moveTo>
                    <a:pt x="0" y="0"/>
                  </a:moveTo>
                  <a:lnTo>
                    <a:pt x="10241400" y="0"/>
                  </a:lnTo>
                  <a:lnTo>
                    <a:pt x="10241400" y="731394"/>
                  </a:lnTo>
                  <a:lnTo>
                    <a:pt x="0" y="731394"/>
                  </a:lnTo>
                  <a:close/>
                </a:path>
              </a:pathLst>
            </a:custGeom>
            <a:blipFill>
              <a:blip r:embed="rId4">
                <a:alphaModFix amt="0"/>
              </a:blip>
              <a:stretch>
                <a:fillRect l="0" t="-222839" r="0" b="-222841"/>
              </a:stretch>
            </a:blipFill>
          </p:spPr>
        </p:sp>
        <p:sp>
          <p:nvSpPr>
            <p:cNvPr name="TextBox 59" id="59"/>
            <p:cNvSpPr txBox="true"/>
            <p:nvPr/>
          </p:nvSpPr>
          <p:spPr>
            <a:xfrm>
              <a:off x="0" y="-38100"/>
              <a:ext cx="10241394" cy="769500"/>
            </a:xfrm>
            <a:prstGeom prst="rect">
              <a:avLst/>
            </a:prstGeom>
          </p:spPr>
          <p:txBody>
            <a:bodyPr anchor="ctr" rtlCol="false" tIns="0" lIns="0" bIns="0" rIns="0"/>
            <a:lstStyle/>
            <a:p>
              <a:pPr algn="l">
                <a:lnSpc>
                  <a:spcPts val="2160"/>
                </a:lnSpc>
              </a:pPr>
              <a:r>
                <a:rPr lang="en-US" b="true" sz="1800">
                  <a:solidFill>
                    <a:srgbClr val="FDC300"/>
                  </a:solidFill>
                  <a:latin typeface="Calibri (MS) Bold"/>
                  <a:ea typeface="Calibri (MS) Bold"/>
                  <a:cs typeface="Calibri (MS) Bold"/>
                  <a:sym typeface="Calibri (MS) Bold"/>
                </a:rPr>
                <a:t>✓  </a:t>
              </a:r>
              <a:r>
                <a:rPr lang="en-US" sz="1800">
                  <a:solidFill>
                    <a:srgbClr val="FFFFFF"/>
                  </a:solidFill>
                  <a:latin typeface="Calibri (MS)"/>
                  <a:ea typeface="Calibri (MS)"/>
                  <a:cs typeface="Calibri (MS)"/>
                  <a:sym typeface="Calibri (MS)"/>
                </a:rPr>
                <a:t>Gestión de inventario y precios (panel admin)</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822960" y="987552"/>
            <a:ext cx="16184699" cy="1165946"/>
            <a:chOff x="0" y="0"/>
            <a:chExt cx="21579599" cy="1554594"/>
          </a:xfrm>
        </p:grpSpPr>
        <p:sp>
          <p:nvSpPr>
            <p:cNvPr name="Freeform 4" id="4"/>
            <p:cNvSpPr/>
            <p:nvPr/>
          </p:nvSpPr>
          <p:spPr>
            <a:xfrm flipH="false" flipV="false" rot="0">
              <a:off x="0" y="0"/>
              <a:ext cx="21579601" cy="1554600"/>
            </a:xfrm>
            <a:custGeom>
              <a:avLst/>
              <a:gdLst/>
              <a:ahLst/>
              <a:cxnLst/>
              <a:rect r="r" b="b" t="t" l="l"/>
              <a:pathLst>
                <a:path h="1554600" w="21579601">
                  <a:moveTo>
                    <a:pt x="0" y="0"/>
                  </a:moveTo>
                  <a:lnTo>
                    <a:pt x="21579601" y="0"/>
                  </a:lnTo>
                  <a:lnTo>
                    <a:pt x="21579601" y="1554600"/>
                  </a:lnTo>
                  <a:lnTo>
                    <a:pt x="0" y="1554600"/>
                  </a:lnTo>
                  <a:close/>
                </a:path>
              </a:pathLst>
            </a:custGeom>
            <a:blipFill>
              <a:blip r:embed="rId4">
                <a:alphaModFix amt="0"/>
              </a:blip>
              <a:stretch>
                <a:fillRect l="0" t="-220474" r="0" b="-220474"/>
              </a:stretch>
            </a:blipFill>
          </p:spPr>
        </p:sp>
        <p:sp>
          <p:nvSpPr>
            <p:cNvPr name="TextBox 5" id="5"/>
            <p:cNvSpPr txBox="true"/>
            <p:nvPr/>
          </p:nvSpPr>
          <p:spPr>
            <a:xfrm>
              <a:off x="0" y="0"/>
              <a:ext cx="21579599" cy="1554594"/>
            </a:xfrm>
            <a:prstGeom prst="rect">
              <a:avLst/>
            </a:prstGeom>
          </p:spPr>
          <p:txBody>
            <a:bodyPr anchor="ctr" rtlCol="false" tIns="0" lIns="0" bIns="0" rIns="0"/>
            <a:lstStyle/>
            <a:p>
              <a:pPr algn="l">
                <a:lnSpc>
                  <a:spcPts val="6480"/>
                </a:lnSpc>
              </a:pPr>
              <a:r>
                <a:rPr lang="en-US" b="true" sz="5400">
                  <a:solidFill>
                    <a:srgbClr val="38AA00"/>
                  </a:solidFill>
                  <a:latin typeface="Work Sans Bold"/>
                  <a:ea typeface="Work Sans Bold"/>
                  <a:cs typeface="Work Sans Bold"/>
                  <a:sym typeface="Work Sans Bold"/>
                </a:rPr>
                <a:t>Conclusiones</a:t>
              </a:r>
            </a:p>
          </p:txBody>
        </p:sp>
      </p:grpSp>
      <p:grpSp>
        <p:nvGrpSpPr>
          <p:cNvPr name="Group 6" id="6"/>
          <p:cNvGrpSpPr/>
          <p:nvPr/>
        </p:nvGrpSpPr>
        <p:grpSpPr>
          <a:xfrm rot="0">
            <a:off x="9144000" y="5074920"/>
            <a:ext cx="7715250" cy="2125799"/>
            <a:chOff x="0" y="0"/>
            <a:chExt cx="10287000" cy="2834399"/>
          </a:xfrm>
        </p:grpSpPr>
        <p:sp>
          <p:nvSpPr>
            <p:cNvPr name="Freeform 7" id="7"/>
            <p:cNvSpPr/>
            <p:nvPr/>
          </p:nvSpPr>
          <p:spPr>
            <a:xfrm flipH="false" flipV="false" rot="0">
              <a:off x="0" y="0"/>
              <a:ext cx="10287000" cy="2834386"/>
            </a:xfrm>
            <a:custGeom>
              <a:avLst/>
              <a:gdLst/>
              <a:ahLst/>
              <a:cxnLst/>
              <a:rect r="r" b="b" t="t" l="l"/>
              <a:pathLst>
                <a:path h="2834386" w="10287000">
                  <a:moveTo>
                    <a:pt x="0" y="146304"/>
                  </a:moveTo>
                  <a:cubicBezTo>
                    <a:pt x="0" y="65532"/>
                    <a:pt x="65532" y="0"/>
                    <a:pt x="146304" y="0"/>
                  </a:cubicBezTo>
                  <a:lnTo>
                    <a:pt x="10140696" y="0"/>
                  </a:lnTo>
                  <a:cubicBezTo>
                    <a:pt x="10221468" y="0"/>
                    <a:pt x="10287000" y="65532"/>
                    <a:pt x="10287000" y="146304"/>
                  </a:cubicBezTo>
                  <a:lnTo>
                    <a:pt x="10287000" y="2688082"/>
                  </a:lnTo>
                  <a:cubicBezTo>
                    <a:pt x="10287000" y="2768854"/>
                    <a:pt x="10221468" y="2834386"/>
                    <a:pt x="10140696" y="2834386"/>
                  </a:cubicBezTo>
                  <a:lnTo>
                    <a:pt x="146304" y="2834386"/>
                  </a:lnTo>
                  <a:cubicBezTo>
                    <a:pt x="65532" y="2834386"/>
                    <a:pt x="0" y="2768854"/>
                    <a:pt x="0" y="2688082"/>
                  </a:cubicBezTo>
                  <a:close/>
                </a:path>
              </a:pathLst>
            </a:custGeom>
            <a:solidFill>
              <a:srgbClr val="F6F6F6"/>
            </a:solidFill>
          </p:spPr>
        </p:sp>
      </p:grpSp>
      <p:grpSp>
        <p:nvGrpSpPr>
          <p:cNvPr name="Group 8" id="8"/>
          <p:cNvGrpSpPr/>
          <p:nvPr/>
        </p:nvGrpSpPr>
        <p:grpSpPr>
          <a:xfrm rot="0">
            <a:off x="9418320" y="5692140"/>
            <a:ext cx="891454" cy="891454"/>
            <a:chOff x="0" y="0"/>
            <a:chExt cx="1188606" cy="1188606"/>
          </a:xfrm>
        </p:grpSpPr>
        <p:sp>
          <p:nvSpPr>
            <p:cNvPr name="Freeform 9" id="9"/>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sp>
      </p:grpSp>
      <p:grpSp>
        <p:nvGrpSpPr>
          <p:cNvPr name="Group 10" id="10"/>
          <p:cNvGrpSpPr/>
          <p:nvPr/>
        </p:nvGrpSpPr>
        <p:grpSpPr>
          <a:xfrm rot="0">
            <a:off x="9650120" y="5923940"/>
            <a:ext cx="427939" cy="427939"/>
            <a:chOff x="0" y="0"/>
            <a:chExt cx="570586" cy="570586"/>
          </a:xfrm>
        </p:grpSpPr>
        <p:sp>
          <p:nvSpPr>
            <p:cNvPr name="Freeform 11" id="11" descr="icons/check.png"/>
            <p:cNvSpPr/>
            <p:nvPr/>
          </p:nvSpPr>
          <p:spPr>
            <a:xfrm flipH="false" flipV="false" rot="0">
              <a:off x="0" y="0"/>
              <a:ext cx="570611" cy="570611"/>
            </a:xfrm>
            <a:custGeom>
              <a:avLst/>
              <a:gdLst/>
              <a:ahLst/>
              <a:cxnLst/>
              <a:rect r="r" b="b" t="t" l="l"/>
              <a:pathLst>
                <a:path h="570611" w="570611">
                  <a:moveTo>
                    <a:pt x="0" y="0"/>
                  </a:moveTo>
                  <a:lnTo>
                    <a:pt x="570611" y="0"/>
                  </a:lnTo>
                  <a:lnTo>
                    <a:pt x="570611" y="570611"/>
                  </a:lnTo>
                  <a:lnTo>
                    <a:pt x="0" y="570611"/>
                  </a:lnTo>
                  <a:lnTo>
                    <a:pt x="0" y="0"/>
                  </a:lnTo>
                  <a:close/>
                </a:path>
              </a:pathLst>
            </a:custGeom>
            <a:blipFill>
              <a:blip r:embed="rId5"/>
              <a:stretch>
                <a:fillRect l="0" t="0" r="4" b="4"/>
              </a:stretch>
            </a:blipFill>
          </p:spPr>
        </p:sp>
      </p:grpSp>
      <p:grpSp>
        <p:nvGrpSpPr>
          <p:cNvPr name="Group 12" id="12"/>
          <p:cNvGrpSpPr/>
          <p:nvPr/>
        </p:nvGrpSpPr>
        <p:grpSpPr>
          <a:xfrm rot="0">
            <a:off x="10584180" y="5321808"/>
            <a:ext cx="6069149" cy="480146"/>
            <a:chOff x="0" y="0"/>
            <a:chExt cx="8092199" cy="640194"/>
          </a:xfrm>
        </p:grpSpPr>
        <p:sp>
          <p:nvSpPr>
            <p:cNvPr name="Freeform 13" id="13"/>
            <p:cNvSpPr/>
            <p:nvPr/>
          </p:nvSpPr>
          <p:spPr>
            <a:xfrm flipH="false" flipV="false" rot="0">
              <a:off x="0" y="0"/>
              <a:ext cx="8092200" cy="640200"/>
            </a:xfrm>
            <a:custGeom>
              <a:avLst/>
              <a:gdLst/>
              <a:ahLst/>
              <a:cxnLst/>
              <a:rect r="r" b="b" t="t" l="l"/>
              <a:pathLst>
                <a:path h="640200" w="8092200">
                  <a:moveTo>
                    <a:pt x="0" y="0"/>
                  </a:moveTo>
                  <a:lnTo>
                    <a:pt x="8092200" y="0"/>
                  </a:lnTo>
                  <a:lnTo>
                    <a:pt x="8092200" y="640200"/>
                  </a:lnTo>
                  <a:lnTo>
                    <a:pt x="0" y="640200"/>
                  </a:lnTo>
                  <a:close/>
                </a:path>
              </a:pathLst>
            </a:custGeom>
            <a:blipFill>
              <a:blip r:embed="rId4">
                <a:alphaModFix amt="0"/>
              </a:blip>
              <a:stretch>
                <a:fillRect l="0" t="-196293" r="0" b="-196292"/>
              </a:stretch>
            </a:blipFill>
          </p:spPr>
        </p:sp>
        <p:sp>
          <p:nvSpPr>
            <p:cNvPr name="TextBox 14" id="14"/>
            <p:cNvSpPr txBox="true"/>
            <p:nvPr/>
          </p:nvSpPr>
          <p:spPr>
            <a:xfrm>
              <a:off x="0" y="-47625"/>
              <a:ext cx="8092199" cy="687819"/>
            </a:xfrm>
            <a:prstGeom prst="rect">
              <a:avLst/>
            </a:prstGeom>
          </p:spPr>
          <p:txBody>
            <a:bodyPr anchor="ctr" rtlCol="false" tIns="0" lIns="0" bIns="0" rIns="0"/>
            <a:lstStyle/>
            <a:p>
              <a:pPr algn="l">
                <a:lnSpc>
                  <a:spcPts val="2520"/>
                </a:lnSpc>
              </a:pPr>
              <a:r>
                <a:rPr lang="en-US" b="true" sz="2100">
                  <a:solidFill>
                    <a:srgbClr val="00304D"/>
                  </a:solidFill>
                  <a:latin typeface="Calibri (MS) Bold"/>
                  <a:ea typeface="Calibri (MS) Bold"/>
                  <a:cs typeface="Calibri (MS) Bold"/>
                  <a:sym typeface="Calibri (MS) Bold"/>
                </a:rPr>
                <a:t>Gestión de productos</a:t>
              </a:r>
            </a:p>
          </p:txBody>
        </p:sp>
      </p:grpSp>
      <p:grpSp>
        <p:nvGrpSpPr>
          <p:cNvPr name="Group 15" id="15"/>
          <p:cNvGrpSpPr/>
          <p:nvPr/>
        </p:nvGrpSpPr>
        <p:grpSpPr>
          <a:xfrm rot="0">
            <a:off x="10584180" y="5734705"/>
            <a:ext cx="6069149" cy="1234350"/>
            <a:chOff x="0" y="0"/>
            <a:chExt cx="8092199" cy="1645800"/>
          </a:xfrm>
        </p:grpSpPr>
        <p:sp>
          <p:nvSpPr>
            <p:cNvPr name="Freeform 16" id="16"/>
            <p:cNvSpPr/>
            <p:nvPr/>
          </p:nvSpPr>
          <p:spPr>
            <a:xfrm flipH="false" flipV="false" rot="0">
              <a:off x="0" y="0"/>
              <a:ext cx="8092200" cy="1645794"/>
            </a:xfrm>
            <a:custGeom>
              <a:avLst/>
              <a:gdLst/>
              <a:ahLst/>
              <a:cxnLst/>
              <a:rect r="r" b="b" t="t" l="l"/>
              <a:pathLst>
                <a:path h="1645794" w="8092200">
                  <a:moveTo>
                    <a:pt x="0" y="0"/>
                  </a:moveTo>
                  <a:lnTo>
                    <a:pt x="8092200" y="0"/>
                  </a:lnTo>
                  <a:lnTo>
                    <a:pt x="8092200" y="1645794"/>
                  </a:lnTo>
                  <a:lnTo>
                    <a:pt x="0" y="1645794"/>
                  </a:lnTo>
                  <a:close/>
                </a:path>
              </a:pathLst>
            </a:custGeom>
            <a:blipFill>
              <a:blip r:embed="rId4">
                <a:alphaModFix amt="0"/>
              </a:blip>
              <a:stretch>
                <a:fillRect l="0" t="-45805" r="0" b="-45806"/>
              </a:stretch>
            </a:blipFill>
          </p:spPr>
        </p:sp>
        <p:sp>
          <p:nvSpPr>
            <p:cNvPr name="TextBox 17" id="17"/>
            <p:cNvSpPr txBox="true"/>
            <p:nvPr/>
          </p:nvSpPr>
          <p:spPr>
            <a:xfrm>
              <a:off x="0" y="-47625"/>
              <a:ext cx="8092199" cy="1693425"/>
            </a:xfrm>
            <a:prstGeom prst="rect">
              <a:avLst/>
            </a:prstGeom>
          </p:spPr>
          <p:txBody>
            <a:bodyPr anchor="ctr" rtlCol="false" tIns="0" lIns="0" bIns="0" rIns="0"/>
            <a:lstStyle/>
            <a:p>
              <a:pPr algn="l">
                <a:lnSpc>
                  <a:spcPts val="2520"/>
                </a:lnSpc>
              </a:pPr>
              <a:r>
                <a:rPr lang="en-US" sz="2100">
                  <a:solidFill>
                    <a:srgbClr val="000000"/>
                  </a:solidFill>
                  <a:latin typeface="Calibri (MS)"/>
                  <a:ea typeface="Calibri (MS)"/>
                  <a:cs typeface="Calibri (MS)"/>
                  <a:sym typeface="Calibri (MS)"/>
                </a:rPr>
                <a:t>CRUD completo sobre vehículos, órdenes de trabajo, servicios e inventario, con visualización de estados.</a:t>
              </a:r>
            </a:p>
          </p:txBody>
        </p:sp>
      </p:grpSp>
      <p:grpSp>
        <p:nvGrpSpPr>
          <p:cNvPr name="Group 18" id="18"/>
          <p:cNvGrpSpPr/>
          <p:nvPr/>
        </p:nvGrpSpPr>
        <p:grpSpPr>
          <a:xfrm rot="0">
            <a:off x="822960" y="2548376"/>
            <a:ext cx="16036290" cy="2125799"/>
            <a:chOff x="0" y="0"/>
            <a:chExt cx="21381720" cy="2834399"/>
          </a:xfrm>
        </p:grpSpPr>
        <p:sp>
          <p:nvSpPr>
            <p:cNvPr name="Freeform 19" id="19"/>
            <p:cNvSpPr/>
            <p:nvPr/>
          </p:nvSpPr>
          <p:spPr>
            <a:xfrm flipH="false" flipV="false" rot="0">
              <a:off x="0" y="0"/>
              <a:ext cx="21381720" cy="2834386"/>
            </a:xfrm>
            <a:custGeom>
              <a:avLst/>
              <a:gdLst/>
              <a:ahLst/>
              <a:cxnLst/>
              <a:rect r="r" b="b" t="t" l="l"/>
              <a:pathLst>
                <a:path h="2834386" w="21381720">
                  <a:moveTo>
                    <a:pt x="0" y="146304"/>
                  </a:moveTo>
                  <a:cubicBezTo>
                    <a:pt x="0" y="65532"/>
                    <a:pt x="65532" y="0"/>
                    <a:pt x="146304" y="0"/>
                  </a:cubicBezTo>
                  <a:lnTo>
                    <a:pt x="21235415" y="0"/>
                  </a:lnTo>
                  <a:cubicBezTo>
                    <a:pt x="21316187" y="0"/>
                    <a:pt x="21381720" y="65532"/>
                    <a:pt x="21381720" y="146304"/>
                  </a:cubicBezTo>
                  <a:lnTo>
                    <a:pt x="21381720" y="2688082"/>
                  </a:lnTo>
                  <a:cubicBezTo>
                    <a:pt x="21381720" y="2768854"/>
                    <a:pt x="21316187" y="2834386"/>
                    <a:pt x="21235415" y="2834386"/>
                  </a:cubicBezTo>
                  <a:lnTo>
                    <a:pt x="146304" y="2834386"/>
                  </a:lnTo>
                  <a:cubicBezTo>
                    <a:pt x="65532" y="2834386"/>
                    <a:pt x="0" y="2768854"/>
                    <a:pt x="0" y="2688082"/>
                  </a:cubicBezTo>
                  <a:close/>
                </a:path>
              </a:pathLst>
            </a:custGeom>
            <a:solidFill>
              <a:srgbClr val="F6F6F6"/>
            </a:solidFill>
          </p:spPr>
        </p:sp>
      </p:grpSp>
      <p:grpSp>
        <p:nvGrpSpPr>
          <p:cNvPr name="Group 20" id="20"/>
          <p:cNvGrpSpPr/>
          <p:nvPr/>
        </p:nvGrpSpPr>
        <p:grpSpPr>
          <a:xfrm rot="0">
            <a:off x="1097280" y="3165596"/>
            <a:ext cx="891454" cy="891454"/>
            <a:chOff x="0" y="0"/>
            <a:chExt cx="1188606" cy="1188606"/>
          </a:xfrm>
        </p:grpSpPr>
        <p:sp>
          <p:nvSpPr>
            <p:cNvPr name="Freeform 21" id="21"/>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sp>
      </p:grpSp>
      <p:grpSp>
        <p:nvGrpSpPr>
          <p:cNvPr name="Group 22" id="22"/>
          <p:cNvGrpSpPr/>
          <p:nvPr/>
        </p:nvGrpSpPr>
        <p:grpSpPr>
          <a:xfrm rot="0">
            <a:off x="2263140" y="2795264"/>
            <a:ext cx="6069149" cy="480146"/>
            <a:chOff x="0" y="0"/>
            <a:chExt cx="8092199" cy="640194"/>
          </a:xfrm>
        </p:grpSpPr>
        <p:sp>
          <p:nvSpPr>
            <p:cNvPr name="Freeform 23" id="23"/>
            <p:cNvSpPr/>
            <p:nvPr/>
          </p:nvSpPr>
          <p:spPr>
            <a:xfrm flipH="false" flipV="false" rot="0">
              <a:off x="0" y="0"/>
              <a:ext cx="8092200" cy="640200"/>
            </a:xfrm>
            <a:custGeom>
              <a:avLst/>
              <a:gdLst/>
              <a:ahLst/>
              <a:cxnLst/>
              <a:rect r="r" b="b" t="t" l="l"/>
              <a:pathLst>
                <a:path h="640200" w="8092200">
                  <a:moveTo>
                    <a:pt x="0" y="0"/>
                  </a:moveTo>
                  <a:lnTo>
                    <a:pt x="8092200" y="0"/>
                  </a:lnTo>
                  <a:lnTo>
                    <a:pt x="8092200" y="640200"/>
                  </a:lnTo>
                  <a:lnTo>
                    <a:pt x="0" y="640200"/>
                  </a:lnTo>
                  <a:close/>
                </a:path>
              </a:pathLst>
            </a:custGeom>
            <a:blipFill>
              <a:blip r:embed="rId4">
                <a:alphaModFix amt="0"/>
              </a:blip>
              <a:stretch>
                <a:fillRect l="0" t="-196293" r="0" b="-196292"/>
              </a:stretch>
            </a:blipFill>
          </p:spPr>
        </p:sp>
        <p:sp>
          <p:nvSpPr>
            <p:cNvPr name="TextBox 24" id="24"/>
            <p:cNvSpPr txBox="true"/>
            <p:nvPr/>
          </p:nvSpPr>
          <p:spPr>
            <a:xfrm>
              <a:off x="0" y="-47625"/>
              <a:ext cx="8092199" cy="687819"/>
            </a:xfrm>
            <a:prstGeom prst="rect">
              <a:avLst/>
            </a:prstGeom>
          </p:spPr>
          <p:txBody>
            <a:bodyPr anchor="ctr" rtlCol="false" tIns="0" lIns="0" bIns="0" rIns="0"/>
            <a:lstStyle/>
            <a:p>
              <a:pPr algn="l">
                <a:lnSpc>
                  <a:spcPts val="2520"/>
                </a:lnSpc>
              </a:pPr>
              <a:r>
                <a:rPr lang="en-US" b="true" sz="2100">
                  <a:solidFill>
                    <a:srgbClr val="00304D"/>
                  </a:solidFill>
                  <a:latin typeface="Calibri (MS) Bold"/>
                  <a:ea typeface="Calibri (MS) Bold"/>
                  <a:cs typeface="Calibri (MS) Bold"/>
                  <a:sym typeface="Calibri (MS) Bold"/>
                </a:rPr>
                <a:t>Creación de aplicación web</a:t>
              </a:r>
            </a:p>
          </p:txBody>
        </p:sp>
      </p:grpSp>
      <p:grpSp>
        <p:nvGrpSpPr>
          <p:cNvPr name="Group 25" id="25"/>
          <p:cNvGrpSpPr/>
          <p:nvPr/>
        </p:nvGrpSpPr>
        <p:grpSpPr>
          <a:xfrm rot="0">
            <a:off x="2263140" y="3302756"/>
            <a:ext cx="14390189" cy="1234350"/>
            <a:chOff x="0" y="0"/>
            <a:chExt cx="19186919" cy="1645800"/>
          </a:xfrm>
        </p:grpSpPr>
        <p:sp>
          <p:nvSpPr>
            <p:cNvPr name="Freeform 26" id="26"/>
            <p:cNvSpPr/>
            <p:nvPr/>
          </p:nvSpPr>
          <p:spPr>
            <a:xfrm flipH="false" flipV="false" rot="0">
              <a:off x="0" y="0"/>
              <a:ext cx="19186920" cy="1645794"/>
            </a:xfrm>
            <a:custGeom>
              <a:avLst/>
              <a:gdLst/>
              <a:ahLst/>
              <a:cxnLst/>
              <a:rect r="r" b="b" t="t" l="l"/>
              <a:pathLst>
                <a:path h="1645794" w="19186920">
                  <a:moveTo>
                    <a:pt x="0" y="0"/>
                  </a:moveTo>
                  <a:lnTo>
                    <a:pt x="19186920" y="0"/>
                  </a:lnTo>
                  <a:lnTo>
                    <a:pt x="19186920" y="1645794"/>
                  </a:lnTo>
                  <a:lnTo>
                    <a:pt x="0" y="1645794"/>
                  </a:lnTo>
                  <a:close/>
                </a:path>
              </a:pathLst>
            </a:custGeom>
            <a:blipFill>
              <a:blip r:embed="rId4">
                <a:alphaModFix amt="0"/>
              </a:blip>
              <a:stretch>
                <a:fillRect l="0" t="-177159" r="0" b="-177159"/>
              </a:stretch>
            </a:blipFill>
          </p:spPr>
        </p:sp>
        <p:sp>
          <p:nvSpPr>
            <p:cNvPr name="TextBox 27" id="27"/>
            <p:cNvSpPr txBox="true"/>
            <p:nvPr/>
          </p:nvSpPr>
          <p:spPr>
            <a:xfrm>
              <a:off x="0" y="-47625"/>
              <a:ext cx="19186919" cy="1693425"/>
            </a:xfrm>
            <a:prstGeom prst="rect">
              <a:avLst/>
            </a:prstGeom>
          </p:spPr>
          <p:txBody>
            <a:bodyPr anchor="ctr" rtlCol="false" tIns="0" lIns="0" bIns="0" rIns="0"/>
            <a:lstStyle/>
            <a:p>
              <a:pPr algn="l">
                <a:lnSpc>
                  <a:spcPts val="2520"/>
                </a:lnSpc>
              </a:pPr>
              <a:r>
                <a:rPr lang="en-US" sz="2100">
                  <a:solidFill>
                    <a:srgbClr val="000000"/>
                  </a:solidFill>
                  <a:latin typeface="Calibri (MS)"/>
                  <a:ea typeface="Calibri (MS)"/>
                  <a:cs typeface="Calibri (MS)"/>
                  <a:sym typeface="Calibri (MS)"/>
                </a:rPr>
                <a:t>Se crea exitosamente un sistema web para la gestión integral de un taller vehicular, permitiendo centralizar el control de vehículos, servicios, órdenes de trabajo, inventario y facturación en una sola plataforma.</a:t>
              </a:r>
            </a:p>
          </p:txBody>
        </p:sp>
      </p:grpSp>
      <p:grpSp>
        <p:nvGrpSpPr>
          <p:cNvPr name="Group 28" id="28"/>
          <p:cNvGrpSpPr/>
          <p:nvPr/>
        </p:nvGrpSpPr>
        <p:grpSpPr>
          <a:xfrm rot="0">
            <a:off x="822960" y="5074920"/>
            <a:ext cx="7715250" cy="2125799"/>
            <a:chOff x="0" y="0"/>
            <a:chExt cx="10287000" cy="2834399"/>
          </a:xfrm>
        </p:grpSpPr>
        <p:sp>
          <p:nvSpPr>
            <p:cNvPr name="Freeform 29" id="29"/>
            <p:cNvSpPr/>
            <p:nvPr/>
          </p:nvSpPr>
          <p:spPr>
            <a:xfrm flipH="false" flipV="false" rot="0">
              <a:off x="0" y="0"/>
              <a:ext cx="10287000" cy="2834386"/>
            </a:xfrm>
            <a:custGeom>
              <a:avLst/>
              <a:gdLst/>
              <a:ahLst/>
              <a:cxnLst/>
              <a:rect r="r" b="b" t="t" l="l"/>
              <a:pathLst>
                <a:path h="2834386" w="10287000">
                  <a:moveTo>
                    <a:pt x="0" y="146304"/>
                  </a:moveTo>
                  <a:cubicBezTo>
                    <a:pt x="0" y="65532"/>
                    <a:pt x="65532" y="0"/>
                    <a:pt x="146304" y="0"/>
                  </a:cubicBezTo>
                  <a:lnTo>
                    <a:pt x="10140696" y="0"/>
                  </a:lnTo>
                  <a:cubicBezTo>
                    <a:pt x="10221468" y="0"/>
                    <a:pt x="10287000" y="65532"/>
                    <a:pt x="10287000" y="146304"/>
                  </a:cubicBezTo>
                  <a:lnTo>
                    <a:pt x="10287000" y="2688082"/>
                  </a:lnTo>
                  <a:cubicBezTo>
                    <a:pt x="10287000" y="2768854"/>
                    <a:pt x="10221468" y="2834386"/>
                    <a:pt x="10140696" y="2834386"/>
                  </a:cubicBezTo>
                  <a:lnTo>
                    <a:pt x="146304" y="2834386"/>
                  </a:lnTo>
                  <a:cubicBezTo>
                    <a:pt x="65532" y="2834386"/>
                    <a:pt x="0" y="2768854"/>
                    <a:pt x="0" y="2688082"/>
                  </a:cubicBezTo>
                  <a:close/>
                </a:path>
              </a:pathLst>
            </a:custGeom>
            <a:solidFill>
              <a:srgbClr val="F6F6F6"/>
            </a:solidFill>
          </p:spPr>
        </p:sp>
      </p:grpSp>
      <p:grpSp>
        <p:nvGrpSpPr>
          <p:cNvPr name="Group 30" id="30"/>
          <p:cNvGrpSpPr/>
          <p:nvPr/>
        </p:nvGrpSpPr>
        <p:grpSpPr>
          <a:xfrm rot="0">
            <a:off x="1097280" y="5692140"/>
            <a:ext cx="891454" cy="891454"/>
            <a:chOff x="0" y="0"/>
            <a:chExt cx="1188606" cy="1188606"/>
          </a:xfrm>
        </p:grpSpPr>
        <p:sp>
          <p:nvSpPr>
            <p:cNvPr name="Freeform 31" id="31"/>
            <p:cNvSpPr/>
            <p:nvPr/>
          </p:nvSpPr>
          <p:spPr>
            <a:xfrm flipH="false" flipV="false" rot="0">
              <a:off x="0" y="0"/>
              <a:ext cx="1188720" cy="1188720"/>
            </a:xfrm>
            <a:custGeom>
              <a:avLst/>
              <a:gdLst/>
              <a:ahLst/>
              <a:cxnLst/>
              <a:rect r="r" b="b" t="t" l="l"/>
              <a:pathLst>
                <a:path h="1188720" w="1188720">
                  <a:moveTo>
                    <a:pt x="0" y="594360"/>
                  </a:moveTo>
                  <a:cubicBezTo>
                    <a:pt x="0" y="266065"/>
                    <a:pt x="266065" y="0"/>
                    <a:pt x="594360" y="0"/>
                  </a:cubicBezTo>
                  <a:cubicBezTo>
                    <a:pt x="922655" y="0"/>
                    <a:pt x="1188720" y="266065"/>
                    <a:pt x="1188720" y="594360"/>
                  </a:cubicBezTo>
                  <a:cubicBezTo>
                    <a:pt x="1188720" y="922655"/>
                    <a:pt x="922655" y="1188720"/>
                    <a:pt x="594360" y="1188720"/>
                  </a:cubicBezTo>
                  <a:cubicBezTo>
                    <a:pt x="266065" y="1188720"/>
                    <a:pt x="0" y="922528"/>
                    <a:pt x="0" y="594360"/>
                  </a:cubicBezTo>
                  <a:close/>
                </a:path>
              </a:pathLst>
            </a:custGeom>
            <a:solidFill>
              <a:srgbClr val="39A900"/>
            </a:solidFill>
          </p:spPr>
        </p:sp>
      </p:grpSp>
      <p:grpSp>
        <p:nvGrpSpPr>
          <p:cNvPr name="Group 32" id="32"/>
          <p:cNvGrpSpPr/>
          <p:nvPr/>
        </p:nvGrpSpPr>
        <p:grpSpPr>
          <a:xfrm rot="0">
            <a:off x="1329080" y="5923940"/>
            <a:ext cx="427939" cy="427939"/>
            <a:chOff x="0" y="0"/>
            <a:chExt cx="570586" cy="570586"/>
          </a:xfrm>
        </p:grpSpPr>
        <p:sp>
          <p:nvSpPr>
            <p:cNvPr name="Freeform 33" id="33" descr="icons/mobile.png"/>
            <p:cNvSpPr/>
            <p:nvPr/>
          </p:nvSpPr>
          <p:spPr>
            <a:xfrm flipH="false" flipV="false" rot="0">
              <a:off x="0" y="0"/>
              <a:ext cx="570611" cy="570611"/>
            </a:xfrm>
            <a:custGeom>
              <a:avLst/>
              <a:gdLst/>
              <a:ahLst/>
              <a:cxnLst/>
              <a:rect r="r" b="b" t="t" l="l"/>
              <a:pathLst>
                <a:path h="570611" w="570611">
                  <a:moveTo>
                    <a:pt x="0" y="0"/>
                  </a:moveTo>
                  <a:lnTo>
                    <a:pt x="570611" y="0"/>
                  </a:lnTo>
                  <a:lnTo>
                    <a:pt x="570611" y="570611"/>
                  </a:lnTo>
                  <a:lnTo>
                    <a:pt x="0" y="570611"/>
                  </a:lnTo>
                  <a:lnTo>
                    <a:pt x="0" y="0"/>
                  </a:lnTo>
                  <a:close/>
                </a:path>
              </a:pathLst>
            </a:custGeom>
            <a:blipFill>
              <a:blip r:embed="rId6"/>
              <a:stretch>
                <a:fillRect l="0" t="0" r="4" b="4"/>
              </a:stretch>
            </a:blipFill>
          </p:spPr>
        </p:sp>
      </p:grpSp>
      <p:grpSp>
        <p:nvGrpSpPr>
          <p:cNvPr name="Group 34" id="34"/>
          <p:cNvGrpSpPr/>
          <p:nvPr/>
        </p:nvGrpSpPr>
        <p:grpSpPr>
          <a:xfrm rot="0">
            <a:off x="2263140" y="5321808"/>
            <a:ext cx="6069149" cy="480146"/>
            <a:chOff x="0" y="0"/>
            <a:chExt cx="8092199" cy="640194"/>
          </a:xfrm>
        </p:grpSpPr>
        <p:sp>
          <p:nvSpPr>
            <p:cNvPr name="Freeform 35" id="35"/>
            <p:cNvSpPr/>
            <p:nvPr/>
          </p:nvSpPr>
          <p:spPr>
            <a:xfrm flipH="false" flipV="false" rot="0">
              <a:off x="0" y="0"/>
              <a:ext cx="8092200" cy="640200"/>
            </a:xfrm>
            <a:custGeom>
              <a:avLst/>
              <a:gdLst/>
              <a:ahLst/>
              <a:cxnLst/>
              <a:rect r="r" b="b" t="t" l="l"/>
              <a:pathLst>
                <a:path h="640200" w="8092200">
                  <a:moveTo>
                    <a:pt x="0" y="0"/>
                  </a:moveTo>
                  <a:lnTo>
                    <a:pt x="8092200" y="0"/>
                  </a:lnTo>
                  <a:lnTo>
                    <a:pt x="8092200" y="640200"/>
                  </a:lnTo>
                  <a:lnTo>
                    <a:pt x="0" y="640200"/>
                  </a:lnTo>
                  <a:close/>
                </a:path>
              </a:pathLst>
            </a:custGeom>
            <a:blipFill>
              <a:blip r:embed="rId4">
                <a:alphaModFix amt="0"/>
              </a:blip>
              <a:stretch>
                <a:fillRect l="0" t="-196293" r="0" b="-196292"/>
              </a:stretch>
            </a:blipFill>
          </p:spPr>
        </p:sp>
        <p:sp>
          <p:nvSpPr>
            <p:cNvPr name="TextBox 36" id="36"/>
            <p:cNvSpPr txBox="true"/>
            <p:nvPr/>
          </p:nvSpPr>
          <p:spPr>
            <a:xfrm>
              <a:off x="0" y="-47625"/>
              <a:ext cx="8092199" cy="687819"/>
            </a:xfrm>
            <a:prstGeom prst="rect">
              <a:avLst/>
            </a:prstGeom>
          </p:spPr>
          <p:txBody>
            <a:bodyPr anchor="ctr" rtlCol="false" tIns="0" lIns="0" bIns="0" rIns="0"/>
            <a:lstStyle/>
            <a:p>
              <a:pPr algn="l">
                <a:lnSpc>
                  <a:spcPts val="2520"/>
                </a:lnSpc>
              </a:pPr>
              <a:r>
                <a:rPr lang="en-US" b="true" sz="2100">
                  <a:solidFill>
                    <a:srgbClr val="00304D"/>
                  </a:solidFill>
                  <a:latin typeface="Calibri (MS) Bold"/>
                  <a:ea typeface="Calibri (MS) Bold"/>
                  <a:cs typeface="Calibri (MS) Bold"/>
                  <a:sym typeface="Calibri (MS) Bold"/>
                </a:rPr>
                <a:t>Experiencia de usuario</a:t>
              </a:r>
            </a:p>
          </p:txBody>
        </p:sp>
      </p:grpSp>
      <p:grpSp>
        <p:nvGrpSpPr>
          <p:cNvPr name="Group 37" id="37"/>
          <p:cNvGrpSpPr/>
          <p:nvPr/>
        </p:nvGrpSpPr>
        <p:grpSpPr>
          <a:xfrm rot="0">
            <a:off x="2263140" y="5792429"/>
            <a:ext cx="6069149" cy="1371419"/>
            <a:chOff x="0" y="0"/>
            <a:chExt cx="8092199" cy="1828559"/>
          </a:xfrm>
        </p:grpSpPr>
        <p:sp>
          <p:nvSpPr>
            <p:cNvPr name="Freeform 38" id="38"/>
            <p:cNvSpPr/>
            <p:nvPr/>
          </p:nvSpPr>
          <p:spPr>
            <a:xfrm flipH="false" flipV="false" rot="0">
              <a:off x="0" y="0"/>
              <a:ext cx="8092200" cy="1828552"/>
            </a:xfrm>
            <a:custGeom>
              <a:avLst/>
              <a:gdLst/>
              <a:ahLst/>
              <a:cxnLst/>
              <a:rect r="r" b="b" t="t" l="l"/>
              <a:pathLst>
                <a:path h="1828552" w="8092200">
                  <a:moveTo>
                    <a:pt x="0" y="0"/>
                  </a:moveTo>
                  <a:lnTo>
                    <a:pt x="8092200" y="0"/>
                  </a:lnTo>
                  <a:lnTo>
                    <a:pt x="8092200" y="1828552"/>
                  </a:lnTo>
                  <a:lnTo>
                    <a:pt x="0" y="1828552"/>
                  </a:lnTo>
                  <a:close/>
                </a:path>
              </a:pathLst>
            </a:custGeom>
            <a:blipFill>
              <a:blip r:embed="rId4">
                <a:alphaModFix amt="0"/>
              </a:blip>
              <a:stretch>
                <a:fillRect l="0" t="-41227" r="0" b="-31233"/>
              </a:stretch>
            </a:blipFill>
          </p:spPr>
        </p:sp>
        <p:sp>
          <p:nvSpPr>
            <p:cNvPr name="TextBox 39" id="39"/>
            <p:cNvSpPr txBox="true"/>
            <p:nvPr/>
          </p:nvSpPr>
          <p:spPr>
            <a:xfrm>
              <a:off x="0" y="-47625"/>
              <a:ext cx="8092199" cy="1876184"/>
            </a:xfrm>
            <a:prstGeom prst="rect">
              <a:avLst/>
            </a:prstGeom>
          </p:spPr>
          <p:txBody>
            <a:bodyPr anchor="ctr" rtlCol="false" tIns="0" lIns="0" bIns="0" rIns="0"/>
            <a:lstStyle/>
            <a:p>
              <a:pPr algn="just">
                <a:lnSpc>
                  <a:spcPts val="2520"/>
                </a:lnSpc>
              </a:pPr>
              <a:r>
                <a:rPr lang="en-US" sz="2100">
                  <a:solidFill>
                    <a:srgbClr val="000000"/>
                  </a:solidFill>
                  <a:latin typeface="Calibri (MS)"/>
                  <a:ea typeface="Calibri (MS)"/>
                  <a:cs typeface="Calibri (MS)"/>
                  <a:sym typeface="Calibri (MS)"/>
                </a:rPr>
                <a:t>Interfaz intuitiva y adaptable, con panel administrativo funcional para registrar clientes y agendar servicios.</a:t>
              </a:r>
            </a:p>
          </p:txBody>
        </p:sp>
      </p:grpSp>
      <p:grpSp>
        <p:nvGrpSpPr>
          <p:cNvPr name="Group 40" id="40"/>
          <p:cNvGrpSpPr/>
          <p:nvPr/>
        </p:nvGrpSpPr>
        <p:grpSpPr>
          <a:xfrm rot="0">
            <a:off x="822960" y="7886700"/>
            <a:ext cx="15910646" cy="1371600"/>
            <a:chOff x="0" y="0"/>
            <a:chExt cx="21214194" cy="1828800"/>
          </a:xfrm>
        </p:grpSpPr>
        <p:sp>
          <p:nvSpPr>
            <p:cNvPr name="Freeform 41" id="41"/>
            <p:cNvSpPr/>
            <p:nvPr/>
          </p:nvSpPr>
          <p:spPr>
            <a:xfrm flipH="false" flipV="false" rot="0">
              <a:off x="0" y="0"/>
              <a:ext cx="21214207" cy="1828800"/>
            </a:xfrm>
            <a:custGeom>
              <a:avLst/>
              <a:gdLst/>
              <a:ahLst/>
              <a:cxnLst/>
              <a:rect r="r" b="b" t="t" l="l"/>
              <a:pathLst>
                <a:path h="1828800" w="21214207">
                  <a:moveTo>
                    <a:pt x="0" y="146304"/>
                  </a:moveTo>
                  <a:cubicBezTo>
                    <a:pt x="0" y="65532"/>
                    <a:pt x="65532" y="0"/>
                    <a:pt x="146304" y="0"/>
                  </a:cubicBezTo>
                  <a:lnTo>
                    <a:pt x="21067903" y="0"/>
                  </a:lnTo>
                  <a:cubicBezTo>
                    <a:pt x="21148675" y="0"/>
                    <a:pt x="21214207" y="65532"/>
                    <a:pt x="21214207" y="146304"/>
                  </a:cubicBezTo>
                  <a:lnTo>
                    <a:pt x="21214207" y="1682496"/>
                  </a:lnTo>
                  <a:cubicBezTo>
                    <a:pt x="21214207" y="1763268"/>
                    <a:pt x="21148675" y="1828800"/>
                    <a:pt x="21067903" y="1828800"/>
                  </a:cubicBezTo>
                  <a:lnTo>
                    <a:pt x="146304" y="1828800"/>
                  </a:lnTo>
                  <a:cubicBezTo>
                    <a:pt x="65532" y="1828800"/>
                    <a:pt x="0" y="1763268"/>
                    <a:pt x="0" y="1682496"/>
                  </a:cubicBezTo>
                  <a:close/>
                </a:path>
              </a:pathLst>
            </a:custGeom>
            <a:solidFill>
              <a:srgbClr val="FFF3D6"/>
            </a:solidFill>
          </p:spPr>
        </p:sp>
      </p:grpSp>
      <p:grpSp>
        <p:nvGrpSpPr>
          <p:cNvPr name="Group 42" id="42"/>
          <p:cNvGrpSpPr/>
          <p:nvPr/>
        </p:nvGrpSpPr>
        <p:grpSpPr>
          <a:xfrm rot="0">
            <a:off x="1234440" y="7886700"/>
            <a:ext cx="15087600" cy="1371600"/>
            <a:chOff x="0" y="0"/>
            <a:chExt cx="20116800" cy="1828800"/>
          </a:xfrm>
        </p:grpSpPr>
        <p:sp>
          <p:nvSpPr>
            <p:cNvPr name="Freeform 43" id="43"/>
            <p:cNvSpPr/>
            <p:nvPr/>
          </p:nvSpPr>
          <p:spPr>
            <a:xfrm flipH="false" flipV="false" rot="0">
              <a:off x="0" y="0"/>
              <a:ext cx="20116800" cy="1828800"/>
            </a:xfrm>
            <a:custGeom>
              <a:avLst/>
              <a:gdLst/>
              <a:ahLst/>
              <a:cxnLst/>
              <a:rect r="r" b="b" t="t" l="l"/>
              <a:pathLst>
                <a:path h="1828800" w="20116800">
                  <a:moveTo>
                    <a:pt x="0" y="0"/>
                  </a:moveTo>
                  <a:lnTo>
                    <a:pt x="20116800" y="0"/>
                  </a:lnTo>
                  <a:lnTo>
                    <a:pt x="20116800" y="1828800"/>
                  </a:lnTo>
                  <a:lnTo>
                    <a:pt x="0" y="1828800"/>
                  </a:lnTo>
                  <a:close/>
                </a:path>
              </a:pathLst>
            </a:custGeom>
            <a:blipFill>
              <a:blip r:embed="rId4">
                <a:alphaModFix amt="0"/>
              </a:blip>
              <a:stretch>
                <a:fillRect l="0" t="-164335" r="0" b="-164335"/>
              </a:stretch>
            </a:blipFill>
          </p:spPr>
        </p:sp>
        <p:sp>
          <p:nvSpPr>
            <p:cNvPr name="TextBox 44" id="44"/>
            <p:cNvSpPr txBox="true"/>
            <p:nvPr/>
          </p:nvSpPr>
          <p:spPr>
            <a:xfrm>
              <a:off x="0" y="-38100"/>
              <a:ext cx="20116800" cy="1866900"/>
            </a:xfrm>
            <a:prstGeom prst="rect">
              <a:avLst/>
            </a:prstGeom>
          </p:spPr>
          <p:txBody>
            <a:bodyPr anchor="ctr" rtlCol="false" tIns="0" lIns="0" bIns="0" rIns="0"/>
            <a:lstStyle/>
            <a:p>
              <a:pPr algn="l">
                <a:lnSpc>
                  <a:spcPts val="2250"/>
                </a:lnSpc>
              </a:pPr>
              <a:r>
                <a:rPr lang="en-US" b="true" sz="1875">
                  <a:solidFill>
                    <a:srgbClr val="00304D"/>
                  </a:solidFill>
                  <a:latin typeface="Calibri (MS) Bold"/>
                  <a:ea typeface="Calibri (MS) Bold"/>
                  <a:cs typeface="Calibri (MS) Bold"/>
                  <a:sym typeface="Calibri (MS) Bold"/>
                </a:rPr>
                <a:t>Trabajo futuro:  </a:t>
              </a:r>
              <a:r>
                <a:rPr lang="en-US" sz="1875">
                  <a:solidFill>
                    <a:srgbClr val="00304D"/>
                  </a:solidFill>
                  <a:latin typeface="Calibri (MS)"/>
                  <a:ea typeface="Calibri (MS)"/>
                  <a:cs typeface="Calibri (MS)"/>
                  <a:sym typeface="Calibri (MS)"/>
                </a:rPr>
                <a:t>pasarela de pagos real, app móvil (APK) para clientes y notificaciones automáticas de mantenimiento.</a:t>
              </a:r>
            </a:p>
          </p:txBody>
        </p:sp>
      </p:grpSp>
      <p:grpSp>
        <p:nvGrpSpPr>
          <p:cNvPr name="Group 45" id="45"/>
          <p:cNvGrpSpPr/>
          <p:nvPr/>
        </p:nvGrpSpPr>
        <p:grpSpPr>
          <a:xfrm rot="0">
            <a:off x="1296162" y="3367321"/>
            <a:ext cx="493776" cy="493776"/>
            <a:chOff x="0" y="0"/>
            <a:chExt cx="658368" cy="658368"/>
          </a:xfrm>
        </p:grpSpPr>
        <p:sp>
          <p:nvSpPr>
            <p:cNvPr name="Freeform 46" id="46" descr="icons/server.png"/>
            <p:cNvSpPr/>
            <p:nvPr/>
          </p:nvSpPr>
          <p:spPr>
            <a:xfrm flipH="false" flipV="false" rot="0">
              <a:off x="0" y="0"/>
              <a:ext cx="658368" cy="658368"/>
            </a:xfrm>
            <a:custGeom>
              <a:avLst/>
              <a:gdLst/>
              <a:ahLst/>
              <a:cxnLst/>
              <a:rect r="r" b="b" t="t" l="l"/>
              <a:pathLst>
                <a:path h="658368" w="658368">
                  <a:moveTo>
                    <a:pt x="0" y="0"/>
                  </a:moveTo>
                  <a:lnTo>
                    <a:pt x="658368" y="0"/>
                  </a:lnTo>
                  <a:lnTo>
                    <a:pt x="658368" y="658368"/>
                  </a:lnTo>
                  <a:lnTo>
                    <a:pt x="0" y="658368"/>
                  </a:lnTo>
                  <a:lnTo>
                    <a:pt x="0" y="0"/>
                  </a:lnTo>
                  <a:close/>
                </a:path>
              </a:pathLst>
            </a:custGeom>
            <a:blipFill>
              <a:blip r:embed="rId7"/>
              <a:stretch>
                <a:fillRect l="0" t="0" r="0" b="0"/>
              </a:stretch>
            </a:blipFill>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DAHVLpckKfQ</dc:identifier>
  <dcterms:modified xsi:type="dcterms:W3CDTF">2011-08-01T06:04:30Z</dcterms:modified>
  <cp:revision>1</cp:revision>
  <dc:title>Presentacion MSS.pptx</dc:title>
</cp:coreProperties>
</file>