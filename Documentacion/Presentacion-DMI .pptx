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0"/>
  </p:notesMasterIdLst>
  <p:sldIdLst>
    <p:sldId id="256" r:id="rId2"/>
    <p:sldId id="257" r:id="rId3"/>
    <p:sldId id="259" r:id="rId4"/>
    <p:sldId id="261" r:id="rId5"/>
    <p:sldId id="260" r:id="rId6"/>
    <p:sldId id="262" r:id="rId7"/>
    <p:sldId id="269" r:id="rId8"/>
    <p:sldId id="270" r:id="rId9"/>
  </p:sldIdLst>
  <p:sldSz cx="18288000" cy="10287000"/>
  <p:notesSz cx="6858000" cy="9144000"/>
  <p:embeddedFontLst>
    <p:embeddedFont>
      <p:font typeface="Arial Bold" panose="020B0604020202020204" charset="0"/>
      <p:regular r:id="rId11"/>
    </p:embeddedFont>
    <p:embeddedFont>
      <p:font typeface="Calibri (MS)" panose="020B0604020202020204" charset="0"/>
      <p:regular r:id="rId12"/>
    </p:embeddedFont>
    <p:embeddedFont>
      <p:font typeface="Calibri (MS) Bold" panose="020B0604020202020204" charset="0"/>
      <p:regular r:id="rId13"/>
    </p:embeddedFont>
    <p:embeddedFont>
      <p:font typeface="Work Sans Bold"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66" d="100"/>
          <a:sy n="66" d="100"/>
        </p:scale>
        <p:origin x="1014" y="22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17.09.2026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‹Nº›</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Visdualizar inventario</a:t>
            </a:r>
          </a:p>
          <a:p>
            <a:r>
              <a:rPr lang="en-US"/>
              <a:t>Control automático del stock disponible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jpe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4.jpe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7.pn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3.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21.png"/><Relationship Id="rId4" Type="http://schemas.openxmlformats.org/officeDocument/2006/relationships/image" Target="../media/image4.jpeg"/><Relationship Id="rId9" Type="http://schemas.openxmlformats.org/officeDocument/2006/relationships/image" Target="../media/image20.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22.png"/><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9.png"/><Relationship Id="rId4" Type="http://schemas.openxmlformats.org/officeDocument/2006/relationships/image" Target="../media/image4.jpe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s-CO"/>
          </a:p>
        </p:txBody>
      </p:sp>
      <p:grpSp>
        <p:nvGrpSpPr>
          <p:cNvPr id="3" name="Group 3"/>
          <p:cNvGrpSpPr/>
          <p:nvPr/>
        </p:nvGrpSpPr>
        <p:grpSpPr>
          <a:xfrm>
            <a:off x="15311361" y="1582817"/>
            <a:ext cx="1384668" cy="1363142"/>
            <a:chOff x="0" y="0"/>
            <a:chExt cx="1846224" cy="1817522"/>
          </a:xfrm>
        </p:grpSpPr>
        <p:sp>
          <p:nvSpPr>
            <p:cNvPr id="4" name="Freeform 4"/>
            <p:cNvSpPr/>
            <p:nvPr/>
          </p:nvSpPr>
          <p:spPr>
            <a:xfrm>
              <a:off x="0" y="0"/>
              <a:ext cx="1846199" cy="1817497"/>
            </a:xfrm>
            <a:custGeom>
              <a:avLst/>
              <a:gdLst/>
              <a:ahLst/>
              <a:cxnLst/>
              <a:rect l="l" t="t" r="r" b="b"/>
              <a:pathLst>
                <a:path w="1846199" h="1817497">
                  <a:moveTo>
                    <a:pt x="0" y="0"/>
                  </a:moveTo>
                  <a:lnTo>
                    <a:pt x="1846199" y="0"/>
                  </a:lnTo>
                  <a:lnTo>
                    <a:pt x="1846199" y="1817497"/>
                  </a:lnTo>
                  <a:lnTo>
                    <a:pt x="0" y="1817497"/>
                  </a:lnTo>
                  <a:lnTo>
                    <a:pt x="0" y="0"/>
                  </a:lnTo>
                  <a:close/>
                </a:path>
              </a:pathLst>
            </a:custGeom>
            <a:blipFill>
              <a:blip r:embed="rId4"/>
              <a:stretch>
                <a:fillRect l="-344" r="-344"/>
              </a:stretch>
            </a:blipFill>
          </p:spPr>
          <p:txBody>
            <a:bodyPr/>
            <a:lstStyle/>
            <a:p>
              <a:endParaRPr lang="es-CO"/>
            </a:p>
          </p:txBody>
        </p:sp>
      </p:grpSp>
      <p:sp>
        <p:nvSpPr>
          <p:cNvPr id="5" name="TextBox 5"/>
          <p:cNvSpPr txBox="1"/>
          <p:nvPr/>
        </p:nvSpPr>
        <p:spPr>
          <a:xfrm>
            <a:off x="1386350" y="1416409"/>
            <a:ext cx="14189863" cy="1915127"/>
          </a:xfrm>
          <a:prstGeom prst="rect">
            <a:avLst/>
          </a:prstGeom>
        </p:spPr>
        <p:txBody>
          <a:bodyPr lIns="0" tIns="0" rIns="0" bIns="0" rtlCol="0" anchor="t">
            <a:spAutoFit/>
          </a:bodyPr>
          <a:lstStyle/>
          <a:p>
            <a:pPr algn="l">
              <a:lnSpc>
                <a:spcPts val="8065"/>
              </a:lnSpc>
            </a:pPr>
            <a:r>
              <a:rPr lang="en-US" sz="6727" b="1">
                <a:solidFill>
                  <a:srgbClr val="404040"/>
                </a:solidFill>
                <a:latin typeface="Arial Bold"/>
                <a:ea typeface="Arial Bold"/>
                <a:cs typeface="Arial Bold"/>
                <a:sym typeface="Arial Bold"/>
              </a:rPr>
              <a:t>Disol Motor´s</a:t>
            </a:r>
          </a:p>
          <a:p>
            <a:pPr algn="l">
              <a:lnSpc>
                <a:spcPts val="6869"/>
              </a:lnSpc>
            </a:pPr>
            <a:r>
              <a:rPr lang="en-US" sz="5727" b="1">
                <a:solidFill>
                  <a:srgbClr val="404040"/>
                </a:solidFill>
                <a:latin typeface="Arial Bold"/>
                <a:ea typeface="Arial Bold"/>
                <a:cs typeface="Arial Bold"/>
                <a:sym typeface="Arial Bold"/>
              </a:rPr>
              <a:t>Sistema de Informacion</a:t>
            </a:r>
          </a:p>
        </p:txBody>
      </p:sp>
      <p:sp>
        <p:nvSpPr>
          <p:cNvPr id="6" name="TextBox 6"/>
          <p:cNvSpPr txBox="1"/>
          <p:nvPr/>
        </p:nvSpPr>
        <p:spPr>
          <a:xfrm>
            <a:off x="587826" y="426244"/>
            <a:ext cx="4242587" cy="249879"/>
          </a:xfrm>
          <a:prstGeom prst="rect">
            <a:avLst/>
          </a:prstGeom>
        </p:spPr>
        <p:txBody>
          <a:bodyPr lIns="0" tIns="0" rIns="0" bIns="0" rtlCol="0" anchor="t">
            <a:spAutoFit/>
          </a:bodyPr>
          <a:lstStyle/>
          <a:p>
            <a:pPr algn="l">
              <a:lnSpc>
                <a:spcPts val="1800"/>
              </a:lnSpc>
            </a:pPr>
            <a:r>
              <a:rPr lang="en-US" sz="1500" b="1">
                <a:solidFill>
                  <a:srgbClr val="4D4D4C"/>
                </a:solidFill>
                <a:latin typeface="Work Sans Bold"/>
                <a:ea typeface="Work Sans Bold"/>
                <a:cs typeface="Work Sans Bold"/>
                <a:sym typeface="Work Sans Bold"/>
              </a:rPr>
              <a:t>Clasificación de la información: Pública</a:t>
            </a:r>
          </a:p>
        </p:txBody>
      </p:sp>
      <p:sp>
        <p:nvSpPr>
          <p:cNvPr id="7" name="TextBox 7"/>
          <p:cNvSpPr txBox="1"/>
          <p:nvPr/>
        </p:nvSpPr>
        <p:spPr>
          <a:xfrm>
            <a:off x="1714424" y="5727859"/>
            <a:ext cx="6690903" cy="949452"/>
          </a:xfrm>
          <a:prstGeom prst="rect">
            <a:avLst/>
          </a:prstGeom>
        </p:spPr>
        <p:txBody>
          <a:bodyPr lIns="0" tIns="0" rIns="0" bIns="0" rtlCol="0" anchor="t">
            <a:spAutoFit/>
          </a:bodyPr>
          <a:lstStyle/>
          <a:p>
            <a:pPr algn="l">
              <a:lnSpc>
                <a:spcPts val="2483"/>
              </a:lnSpc>
            </a:pPr>
            <a:r>
              <a:rPr lang="en-US" sz="1800">
                <a:solidFill>
                  <a:srgbClr val="000000"/>
                </a:solidFill>
                <a:latin typeface="Arial"/>
                <a:ea typeface="Arial"/>
                <a:cs typeface="Arial"/>
                <a:sym typeface="Arial"/>
              </a:rPr>
              <a:t>Kevin Barreto- Product owner </a:t>
            </a:r>
          </a:p>
          <a:p>
            <a:pPr algn="l">
              <a:lnSpc>
                <a:spcPts val="2483"/>
              </a:lnSpc>
            </a:pPr>
            <a:r>
              <a:rPr lang="en-US" sz="1800">
                <a:solidFill>
                  <a:srgbClr val="000000"/>
                </a:solidFill>
                <a:latin typeface="Arial"/>
                <a:ea typeface="Arial"/>
                <a:cs typeface="Arial"/>
                <a:sym typeface="Arial"/>
              </a:rPr>
              <a:t>Joseph Zapata- Scrum master</a:t>
            </a:r>
          </a:p>
          <a:p>
            <a:pPr algn="l">
              <a:lnSpc>
                <a:spcPts val="2483"/>
              </a:lnSpc>
            </a:pPr>
            <a:r>
              <a:rPr lang="en-US" sz="1800">
                <a:solidFill>
                  <a:srgbClr val="000000"/>
                </a:solidFill>
                <a:latin typeface="Arial"/>
                <a:ea typeface="Arial"/>
                <a:cs typeface="Arial"/>
                <a:sym typeface="Arial"/>
              </a:rPr>
              <a:t>Sneider Plata-Development leader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r>
              <a:rPr lang="es-CO" dirty="0"/>
              <a:t>&lt;</a:t>
            </a:r>
          </a:p>
        </p:txBody>
      </p:sp>
      <p:grpSp>
        <p:nvGrpSpPr>
          <p:cNvPr id="3" name="Group 3"/>
          <p:cNvGrpSpPr/>
          <p:nvPr/>
        </p:nvGrpSpPr>
        <p:grpSpPr>
          <a:xfrm>
            <a:off x="811520" y="1179576"/>
            <a:ext cx="16184699" cy="1165950"/>
            <a:chOff x="0" y="0"/>
            <a:chExt cx="21579599" cy="1554600"/>
          </a:xfrm>
        </p:grpSpPr>
        <p:sp>
          <p:nvSpPr>
            <p:cNvPr id="4" name="Freeform 4"/>
            <p:cNvSpPr/>
            <p:nvPr/>
          </p:nvSpPr>
          <p:spPr>
            <a:xfrm>
              <a:off x="0" y="0"/>
              <a:ext cx="21579601" cy="1554606"/>
            </a:xfrm>
            <a:custGeom>
              <a:avLst/>
              <a:gdLst/>
              <a:ahLst/>
              <a:cxnLst/>
              <a:rect l="l" t="t" r="r" b="b"/>
              <a:pathLst>
                <a:path w="21579601" h="1554606">
                  <a:moveTo>
                    <a:pt x="0" y="0"/>
                  </a:moveTo>
                  <a:lnTo>
                    <a:pt x="21579601" y="0"/>
                  </a:lnTo>
                  <a:lnTo>
                    <a:pt x="21579601" y="1554606"/>
                  </a:lnTo>
                  <a:lnTo>
                    <a:pt x="0" y="1554606"/>
                  </a:lnTo>
                  <a:close/>
                </a:path>
              </a:pathLst>
            </a:custGeom>
            <a:blipFill>
              <a:blip r:embed="rId4">
                <a:alphaModFix amt="0"/>
              </a:blip>
              <a:stretch>
                <a:fillRect t="-220473" b="-220472"/>
              </a:stretch>
            </a:blipFill>
          </p:spPr>
          <p:txBody>
            <a:bodyPr/>
            <a:lstStyle/>
            <a:p>
              <a:endParaRPr lang="es-CO"/>
            </a:p>
          </p:txBody>
        </p:sp>
        <p:sp>
          <p:nvSpPr>
            <p:cNvPr id="5" name="TextBox 5"/>
            <p:cNvSpPr txBox="1"/>
            <p:nvPr/>
          </p:nvSpPr>
          <p:spPr>
            <a:xfrm>
              <a:off x="0" y="0"/>
              <a:ext cx="21579599" cy="1554600"/>
            </a:xfrm>
            <a:prstGeom prst="rect">
              <a:avLst/>
            </a:prstGeom>
          </p:spPr>
          <p:txBody>
            <a:bodyPr lIns="0" tIns="0" rIns="0" bIns="0" rtlCol="0" anchor="ctr"/>
            <a:lstStyle/>
            <a:p>
              <a:pPr algn="l">
                <a:lnSpc>
                  <a:spcPts val="6480"/>
                </a:lnSpc>
              </a:pPr>
              <a:r>
                <a:rPr lang="en-US" sz="5400" b="1">
                  <a:solidFill>
                    <a:srgbClr val="38AA00"/>
                  </a:solidFill>
                  <a:latin typeface="Work Sans Bold"/>
                  <a:ea typeface="Work Sans Bold"/>
                  <a:cs typeface="Work Sans Bold"/>
                  <a:sym typeface="Work Sans Bold"/>
                </a:rPr>
                <a:t>¿Qué es DMI?</a:t>
              </a:r>
            </a:p>
          </p:txBody>
        </p:sp>
      </p:grpSp>
      <p:grpSp>
        <p:nvGrpSpPr>
          <p:cNvPr id="6" name="Group 6"/>
          <p:cNvGrpSpPr/>
          <p:nvPr/>
        </p:nvGrpSpPr>
        <p:grpSpPr>
          <a:xfrm>
            <a:off x="811520" y="2592324"/>
            <a:ext cx="8915400" cy="1581506"/>
            <a:chOff x="0" y="0"/>
            <a:chExt cx="11887200" cy="2108674"/>
          </a:xfrm>
        </p:grpSpPr>
        <p:sp>
          <p:nvSpPr>
            <p:cNvPr id="7" name="Freeform 7"/>
            <p:cNvSpPr/>
            <p:nvPr/>
          </p:nvSpPr>
          <p:spPr>
            <a:xfrm>
              <a:off x="0" y="0"/>
              <a:ext cx="11887200" cy="2108668"/>
            </a:xfrm>
            <a:custGeom>
              <a:avLst/>
              <a:gdLst/>
              <a:ahLst/>
              <a:cxnLst/>
              <a:rect l="l" t="t" r="r" b="b"/>
              <a:pathLst>
                <a:path w="11887200" h="2108668">
                  <a:moveTo>
                    <a:pt x="0" y="0"/>
                  </a:moveTo>
                  <a:lnTo>
                    <a:pt x="11887200" y="0"/>
                  </a:lnTo>
                  <a:lnTo>
                    <a:pt x="11887200" y="2108668"/>
                  </a:lnTo>
                  <a:lnTo>
                    <a:pt x="0" y="2108668"/>
                  </a:lnTo>
                  <a:close/>
                </a:path>
              </a:pathLst>
            </a:custGeom>
            <a:blipFill>
              <a:blip r:embed="rId4">
                <a:alphaModFix amt="0"/>
              </a:blip>
              <a:stretch>
                <a:fillRect t="-59977" b="-59708"/>
              </a:stretch>
            </a:blipFill>
          </p:spPr>
          <p:txBody>
            <a:bodyPr/>
            <a:lstStyle/>
            <a:p>
              <a:endParaRPr lang="es-CO"/>
            </a:p>
          </p:txBody>
        </p:sp>
        <p:sp>
          <p:nvSpPr>
            <p:cNvPr id="8" name="TextBox 8"/>
            <p:cNvSpPr txBox="1"/>
            <p:nvPr/>
          </p:nvSpPr>
          <p:spPr>
            <a:xfrm>
              <a:off x="0" y="-85725"/>
              <a:ext cx="11887200" cy="2194399"/>
            </a:xfrm>
            <a:prstGeom prst="rect">
              <a:avLst/>
            </a:prstGeom>
          </p:spPr>
          <p:txBody>
            <a:bodyPr lIns="0" tIns="0" rIns="0" bIns="0" rtlCol="0" anchor="ctr"/>
            <a:lstStyle/>
            <a:p>
              <a:pPr algn="l">
                <a:lnSpc>
                  <a:spcPts val="3001"/>
                </a:lnSpc>
              </a:pPr>
              <a:r>
                <a:rPr lang="en-US" sz="2175">
                  <a:solidFill>
                    <a:srgbClr val="22292E"/>
                  </a:solidFill>
                  <a:latin typeface="Calibri (MS)"/>
                  <a:ea typeface="Calibri (MS)"/>
                  <a:cs typeface="Calibri (MS)"/>
                  <a:sym typeface="Calibri (MS)"/>
                </a:rPr>
                <a:t>Plataforma web de mecanica para Disol Motors Injection, es un sistema de información web diseñado para optimizar la gestión de un taller de mecánica automotriz. Su objetivo principal es facilitar la administración de vehículos, clientes, servicios, citas e inventario mediante una plataforma digital.</a:t>
              </a:r>
            </a:p>
          </p:txBody>
        </p:sp>
      </p:grpSp>
      <p:grpSp>
        <p:nvGrpSpPr>
          <p:cNvPr id="9" name="Group 9"/>
          <p:cNvGrpSpPr/>
          <p:nvPr/>
        </p:nvGrpSpPr>
        <p:grpSpPr>
          <a:xfrm>
            <a:off x="811520" y="4238244"/>
            <a:ext cx="6858000" cy="480146"/>
            <a:chOff x="0" y="0"/>
            <a:chExt cx="9144000" cy="640194"/>
          </a:xfrm>
        </p:grpSpPr>
        <p:sp>
          <p:nvSpPr>
            <p:cNvPr id="10" name="Freeform 10"/>
            <p:cNvSpPr/>
            <p:nvPr/>
          </p:nvSpPr>
          <p:spPr>
            <a:xfrm>
              <a:off x="0" y="0"/>
              <a:ext cx="9144000" cy="640200"/>
            </a:xfrm>
            <a:custGeom>
              <a:avLst/>
              <a:gdLst/>
              <a:ahLst/>
              <a:cxnLst/>
              <a:rect l="l" t="t" r="r" b="b"/>
              <a:pathLst>
                <a:path w="9144000" h="640200">
                  <a:moveTo>
                    <a:pt x="0" y="0"/>
                  </a:moveTo>
                  <a:lnTo>
                    <a:pt x="9144000" y="0"/>
                  </a:lnTo>
                  <a:lnTo>
                    <a:pt x="9144000" y="640200"/>
                  </a:lnTo>
                  <a:lnTo>
                    <a:pt x="0" y="640200"/>
                  </a:lnTo>
                  <a:close/>
                </a:path>
              </a:pathLst>
            </a:custGeom>
            <a:blipFill>
              <a:blip r:embed="rId4">
                <a:alphaModFix amt="0"/>
              </a:blip>
              <a:stretch>
                <a:fillRect t="-228305" b="-228305"/>
              </a:stretch>
            </a:blipFill>
          </p:spPr>
          <p:txBody>
            <a:bodyPr/>
            <a:lstStyle/>
            <a:p>
              <a:endParaRPr lang="es-CO"/>
            </a:p>
          </p:txBody>
        </p:sp>
        <p:sp>
          <p:nvSpPr>
            <p:cNvPr id="11" name="TextBox 11"/>
            <p:cNvSpPr txBox="1"/>
            <p:nvPr/>
          </p:nvSpPr>
          <p:spPr>
            <a:xfrm>
              <a:off x="0" y="-47625"/>
              <a:ext cx="9144000" cy="687819"/>
            </a:xfrm>
            <a:prstGeom prst="rect">
              <a:avLst/>
            </a:prstGeom>
          </p:spPr>
          <p:txBody>
            <a:bodyPr lIns="0" tIns="0" rIns="0" bIns="0" rtlCol="0" anchor="ctr"/>
            <a:lstStyle/>
            <a:p>
              <a:pPr algn="l">
                <a:lnSpc>
                  <a:spcPts val="2520"/>
                </a:lnSpc>
              </a:pPr>
              <a:r>
                <a:rPr lang="en-US" sz="2100" b="1">
                  <a:solidFill>
                    <a:srgbClr val="00304D"/>
                  </a:solidFill>
                  <a:latin typeface="Calibri (MS) Bold"/>
                  <a:ea typeface="Calibri (MS) Bold"/>
                  <a:cs typeface="Calibri (MS) Bold"/>
                  <a:sym typeface="Calibri (MS) Bold"/>
                </a:rPr>
                <a:t>El sistema permite:</a:t>
              </a:r>
            </a:p>
          </p:txBody>
        </p:sp>
      </p:grpSp>
      <p:grpSp>
        <p:nvGrpSpPr>
          <p:cNvPr id="12" name="Group 12"/>
          <p:cNvGrpSpPr/>
          <p:nvPr/>
        </p:nvGrpSpPr>
        <p:grpSpPr>
          <a:xfrm>
            <a:off x="811520" y="4855464"/>
            <a:ext cx="521103" cy="521103"/>
            <a:chOff x="0" y="0"/>
            <a:chExt cx="694804" cy="694804"/>
          </a:xfrm>
        </p:grpSpPr>
        <p:sp>
          <p:nvSpPr>
            <p:cNvPr id="13" name="Freeform 13"/>
            <p:cNvSpPr/>
            <p:nvPr/>
          </p:nvSpPr>
          <p:spPr>
            <a:xfrm>
              <a:off x="0" y="0"/>
              <a:ext cx="694817" cy="694817"/>
            </a:xfrm>
            <a:custGeom>
              <a:avLst/>
              <a:gdLst/>
              <a:ahLst/>
              <a:cxnLst/>
              <a:rect l="l" t="t" r="r" b="b"/>
              <a:pathLst>
                <a:path w="694817" h="694817">
                  <a:moveTo>
                    <a:pt x="0" y="347345"/>
                  </a:moveTo>
                  <a:cubicBezTo>
                    <a:pt x="0" y="155575"/>
                    <a:pt x="155575" y="0"/>
                    <a:pt x="347345" y="0"/>
                  </a:cubicBezTo>
                  <a:cubicBezTo>
                    <a:pt x="539115" y="0"/>
                    <a:pt x="694817" y="155575"/>
                    <a:pt x="694817" y="347345"/>
                  </a:cubicBezTo>
                  <a:cubicBezTo>
                    <a:pt x="694817" y="539115"/>
                    <a:pt x="539242" y="694817"/>
                    <a:pt x="347345" y="694817"/>
                  </a:cubicBezTo>
                  <a:cubicBezTo>
                    <a:pt x="155448" y="694817"/>
                    <a:pt x="0" y="539242"/>
                    <a:pt x="0" y="347345"/>
                  </a:cubicBezTo>
                  <a:close/>
                </a:path>
              </a:pathLst>
            </a:custGeom>
            <a:solidFill>
              <a:srgbClr val="39A900"/>
            </a:solidFill>
          </p:spPr>
          <p:txBody>
            <a:bodyPr/>
            <a:lstStyle/>
            <a:p>
              <a:endParaRPr lang="es-CO"/>
            </a:p>
          </p:txBody>
        </p:sp>
      </p:grpSp>
      <p:grpSp>
        <p:nvGrpSpPr>
          <p:cNvPr id="14" name="Group 14"/>
          <p:cNvGrpSpPr/>
          <p:nvPr/>
        </p:nvGrpSpPr>
        <p:grpSpPr>
          <a:xfrm>
            <a:off x="947033" y="4990976"/>
            <a:ext cx="250184" cy="250184"/>
            <a:chOff x="0" y="0"/>
            <a:chExt cx="333578" cy="333578"/>
          </a:xfrm>
        </p:grpSpPr>
        <p:sp>
          <p:nvSpPr>
            <p:cNvPr id="15" name="Freeform 15" descr="icons/window.png"/>
            <p:cNvSpPr/>
            <p:nvPr/>
          </p:nvSpPr>
          <p:spPr>
            <a:xfrm>
              <a:off x="0" y="0"/>
              <a:ext cx="333629" cy="333629"/>
            </a:xfrm>
            <a:custGeom>
              <a:avLst/>
              <a:gdLst/>
              <a:ahLst/>
              <a:cxnLst/>
              <a:rect l="l" t="t" r="r" b="b"/>
              <a:pathLst>
                <a:path w="333629" h="333629">
                  <a:moveTo>
                    <a:pt x="0" y="0"/>
                  </a:moveTo>
                  <a:lnTo>
                    <a:pt x="333629" y="0"/>
                  </a:lnTo>
                  <a:lnTo>
                    <a:pt x="333629" y="333629"/>
                  </a:lnTo>
                  <a:lnTo>
                    <a:pt x="0" y="333629"/>
                  </a:lnTo>
                  <a:lnTo>
                    <a:pt x="0" y="0"/>
                  </a:lnTo>
                  <a:close/>
                </a:path>
              </a:pathLst>
            </a:custGeom>
            <a:blipFill>
              <a:blip r:embed="rId5"/>
              <a:stretch>
                <a:fillRect r="15" b="15"/>
              </a:stretch>
            </a:blipFill>
          </p:spPr>
          <p:txBody>
            <a:bodyPr/>
            <a:lstStyle/>
            <a:p>
              <a:endParaRPr lang="es-CO"/>
            </a:p>
          </p:txBody>
        </p:sp>
      </p:grpSp>
      <p:grpSp>
        <p:nvGrpSpPr>
          <p:cNvPr id="16" name="Group 16"/>
          <p:cNvGrpSpPr/>
          <p:nvPr/>
        </p:nvGrpSpPr>
        <p:grpSpPr>
          <a:xfrm>
            <a:off x="1565900" y="4814316"/>
            <a:ext cx="7955099" cy="603450"/>
            <a:chOff x="0" y="0"/>
            <a:chExt cx="10606799" cy="804600"/>
          </a:xfrm>
        </p:grpSpPr>
        <p:sp>
          <p:nvSpPr>
            <p:cNvPr id="17" name="Freeform 17"/>
            <p:cNvSpPr/>
            <p:nvPr/>
          </p:nvSpPr>
          <p:spPr>
            <a:xfrm>
              <a:off x="0" y="0"/>
              <a:ext cx="10606800" cy="804604"/>
            </a:xfrm>
            <a:custGeom>
              <a:avLst/>
              <a:gdLst/>
              <a:ahLst/>
              <a:cxnLst/>
              <a:rect l="l" t="t" r="r" b="b"/>
              <a:pathLst>
                <a:path w="10606800" h="804604">
                  <a:moveTo>
                    <a:pt x="0" y="0"/>
                  </a:moveTo>
                  <a:lnTo>
                    <a:pt x="10606800" y="0"/>
                  </a:lnTo>
                  <a:lnTo>
                    <a:pt x="10606800" y="804604"/>
                  </a:lnTo>
                  <a:lnTo>
                    <a:pt x="0" y="804604"/>
                  </a:lnTo>
                  <a:close/>
                </a:path>
              </a:pathLst>
            </a:custGeom>
            <a:blipFill>
              <a:blip r:embed="rId4">
                <a:alphaModFix amt="0"/>
              </a:blip>
              <a:stretch>
                <a:fillRect t="-206864" b="-206863"/>
              </a:stretch>
            </a:blipFill>
          </p:spPr>
          <p:txBody>
            <a:bodyPr/>
            <a:lstStyle/>
            <a:p>
              <a:endParaRPr lang="es-CO"/>
            </a:p>
          </p:txBody>
        </p:sp>
        <p:sp>
          <p:nvSpPr>
            <p:cNvPr id="18" name="TextBox 18"/>
            <p:cNvSpPr txBox="1"/>
            <p:nvPr/>
          </p:nvSpPr>
          <p:spPr>
            <a:xfrm>
              <a:off x="0" y="-38100"/>
              <a:ext cx="10606799" cy="842700"/>
            </a:xfrm>
            <a:prstGeom prst="rect">
              <a:avLst/>
            </a:prstGeom>
          </p:spPr>
          <p:txBody>
            <a:bodyPr lIns="0" tIns="0" rIns="0" bIns="0" rtlCol="0" anchor="ctr"/>
            <a:lstStyle/>
            <a:p>
              <a:pPr algn="l">
                <a:lnSpc>
                  <a:spcPts val="2250"/>
                </a:lnSpc>
              </a:pPr>
              <a:r>
                <a:rPr lang="en-US" sz="1875">
                  <a:solidFill>
                    <a:srgbClr val="22292E"/>
                  </a:solidFill>
                  <a:latin typeface="Calibri (MS)"/>
                  <a:ea typeface="Calibri (MS)"/>
                  <a:cs typeface="Calibri (MS)"/>
                  <a:sym typeface="Calibri (MS)"/>
                </a:rPr>
                <a:t>Visualizar el catálogo de productos disponibles</a:t>
              </a:r>
            </a:p>
          </p:txBody>
        </p:sp>
      </p:grpSp>
      <p:grpSp>
        <p:nvGrpSpPr>
          <p:cNvPr id="19" name="Group 19"/>
          <p:cNvGrpSpPr/>
          <p:nvPr/>
        </p:nvGrpSpPr>
        <p:grpSpPr>
          <a:xfrm>
            <a:off x="811520" y="5623560"/>
            <a:ext cx="521103" cy="521103"/>
            <a:chOff x="0" y="0"/>
            <a:chExt cx="694804" cy="694804"/>
          </a:xfrm>
        </p:grpSpPr>
        <p:sp>
          <p:nvSpPr>
            <p:cNvPr id="20" name="Freeform 20"/>
            <p:cNvSpPr/>
            <p:nvPr/>
          </p:nvSpPr>
          <p:spPr>
            <a:xfrm>
              <a:off x="0" y="0"/>
              <a:ext cx="694817" cy="694817"/>
            </a:xfrm>
            <a:custGeom>
              <a:avLst/>
              <a:gdLst/>
              <a:ahLst/>
              <a:cxnLst/>
              <a:rect l="l" t="t" r="r" b="b"/>
              <a:pathLst>
                <a:path w="694817" h="694817">
                  <a:moveTo>
                    <a:pt x="0" y="347345"/>
                  </a:moveTo>
                  <a:cubicBezTo>
                    <a:pt x="0" y="155575"/>
                    <a:pt x="155575" y="0"/>
                    <a:pt x="347345" y="0"/>
                  </a:cubicBezTo>
                  <a:cubicBezTo>
                    <a:pt x="539115" y="0"/>
                    <a:pt x="694817" y="155575"/>
                    <a:pt x="694817" y="347345"/>
                  </a:cubicBezTo>
                  <a:cubicBezTo>
                    <a:pt x="694817" y="539115"/>
                    <a:pt x="539242" y="694817"/>
                    <a:pt x="347345" y="694817"/>
                  </a:cubicBezTo>
                  <a:cubicBezTo>
                    <a:pt x="155448" y="694817"/>
                    <a:pt x="0" y="539242"/>
                    <a:pt x="0" y="347345"/>
                  </a:cubicBezTo>
                  <a:close/>
                </a:path>
              </a:pathLst>
            </a:custGeom>
            <a:solidFill>
              <a:srgbClr val="39A900"/>
            </a:solidFill>
          </p:spPr>
          <p:txBody>
            <a:bodyPr/>
            <a:lstStyle/>
            <a:p>
              <a:endParaRPr lang="es-CO"/>
            </a:p>
          </p:txBody>
        </p:sp>
      </p:grpSp>
      <p:grpSp>
        <p:nvGrpSpPr>
          <p:cNvPr id="21" name="Group 21"/>
          <p:cNvGrpSpPr/>
          <p:nvPr/>
        </p:nvGrpSpPr>
        <p:grpSpPr>
          <a:xfrm>
            <a:off x="947033" y="5759072"/>
            <a:ext cx="250184" cy="250184"/>
            <a:chOff x="0" y="0"/>
            <a:chExt cx="333578" cy="333578"/>
          </a:xfrm>
        </p:grpSpPr>
        <p:sp>
          <p:nvSpPr>
            <p:cNvPr id="22" name="Freeform 22" descr="icons/filter.png"/>
            <p:cNvSpPr/>
            <p:nvPr/>
          </p:nvSpPr>
          <p:spPr>
            <a:xfrm>
              <a:off x="0" y="0"/>
              <a:ext cx="333629" cy="333629"/>
            </a:xfrm>
            <a:custGeom>
              <a:avLst/>
              <a:gdLst/>
              <a:ahLst/>
              <a:cxnLst/>
              <a:rect l="l" t="t" r="r" b="b"/>
              <a:pathLst>
                <a:path w="333629" h="333629">
                  <a:moveTo>
                    <a:pt x="0" y="0"/>
                  </a:moveTo>
                  <a:lnTo>
                    <a:pt x="333629" y="0"/>
                  </a:lnTo>
                  <a:lnTo>
                    <a:pt x="333629" y="333629"/>
                  </a:lnTo>
                  <a:lnTo>
                    <a:pt x="0" y="333629"/>
                  </a:lnTo>
                  <a:lnTo>
                    <a:pt x="0" y="0"/>
                  </a:lnTo>
                  <a:close/>
                </a:path>
              </a:pathLst>
            </a:custGeom>
            <a:blipFill>
              <a:blip r:embed="rId6"/>
              <a:stretch>
                <a:fillRect r="15" b="15"/>
              </a:stretch>
            </a:blipFill>
          </p:spPr>
          <p:txBody>
            <a:bodyPr/>
            <a:lstStyle/>
            <a:p>
              <a:endParaRPr lang="es-CO"/>
            </a:p>
          </p:txBody>
        </p:sp>
      </p:grpSp>
      <p:grpSp>
        <p:nvGrpSpPr>
          <p:cNvPr id="23" name="Group 23"/>
          <p:cNvGrpSpPr/>
          <p:nvPr/>
        </p:nvGrpSpPr>
        <p:grpSpPr>
          <a:xfrm>
            <a:off x="1565900" y="5582412"/>
            <a:ext cx="7955099" cy="603450"/>
            <a:chOff x="0" y="0"/>
            <a:chExt cx="10606799" cy="804600"/>
          </a:xfrm>
        </p:grpSpPr>
        <p:sp>
          <p:nvSpPr>
            <p:cNvPr id="24" name="Freeform 24"/>
            <p:cNvSpPr/>
            <p:nvPr/>
          </p:nvSpPr>
          <p:spPr>
            <a:xfrm>
              <a:off x="0" y="0"/>
              <a:ext cx="10606800" cy="804604"/>
            </a:xfrm>
            <a:custGeom>
              <a:avLst/>
              <a:gdLst/>
              <a:ahLst/>
              <a:cxnLst/>
              <a:rect l="l" t="t" r="r" b="b"/>
              <a:pathLst>
                <a:path w="10606800" h="804604">
                  <a:moveTo>
                    <a:pt x="0" y="0"/>
                  </a:moveTo>
                  <a:lnTo>
                    <a:pt x="10606800" y="0"/>
                  </a:lnTo>
                  <a:lnTo>
                    <a:pt x="10606800" y="804604"/>
                  </a:lnTo>
                  <a:lnTo>
                    <a:pt x="0" y="804604"/>
                  </a:lnTo>
                  <a:close/>
                </a:path>
              </a:pathLst>
            </a:custGeom>
            <a:blipFill>
              <a:blip r:embed="rId4">
                <a:alphaModFix amt="0"/>
              </a:blip>
              <a:stretch>
                <a:fillRect t="-206864" b="-206863"/>
              </a:stretch>
            </a:blipFill>
          </p:spPr>
          <p:txBody>
            <a:bodyPr/>
            <a:lstStyle/>
            <a:p>
              <a:endParaRPr lang="es-CO"/>
            </a:p>
          </p:txBody>
        </p:sp>
        <p:sp>
          <p:nvSpPr>
            <p:cNvPr id="25" name="TextBox 25"/>
            <p:cNvSpPr txBox="1"/>
            <p:nvPr/>
          </p:nvSpPr>
          <p:spPr>
            <a:xfrm>
              <a:off x="0" y="-38100"/>
              <a:ext cx="10606799" cy="842700"/>
            </a:xfrm>
            <a:prstGeom prst="rect">
              <a:avLst/>
            </a:prstGeom>
          </p:spPr>
          <p:txBody>
            <a:bodyPr lIns="0" tIns="0" rIns="0" bIns="0" rtlCol="0" anchor="ctr"/>
            <a:lstStyle/>
            <a:p>
              <a:pPr algn="l">
                <a:lnSpc>
                  <a:spcPts val="2250"/>
                </a:lnSpc>
              </a:pPr>
              <a:r>
                <a:rPr lang="en-US" sz="1875">
                  <a:solidFill>
                    <a:srgbClr val="22292E"/>
                  </a:solidFill>
                  <a:latin typeface="Calibri (MS)"/>
                  <a:ea typeface="Calibri (MS)"/>
                  <a:cs typeface="Calibri (MS)"/>
                  <a:sym typeface="Calibri (MS)"/>
                </a:rPr>
                <a:t>Mantener un inventario completo sobre los servicios y citas agendadas</a:t>
              </a:r>
            </a:p>
          </p:txBody>
        </p:sp>
      </p:grpSp>
      <p:grpSp>
        <p:nvGrpSpPr>
          <p:cNvPr id="26" name="Group 26"/>
          <p:cNvGrpSpPr/>
          <p:nvPr/>
        </p:nvGrpSpPr>
        <p:grpSpPr>
          <a:xfrm>
            <a:off x="811520" y="6428232"/>
            <a:ext cx="521103" cy="521103"/>
            <a:chOff x="0" y="0"/>
            <a:chExt cx="694804" cy="694804"/>
          </a:xfrm>
        </p:grpSpPr>
        <p:sp>
          <p:nvSpPr>
            <p:cNvPr id="27" name="Freeform 27"/>
            <p:cNvSpPr/>
            <p:nvPr/>
          </p:nvSpPr>
          <p:spPr>
            <a:xfrm>
              <a:off x="0" y="0"/>
              <a:ext cx="694817" cy="694817"/>
            </a:xfrm>
            <a:custGeom>
              <a:avLst/>
              <a:gdLst/>
              <a:ahLst/>
              <a:cxnLst/>
              <a:rect l="l" t="t" r="r" b="b"/>
              <a:pathLst>
                <a:path w="694817" h="694817">
                  <a:moveTo>
                    <a:pt x="0" y="347345"/>
                  </a:moveTo>
                  <a:cubicBezTo>
                    <a:pt x="0" y="155575"/>
                    <a:pt x="155575" y="0"/>
                    <a:pt x="347345" y="0"/>
                  </a:cubicBezTo>
                  <a:cubicBezTo>
                    <a:pt x="539115" y="0"/>
                    <a:pt x="694817" y="155575"/>
                    <a:pt x="694817" y="347345"/>
                  </a:cubicBezTo>
                  <a:cubicBezTo>
                    <a:pt x="694817" y="539115"/>
                    <a:pt x="539242" y="694817"/>
                    <a:pt x="347345" y="694817"/>
                  </a:cubicBezTo>
                  <a:cubicBezTo>
                    <a:pt x="155448" y="694817"/>
                    <a:pt x="0" y="539242"/>
                    <a:pt x="0" y="347345"/>
                  </a:cubicBezTo>
                  <a:close/>
                </a:path>
              </a:pathLst>
            </a:custGeom>
            <a:solidFill>
              <a:srgbClr val="39A900"/>
            </a:solidFill>
          </p:spPr>
          <p:txBody>
            <a:bodyPr/>
            <a:lstStyle/>
            <a:p>
              <a:endParaRPr lang="es-CO"/>
            </a:p>
          </p:txBody>
        </p:sp>
      </p:grpSp>
      <p:grpSp>
        <p:nvGrpSpPr>
          <p:cNvPr id="28" name="Group 28"/>
          <p:cNvGrpSpPr/>
          <p:nvPr/>
        </p:nvGrpSpPr>
        <p:grpSpPr>
          <a:xfrm>
            <a:off x="947033" y="6563744"/>
            <a:ext cx="250184" cy="250184"/>
            <a:chOff x="0" y="0"/>
            <a:chExt cx="333578" cy="333578"/>
          </a:xfrm>
        </p:grpSpPr>
        <p:sp>
          <p:nvSpPr>
            <p:cNvPr id="29" name="Freeform 29" descr="icons/cart.png"/>
            <p:cNvSpPr/>
            <p:nvPr/>
          </p:nvSpPr>
          <p:spPr>
            <a:xfrm>
              <a:off x="0" y="0"/>
              <a:ext cx="333629" cy="333629"/>
            </a:xfrm>
            <a:custGeom>
              <a:avLst/>
              <a:gdLst/>
              <a:ahLst/>
              <a:cxnLst/>
              <a:rect l="l" t="t" r="r" b="b"/>
              <a:pathLst>
                <a:path w="333629" h="333629">
                  <a:moveTo>
                    <a:pt x="0" y="0"/>
                  </a:moveTo>
                  <a:lnTo>
                    <a:pt x="333629" y="0"/>
                  </a:lnTo>
                  <a:lnTo>
                    <a:pt x="333629" y="333629"/>
                  </a:lnTo>
                  <a:lnTo>
                    <a:pt x="0" y="333629"/>
                  </a:lnTo>
                  <a:lnTo>
                    <a:pt x="0" y="0"/>
                  </a:lnTo>
                  <a:close/>
                </a:path>
              </a:pathLst>
            </a:custGeom>
            <a:blipFill>
              <a:blip r:embed="rId7"/>
              <a:stretch>
                <a:fillRect r="15" b="15"/>
              </a:stretch>
            </a:blipFill>
          </p:spPr>
          <p:txBody>
            <a:bodyPr/>
            <a:lstStyle/>
            <a:p>
              <a:endParaRPr lang="es-CO"/>
            </a:p>
          </p:txBody>
        </p:sp>
      </p:grpSp>
      <p:grpSp>
        <p:nvGrpSpPr>
          <p:cNvPr id="30" name="Group 30"/>
          <p:cNvGrpSpPr/>
          <p:nvPr/>
        </p:nvGrpSpPr>
        <p:grpSpPr>
          <a:xfrm>
            <a:off x="1565900" y="6387084"/>
            <a:ext cx="7955099" cy="603450"/>
            <a:chOff x="0" y="0"/>
            <a:chExt cx="10606799" cy="804600"/>
          </a:xfrm>
        </p:grpSpPr>
        <p:sp>
          <p:nvSpPr>
            <p:cNvPr id="31" name="Freeform 31"/>
            <p:cNvSpPr/>
            <p:nvPr/>
          </p:nvSpPr>
          <p:spPr>
            <a:xfrm>
              <a:off x="0" y="0"/>
              <a:ext cx="10606800" cy="804604"/>
            </a:xfrm>
            <a:custGeom>
              <a:avLst/>
              <a:gdLst/>
              <a:ahLst/>
              <a:cxnLst/>
              <a:rect l="l" t="t" r="r" b="b"/>
              <a:pathLst>
                <a:path w="10606800" h="804604">
                  <a:moveTo>
                    <a:pt x="0" y="0"/>
                  </a:moveTo>
                  <a:lnTo>
                    <a:pt x="10606800" y="0"/>
                  </a:lnTo>
                  <a:lnTo>
                    <a:pt x="10606800" y="804604"/>
                  </a:lnTo>
                  <a:lnTo>
                    <a:pt x="0" y="804604"/>
                  </a:lnTo>
                  <a:close/>
                </a:path>
              </a:pathLst>
            </a:custGeom>
            <a:blipFill>
              <a:blip r:embed="rId4">
                <a:alphaModFix amt="0"/>
              </a:blip>
              <a:stretch>
                <a:fillRect t="-206864" b="-206863"/>
              </a:stretch>
            </a:blipFill>
          </p:spPr>
          <p:txBody>
            <a:bodyPr/>
            <a:lstStyle/>
            <a:p>
              <a:endParaRPr lang="es-CO"/>
            </a:p>
          </p:txBody>
        </p:sp>
        <p:sp>
          <p:nvSpPr>
            <p:cNvPr id="32" name="TextBox 32"/>
            <p:cNvSpPr txBox="1"/>
            <p:nvPr/>
          </p:nvSpPr>
          <p:spPr>
            <a:xfrm>
              <a:off x="0" y="-38100"/>
              <a:ext cx="10606799" cy="842700"/>
            </a:xfrm>
            <a:prstGeom prst="rect">
              <a:avLst/>
            </a:prstGeom>
          </p:spPr>
          <p:txBody>
            <a:bodyPr lIns="0" tIns="0" rIns="0" bIns="0" rtlCol="0" anchor="ctr"/>
            <a:lstStyle/>
            <a:p>
              <a:pPr algn="l">
                <a:lnSpc>
                  <a:spcPts val="2250"/>
                </a:lnSpc>
              </a:pPr>
              <a:r>
                <a:rPr lang="en-US" sz="1875">
                  <a:solidFill>
                    <a:srgbClr val="22292E"/>
                  </a:solidFill>
                  <a:latin typeface="Calibri (MS)"/>
                  <a:ea typeface="Calibri (MS)"/>
                  <a:cs typeface="Calibri (MS)"/>
                  <a:sym typeface="Calibri (MS)"/>
                </a:rPr>
                <a:t>Poder realizar compras en linea dentro del sitio web</a:t>
              </a:r>
            </a:p>
          </p:txBody>
        </p:sp>
      </p:grpSp>
      <p:grpSp>
        <p:nvGrpSpPr>
          <p:cNvPr id="33" name="Group 33"/>
          <p:cNvGrpSpPr/>
          <p:nvPr/>
        </p:nvGrpSpPr>
        <p:grpSpPr>
          <a:xfrm>
            <a:off x="10344140" y="2592324"/>
            <a:ext cx="7132501" cy="6926399"/>
            <a:chOff x="0" y="0"/>
            <a:chExt cx="9510001" cy="9235199"/>
          </a:xfrm>
        </p:grpSpPr>
        <p:sp>
          <p:nvSpPr>
            <p:cNvPr id="34" name="Freeform 34"/>
            <p:cNvSpPr/>
            <p:nvPr/>
          </p:nvSpPr>
          <p:spPr>
            <a:xfrm>
              <a:off x="0" y="0"/>
              <a:ext cx="9510014" cy="9235186"/>
            </a:xfrm>
            <a:custGeom>
              <a:avLst/>
              <a:gdLst/>
              <a:ahLst/>
              <a:cxnLst/>
              <a:rect l="l" t="t" r="r" b="b"/>
              <a:pathLst>
                <a:path w="9510014" h="9235186">
                  <a:moveTo>
                    <a:pt x="0" y="146304"/>
                  </a:moveTo>
                  <a:cubicBezTo>
                    <a:pt x="0" y="65532"/>
                    <a:pt x="65532" y="0"/>
                    <a:pt x="146304" y="0"/>
                  </a:cubicBezTo>
                  <a:lnTo>
                    <a:pt x="9363710" y="0"/>
                  </a:lnTo>
                  <a:cubicBezTo>
                    <a:pt x="9444482" y="0"/>
                    <a:pt x="9510014" y="65532"/>
                    <a:pt x="9510014" y="146304"/>
                  </a:cubicBezTo>
                  <a:lnTo>
                    <a:pt x="9510014" y="9088882"/>
                  </a:lnTo>
                  <a:cubicBezTo>
                    <a:pt x="9510014" y="9169653"/>
                    <a:pt x="9444482" y="9235186"/>
                    <a:pt x="9363710" y="9235186"/>
                  </a:cubicBezTo>
                  <a:lnTo>
                    <a:pt x="146304" y="9235186"/>
                  </a:lnTo>
                  <a:cubicBezTo>
                    <a:pt x="65532" y="9235186"/>
                    <a:pt x="0" y="9169654"/>
                    <a:pt x="0" y="9088882"/>
                  </a:cubicBezTo>
                  <a:close/>
                </a:path>
              </a:pathLst>
            </a:custGeom>
            <a:solidFill>
              <a:srgbClr val="00304D"/>
            </a:solidFill>
          </p:spPr>
          <p:txBody>
            <a:bodyPr/>
            <a:lstStyle/>
            <a:p>
              <a:endParaRPr lang="es-CO"/>
            </a:p>
          </p:txBody>
        </p:sp>
      </p:grpSp>
      <p:grpSp>
        <p:nvGrpSpPr>
          <p:cNvPr id="35" name="Group 35"/>
          <p:cNvGrpSpPr/>
          <p:nvPr/>
        </p:nvGrpSpPr>
        <p:grpSpPr>
          <a:xfrm>
            <a:off x="10824200" y="2935224"/>
            <a:ext cx="6172200" cy="480146"/>
            <a:chOff x="0" y="0"/>
            <a:chExt cx="8229600" cy="640194"/>
          </a:xfrm>
        </p:grpSpPr>
        <p:sp>
          <p:nvSpPr>
            <p:cNvPr id="36" name="Freeform 36"/>
            <p:cNvSpPr/>
            <p:nvPr/>
          </p:nvSpPr>
          <p:spPr>
            <a:xfrm>
              <a:off x="0" y="0"/>
              <a:ext cx="8229600" cy="640200"/>
            </a:xfrm>
            <a:custGeom>
              <a:avLst/>
              <a:gdLst/>
              <a:ahLst/>
              <a:cxnLst/>
              <a:rect l="l" t="t" r="r" b="b"/>
              <a:pathLst>
                <a:path w="8229600" h="640200">
                  <a:moveTo>
                    <a:pt x="0" y="0"/>
                  </a:moveTo>
                  <a:lnTo>
                    <a:pt x="8229600" y="0"/>
                  </a:lnTo>
                  <a:lnTo>
                    <a:pt x="8229600" y="640200"/>
                  </a:lnTo>
                  <a:lnTo>
                    <a:pt x="0" y="640200"/>
                  </a:lnTo>
                  <a:close/>
                </a:path>
              </a:pathLst>
            </a:custGeom>
            <a:blipFill>
              <a:blip r:embed="rId4">
                <a:alphaModFix amt="0"/>
              </a:blip>
              <a:stretch>
                <a:fillRect t="-200475" b="-200474"/>
              </a:stretch>
            </a:blipFill>
          </p:spPr>
          <p:txBody>
            <a:bodyPr/>
            <a:lstStyle/>
            <a:p>
              <a:endParaRPr lang="es-CO" b="1">
                <a:solidFill>
                  <a:schemeClr val="bg1"/>
                </a:solidFill>
              </a:endParaRPr>
            </a:p>
          </p:txBody>
        </p:sp>
        <p:sp>
          <p:nvSpPr>
            <p:cNvPr id="37" name="TextBox 37"/>
            <p:cNvSpPr txBox="1"/>
            <p:nvPr/>
          </p:nvSpPr>
          <p:spPr>
            <a:xfrm>
              <a:off x="0" y="-38100"/>
              <a:ext cx="8229600" cy="678294"/>
            </a:xfrm>
            <a:prstGeom prst="rect">
              <a:avLst/>
            </a:prstGeom>
          </p:spPr>
          <p:txBody>
            <a:bodyPr lIns="0" tIns="0" rIns="0" bIns="0" rtlCol="0" anchor="ctr"/>
            <a:lstStyle/>
            <a:p>
              <a:pPr algn="l">
                <a:lnSpc>
                  <a:spcPts val="2160"/>
                </a:lnSpc>
              </a:pPr>
              <a:r>
                <a:rPr lang="en-US" sz="1800" b="1" dirty="0">
                  <a:solidFill>
                    <a:schemeClr val="bg1"/>
                  </a:solidFill>
                  <a:latin typeface="Calibri (MS) Bold"/>
                  <a:ea typeface="Calibri (MS) Bold"/>
                  <a:cs typeface="Calibri (MS) Bold"/>
                  <a:sym typeface="Calibri (MS) Bold"/>
                </a:rPr>
                <a:t>STACK PRINCIPAL</a:t>
              </a:r>
            </a:p>
          </p:txBody>
        </p:sp>
      </p:grpSp>
      <p:grpSp>
        <p:nvGrpSpPr>
          <p:cNvPr id="38" name="Group 38"/>
          <p:cNvGrpSpPr/>
          <p:nvPr/>
        </p:nvGrpSpPr>
        <p:grpSpPr>
          <a:xfrm>
            <a:off x="10824200" y="3621024"/>
            <a:ext cx="754199" cy="754199"/>
            <a:chOff x="0" y="0"/>
            <a:chExt cx="1005599" cy="1005599"/>
          </a:xfrm>
        </p:grpSpPr>
        <p:sp>
          <p:nvSpPr>
            <p:cNvPr id="39" name="Freeform 39"/>
            <p:cNvSpPr/>
            <p:nvPr/>
          </p:nvSpPr>
          <p:spPr>
            <a:xfrm>
              <a:off x="0" y="0"/>
              <a:ext cx="1005586" cy="1005586"/>
            </a:xfrm>
            <a:custGeom>
              <a:avLst/>
              <a:gdLst/>
              <a:ahLst/>
              <a:cxnLst/>
              <a:rect l="l" t="t" r="r" b="b"/>
              <a:pathLst>
                <a:path w="1005586" h="1005586">
                  <a:moveTo>
                    <a:pt x="0" y="502793"/>
                  </a:moveTo>
                  <a:cubicBezTo>
                    <a:pt x="0" y="225171"/>
                    <a:pt x="225171" y="0"/>
                    <a:pt x="502793" y="0"/>
                  </a:cubicBezTo>
                  <a:cubicBezTo>
                    <a:pt x="780415" y="0"/>
                    <a:pt x="1005586" y="225171"/>
                    <a:pt x="1005586" y="502793"/>
                  </a:cubicBezTo>
                  <a:cubicBezTo>
                    <a:pt x="1005586" y="780415"/>
                    <a:pt x="780542" y="1005586"/>
                    <a:pt x="502793" y="1005586"/>
                  </a:cubicBezTo>
                  <a:cubicBezTo>
                    <a:pt x="225044" y="1005586"/>
                    <a:pt x="0" y="780542"/>
                    <a:pt x="0" y="502793"/>
                  </a:cubicBezTo>
                  <a:close/>
                </a:path>
              </a:pathLst>
            </a:custGeom>
            <a:solidFill>
              <a:srgbClr val="39A900"/>
            </a:solidFill>
          </p:spPr>
          <p:txBody>
            <a:bodyPr/>
            <a:lstStyle/>
            <a:p>
              <a:endParaRPr lang="es-CO"/>
            </a:p>
          </p:txBody>
        </p:sp>
      </p:grpSp>
      <p:grpSp>
        <p:nvGrpSpPr>
          <p:cNvPr id="40" name="Group 40"/>
          <p:cNvGrpSpPr/>
          <p:nvPr/>
        </p:nvGrpSpPr>
        <p:grpSpPr>
          <a:xfrm>
            <a:off x="11020339" y="3817153"/>
            <a:ext cx="362102" cy="362102"/>
            <a:chOff x="0" y="0"/>
            <a:chExt cx="482803" cy="482803"/>
          </a:xfrm>
        </p:grpSpPr>
        <p:sp>
          <p:nvSpPr>
            <p:cNvPr id="41" name="Freeform 41" descr="icons/code.png"/>
            <p:cNvSpPr/>
            <p:nvPr/>
          </p:nvSpPr>
          <p:spPr>
            <a:xfrm>
              <a:off x="0" y="0"/>
              <a:ext cx="482854" cy="482854"/>
            </a:xfrm>
            <a:custGeom>
              <a:avLst/>
              <a:gdLst/>
              <a:ahLst/>
              <a:cxnLst/>
              <a:rect l="l" t="t" r="r" b="b"/>
              <a:pathLst>
                <a:path w="482854" h="482854">
                  <a:moveTo>
                    <a:pt x="0" y="0"/>
                  </a:moveTo>
                  <a:lnTo>
                    <a:pt x="482854" y="0"/>
                  </a:lnTo>
                  <a:lnTo>
                    <a:pt x="482854" y="482854"/>
                  </a:lnTo>
                  <a:lnTo>
                    <a:pt x="0" y="482854"/>
                  </a:lnTo>
                  <a:lnTo>
                    <a:pt x="0" y="0"/>
                  </a:lnTo>
                  <a:close/>
                </a:path>
              </a:pathLst>
            </a:custGeom>
            <a:blipFill>
              <a:blip r:embed="rId8"/>
              <a:stretch>
                <a:fillRect r="10" b="10"/>
              </a:stretch>
            </a:blipFill>
          </p:spPr>
          <p:txBody>
            <a:bodyPr/>
            <a:lstStyle/>
            <a:p>
              <a:endParaRPr lang="es-CO"/>
            </a:p>
          </p:txBody>
        </p:sp>
      </p:grpSp>
      <p:grpSp>
        <p:nvGrpSpPr>
          <p:cNvPr id="42" name="Group 42"/>
          <p:cNvGrpSpPr/>
          <p:nvPr/>
        </p:nvGrpSpPr>
        <p:grpSpPr>
          <a:xfrm>
            <a:off x="11852900" y="3621024"/>
            <a:ext cx="5349154" cy="411299"/>
            <a:chOff x="0" y="0"/>
            <a:chExt cx="7132206" cy="548399"/>
          </a:xfrm>
        </p:grpSpPr>
        <p:sp>
          <p:nvSpPr>
            <p:cNvPr id="43" name="Freeform 43"/>
            <p:cNvSpPr/>
            <p:nvPr/>
          </p:nvSpPr>
          <p:spPr>
            <a:xfrm>
              <a:off x="0" y="0"/>
              <a:ext cx="7132200" cy="548400"/>
            </a:xfrm>
            <a:custGeom>
              <a:avLst/>
              <a:gdLst/>
              <a:ahLst/>
              <a:cxnLst/>
              <a:rect l="l" t="t" r="r" b="b"/>
              <a:pathLst>
                <a:path w="7132200" h="548400">
                  <a:moveTo>
                    <a:pt x="0" y="0"/>
                  </a:moveTo>
                  <a:lnTo>
                    <a:pt x="7132200" y="0"/>
                  </a:lnTo>
                  <a:lnTo>
                    <a:pt x="7132200" y="548400"/>
                  </a:lnTo>
                  <a:lnTo>
                    <a:pt x="0" y="548400"/>
                  </a:lnTo>
                  <a:close/>
                </a:path>
              </a:pathLst>
            </a:custGeom>
            <a:blipFill>
              <a:blip r:embed="rId4">
                <a:alphaModFix amt="0"/>
              </a:blip>
              <a:stretch>
                <a:fillRect t="-203412" b="-203412"/>
              </a:stretch>
            </a:blipFill>
          </p:spPr>
          <p:txBody>
            <a:bodyPr/>
            <a:lstStyle/>
            <a:p>
              <a:endParaRPr lang="es-CO">
                <a:solidFill>
                  <a:srgbClr val="FFC000"/>
                </a:solidFill>
              </a:endParaRPr>
            </a:p>
          </p:txBody>
        </p:sp>
        <p:sp>
          <p:nvSpPr>
            <p:cNvPr id="44" name="TextBox 44"/>
            <p:cNvSpPr txBox="1"/>
            <p:nvPr/>
          </p:nvSpPr>
          <p:spPr>
            <a:xfrm>
              <a:off x="0" y="-47625"/>
              <a:ext cx="7132206" cy="596024"/>
            </a:xfrm>
            <a:prstGeom prst="rect">
              <a:avLst/>
            </a:prstGeom>
          </p:spPr>
          <p:txBody>
            <a:bodyPr lIns="0" tIns="0" rIns="0" bIns="0" rtlCol="0" anchor="ctr"/>
            <a:lstStyle/>
            <a:p>
              <a:pPr algn="l">
                <a:lnSpc>
                  <a:spcPts val="2340"/>
                </a:lnSpc>
              </a:pPr>
              <a:r>
                <a:rPr lang="en-US" sz="1950" b="1" dirty="0">
                  <a:solidFill>
                    <a:srgbClr val="FFC000"/>
                  </a:solidFill>
                  <a:latin typeface="Calibri (MS) Bold"/>
                  <a:ea typeface="Calibri (MS) Bold"/>
                  <a:cs typeface="Calibri (MS) Bold"/>
                  <a:sym typeface="Calibri (MS) Bold"/>
                </a:rPr>
                <a:t>Frontend</a:t>
              </a:r>
            </a:p>
          </p:txBody>
        </p:sp>
      </p:grpSp>
      <p:grpSp>
        <p:nvGrpSpPr>
          <p:cNvPr id="45" name="Group 45"/>
          <p:cNvGrpSpPr/>
          <p:nvPr/>
        </p:nvGrpSpPr>
        <p:grpSpPr>
          <a:xfrm>
            <a:off x="11852900" y="4018788"/>
            <a:ext cx="5349154" cy="411300"/>
            <a:chOff x="0" y="0"/>
            <a:chExt cx="7132206" cy="548400"/>
          </a:xfrm>
        </p:grpSpPr>
        <p:sp>
          <p:nvSpPr>
            <p:cNvPr id="46" name="Freeform 46"/>
            <p:cNvSpPr/>
            <p:nvPr/>
          </p:nvSpPr>
          <p:spPr>
            <a:xfrm>
              <a:off x="0" y="0"/>
              <a:ext cx="7132200" cy="548401"/>
            </a:xfrm>
            <a:custGeom>
              <a:avLst/>
              <a:gdLst/>
              <a:ahLst/>
              <a:cxnLst/>
              <a:rect l="l" t="t" r="r" b="b"/>
              <a:pathLst>
                <a:path w="7132200" h="548401">
                  <a:moveTo>
                    <a:pt x="0" y="0"/>
                  </a:moveTo>
                  <a:lnTo>
                    <a:pt x="7132200" y="0"/>
                  </a:lnTo>
                  <a:lnTo>
                    <a:pt x="7132200" y="548401"/>
                  </a:lnTo>
                  <a:lnTo>
                    <a:pt x="0" y="548401"/>
                  </a:lnTo>
                  <a:close/>
                </a:path>
              </a:pathLst>
            </a:custGeom>
            <a:blipFill>
              <a:blip r:embed="rId4">
                <a:alphaModFix amt="0"/>
              </a:blip>
              <a:stretch>
                <a:fillRect t="-203411" b="-203411"/>
              </a:stretch>
            </a:blipFill>
          </p:spPr>
          <p:txBody>
            <a:bodyPr/>
            <a:lstStyle/>
            <a:p>
              <a:endParaRPr lang="es-CO" b="1">
                <a:solidFill>
                  <a:schemeClr val="bg1"/>
                </a:solidFill>
              </a:endParaRPr>
            </a:p>
          </p:txBody>
        </p:sp>
        <p:sp>
          <p:nvSpPr>
            <p:cNvPr id="47" name="TextBox 47"/>
            <p:cNvSpPr txBox="1"/>
            <p:nvPr/>
          </p:nvSpPr>
          <p:spPr>
            <a:xfrm>
              <a:off x="0" y="-28575"/>
              <a:ext cx="7132206" cy="576975"/>
            </a:xfrm>
            <a:prstGeom prst="rect">
              <a:avLst/>
            </a:prstGeom>
          </p:spPr>
          <p:txBody>
            <a:bodyPr lIns="0" tIns="0" rIns="0" bIns="0" rtlCol="0" anchor="ctr"/>
            <a:lstStyle/>
            <a:p>
              <a:pPr algn="l">
                <a:lnSpc>
                  <a:spcPts val="1980"/>
                </a:lnSpc>
              </a:pPr>
              <a:r>
                <a:rPr lang="en-US" sz="1650" b="1" dirty="0">
                  <a:solidFill>
                    <a:schemeClr val="bg1"/>
                  </a:solidFill>
                  <a:latin typeface="Calibri (MS)"/>
                  <a:ea typeface="Calibri (MS)"/>
                  <a:cs typeface="Calibri (MS)"/>
                  <a:sym typeface="Calibri (MS)"/>
                </a:rPr>
                <a:t>React - JS - CSS - Boostrap</a:t>
              </a:r>
            </a:p>
          </p:txBody>
        </p:sp>
      </p:grpSp>
      <p:grpSp>
        <p:nvGrpSpPr>
          <p:cNvPr id="48" name="Group 48"/>
          <p:cNvGrpSpPr/>
          <p:nvPr/>
        </p:nvGrpSpPr>
        <p:grpSpPr>
          <a:xfrm>
            <a:off x="10824200" y="4800590"/>
            <a:ext cx="754199" cy="754199"/>
            <a:chOff x="0" y="0"/>
            <a:chExt cx="1005599" cy="1005599"/>
          </a:xfrm>
        </p:grpSpPr>
        <p:sp>
          <p:nvSpPr>
            <p:cNvPr id="49" name="Freeform 49"/>
            <p:cNvSpPr/>
            <p:nvPr/>
          </p:nvSpPr>
          <p:spPr>
            <a:xfrm>
              <a:off x="0" y="0"/>
              <a:ext cx="1005586" cy="1005586"/>
            </a:xfrm>
            <a:custGeom>
              <a:avLst/>
              <a:gdLst/>
              <a:ahLst/>
              <a:cxnLst/>
              <a:rect l="l" t="t" r="r" b="b"/>
              <a:pathLst>
                <a:path w="1005586" h="1005586">
                  <a:moveTo>
                    <a:pt x="0" y="502793"/>
                  </a:moveTo>
                  <a:cubicBezTo>
                    <a:pt x="0" y="225171"/>
                    <a:pt x="225171" y="0"/>
                    <a:pt x="502793" y="0"/>
                  </a:cubicBezTo>
                  <a:cubicBezTo>
                    <a:pt x="780415" y="0"/>
                    <a:pt x="1005586" y="225171"/>
                    <a:pt x="1005586" y="502793"/>
                  </a:cubicBezTo>
                  <a:cubicBezTo>
                    <a:pt x="1005586" y="780415"/>
                    <a:pt x="780542" y="1005586"/>
                    <a:pt x="502793" y="1005586"/>
                  </a:cubicBezTo>
                  <a:cubicBezTo>
                    <a:pt x="225044" y="1005586"/>
                    <a:pt x="0" y="780542"/>
                    <a:pt x="0" y="502793"/>
                  </a:cubicBezTo>
                  <a:close/>
                </a:path>
              </a:pathLst>
            </a:custGeom>
            <a:solidFill>
              <a:srgbClr val="39A900"/>
            </a:solidFill>
          </p:spPr>
          <p:txBody>
            <a:bodyPr/>
            <a:lstStyle/>
            <a:p>
              <a:endParaRPr lang="es-CO"/>
            </a:p>
          </p:txBody>
        </p:sp>
      </p:grpSp>
      <p:grpSp>
        <p:nvGrpSpPr>
          <p:cNvPr id="50" name="Group 50"/>
          <p:cNvGrpSpPr/>
          <p:nvPr/>
        </p:nvGrpSpPr>
        <p:grpSpPr>
          <a:xfrm>
            <a:off x="11020339" y="4996729"/>
            <a:ext cx="362102" cy="362102"/>
            <a:chOff x="0" y="0"/>
            <a:chExt cx="482803" cy="482803"/>
          </a:xfrm>
        </p:grpSpPr>
        <p:sp>
          <p:nvSpPr>
            <p:cNvPr id="51" name="Freeform 51" descr="icons/server.png"/>
            <p:cNvSpPr/>
            <p:nvPr/>
          </p:nvSpPr>
          <p:spPr>
            <a:xfrm>
              <a:off x="0" y="0"/>
              <a:ext cx="482854" cy="482854"/>
            </a:xfrm>
            <a:custGeom>
              <a:avLst/>
              <a:gdLst/>
              <a:ahLst/>
              <a:cxnLst/>
              <a:rect l="l" t="t" r="r" b="b"/>
              <a:pathLst>
                <a:path w="482854" h="482854">
                  <a:moveTo>
                    <a:pt x="0" y="0"/>
                  </a:moveTo>
                  <a:lnTo>
                    <a:pt x="482854" y="0"/>
                  </a:lnTo>
                  <a:lnTo>
                    <a:pt x="482854" y="482854"/>
                  </a:lnTo>
                  <a:lnTo>
                    <a:pt x="0" y="482854"/>
                  </a:lnTo>
                  <a:lnTo>
                    <a:pt x="0" y="0"/>
                  </a:lnTo>
                  <a:close/>
                </a:path>
              </a:pathLst>
            </a:custGeom>
            <a:blipFill>
              <a:blip r:embed="rId9"/>
              <a:stretch>
                <a:fillRect r="10" b="10"/>
              </a:stretch>
            </a:blipFill>
          </p:spPr>
          <p:txBody>
            <a:bodyPr/>
            <a:lstStyle/>
            <a:p>
              <a:endParaRPr lang="es-CO"/>
            </a:p>
          </p:txBody>
        </p:sp>
      </p:grpSp>
      <p:grpSp>
        <p:nvGrpSpPr>
          <p:cNvPr id="52" name="Group 52"/>
          <p:cNvGrpSpPr/>
          <p:nvPr/>
        </p:nvGrpSpPr>
        <p:grpSpPr>
          <a:xfrm>
            <a:off x="11852900" y="4800590"/>
            <a:ext cx="5349154" cy="411299"/>
            <a:chOff x="0" y="0"/>
            <a:chExt cx="7132206" cy="548399"/>
          </a:xfrm>
        </p:grpSpPr>
        <p:sp>
          <p:nvSpPr>
            <p:cNvPr id="53" name="Freeform 53"/>
            <p:cNvSpPr/>
            <p:nvPr/>
          </p:nvSpPr>
          <p:spPr>
            <a:xfrm>
              <a:off x="0" y="0"/>
              <a:ext cx="7132200" cy="548400"/>
            </a:xfrm>
            <a:custGeom>
              <a:avLst/>
              <a:gdLst/>
              <a:ahLst/>
              <a:cxnLst/>
              <a:rect l="l" t="t" r="r" b="b"/>
              <a:pathLst>
                <a:path w="7132200" h="548400">
                  <a:moveTo>
                    <a:pt x="0" y="0"/>
                  </a:moveTo>
                  <a:lnTo>
                    <a:pt x="7132200" y="0"/>
                  </a:lnTo>
                  <a:lnTo>
                    <a:pt x="7132200" y="548400"/>
                  </a:lnTo>
                  <a:lnTo>
                    <a:pt x="0" y="548400"/>
                  </a:lnTo>
                  <a:close/>
                </a:path>
              </a:pathLst>
            </a:custGeom>
            <a:blipFill>
              <a:blip r:embed="rId4">
                <a:alphaModFix amt="0"/>
              </a:blip>
              <a:stretch>
                <a:fillRect t="-203412" b="-203412"/>
              </a:stretch>
            </a:blipFill>
          </p:spPr>
          <p:txBody>
            <a:bodyPr/>
            <a:lstStyle/>
            <a:p>
              <a:endParaRPr lang="es-CO">
                <a:solidFill>
                  <a:srgbClr val="FFC000"/>
                </a:solidFill>
              </a:endParaRPr>
            </a:p>
          </p:txBody>
        </p:sp>
        <p:sp>
          <p:nvSpPr>
            <p:cNvPr id="54" name="TextBox 54"/>
            <p:cNvSpPr txBox="1"/>
            <p:nvPr/>
          </p:nvSpPr>
          <p:spPr>
            <a:xfrm>
              <a:off x="0" y="-47625"/>
              <a:ext cx="7132206" cy="596024"/>
            </a:xfrm>
            <a:prstGeom prst="rect">
              <a:avLst/>
            </a:prstGeom>
          </p:spPr>
          <p:txBody>
            <a:bodyPr lIns="0" tIns="0" rIns="0" bIns="0" rtlCol="0" anchor="ctr"/>
            <a:lstStyle/>
            <a:p>
              <a:pPr algn="l">
                <a:lnSpc>
                  <a:spcPts val="2340"/>
                </a:lnSpc>
              </a:pPr>
              <a:r>
                <a:rPr lang="en-US" sz="1950" b="1">
                  <a:solidFill>
                    <a:srgbClr val="FFC000"/>
                  </a:solidFill>
                  <a:latin typeface="Calibri (MS) Bold"/>
                  <a:ea typeface="Calibri (MS) Bold"/>
                  <a:cs typeface="Calibri (MS) Bold"/>
                  <a:sym typeface="Calibri (MS) Bold"/>
                </a:rPr>
                <a:t>Backend</a:t>
              </a:r>
            </a:p>
          </p:txBody>
        </p:sp>
      </p:grpSp>
      <p:grpSp>
        <p:nvGrpSpPr>
          <p:cNvPr id="55" name="Group 55"/>
          <p:cNvGrpSpPr/>
          <p:nvPr/>
        </p:nvGrpSpPr>
        <p:grpSpPr>
          <a:xfrm>
            <a:off x="11852900" y="5198364"/>
            <a:ext cx="5349154" cy="411300"/>
            <a:chOff x="0" y="0"/>
            <a:chExt cx="7132206" cy="548400"/>
          </a:xfrm>
        </p:grpSpPr>
        <p:sp>
          <p:nvSpPr>
            <p:cNvPr id="56" name="Freeform 56"/>
            <p:cNvSpPr/>
            <p:nvPr/>
          </p:nvSpPr>
          <p:spPr>
            <a:xfrm>
              <a:off x="0" y="0"/>
              <a:ext cx="7132200" cy="548401"/>
            </a:xfrm>
            <a:custGeom>
              <a:avLst/>
              <a:gdLst/>
              <a:ahLst/>
              <a:cxnLst/>
              <a:rect l="l" t="t" r="r" b="b"/>
              <a:pathLst>
                <a:path w="7132200" h="548401">
                  <a:moveTo>
                    <a:pt x="0" y="0"/>
                  </a:moveTo>
                  <a:lnTo>
                    <a:pt x="7132200" y="0"/>
                  </a:lnTo>
                  <a:lnTo>
                    <a:pt x="7132200" y="548401"/>
                  </a:lnTo>
                  <a:lnTo>
                    <a:pt x="0" y="548401"/>
                  </a:lnTo>
                  <a:close/>
                </a:path>
              </a:pathLst>
            </a:custGeom>
            <a:blipFill>
              <a:blip r:embed="rId4">
                <a:alphaModFix amt="0"/>
              </a:blip>
              <a:stretch>
                <a:fillRect t="-203411" b="-203411"/>
              </a:stretch>
            </a:blipFill>
          </p:spPr>
          <p:txBody>
            <a:bodyPr/>
            <a:lstStyle/>
            <a:p>
              <a:endParaRPr lang="es-CO" b="1">
                <a:solidFill>
                  <a:schemeClr val="bg1"/>
                </a:solidFill>
              </a:endParaRPr>
            </a:p>
          </p:txBody>
        </p:sp>
        <p:sp>
          <p:nvSpPr>
            <p:cNvPr id="57" name="TextBox 57"/>
            <p:cNvSpPr txBox="1"/>
            <p:nvPr/>
          </p:nvSpPr>
          <p:spPr>
            <a:xfrm>
              <a:off x="0" y="-28575"/>
              <a:ext cx="7132206" cy="576975"/>
            </a:xfrm>
            <a:prstGeom prst="rect">
              <a:avLst/>
            </a:prstGeom>
          </p:spPr>
          <p:txBody>
            <a:bodyPr lIns="0" tIns="0" rIns="0" bIns="0" rtlCol="0" anchor="ctr"/>
            <a:lstStyle/>
            <a:p>
              <a:pPr algn="l">
                <a:lnSpc>
                  <a:spcPts val="1980"/>
                </a:lnSpc>
              </a:pPr>
              <a:r>
                <a:rPr lang="en-US" sz="1650" b="1">
                  <a:solidFill>
                    <a:schemeClr val="bg1"/>
                  </a:solidFill>
                  <a:latin typeface="Calibri (MS)"/>
                  <a:ea typeface="Calibri (MS)"/>
                  <a:cs typeface="Calibri (MS)"/>
                  <a:sym typeface="Calibri (MS)"/>
                </a:rPr>
                <a:t>Python Fast api</a:t>
              </a:r>
            </a:p>
          </p:txBody>
        </p:sp>
      </p:grpSp>
      <p:grpSp>
        <p:nvGrpSpPr>
          <p:cNvPr id="58" name="Group 58"/>
          <p:cNvGrpSpPr/>
          <p:nvPr/>
        </p:nvGrpSpPr>
        <p:grpSpPr>
          <a:xfrm>
            <a:off x="10824200" y="5980176"/>
            <a:ext cx="754199" cy="754199"/>
            <a:chOff x="0" y="0"/>
            <a:chExt cx="1005599" cy="1005599"/>
          </a:xfrm>
        </p:grpSpPr>
        <p:sp>
          <p:nvSpPr>
            <p:cNvPr id="59" name="Freeform 59"/>
            <p:cNvSpPr/>
            <p:nvPr/>
          </p:nvSpPr>
          <p:spPr>
            <a:xfrm>
              <a:off x="0" y="0"/>
              <a:ext cx="1005586" cy="1005586"/>
            </a:xfrm>
            <a:custGeom>
              <a:avLst/>
              <a:gdLst/>
              <a:ahLst/>
              <a:cxnLst/>
              <a:rect l="l" t="t" r="r" b="b"/>
              <a:pathLst>
                <a:path w="1005586" h="1005586">
                  <a:moveTo>
                    <a:pt x="0" y="502793"/>
                  </a:moveTo>
                  <a:cubicBezTo>
                    <a:pt x="0" y="225171"/>
                    <a:pt x="225171" y="0"/>
                    <a:pt x="502793" y="0"/>
                  </a:cubicBezTo>
                  <a:cubicBezTo>
                    <a:pt x="780415" y="0"/>
                    <a:pt x="1005586" y="225171"/>
                    <a:pt x="1005586" y="502793"/>
                  </a:cubicBezTo>
                  <a:cubicBezTo>
                    <a:pt x="1005586" y="780415"/>
                    <a:pt x="780542" y="1005586"/>
                    <a:pt x="502793" y="1005586"/>
                  </a:cubicBezTo>
                  <a:cubicBezTo>
                    <a:pt x="225044" y="1005586"/>
                    <a:pt x="0" y="780542"/>
                    <a:pt x="0" y="502793"/>
                  </a:cubicBezTo>
                  <a:close/>
                </a:path>
              </a:pathLst>
            </a:custGeom>
            <a:solidFill>
              <a:srgbClr val="39A900"/>
            </a:solidFill>
          </p:spPr>
          <p:txBody>
            <a:bodyPr/>
            <a:lstStyle/>
            <a:p>
              <a:endParaRPr lang="es-CO"/>
            </a:p>
          </p:txBody>
        </p:sp>
      </p:grpSp>
      <p:grpSp>
        <p:nvGrpSpPr>
          <p:cNvPr id="60" name="Group 60"/>
          <p:cNvGrpSpPr/>
          <p:nvPr/>
        </p:nvGrpSpPr>
        <p:grpSpPr>
          <a:xfrm>
            <a:off x="11020339" y="6176305"/>
            <a:ext cx="362102" cy="362102"/>
            <a:chOff x="0" y="0"/>
            <a:chExt cx="482803" cy="482803"/>
          </a:xfrm>
        </p:grpSpPr>
        <p:sp>
          <p:nvSpPr>
            <p:cNvPr id="61" name="Freeform 61" descr="icons/database.png"/>
            <p:cNvSpPr/>
            <p:nvPr/>
          </p:nvSpPr>
          <p:spPr>
            <a:xfrm>
              <a:off x="0" y="0"/>
              <a:ext cx="482854" cy="482854"/>
            </a:xfrm>
            <a:custGeom>
              <a:avLst/>
              <a:gdLst/>
              <a:ahLst/>
              <a:cxnLst/>
              <a:rect l="l" t="t" r="r" b="b"/>
              <a:pathLst>
                <a:path w="482854" h="482854">
                  <a:moveTo>
                    <a:pt x="0" y="0"/>
                  </a:moveTo>
                  <a:lnTo>
                    <a:pt x="482854" y="0"/>
                  </a:lnTo>
                  <a:lnTo>
                    <a:pt x="482854" y="482854"/>
                  </a:lnTo>
                  <a:lnTo>
                    <a:pt x="0" y="482854"/>
                  </a:lnTo>
                  <a:lnTo>
                    <a:pt x="0" y="0"/>
                  </a:lnTo>
                  <a:close/>
                </a:path>
              </a:pathLst>
            </a:custGeom>
            <a:blipFill>
              <a:blip r:embed="rId10"/>
              <a:stretch>
                <a:fillRect r="10" b="10"/>
              </a:stretch>
            </a:blipFill>
          </p:spPr>
          <p:txBody>
            <a:bodyPr/>
            <a:lstStyle/>
            <a:p>
              <a:endParaRPr lang="es-CO"/>
            </a:p>
          </p:txBody>
        </p:sp>
      </p:grpSp>
      <p:grpSp>
        <p:nvGrpSpPr>
          <p:cNvPr id="62" name="Group 62"/>
          <p:cNvGrpSpPr/>
          <p:nvPr/>
        </p:nvGrpSpPr>
        <p:grpSpPr>
          <a:xfrm>
            <a:off x="11852900" y="5980176"/>
            <a:ext cx="5349154" cy="411299"/>
            <a:chOff x="0" y="0"/>
            <a:chExt cx="7132206" cy="548399"/>
          </a:xfrm>
        </p:grpSpPr>
        <p:sp>
          <p:nvSpPr>
            <p:cNvPr id="63" name="Freeform 63"/>
            <p:cNvSpPr/>
            <p:nvPr/>
          </p:nvSpPr>
          <p:spPr>
            <a:xfrm>
              <a:off x="0" y="0"/>
              <a:ext cx="7132200" cy="548400"/>
            </a:xfrm>
            <a:custGeom>
              <a:avLst/>
              <a:gdLst/>
              <a:ahLst/>
              <a:cxnLst/>
              <a:rect l="l" t="t" r="r" b="b"/>
              <a:pathLst>
                <a:path w="7132200" h="548400">
                  <a:moveTo>
                    <a:pt x="0" y="0"/>
                  </a:moveTo>
                  <a:lnTo>
                    <a:pt x="7132200" y="0"/>
                  </a:lnTo>
                  <a:lnTo>
                    <a:pt x="7132200" y="548400"/>
                  </a:lnTo>
                  <a:lnTo>
                    <a:pt x="0" y="548400"/>
                  </a:lnTo>
                  <a:close/>
                </a:path>
              </a:pathLst>
            </a:custGeom>
            <a:blipFill>
              <a:blip r:embed="rId4">
                <a:alphaModFix amt="0"/>
              </a:blip>
              <a:stretch>
                <a:fillRect t="-203412" b="-203412"/>
              </a:stretch>
            </a:blipFill>
          </p:spPr>
          <p:txBody>
            <a:bodyPr/>
            <a:lstStyle/>
            <a:p>
              <a:endParaRPr lang="es-CO">
                <a:solidFill>
                  <a:srgbClr val="FFC000"/>
                </a:solidFill>
              </a:endParaRPr>
            </a:p>
          </p:txBody>
        </p:sp>
        <p:sp>
          <p:nvSpPr>
            <p:cNvPr id="64" name="TextBox 64"/>
            <p:cNvSpPr txBox="1"/>
            <p:nvPr/>
          </p:nvSpPr>
          <p:spPr>
            <a:xfrm>
              <a:off x="0" y="-47625"/>
              <a:ext cx="7132206" cy="596024"/>
            </a:xfrm>
            <a:prstGeom prst="rect">
              <a:avLst/>
            </a:prstGeom>
          </p:spPr>
          <p:txBody>
            <a:bodyPr lIns="0" tIns="0" rIns="0" bIns="0" rtlCol="0" anchor="ctr"/>
            <a:lstStyle/>
            <a:p>
              <a:pPr algn="l">
                <a:lnSpc>
                  <a:spcPts val="2340"/>
                </a:lnSpc>
              </a:pPr>
              <a:r>
                <a:rPr lang="en-US" sz="1950" b="1" dirty="0">
                  <a:solidFill>
                    <a:srgbClr val="FFC000"/>
                  </a:solidFill>
                  <a:latin typeface="Calibri (MS) Bold"/>
                  <a:ea typeface="Calibri (MS) Bold"/>
                  <a:cs typeface="Calibri (MS) Bold"/>
                  <a:sym typeface="Calibri (MS) Bold"/>
                </a:rPr>
                <a:t>Base de </a:t>
              </a:r>
              <a:r>
                <a:rPr lang="en-US" sz="1950" b="1" dirty="0" err="1">
                  <a:solidFill>
                    <a:srgbClr val="FFC000"/>
                  </a:solidFill>
                  <a:latin typeface="Calibri (MS) Bold"/>
                  <a:ea typeface="Calibri (MS) Bold"/>
                  <a:cs typeface="Calibri (MS) Bold"/>
                  <a:sym typeface="Calibri (MS) Bold"/>
                </a:rPr>
                <a:t>datos</a:t>
              </a:r>
              <a:endParaRPr lang="en-US" sz="1950" b="1" dirty="0">
                <a:solidFill>
                  <a:srgbClr val="FFC000"/>
                </a:solidFill>
                <a:latin typeface="Calibri (MS) Bold"/>
                <a:ea typeface="Calibri (MS) Bold"/>
                <a:cs typeface="Calibri (MS) Bold"/>
                <a:sym typeface="Calibri (MS) Bold"/>
              </a:endParaRPr>
            </a:p>
          </p:txBody>
        </p:sp>
      </p:grpSp>
      <p:grpSp>
        <p:nvGrpSpPr>
          <p:cNvPr id="65" name="Group 65"/>
          <p:cNvGrpSpPr/>
          <p:nvPr/>
        </p:nvGrpSpPr>
        <p:grpSpPr>
          <a:xfrm>
            <a:off x="11852900" y="6377940"/>
            <a:ext cx="5349154" cy="411300"/>
            <a:chOff x="0" y="0"/>
            <a:chExt cx="7132206" cy="548400"/>
          </a:xfrm>
        </p:grpSpPr>
        <p:sp>
          <p:nvSpPr>
            <p:cNvPr id="66" name="Freeform 66"/>
            <p:cNvSpPr/>
            <p:nvPr/>
          </p:nvSpPr>
          <p:spPr>
            <a:xfrm>
              <a:off x="0" y="0"/>
              <a:ext cx="7132200" cy="548401"/>
            </a:xfrm>
            <a:custGeom>
              <a:avLst/>
              <a:gdLst/>
              <a:ahLst/>
              <a:cxnLst/>
              <a:rect l="l" t="t" r="r" b="b"/>
              <a:pathLst>
                <a:path w="7132200" h="548401">
                  <a:moveTo>
                    <a:pt x="0" y="0"/>
                  </a:moveTo>
                  <a:lnTo>
                    <a:pt x="7132200" y="0"/>
                  </a:lnTo>
                  <a:lnTo>
                    <a:pt x="7132200" y="548401"/>
                  </a:lnTo>
                  <a:lnTo>
                    <a:pt x="0" y="548401"/>
                  </a:lnTo>
                  <a:close/>
                </a:path>
              </a:pathLst>
            </a:custGeom>
            <a:blipFill>
              <a:blip r:embed="rId4">
                <a:alphaModFix amt="0"/>
              </a:blip>
              <a:stretch>
                <a:fillRect t="-203411" b="-203411"/>
              </a:stretch>
            </a:blipFill>
          </p:spPr>
          <p:txBody>
            <a:bodyPr/>
            <a:lstStyle/>
            <a:p>
              <a:endParaRPr lang="es-CO" b="1">
                <a:solidFill>
                  <a:schemeClr val="bg1"/>
                </a:solidFill>
              </a:endParaRPr>
            </a:p>
          </p:txBody>
        </p:sp>
        <p:sp>
          <p:nvSpPr>
            <p:cNvPr id="67" name="TextBox 67"/>
            <p:cNvSpPr txBox="1"/>
            <p:nvPr/>
          </p:nvSpPr>
          <p:spPr>
            <a:xfrm>
              <a:off x="0" y="-28575"/>
              <a:ext cx="7132206" cy="576975"/>
            </a:xfrm>
            <a:prstGeom prst="rect">
              <a:avLst/>
            </a:prstGeom>
          </p:spPr>
          <p:txBody>
            <a:bodyPr lIns="0" tIns="0" rIns="0" bIns="0" rtlCol="0" anchor="ctr"/>
            <a:lstStyle/>
            <a:p>
              <a:pPr algn="l">
                <a:lnSpc>
                  <a:spcPts val="1980"/>
                </a:lnSpc>
              </a:pPr>
              <a:r>
                <a:rPr lang="en-US" sz="1650" b="1">
                  <a:solidFill>
                    <a:schemeClr val="bg1"/>
                  </a:solidFill>
                  <a:latin typeface="Calibri (MS)"/>
                  <a:ea typeface="Calibri (MS)"/>
                  <a:cs typeface="Calibri (MS)"/>
                  <a:sym typeface="Calibri (MS)"/>
                </a:rPr>
                <a:t>supabase(postgreSQL)</a:t>
              </a:r>
            </a:p>
          </p:txBody>
        </p:sp>
      </p:grpSp>
      <p:grpSp>
        <p:nvGrpSpPr>
          <p:cNvPr id="68" name="Group 68"/>
          <p:cNvGrpSpPr/>
          <p:nvPr/>
        </p:nvGrpSpPr>
        <p:grpSpPr>
          <a:xfrm>
            <a:off x="10824200" y="7159752"/>
            <a:ext cx="754199" cy="754199"/>
            <a:chOff x="0" y="0"/>
            <a:chExt cx="1005599" cy="1005599"/>
          </a:xfrm>
        </p:grpSpPr>
        <p:sp>
          <p:nvSpPr>
            <p:cNvPr id="69" name="Freeform 69"/>
            <p:cNvSpPr/>
            <p:nvPr/>
          </p:nvSpPr>
          <p:spPr>
            <a:xfrm>
              <a:off x="0" y="0"/>
              <a:ext cx="1005586" cy="1005586"/>
            </a:xfrm>
            <a:custGeom>
              <a:avLst/>
              <a:gdLst/>
              <a:ahLst/>
              <a:cxnLst/>
              <a:rect l="l" t="t" r="r" b="b"/>
              <a:pathLst>
                <a:path w="1005586" h="1005586">
                  <a:moveTo>
                    <a:pt x="0" y="502793"/>
                  </a:moveTo>
                  <a:cubicBezTo>
                    <a:pt x="0" y="225171"/>
                    <a:pt x="225171" y="0"/>
                    <a:pt x="502793" y="0"/>
                  </a:cubicBezTo>
                  <a:cubicBezTo>
                    <a:pt x="780415" y="0"/>
                    <a:pt x="1005586" y="225171"/>
                    <a:pt x="1005586" y="502793"/>
                  </a:cubicBezTo>
                  <a:cubicBezTo>
                    <a:pt x="1005586" y="780415"/>
                    <a:pt x="780542" y="1005586"/>
                    <a:pt x="502793" y="1005586"/>
                  </a:cubicBezTo>
                  <a:cubicBezTo>
                    <a:pt x="225044" y="1005586"/>
                    <a:pt x="0" y="780542"/>
                    <a:pt x="0" y="502793"/>
                  </a:cubicBezTo>
                  <a:close/>
                </a:path>
              </a:pathLst>
            </a:custGeom>
            <a:solidFill>
              <a:srgbClr val="39A900"/>
            </a:solidFill>
          </p:spPr>
          <p:txBody>
            <a:bodyPr/>
            <a:lstStyle/>
            <a:p>
              <a:endParaRPr lang="es-CO"/>
            </a:p>
          </p:txBody>
        </p:sp>
      </p:grpSp>
      <p:grpSp>
        <p:nvGrpSpPr>
          <p:cNvPr id="70" name="Group 70"/>
          <p:cNvGrpSpPr/>
          <p:nvPr/>
        </p:nvGrpSpPr>
        <p:grpSpPr>
          <a:xfrm>
            <a:off x="11020339" y="7355881"/>
            <a:ext cx="362102" cy="362102"/>
            <a:chOff x="0" y="0"/>
            <a:chExt cx="482803" cy="482803"/>
          </a:xfrm>
        </p:grpSpPr>
        <p:sp>
          <p:nvSpPr>
            <p:cNvPr id="71" name="Freeform 71" descr="icons/cloud.png"/>
            <p:cNvSpPr/>
            <p:nvPr/>
          </p:nvSpPr>
          <p:spPr>
            <a:xfrm>
              <a:off x="0" y="0"/>
              <a:ext cx="482854" cy="482854"/>
            </a:xfrm>
            <a:custGeom>
              <a:avLst/>
              <a:gdLst/>
              <a:ahLst/>
              <a:cxnLst/>
              <a:rect l="l" t="t" r="r" b="b"/>
              <a:pathLst>
                <a:path w="482854" h="482854">
                  <a:moveTo>
                    <a:pt x="0" y="0"/>
                  </a:moveTo>
                  <a:lnTo>
                    <a:pt x="482854" y="0"/>
                  </a:lnTo>
                  <a:lnTo>
                    <a:pt x="482854" y="482854"/>
                  </a:lnTo>
                  <a:lnTo>
                    <a:pt x="0" y="482854"/>
                  </a:lnTo>
                  <a:lnTo>
                    <a:pt x="0" y="0"/>
                  </a:lnTo>
                  <a:close/>
                </a:path>
              </a:pathLst>
            </a:custGeom>
            <a:blipFill>
              <a:blip r:embed="rId11"/>
              <a:stretch>
                <a:fillRect r="10" b="10"/>
              </a:stretch>
            </a:blipFill>
          </p:spPr>
          <p:txBody>
            <a:bodyPr/>
            <a:lstStyle/>
            <a:p>
              <a:endParaRPr lang="es-CO"/>
            </a:p>
          </p:txBody>
        </p:sp>
      </p:grpSp>
      <p:grpSp>
        <p:nvGrpSpPr>
          <p:cNvPr id="72" name="Group 72"/>
          <p:cNvGrpSpPr/>
          <p:nvPr/>
        </p:nvGrpSpPr>
        <p:grpSpPr>
          <a:xfrm>
            <a:off x="11852900" y="7159752"/>
            <a:ext cx="5349154" cy="411299"/>
            <a:chOff x="0" y="0"/>
            <a:chExt cx="7132206" cy="548399"/>
          </a:xfrm>
        </p:grpSpPr>
        <p:sp>
          <p:nvSpPr>
            <p:cNvPr id="73" name="Freeform 73"/>
            <p:cNvSpPr/>
            <p:nvPr/>
          </p:nvSpPr>
          <p:spPr>
            <a:xfrm>
              <a:off x="0" y="0"/>
              <a:ext cx="7132200" cy="548400"/>
            </a:xfrm>
            <a:custGeom>
              <a:avLst/>
              <a:gdLst/>
              <a:ahLst/>
              <a:cxnLst/>
              <a:rect l="l" t="t" r="r" b="b"/>
              <a:pathLst>
                <a:path w="7132200" h="548400">
                  <a:moveTo>
                    <a:pt x="0" y="0"/>
                  </a:moveTo>
                  <a:lnTo>
                    <a:pt x="7132200" y="0"/>
                  </a:lnTo>
                  <a:lnTo>
                    <a:pt x="7132200" y="548400"/>
                  </a:lnTo>
                  <a:lnTo>
                    <a:pt x="0" y="548400"/>
                  </a:lnTo>
                  <a:close/>
                </a:path>
              </a:pathLst>
            </a:custGeom>
            <a:blipFill>
              <a:blip r:embed="rId4">
                <a:alphaModFix amt="0"/>
              </a:blip>
              <a:stretch>
                <a:fillRect t="-203412" b="-203412"/>
              </a:stretch>
            </a:blipFill>
          </p:spPr>
          <p:txBody>
            <a:bodyPr/>
            <a:lstStyle/>
            <a:p>
              <a:endParaRPr lang="es-CO">
                <a:solidFill>
                  <a:srgbClr val="FFC000"/>
                </a:solidFill>
              </a:endParaRPr>
            </a:p>
          </p:txBody>
        </p:sp>
        <p:sp>
          <p:nvSpPr>
            <p:cNvPr id="74" name="TextBox 74"/>
            <p:cNvSpPr txBox="1"/>
            <p:nvPr/>
          </p:nvSpPr>
          <p:spPr>
            <a:xfrm>
              <a:off x="0" y="-47625"/>
              <a:ext cx="7132206" cy="596024"/>
            </a:xfrm>
            <a:prstGeom prst="rect">
              <a:avLst/>
            </a:prstGeom>
          </p:spPr>
          <p:txBody>
            <a:bodyPr lIns="0" tIns="0" rIns="0" bIns="0" rtlCol="0" anchor="ctr"/>
            <a:lstStyle/>
            <a:p>
              <a:pPr algn="l">
                <a:lnSpc>
                  <a:spcPts val="2340"/>
                </a:lnSpc>
              </a:pPr>
              <a:r>
                <a:rPr lang="en-US" sz="1950" b="1">
                  <a:solidFill>
                    <a:srgbClr val="FFC000"/>
                  </a:solidFill>
                  <a:latin typeface="Calibri (MS) Bold"/>
                  <a:ea typeface="Calibri (MS) Bold"/>
                  <a:cs typeface="Calibri (MS) Bold"/>
                  <a:sym typeface="Calibri (MS) Bold"/>
                </a:rPr>
                <a:t>Servicios externos</a:t>
              </a:r>
            </a:p>
          </p:txBody>
        </p:sp>
      </p:grpSp>
      <p:grpSp>
        <p:nvGrpSpPr>
          <p:cNvPr id="75" name="Group 75"/>
          <p:cNvGrpSpPr/>
          <p:nvPr/>
        </p:nvGrpSpPr>
        <p:grpSpPr>
          <a:xfrm>
            <a:off x="11852900" y="7557516"/>
            <a:ext cx="5349154" cy="411300"/>
            <a:chOff x="0" y="0"/>
            <a:chExt cx="7132206" cy="548400"/>
          </a:xfrm>
        </p:grpSpPr>
        <p:sp>
          <p:nvSpPr>
            <p:cNvPr id="76" name="Freeform 76"/>
            <p:cNvSpPr/>
            <p:nvPr/>
          </p:nvSpPr>
          <p:spPr>
            <a:xfrm>
              <a:off x="0" y="0"/>
              <a:ext cx="7132200" cy="548401"/>
            </a:xfrm>
            <a:custGeom>
              <a:avLst/>
              <a:gdLst/>
              <a:ahLst/>
              <a:cxnLst/>
              <a:rect l="l" t="t" r="r" b="b"/>
              <a:pathLst>
                <a:path w="7132200" h="548401">
                  <a:moveTo>
                    <a:pt x="0" y="0"/>
                  </a:moveTo>
                  <a:lnTo>
                    <a:pt x="7132200" y="0"/>
                  </a:lnTo>
                  <a:lnTo>
                    <a:pt x="7132200" y="548401"/>
                  </a:lnTo>
                  <a:lnTo>
                    <a:pt x="0" y="548401"/>
                  </a:lnTo>
                  <a:close/>
                </a:path>
              </a:pathLst>
            </a:custGeom>
            <a:blipFill>
              <a:blip r:embed="rId4">
                <a:alphaModFix amt="0"/>
              </a:blip>
              <a:stretch>
                <a:fillRect t="-203411" b="-203411"/>
              </a:stretch>
            </a:blipFill>
          </p:spPr>
          <p:txBody>
            <a:bodyPr/>
            <a:lstStyle/>
            <a:p>
              <a:endParaRPr lang="es-CO" b="1">
                <a:solidFill>
                  <a:schemeClr val="bg1"/>
                </a:solidFill>
              </a:endParaRPr>
            </a:p>
          </p:txBody>
        </p:sp>
        <p:sp>
          <p:nvSpPr>
            <p:cNvPr id="77" name="TextBox 77"/>
            <p:cNvSpPr txBox="1"/>
            <p:nvPr/>
          </p:nvSpPr>
          <p:spPr>
            <a:xfrm>
              <a:off x="0" y="-28575"/>
              <a:ext cx="7132206" cy="576975"/>
            </a:xfrm>
            <a:prstGeom prst="rect">
              <a:avLst/>
            </a:prstGeom>
          </p:spPr>
          <p:txBody>
            <a:bodyPr lIns="0" tIns="0" rIns="0" bIns="0" rtlCol="0" anchor="ctr"/>
            <a:lstStyle/>
            <a:p>
              <a:pPr algn="l">
                <a:lnSpc>
                  <a:spcPts val="1980"/>
                </a:lnSpc>
              </a:pPr>
              <a:r>
                <a:rPr lang="en-US" sz="1650" b="1">
                  <a:solidFill>
                    <a:schemeClr val="bg1"/>
                  </a:solidFill>
                  <a:latin typeface="Calibri (MS)"/>
                  <a:ea typeface="Calibri (MS)"/>
                  <a:cs typeface="Calibri (MS)"/>
                  <a:sym typeface="Calibri (MS)"/>
                </a:rPr>
                <a:t>Wompi - Cronjob - Render - Vercel - Brevo - Claudinary.</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s-CO"/>
          </a:p>
        </p:txBody>
      </p:sp>
      <p:grpSp>
        <p:nvGrpSpPr>
          <p:cNvPr id="3" name="Group 3"/>
          <p:cNvGrpSpPr/>
          <p:nvPr/>
        </p:nvGrpSpPr>
        <p:grpSpPr>
          <a:xfrm>
            <a:off x="811520" y="987552"/>
            <a:ext cx="16184699" cy="1165946"/>
            <a:chOff x="0" y="0"/>
            <a:chExt cx="21579599" cy="1554594"/>
          </a:xfrm>
        </p:grpSpPr>
        <p:sp>
          <p:nvSpPr>
            <p:cNvPr id="4" name="Freeform 4"/>
            <p:cNvSpPr/>
            <p:nvPr/>
          </p:nvSpPr>
          <p:spPr>
            <a:xfrm>
              <a:off x="0" y="0"/>
              <a:ext cx="21579601" cy="1554600"/>
            </a:xfrm>
            <a:custGeom>
              <a:avLst/>
              <a:gdLst/>
              <a:ahLst/>
              <a:cxnLst/>
              <a:rect l="l" t="t" r="r" b="b"/>
              <a:pathLst>
                <a:path w="21579601" h="1554600">
                  <a:moveTo>
                    <a:pt x="0" y="0"/>
                  </a:moveTo>
                  <a:lnTo>
                    <a:pt x="21579601" y="0"/>
                  </a:lnTo>
                  <a:lnTo>
                    <a:pt x="21579601" y="1554600"/>
                  </a:lnTo>
                  <a:lnTo>
                    <a:pt x="0" y="1554600"/>
                  </a:lnTo>
                  <a:close/>
                </a:path>
              </a:pathLst>
            </a:custGeom>
            <a:blipFill>
              <a:blip r:embed="rId4">
                <a:alphaModFix amt="0"/>
              </a:blip>
              <a:stretch>
                <a:fillRect t="-220474" b="-220474"/>
              </a:stretch>
            </a:blipFill>
          </p:spPr>
          <p:txBody>
            <a:bodyPr/>
            <a:lstStyle/>
            <a:p>
              <a:endParaRPr lang="es-CO"/>
            </a:p>
          </p:txBody>
        </p:sp>
        <p:sp>
          <p:nvSpPr>
            <p:cNvPr id="5" name="TextBox 5"/>
            <p:cNvSpPr txBox="1"/>
            <p:nvPr/>
          </p:nvSpPr>
          <p:spPr>
            <a:xfrm>
              <a:off x="0" y="0"/>
              <a:ext cx="21579599" cy="1554594"/>
            </a:xfrm>
            <a:prstGeom prst="rect">
              <a:avLst/>
            </a:prstGeom>
          </p:spPr>
          <p:txBody>
            <a:bodyPr lIns="0" tIns="0" rIns="0" bIns="0" rtlCol="0" anchor="ctr"/>
            <a:lstStyle/>
            <a:p>
              <a:pPr algn="l">
                <a:lnSpc>
                  <a:spcPts val="6480"/>
                </a:lnSpc>
              </a:pPr>
              <a:r>
                <a:rPr lang="en-US" sz="5400" b="1" dirty="0" err="1">
                  <a:solidFill>
                    <a:srgbClr val="38AA00"/>
                  </a:solidFill>
                  <a:latin typeface="Work Sans Bold"/>
                  <a:ea typeface="Work Sans Bold"/>
                  <a:cs typeface="Work Sans Bold"/>
                  <a:sym typeface="Work Sans Bold"/>
                </a:rPr>
                <a:t>Planteamiento</a:t>
              </a:r>
              <a:r>
                <a:rPr lang="en-US" sz="5400" b="1" dirty="0">
                  <a:solidFill>
                    <a:srgbClr val="38AA00"/>
                  </a:solidFill>
                  <a:latin typeface="Work Sans Bold"/>
                  <a:ea typeface="Work Sans Bold"/>
                  <a:cs typeface="Work Sans Bold"/>
                  <a:sym typeface="Work Sans Bold"/>
                </a:rPr>
                <a:t> del </a:t>
              </a:r>
              <a:r>
                <a:rPr lang="en-US" sz="5400" b="1" dirty="0" err="1">
                  <a:solidFill>
                    <a:srgbClr val="38AA00"/>
                  </a:solidFill>
                  <a:latin typeface="Work Sans Bold"/>
                  <a:ea typeface="Work Sans Bold"/>
                  <a:cs typeface="Work Sans Bold"/>
                  <a:sym typeface="Work Sans Bold"/>
                </a:rPr>
                <a:t>problema</a:t>
              </a:r>
              <a:endParaRPr lang="en-US" sz="5400" b="1" dirty="0">
                <a:solidFill>
                  <a:srgbClr val="38AA00"/>
                </a:solidFill>
                <a:latin typeface="Work Sans Bold"/>
                <a:ea typeface="Work Sans Bold"/>
                <a:cs typeface="Work Sans Bold"/>
                <a:sym typeface="Work Sans Bold"/>
              </a:endParaRPr>
            </a:p>
          </p:txBody>
        </p:sp>
      </p:grpSp>
      <p:grpSp>
        <p:nvGrpSpPr>
          <p:cNvPr id="6" name="Group 6"/>
          <p:cNvGrpSpPr/>
          <p:nvPr/>
        </p:nvGrpSpPr>
        <p:grpSpPr>
          <a:xfrm>
            <a:off x="811520" y="2468880"/>
            <a:ext cx="7681046" cy="6720754"/>
            <a:chOff x="0" y="0"/>
            <a:chExt cx="10241394" cy="8961006"/>
          </a:xfrm>
        </p:grpSpPr>
        <p:sp>
          <p:nvSpPr>
            <p:cNvPr id="7" name="Freeform 7"/>
            <p:cNvSpPr/>
            <p:nvPr/>
          </p:nvSpPr>
          <p:spPr>
            <a:xfrm>
              <a:off x="0" y="0"/>
              <a:ext cx="10241407" cy="8960993"/>
            </a:xfrm>
            <a:custGeom>
              <a:avLst/>
              <a:gdLst/>
              <a:ahLst/>
              <a:cxnLst/>
              <a:rect l="l" t="t" r="r" b="b"/>
              <a:pathLst>
                <a:path w="10241407" h="8960993">
                  <a:moveTo>
                    <a:pt x="0" y="146304"/>
                  </a:moveTo>
                  <a:cubicBezTo>
                    <a:pt x="0" y="65532"/>
                    <a:pt x="65532" y="0"/>
                    <a:pt x="146304" y="0"/>
                  </a:cubicBezTo>
                  <a:lnTo>
                    <a:pt x="10095103" y="0"/>
                  </a:lnTo>
                  <a:cubicBezTo>
                    <a:pt x="10175875" y="0"/>
                    <a:pt x="10241407" y="65532"/>
                    <a:pt x="10241407" y="146304"/>
                  </a:cubicBezTo>
                  <a:lnTo>
                    <a:pt x="10241407" y="8814689"/>
                  </a:lnTo>
                  <a:cubicBezTo>
                    <a:pt x="10241407" y="8895461"/>
                    <a:pt x="10175875" y="8960993"/>
                    <a:pt x="10095103" y="8960993"/>
                  </a:cubicBezTo>
                  <a:lnTo>
                    <a:pt x="146304" y="8960993"/>
                  </a:lnTo>
                  <a:cubicBezTo>
                    <a:pt x="65532" y="8960993"/>
                    <a:pt x="0" y="8895461"/>
                    <a:pt x="0" y="8814689"/>
                  </a:cubicBezTo>
                  <a:close/>
                </a:path>
              </a:pathLst>
            </a:custGeom>
            <a:solidFill>
              <a:srgbClr val="F6F6F6"/>
            </a:solidFill>
          </p:spPr>
          <p:txBody>
            <a:bodyPr/>
            <a:lstStyle/>
            <a:p>
              <a:endParaRPr lang="es-CO"/>
            </a:p>
          </p:txBody>
        </p:sp>
      </p:grpSp>
      <p:grpSp>
        <p:nvGrpSpPr>
          <p:cNvPr id="8" name="Group 8"/>
          <p:cNvGrpSpPr/>
          <p:nvPr/>
        </p:nvGrpSpPr>
        <p:grpSpPr>
          <a:xfrm>
            <a:off x="1291580" y="2811780"/>
            <a:ext cx="6858000" cy="548554"/>
            <a:chOff x="0" y="0"/>
            <a:chExt cx="9144000" cy="731406"/>
          </a:xfrm>
        </p:grpSpPr>
        <p:sp>
          <p:nvSpPr>
            <p:cNvPr id="9" name="Freeform 9"/>
            <p:cNvSpPr/>
            <p:nvPr/>
          </p:nvSpPr>
          <p:spPr>
            <a:xfrm>
              <a:off x="0" y="0"/>
              <a:ext cx="9144000" cy="731400"/>
            </a:xfrm>
            <a:custGeom>
              <a:avLst/>
              <a:gdLst/>
              <a:ahLst/>
              <a:cxnLst/>
              <a:rect l="l" t="t" r="r" b="b"/>
              <a:pathLst>
                <a:path w="9144000" h="731400">
                  <a:moveTo>
                    <a:pt x="0" y="0"/>
                  </a:moveTo>
                  <a:lnTo>
                    <a:pt x="9144000" y="0"/>
                  </a:lnTo>
                  <a:lnTo>
                    <a:pt x="9144000" y="731400"/>
                  </a:lnTo>
                  <a:lnTo>
                    <a:pt x="0" y="731400"/>
                  </a:lnTo>
                  <a:close/>
                </a:path>
              </a:pathLst>
            </a:custGeom>
            <a:blipFill>
              <a:blip r:embed="rId4">
                <a:alphaModFix amt="0"/>
              </a:blip>
              <a:stretch>
                <a:fillRect t="-193602" b="-193603"/>
              </a:stretch>
            </a:blipFill>
          </p:spPr>
          <p:txBody>
            <a:bodyPr/>
            <a:lstStyle/>
            <a:p>
              <a:endParaRPr lang="es-CO"/>
            </a:p>
          </p:txBody>
        </p:sp>
        <p:sp>
          <p:nvSpPr>
            <p:cNvPr id="10" name="TextBox 10"/>
            <p:cNvSpPr txBox="1"/>
            <p:nvPr/>
          </p:nvSpPr>
          <p:spPr>
            <a:xfrm>
              <a:off x="0" y="-38100"/>
              <a:ext cx="9144000" cy="769506"/>
            </a:xfrm>
            <a:prstGeom prst="rect">
              <a:avLst/>
            </a:prstGeom>
          </p:spPr>
          <p:txBody>
            <a:bodyPr lIns="0" tIns="0" rIns="0" bIns="0" rtlCol="0" anchor="ctr"/>
            <a:lstStyle/>
            <a:p>
              <a:pPr algn="l">
                <a:lnSpc>
                  <a:spcPts val="2879"/>
                </a:lnSpc>
              </a:pPr>
              <a:r>
                <a:rPr lang="en-US" sz="2400" b="1">
                  <a:solidFill>
                    <a:srgbClr val="00304D"/>
                  </a:solidFill>
                  <a:latin typeface="Calibri (MS) Bold"/>
                  <a:ea typeface="Calibri (MS) Bold"/>
                  <a:cs typeface="Calibri (MS) Bold"/>
                  <a:sym typeface="Calibri (MS) Bold"/>
                </a:rPr>
                <a:t>Gestión manual e informal</a:t>
              </a:r>
            </a:p>
          </p:txBody>
        </p:sp>
      </p:grpSp>
      <p:grpSp>
        <p:nvGrpSpPr>
          <p:cNvPr id="11" name="Group 11"/>
          <p:cNvGrpSpPr/>
          <p:nvPr/>
        </p:nvGrpSpPr>
        <p:grpSpPr>
          <a:xfrm>
            <a:off x="1291580" y="3497580"/>
            <a:ext cx="438750" cy="438750"/>
            <a:chOff x="0" y="0"/>
            <a:chExt cx="585000" cy="585000"/>
          </a:xfrm>
        </p:grpSpPr>
        <p:sp>
          <p:nvSpPr>
            <p:cNvPr id="12" name="Freeform 12"/>
            <p:cNvSpPr/>
            <p:nvPr/>
          </p:nvSpPr>
          <p:spPr>
            <a:xfrm>
              <a:off x="0" y="0"/>
              <a:ext cx="584962" cy="584962"/>
            </a:xfrm>
            <a:custGeom>
              <a:avLst/>
              <a:gdLst/>
              <a:ahLst/>
              <a:cxnLst/>
              <a:rect l="l" t="t" r="r" b="b"/>
              <a:pathLst>
                <a:path w="584962" h="584962">
                  <a:moveTo>
                    <a:pt x="0" y="292481"/>
                  </a:moveTo>
                  <a:cubicBezTo>
                    <a:pt x="0" y="130937"/>
                    <a:pt x="130937" y="0"/>
                    <a:pt x="292481" y="0"/>
                  </a:cubicBezTo>
                  <a:cubicBezTo>
                    <a:pt x="454025" y="0"/>
                    <a:pt x="584962" y="130937"/>
                    <a:pt x="584962" y="292481"/>
                  </a:cubicBezTo>
                  <a:cubicBezTo>
                    <a:pt x="584962" y="454025"/>
                    <a:pt x="454025" y="584962"/>
                    <a:pt x="292481" y="584962"/>
                  </a:cubicBezTo>
                  <a:cubicBezTo>
                    <a:pt x="130937" y="584962"/>
                    <a:pt x="0" y="454025"/>
                    <a:pt x="0" y="292481"/>
                  </a:cubicBezTo>
                  <a:close/>
                </a:path>
              </a:pathLst>
            </a:custGeom>
            <a:solidFill>
              <a:srgbClr val="C74E3C"/>
            </a:solidFill>
          </p:spPr>
          <p:txBody>
            <a:bodyPr/>
            <a:lstStyle/>
            <a:p>
              <a:endParaRPr lang="es-CO"/>
            </a:p>
          </p:txBody>
        </p:sp>
      </p:grpSp>
      <p:grpSp>
        <p:nvGrpSpPr>
          <p:cNvPr id="13" name="Group 13"/>
          <p:cNvGrpSpPr/>
          <p:nvPr/>
        </p:nvGrpSpPr>
        <p:grpSpPr>
          <a:xfrm>
            <a:off x="1405700" y="3611699"/>
            <a:ext cx="210674" cy="210674"/>
            <a:chOff x="0" y="0"/>
            <a:chExt cx="280899" cy="280899"/>
          </a:xfrm>
        </p:grpSpPr>
        <p:sp>
          <p:nvSpPr>
            <p:cNvPr id="14" name="Freeform 14" descr="icons/warning.png"/>
            <p:cNvSpPr/>
            <p:nvPr/>
          </p:nvSpPr>
          <p:spPr>
            <a:xfrm>
              <a:off x="0" y="0"/>
              <a:ext cx="280924" cy="280924"/>
            </a:xfrm>
            <a:custGeom>
              <a:avLst/>
              <a:gdLst/>
              <a:ahLst/>
              <a:cxnLst/>
              <a:rect l="l" t="t" r="r" b="b"/>
              <a:pathLst>
                <a:path w="280924" h="280924">
                  <a:moveTo>
                    <a:pt x="0" y="0"/>
                  </a:moveTo>
                  <a:lnTo>
                    <a:pt x="280924" y="0"/>
                  </a:lnTo>
                  <a:lnTo>
                    <a:pt x="280924" y="280924"/>
                  </a:lnTo>
                  <a:lnTo>
                    <a:pt x="0" y="280924"/>
                  </a:lnTo>
                  <a:lnTo>
                    <a:pt x="0" y="0"/>
                  </a:lnTo>
                  <a:close/>
                </a:path>
              </a:pathLst>
            </a:custGeom>
            <a:blipFill>
              <a:blip r:embed="rId5"/>
              <a:stretch>
                <a:fillRect r="9" b="9"/>
              </a:stretch>
            </a:blipFill>
          </p:spPr>
          <p:txBody>
            <a:bodyPr/>
            <a:lstStyle/>
            <a:p>
              <a:endParaRPr lang="es-CO"/>
            </a:p>
          </p:txBody>
        </p:sp>
      </p:grpSp>
      <p:grpSp>
        <p:nvGrpSpPr>
          <p:cNvPr id="15" name="Group 15"/>
          <p:cNvGrpSpPr/>
          <p:nvPr/>
        </p:nvGrpSpPr>
        <p:grpSpPr>
          <a:xfrm>
            <a:off x="1936232" y="3442716"/>
            <a:ext cx="6377854" cy="685800"/>
            <a:chOff x="0" y="0"/>
            <a:chExt cx="8503806" cy="914400"/>
          </a:xfrm>
        </p:grpSpPr>
        <p:sp>
          <p:nvSpPr>
            <p:cNvPr id="16" name="Freeform 16"/>
            <p:cNvSpPr/>
            <p:nvPr/>
          </p:nvSpPr>
          <p:spPr>
            <a:xfrm>
              <a:off x="0" y="0"/>
              <a:ext cx="8503800" cy="914400"/>
            </a:xfrm>
            <a:custGeom>
              <a:avLst/>
              <a:gdLst/>
              <a:ahLst/>
              <a:cxnLst/>
              <a:rect l="l" t="t" r="r" b="b"/>
              <a:pathLst>
                <a:path w="8503800" h="914400">
                  <a:moveTo>
                    <a:pt x="0" y="0"/>
                  </a:moveTo>
                  <a:lnTo>
                    <a:pt x="8503800" y="0"/>
                  </a:lnTo>
                  <a:lnTo>
                    <a:pt x="8503800" y="914400"/>
                  </a:lnTo>
                  <a:lnTo>
                    <a:pt x="0" y="914400"/>
                  </a:lnTo>
                  <a:close/>
                </a:path>
              </a:pathLst>
            </a:custGeom>
            <a:blipFill>
              <a:blip r:embed="rId4">
                <a:alphaModFix amt="0"/>
              </a:blip>
              <a:stretch>
                <a:fillRect t="-131208" b="-131208"/>
              </a:stretch>
            </a:blipFill>
          </p:spPr>
          <p:txBody>
            <a:bodyPr/>
            <a:lstStyle/>
            <a:p>
              <a:endParaRPr lang="es-CO"/>
            </a:p>
          </p:txBody>
        </p:sp>
        <p:sp>
          <p:nvSpPr>
            <p:cNvPr id="17" name="TextBox 17"/>
            <p:cNvSpPr txBox="1"/>
            <p:nvPr/>
          </p:nvSpPr>
          <p:spPr>
            <a:xfrm>
              <a:off x="0" y="-38100"/>
              <a:ext cx="8503806" cy="952500"/>
            </a:xfrm>
            <a:prstGeom prst="rect">
              <a:avLst/>
            </a:prstGeom>
          </p:spPr>
          <p:txBody>
            <a:bodyPr lIns="0" tIns="0" rIns="0" bIns="0" rtlCol="0" anchor="ctr"/>
            <a:lstStyle/>
            <a:p>
              <a:pPr algn="l">
                <a:lnSpc>
                  <a:spcPts val="2070"/>
                </a:lnSpc>
              </a:pPr>
              <a:r>
                <a:rPr lang="en-US" sz="1725">
                  <a:solidFill>
                    <a:srgbClr val="22292E"/>
                  </a:solidFill>
                  <a:latin typeface="Calibri (MS)"/>
                  <a:ea typeface="Calibri (MS)"/>
                  <a:cs typeface="Calibri (MS)"/>
                  <a:sym typeface="Calibri (MS)"/>
                </a:rPr>
                <a:t>Muchas Mecanicas gestionan sus citas y productos con un papel </a:t>
              </a:r>
            </a:p>
          </p:txBody>
        </p:sp>
      </p:grpSp>
      <p:grpSp>
        <p:nvGrpSpPr>
          <p:cNvPr id="18" name="Group 18"/>
          <p:cNvGrpSpPr/>
          <p:nvPr/>
        </p:nvGrpSpPr>
        <p:grpSpPr>
          <a:xfrm>
            <a:off x="1291580" y="4299966"/>
            <a:ext cx="438750" cy="438750"/>
            <a:chOff x="0" y="0"/>
            <a:chExt cx="585000" cy="585000"/>
          </a:xfrm>
        </p:grpSpPr>
        <p:sp>
          <p:nvSpPr>
            <p:cNvPr id="19" name="Freeform 19"/>
            <p:cNvSpPr/>
            <p:nvPr/>
          </p:nvSpPr>
          <p:spPr>
            <a:xfrm>
              <a:off x="0" y="0"/>
              <a:ext cx="584962" cy="584962"/>
            </a:xfrm>
            <a:custGeom>
              <a:avLst/>
              <a:gdLst/>
              <a:ahLst/>
              <a:cxnLst/>
              <a:rect l="l" t="t" r="r" b="b"/>
              <a:pathLst>
                <a:path w="584962" h="584962">
                  <a:moveTo>
                    <a:pt x="0" y="292481"/>
                  </a:moveTo>
                  <a:cubicBezTo>
                    <a:pt x="0" y="130937"/>
                    <a:pt x="130937" y="0"/>
                    <a:pt x="292481" y="0"/>
                  </a:cubicBezTo>
                  <a:cubicBezTo>
                    <a:pt x="454025" y="0"/>
                    <a:pt x="584962" y="130937"/>
                    <a:pt x="584962" y="292481"/>
                  </a:cubicBezTo>
                  <a:cubicBezTo>
                    <a:pt x="584962" y="454025"/>
                    <a:pt x="454025" y="584962"/>
                    <a:pt x="292481" y="584962"/>
                  </a:cubicBezTo>
                  <a:cubicBezTo>
                    <a:pt x="130937" y="584962"/>
                    <a:pt x="0" y="454025"/>
                    <a:pt x="0" y="292481"/>
                  </a:cubicBezTo>
                  <a:close/>
                </a:path>
              </a:pathLst>
            </a:custGeom>
            <a:solidFill>
              <a:srgbClr val="C74E3C"/>
            </a:solidFill>
          </p:spPr>
          <p:txBody>
            <a:bodyPr/>
            <a:lstStyle/>
            <a:p>
              <a:endParaRPr lang="es-CO"/>
            </a:p>
          </p:txBody>
        </p:sp>
      </p:grpSp>
      <p:grpSp>
        <p:nvGrpSpPr>
          <p:cNvPr id="20" name="Group 20"/>
          <p:cNvGrpSpPr/>
          <p:nvPr/>
        </p:nvGrpSpPr>
        <p:grpSpPr>
          <a:xfrm>
            <a:off x="1405700" y="4414085"/>
            <a:ext cx="210674" cy="210674"/>
            <a:chOff x="0" y="0"/>
            <a:chExt cx="280899" cy="280899"/>
          </a:xfrm>
        </p:grpSpPr>
        <p:sp>
          <p:nvSpPr>
            <p:cNvPr id="21" name="Freeform 21" descr="icons/warning.png"/>
            <p:cNvSpPr/>
            <p:nvPr/>
          </p:nvSpPr>
          <p:spPr>
            <a:xfrm>
              <a:off x="0" y="0"/>
              <a:ext cx="280924" cy="280924"/>
            </a:xfrm>
            <a:custGeom>
              <a:avLst/>
              <a:gdLst/>
              <a:ahLst/>
              <a:cxnLst/>
              <a:rect l="l" t="t" r="r" b="b"/>
              <a:pathLst>
                <a:path w="280924" h="280924">
                  <a:moveTo>
                    <a:pt x="0" y="0"/>
                  </a:moveTo>
                  <a:lnTo>
                    <a:pt x="280924" y="0"/>
                  </a:lnTo>
                  <a:lnTo>
                    <a:pt x="280924" y="280924"/>
                  </a:lnTo>
                  <a:lnTo>
                    <a:pt x="0" y="280924"/>
                  </a:lnTo>
                  <a:lnTo>
                    <a:pt x="0" y="0"/>
                  </a:lnTo>
                  <a:close/>
                </a:path>
              </a:pathLst>
            </a:custGeom>
            <a:blipFill>
              <a:blip r:embed="rId5"/>
              <a:stretch>
                <a:fillRect r="9" b="9"/>
              </a:stretch>
            </a:blipFill>
          </p:spPr>
          <p:txBody>
            <a:bodyPr/>
            <a:lstStyle/>
            <a:p>
              <a:endParaRPr lang="es-CO"/>
            </a:p>
          </p:txBody>
        </p:sp>
      </p:grpSp>
      <p:grpSp>
        <p:nvGrpSpPr>
          <p:cNvPr id="22" name="Group 22"/>
          <p:cNvGrpSpPr/>
          <p:nvPr/>
        </p:nvGrpSpPr>
        <p:grpSpPr>
          <a:xfrm>
            <a:off x="1936232" y="4245102"/>
            <a:ext cx="6377854" cy="685800"/>
            <a:chOff x="0" y="0"/>
            <a:chExt cx="8503806" cy="914400"/>
          </a:xfrm>
        </p:grpSpPr>
        <p:sp>
          <p:nvSpPr>
            <p:cNvPr id="23" name="Freeform 23"/>
            <p:cNvSpPr/>
            <p:nvPr/>
          </p:nvSpPr>
          <p:spPr>
            <a:xfrm>
              <a:off x="0" y="0"/>
              <a:ext cx="8503800" cy="914400"/>
            </a:xfrm>
            <a:custGeom>
              <a:avLst/>
              <a:gdLst/>
              <a:ahLst/>
              <a:cxnLst/>
              <a:rect l="l" t="t" r="r" b="b"/>
              <a:pathLst>
                <a:path w="8503800" h="914400">
                  <a:moveTo>
                    <a:pt x="0" y="0"/>
                  </a:moveTo>
                  <a:lnTo>
                    <a:pt x="8503800" y="0"/>
                  </a:lnTo>
                  <a:lnTo>
                    <a:pt x="8503800" y="914400"/>
                  </a:lnTo>
                  <a:lnTo>
                    <a:pt x="0" y="914400"/>
                  </a:lnTo>
                  <a:close/>
                </a:path>
              </a:pathLst>
            </a:custGeom>
            <a:blipFill>
              <a:blip r:embed="rId4">
                <a:alphaModFix amt="0"/>
              </a:blip>
              <a:stretch>
                <a:fillRect t="-131208" b="-131208"/>
              </a:stretch>
            </a:blipFill>
          </p:spPr>
          <p:txBody>
            <a:bodyPr/>
            <a:lstStyle/>
            <a:p>
              <a:endParaRPr lang="es-CO"/>
            </a:p>
          </p:txBody>
        </p:sp>
        <p:sp>
          <p:nvSpPr>
            <p:cNvPr id="24" name="TextBox 24"/>
            <p:cNvSpPr txBox="1"/>
            <p:nvPr/>
          </p:nvSpPr>
          <p:spPr>
            <a:xfrm>
              <a:off x="0" y="-38100"/>
              <a:ext cx="8503806" cy="952500"/>
            </a:xfrm>
            <a:prstGeom prst="rect">
              <a:avLst/>
            </a:prstGeom>
          </p:spPr>
          <p:txBody>
            <a:bodyPr lIns="0" tIns="0" rIns="0" bIns="0" rtlCol="0" anchor="ctr"/>
            <a:lstStyle/>
            <a:p>
              <a:pPr algn="l">
                <a:lnSpc>
                  <a:spcPts val="2070"/>
                </a:lnSpc>
              </a:pPr>
              <a:r>
                <a:rPr lang="en-US" sz="1725">
                  <a:solidFill>
                    <a:srgbClr val="22292E"/>
                  </a:solidFill>
                  <a:latin typeface="Calibri (MS)"/>
                  <a:ea typeface="Calibri (MS)"/>
                  <a:cs typeface="Calibri (MS)"/>
                  <a:sym typeface="Calibri (MS)"/>
                </a:rPr>
                <a:t>Procesos manuales y pérdida de datos</a:t>
              </a:r>
            </a:p>
          </p:txBody>
        </p:sp>
      </p:grpSp>
      <p:grpSp>
        <p:nvGrpSpPr>
          <p:cNvPr id="25" name="Group 25"/>
          <p:cNvGrpSpPr/>
          <p:nvPr/>
        </p:nvGrpSpPr>
        <p:grpSpPr>
          <a:xfrm>
            <a:off x="1291580" y="5102352"/>
            <a:ext cx="438750" cy="438750"/>
            <a:chOff x="0" y="0"/>
            <a:chExt cx="585000" cy="585000"/>
          </a:xfrm>
        </p:grpSpPr>
        <p:sp>
          <p:nvSpPr>
            <p:cNvPr id="26" name="Freeform 26"/>
            <p:cNvSpPr/>
            <p:nvPr/>
          </p:nvSpPr>
          <p:spPr>
            <a:xfrm>
              <a:off x="0" y="0"/>
              <a:ext cx="584962" cy="584962"/>
            </a:xfrm>
            <a:custGeom>
              <a:avLst/>
              <a:gdLst/>
              <a:ahLst/>
              <a:cxnLst/>
              <a:rect l="l" t="t" r="r" b="b"/>
              <a:pathLst>
                <a:path w="584962" h="584962">
                  <a:moveTo>
                    <a:pt x="0" y="292481"/>
                  </a:moveTo>
                  <a:cubicBezTo>
                    <a:pt x="0" y="130937"/>
                    <a:pt x="130937" y="0"/>
                    <a:pt x="292481" y="0"/>
                  </a:cubicBezTo>
                  <a:cubicBezTo>
                    <a:pt x="454025" y="0"/>
                    <a:pt x="584962" y="130937"/>
                    <a:pt x="584962" y="292481"/>
                  </a:cubicBezTo>
                  <a:cubicBezTo>
                    <a:pt x="584962" y="454025"/>
                    <a:pt x="454025" y="584962"/>
                    <a:pt x="292481" y="584962"/>
                  </a:cubicBezTo>
                  <a:cubicBezTo>
                    <a:pt x="130937" y="584962"/>
                    <a:pt x="0" y="454025"/>
                    <a:pt x="0" y="292481"/>
                  </a:cubicBezTo>
                  <a:close/>
                </a:path>
              </a:pathLst>
            </a:custGeom>
            <a:solidFill>
              <a:srgbClr val="C74E3C"/>
            </a:solidFill>
          </p:spPr>
          <p:txBody>
            <a:bodyPr/>
            <a:lstStyle/>
            <a:p>
              <a:endParaRPr lang="es-CO"/>
            </a:p>
          </p:txBody>
        </p:sp>
      </p:grpSp>
      <p:grpSp>
        <p:nvGrpSpPr>
          <p:cNvPr id="27" name="Group 27"/>
          <p:cNvGrpSpPr/>
          <p:nvPr/>
        </p:nvGrpSpPr>
        <p:grpSpPr>
          <a:xfrm>
            <a:off x="1405700" y="5216471"/>
            <a:ext cx="210674" cy="210674"/>
            <a:chOff x="0" y="0"/>
            <a:chExt cx="280899" cy="280899"/>
          </a:xfrm>
        </p:grpSpPr>
        <p:sp>
          <p:nvSpPr>
            <p:cNvPr id="28" name="Freeform 28" descr="icons/warning.png"/>
            <p:cNvSpPr/>
            <p:nvPr/>
          </p:nvSpPr>
          <p:spPr>
            <a:xfrm>
              <a:off x="0" y="0"/>
              <a:ext cx="280924" cy="280924"/>
            </a:xfrm>
            <a:custGeom>
              <a:avLst/>
              <a:gdLst/>
              <a:ahLst/>
              <a:cxnLst/>
              <a:rect l="l" t="t" r="r" b="b"/>
              <a:pathLst>
                <a:path w="280924" h="280924">
                  <a:moveTo>
                    <a:pt x="0" y="0"/>
                  </a:moveTo>
                  <a:lnTo>
                    <a:pt x="280924" y="0"/>
                  </a:lnTo>
                  <a:lnTo>
                    <a:pt x="280924" y="280924"/>
                  </a:lnTo>
                  <a:lnTo>
                    <a:pt x="0" y="280924"/>
                  </a:lnTo>
                  <a:lnTo>
                    <a:pt x="0" y="0"/>
                  </a:lnTo>
                  <a:close/>
                </a:path>
              </a:pathLst>
            </a:custGeom>
            <a:blipFill>
              <a:blip r:embed="rId5"/>
              <a:stretch>
                <a:fillRect r="9" b="9"/>
              </a:stretch>
            </a:blipFill>
          </p:spPr>
          <p:txBody>
            <a:bodyPr/>
            <a:lstStyle/>
            <a:p>
              <a:endParaRPr lang="es-CO"/>
            </a:p>
          </p:txBody>
        </p:sp>
      </p:grpSp>
      <p:grpSp>
        <p:nvGrpSpPr>
          <p:cNvPr id="29" name="Group 29"/>
          <p:cNvGrpSpPr/>
          <p:nvPr/>
        </p:nvGrpSpPr>
        <p:grpSpPr>
          <a:xfrm>
            <a:off x="1936232" y="5047488"/>
            <a:ext cx="6377854" cy="685800"/>
            <a:chOff x="0" y="0"/>
            <a:chExt cx="8503806" cy="914400"/>
          </a:xfrm>
        </p:grpSpPr>
        <p:sp>
          <p:nvSpPr>
            <p:cNvPr id="30" name="Freeform 30"/>
            <p:cNvSpPr/>
            <p:nvPr/>
          </p:nvSpPr>
          <p:spPr>
            <a:xfrm>
              <a:off x="0" y="0"/>
              <a:ext cx="8503800" cy="914400"/>
            </a:xfrm>
            <a:custGeom>
              <a:avLst/>
              <a:gdLst/>
              <a:ahLst/>
              <a:cxnLst/>
              <a:rect l="l" t="t" r="r" b="b"/>
              <a:pathLst>
                <a:path w="8503800" h="914400">
                  <a:moveTo>
                    <a:pt x="0" y="0"/>
                  </a:moveTo>
                  <a:lnTo>
                    <a:pt x="8503800" y="0"/>
                  </a:lnTo>
                  <a:lnTo>
                    <a:pt x="8503800" y="914400"/>
                  </a:lnTo>
                  <a:lnTo>
                    <a:pt x="0" y="914400"/>
                  </a:lnTo>
                  <a:close/>
                </a:path>
              </a:pathLst>
            </a:custGeom>
            <a:blipFill>
              <a:blip r:embed="rId4">
                <a:alphaModFix amt="0"/>
              </a:blip>
              <a:stretch>
                <a:fillRect t="-131208" b="-131208"/>
              </a:stretch>
            </a:blipFill>
          </p:spPr>
          <p:txBody>
            <a:bodyPr/>
            <a:lstStyle/>
            <a:p>
              <a:endParaRPr lang="es-CO"/>
            </a:p>
          </p:txBody>
        </p:sp>
        <p:sp>
          <p:nvSpPr>
            <p:cNvPr id="31" name="TextBox 31"/>
            <p:cNvSpPr txBox="1"/>
            <p:nvPr/>
          </p:nvSpPr>
          <p:spPr>
            <a:xfrm>
              <a:off x="0" y="-38100"/>
              <a:ext cx="8503806" cy="952500"/>
            </a:xfrm>
            <a:prstGeom prst="rect">
              <a:avLst/>
            </a:prstGeom>
          </p:spPr>
          <p:txBody>
            <a:bodyPr lIns="0" tIns="0" rIns="0" bIns="0" rtlCol="0" anchor="ctr"/>
            <a:lstStyle/>
            <a:p>
              <a:pPr algn="l">
                <a:lnSpc>
                  <a:spcPts val="2070"/>
                </a:lnSpc>
              </a:pPr>
              <a:r>
                <a:rPr lang="en-US" sz="1725">
                  <a:solidFill>
                    <a:srgbClr val="22292E"/>
                  </a:solidFill>
                  <a:latin typeface="Calibri (MS)"/>
                  <a:ea typeface="Calibri (MS)"/>
                  <a:cs typeface="Calibri (MS)"/>
                  <a:sym typeface="Calibri (MS)"/>
                </a:rPr>
                <a:t>Dificultad para controlar las citas</a:t>
              </a:r>
            </a:p>
          </p:txBody>
        </p:sp>
      </p:grpSp>
      <p:grpSp>
        <p:nvGrpSpPr>
          <p:cNvPr id="32" name="Group 32"/>
          <p:cNvGrpSpPr/>
          <p:nvPr/>
        </p:nvGrpSpPr>
        <p:grpSpPr>
          <a:xfrm>
            <a:off x="1291580" y="5904738"/>
            <a:ext cx="438750" cy="438750"/>
            <a:chOff x="0" y="0"/>
            <a:chExt cx="585000" cy="585000"/>
          </a:xfrm>
        </p:grpSpPr>
        <p:sp>
          <p:nvSpPr>
            <p:cNvPr id="33" name="Freeform 33"/>
            <p:cNvSpPr/>
            <p:nvPr/>
          </p:nvSpPr>
          <p:spPr>
            <a:xfrm>
              <a:off x="0" y="0"/>
              <a:ext cx="584962" cy="584962"/>
            </a:xfrm>
            <a:custGeom>
              <a:avLst/>
              <a:gdLst/>
              <a:ahLst/>
              <a:cxnLst/>
              <a:rect l="l" t="t" r="r" b="b"/>
              <a:pathLst>
                <a:path w="584962" h="584962">
                  <a:moveTo>
                    <a:pt x="0" y="292481"/>
                  </a:moveTo>
                  <a:cubicBezTo>
                    <a:pt x="0" y="130937"/>
                    <a:pt x="130937" y="0"/>
                    <a:pt x="292481" y="0"/>
                  </a:cubicBezTo>
                  <a:cubicBezTo>
                    <a:pt x="454025" y="0"/>
                    <a:pt x="584962" y="130937"/>
                    <a:pt x="584962" y="292481"/>
                  </a:cubicBezTo>
                  <a:cubicBezTo>
                    <a:pt x="584962" y="454025"/>
                    <a:pt x="454025" y="584962"/>
                    <a:pt x="292481" y="584962"/>
                  </a:cubicBezTo>
                  <a:cubicBezTo>
                    <a:pt x="130937" y="584962"/>
                    <a:pt x="0" y="454025"/>
                    <a:pt x="0" y="292481"/>
                  </a:cubicBezTo>
                  <a:close/>
                </a:path>
              </a:pathLst>
            </a:custGeom>
            <a:solidFill>
              <a:srgbClr val="C74E3C"/>
            </a:solidFill>
          </p:spPr>
          <p:txBody>
            <a:bodyPr/>
            <a:lstStyle/>
            <a:p>
              <a:endParaRPr lang="es-CO"/>
            </a:p>
          </p:txBody>
        </p:sp>
      </p:grpSp>
      <p:grpSp>
        <p:nvGrpSpPr>
          <p:cNvPr id="34" name="Group 34"/>
          <p:cNvGrpSpPr/>
          <p:nvPr/>
        </p:nvGrpSpPr>
        <p:grpSpPr>
          <a:xfrm>
            <a:off x="1405700" y="6018857"/>
            <a:ext cx="210674" cy="210674"/>
            <a:chOff x="0" y="0"/>
            <a:chExt cx="280899" cy="280899"/>
          </a:xfrm>
        </p:grpSpPr>
        <p:sp>
          <p:nvSpPr>
            <p:cNvPr id="35" name="Freeform 35" descr="icons/warning.png"/>
            <p:cNvSpPr/>
            <p:nvPr/>
          </p:nvSpPr>
          <p:spPr>
            <a:xfrm>
              <a:off x="0" y="0"/>
              <a:ext cx="280924" cy="280924"/>
            </a:xfrm>
            <a:custGeom>
              <a:avLst/>
              <a:gdLst/>
              <a:ahLst/>
              <a:cxnLst/>
              <a:rect l="l" t="t" r="r" b="b"/>
              <a:pathLst>
                <a:path w="280924" h="280924">
                  <a:moveTo>
                    <a:pt x="0" y="0"/>
                  </a:moveTo>
                  <a:lnTo>
                    <a:pt x="280924" y="0"/>
                  </a:lnTo>
                  <a:lnTo>
                    <a:pt x="280924" y="280924"/>
                  </a:lnTo>
                  <a:lnTo>
                    <a:pt x="0" y="280924"/>
                  </a:lnTo>
                  <a:lnTo>
                    <a:pt x="0" y="0"/>
                  </a:lnTo>
                  <a:close/>
                </a:path>
              </a:pathLst>
            </a:custGeom>
            <a:blipFill>
              <a:blip r:embed="rId5"/>
              <a:stretch>
                <a:fillRect r="9" b="9"/>
              </a:stretch>
            </a:blipFill>
          </p:spPr>
          <p:txBody>
            <a:bodyPr/>
            <a:lstStyle/>
            <a:p>
              <a:endParaRPr lang="es-CO"/>
            </a:p>
          </p:txBody>
        </p:sp>
      </p:grpSp>
      <p:grpSp>
        <p:nvGrpSpPr>
          <p:cNvPr id="36" name="Group 36"/>
          <p:cNvGrpSpPr/>
          <p:nvPr/>
        </p:nvGrpSpPr>
        <p:grpSpPr>
          <a:xfrm>
            <a:off x="1936232" y="5849874"/>
            <a:ext cx="6377854" cy="685800"/>
            <a:chOff x="0" y="0"/>
            <a:chExt cx="8503806" cy="914400"/>
          </a:xfrm>
        </p:grpSpPr>
        <p:sp>
          <p:nvSpPr>
            <p:cNvPr id="37" name="Freeform 37"/>
            <p:cNvSpPr/>
            <p:nvPr/>
          </p:nvSpPr>
          <p:spPr>
            <a:xfrm>
              <a:off x="0" y="0"/>
              <a:ext cx="8503800" cy="914400"/>
            </a:xfrm>
            <a:custGeom>
              <a:avLst/>
              <a:gdLst/>
              <a:ahLst/>
              <a:cxnLst/>
              <a:rect l="l" t="t" r="r" b="b"/>
              <a:pathLst>
                <a:path w="8503800" h="914400">
                  <a:moveTo>
                    <a:pt x="0" y="0"/>
                  </a:moveTo>
                  <a:lnTo>
                    <a:pt x="8503800" y="0"/>
                  </a:lnTo>
                  <a:lnTo>
                    <a:pt x="8503800" y="914400"/>
                  </a:lnTo>
                  <a:lnTo>
                    <a:pt x="0" y="914400"/>
                  </a:lnTo>
                  <a:close/>
                </a:path>
              </a:pathLst>
            </a:custGeom>
            <a:blipFill>
              <a:blip r:embed="rId4">
                <a:alphaModFix amt="0"/>
              </a:blip>
              <a:stretch>
                <a:fillRect t="-131208" b="-131208"/>
              </a:stretch>
            </a:blipFill>
          </p:spPr>
          <p:txBody>
            <a:bodyPr/>
            <a:lstStyle/>
            <a:p>
              <a:endParaRPr lang="es-CO"/>
            </a:p>
          </p:txBody>
        </p:sp>
        <p:sp>
          <p:nvSpPr>
            <p:cNvPr id="38" name="TextBox 38"/>
            <p:cNvSpPr txBox="1"/>
            <p:nvPr/>
          </p:nvSpPr>
          <p:spPr>
            <a:xfrm>
              <a:off x="0" y="-38100"/>
              <a:ext cx="8503806" cy="952500"/>
            </a:xfrm>
            <a:prstGeom prst="rect">
              <a:avLst/>
            </a:prstGeom>
          </p:spPr>
          <p:txBody>
            <a:bodyPr lIns="0" tIns="0" rIns="0" bIns="0" rtlCol="0" anchor="ctr"/>
            <a:lstStyle/>
            <a:p>
              <a:pPr algn="l">
                <a:lnSpc>
                  <a:spcPts val="2070"/>
                </a:lnSpc>
              </a:pPr>
              <a:r>
                <a:rPr lang="en-US" sz="1725">
                  <a:solidFill>
                    <a:srgbClr val="22292E"/>
                  </a:solidFill>
                  <a:latin typeface="Calibri (MS)"/>
                  <a:ea typeface="Calibri (MS)"/>
                  <a:cs typeface="Calibri (MS)"/>
                  <a:sym typeface="Calibri (MS)"/>
                </a:rPr>
                <a:t>Falta de historial de movimientos</a:t>
              </a:r>
            </a:p>
          </p:txBody>
        </p:sp>
      </p:grpSp>
      <p:grpSp>
        <p:nvGrpSpPr>
          <p:cNvPr id="39" name="Group 39"/>
          <p:cNvGrpSpPr/>
          <p:nvPr/>
        </p:nvGrpSpPr>
        <p:grpSpPr>
          <a:xfrm>
            <a:off x="1291580" y="6707124"/>
            <a:ext cx="438750" cy="438750"/>
            <a:chOff x="0" y="0"/>
            <a:chExt cx="585000" cy="585000"/>
          </a:xfrm>
        </p:grpSpPr>
        <p:sp>
          <p:nvSpPr>
            <p:cNvPr id="40" name="Freeform 40"/>
            <p:cNvSpPr/>
            <p:nvPr/>
          </p:nvSpPr>
          <p:spPr>
            <a:xfrm>
              <a:off x="0" y="0"/>
              <a:ext cx="584962" cy="584962"/>
            </a:xfrm>
            <a:custGeom>
              <a:avLst/>
              <a:gdLst/>
              <a:ahLst/>
              <a:cxnLst/>
              <a:rect l="l" t="t" r="r" b="b"/>
              <a:pathLst>
                <a:path w="584962" h="584962">
                  <a:moveTo>
                    <a:pt x="0" y="292481"/>
                  </a:moveTo>
                  <a:cubicBezTo>
                    <a:pt x="0" y="130937"/>
                    <a:pt x="130937" y="0"/>
                    <a:pt x="292481" y="0"/>
                  </a:cubicBezTo>
                  <a:cubicBezTo>
                    <a:pt x="454025" y="0"/>
                    <a:pt x="584962" y="130937"/>
                    <a:pt x="584962" y="292481"/>
                  </a:cubicBezTo>
                  <a:cubicBezTo>
                    <a:pt x="584962" y="454025"/>
                    <a:pt x="454025" y="584962"/>
                    <a:pt x="292481" y="584962"/>
                  </a:cubicBezTo>
                  <a:cubicBezTo>
                    <a:pt x="130937" y="584962"/>
                    <a:pt x="0" y="454025"/>
                    <a:pt x="0" y="292481"/>
                  </a:cubicBezTo>
                  <a:close/>
                </a:path>
              </a:pathLst>
            </a:custGeom>
            <a:solidFill>
              <a:srgbClr val="C74E3C"/>
            </a:solidFill>
          </p:spPr>
          <p:txBody>
            <a:bodyPr/>
            <a:lstStyle/>
            <a:p>
              <a:endParaRPr lang="es-CO"/>
            </a:p>
          </p:txBody>
        </p:sp>
      </p:grpSp>
      <p:grpSp>
        <p:nvGrpSpPr>
          <p:cNvPr id="41" name="Group 41"/>
          <p:cNvGrpSpPr/>
          <p:nvPr/>
        </p:nvGrpSpPr>
        <p:grpSpPr>
          <a:xfrm>
            <a:off x="1405700" y="6821243"/>
            <a:ext cx="210674" cy="210674"/>
            <a:chOff x="0" y="0"/>
            <a:chExt cx="280899" cy="280899"/>
          </a:xfrm>
        </p:grpSpPr>
        <p:sp>
          <p:nvSpPr>
            <p:cNvPr id="42" name="Freeform 42" descr="icons/warning.png"/>
            <p:cNvSpPr/>
            <p:nvPr/>
          </p:nvSpPr>
          <p:spPr>
            <a:xfrm>
              <a:off x="0" y="0"/>
              <a:ext cx="280924" cy="280924"/>
            </a:xfrm>
            <a:custGeom>
              <a:avLst/>
              <a:gdLst/>
              <a:ahLst/>
              <a:cxnLst/>
              <a:rect l="l" t="t" r="r" b="b"/>
              <a:pathLst>
                <a:path w="280924" h="280924">
                  <a:moveTo>
                    <a:pt x="0" y="0"/>
                  </a:moveTo>
                  <a:lnTo>
                    <a:pt x="280924" y="0"/>
                  </a:lnTo>
                  <a:lnTo>
                    <a:pt x="280924" y="280924"/>
                  </a:lnTo>
                  <a:lnTo>
                    <a:pt x="0" y="280924"/>
                  </a:lnTo>
                  <a:lnTo>
                    <a:pt x="0" y="0"/>
                  </a:lnTo>
                  <a:close/>
                </a:path>
              </a:pathLst>
            </a:custGeom>
            <a:blipFill>
              <a:blip r:embed="rId5"/>
              <a:stretch>
                <a:fillRect r="9" b="9"/>
              </a:stretch>
            </a:blipFill>
          </p:spPr>
          <p:txBody>
            <a:bodyPr/>
            <a:lstStyle/>
            <a:p>
              <a:endParaRPr lang="es-CO"/>
            </a:p>
          </p:txBody>
        </p:sp>
      </p:grpSp>
      <p:grpSp>
        <p:nvGrpSpPr>
          <p:cNvPr id="43" name="Group 43"/>
          <p:cNvGrpSpPr/>
          <p:nvPr/>
        </p:nvGrpSpPr>
        <p:grpSpPr>
          <a:xfrm>
            <a:off x="1936232" y="6652260"/>
            <a:ext cx="6377854" cy="685800"/>
            <a:chOff x="0" y="0"/>
            <a:chExt cx="8503806" cy="914400"/>
          </a:xfrm>
        </p:grpSpPr>
        <p:sp>
          <p:nvSpPr>
            <p:cNvPr id="44" name="Freeform 44"/>
            <p:cNvSpPr/>
            <p:nvPr/>
          </p:nvSpPr>
          <p:spPr>
            <a:xfrm>
              <a:off x="0" y="0"/>
              <a:ext cx="8503800" cy="914400"/>
            </a:xfrm>
            <a:custGeom>
              <a:avLst/>
              <a:gdLst/>
              <a:ahLst/>
              <a:cxnLst/>
              <a:rect l="l" t="t" r="r" b="b"/>
              <a:pathLst>
                <a:path w="8503800" h="914400">
                  <a:moveTo>
                    <a:pt x="0" y="0"/>
                  </a:moveTo>
                  <a:lnTo>
                    <a:pt x="8503800" y="0"/>
                  </a:lnTo>
                  <a:lnTo>
                    <a:pt x="8503800" y="914400"/>
                  </a:lnTo>
                  <a:lnTo>
                    <a:pt x="0" y="914400"/>
                  </a:lnTo>
                  <a:close/>
                </a:path>
              </a:pathLst>
            </a:custGeom>
            <a:blipFill>
              <a:blip r:embed="rId4">
                <a:alphaModFix amt="0"/>
              </a:blip>
              <a:stretch>
                <a:fillRect t="-131208" b="-131208"/>
              </a:stretch>
            </a:blipFill>
          </p:spPr>
          <p:txBody>
            <a:bodyPr/>
            <a:lstStyle/>
            <a:p>
              <a:endParaRPr lang="es-CO"/>
            </a:p>
          </p:txBody>
        </p:sp>
        <p:sp>
          <p:nvSpPr>
            <p:cNvPr id="45" name="TextBox 45"/>
            <p:cNvSpPr txBox="1"/>
            <p:nvPr/>
          </p:nvSpPr>
          <p:spPr>
            <a:xfrm>
              <a:off x="0" y="-38100"/>
              <a:ext cx="8503806" cy="952500"/>
            </a:xfrm>
            <a:prstGeom prst="rect">
              <a:avLst/>
            </a:prstGeom>
          </p:spPr>
          <p:txBody>
            <a:bodyPr lIns="0" tIns="0" rIns="0" bIns="0" rtlCol="0" anchor="ctr"/>
            <a:lstStyle/>
            <a:p>
              <a:pPr algn="l">
                <a:lnSpc>
                  <a:spcPts val="2070"/>
                </a:lnSpc>
              </a:pPr>
              <a:r>
                <a:rPr lang="en-US" sz="1725">
                  <a:solidFill>
                    <a:srgbClr val="22292E"/>
                  </a:solidFill>
                  <a:latin typeface="Calibri (MS)"/>
                  <a:ea typeface="Calibri (MS)"/>
                  <a:cs typeface="Calibri (MS)"/>
                  <a:sym typeface="Calibri (MS)"/>
                </a:rPr>
                <a:t>Ausencia de un canal de compras en línea</a:t>
              </a:r>
            </a:p>
          </p:txBody>
        </p:sp>
      </p:grpSp>
      <p:grpSp>
        <p:nvGrpSpPr>
          <p:cNvPr id="46" name="Group 46"/>
          <p:cNvGrpSpPr/>
          <p:nvPr/>
        </p:nvGrpSpPr>
        <p:grpSpPr>
          <a:xfrm>
            <a:off x="1291580" y="7509510"/>
            <a:ext cx="438750" cy="438750"/>
            <a:chOff x="0" y="0"/>
            <a:chExt cx="585000" cy="585000"/>
          </a:xfrm>
        </p:grpSpPr>
        <p:sp>
          <p:nvSpPr>
            <p:cNvPr id="47" name="Freeform 47"/>
            <p:cNvSpPr/>
            <p:nvPr/>
          </p:nvSpPr>
          <p:spPr>
            <a:xfrm>
              <a:off x="0" y="0"/>
              <a:ext cx="584962" cy="584962"/>
            </a:xfrm>
            <a:custGeom>
              <a:avLst/>
              <a:gdLst/>
              <a:ahLst/>
              <a:cxnLst/>
              <a:rect l="l" t="t" r="r" b="b"/>
              <a:pathLst>
                <a:path w="584962" h="584962">
                  <a:moveTo>
                    <a:pt x="0" y="292481"/>
                  </a:moveTo>
                  <a:cubicBezTo>
                    <a:pt x="0" y="130937"/>
                    <a:pt x="130937" y="0"/>
                    <a:pt x="292481" y="0"/>
                  </a:cubicBezTo>
                  <a:cubicBezTo>
                    <a:pt x="454025" y="0"/>
                    <a:pt x="584962" y="130937"/>
                    <a:pt x="584962" y="292481"/>
                  </a:cubicBezTo>
                  <a:cubicBezTo>
                    <a:pt x="584962" y="454025"/>
                    <a:pt x="454025" y="584962"/>
                    <a:pt x="292481" y="584962"/>
                  </a:cubicBezTo>
                  <a:cubicBezTo>
                    <a:pt x="130937" y="584962"/>
                    <a:pt x="0" y="454025"/>
                    <a:pt x="0" y="292481"/>
                  </a:cubicBezTo>
                  <a:close/>
                </a:path>
              </a:pathLst>
            </a:custGeom>
            <a:solidFill>
              <a:srgbClr val="C74E3C"/>
            </a:solidFill>
          </p:spPr>
          <p:txBody>
            <a:bodyPr/>
            <a:lstStyle/>
            <a:p>
              <a:endParaRPr lang="es-CO"/>
            </a:p>
          </p:txBody>
        </p:sp>
      </p:grpSp>
      <p:grpSp>
        <p:nvGrpSpPr>
          <p:cNvPr id="48" name="Group 48"/>
          <p:cNvGrpSpPr/>
          <p:nvPr/>
        </p:nvGrpSpPr>
        <p:grpSpPr>
          <a:xfrm>
            <a:off x="1405700" y="7623629"/>
            <a:ext cx="210674" cy="210674"/>
            <a:chOff x="0" y="0"/>
            <a:chExt cx="280899" cy="280899"/>
          </a:xfrm>
        </p:grpSpPr>
        <p:sp>
          <p:nvSpPr>
            <p:cNvPr id="49" name="Freeform 49" descr="icons/warning.png"/>
            <p:cNvSpPr/>
            <p:nvPr/>
          </p:nvSpPr>
          <p:spPr>
            <a:xfrm>
              <a:off x="0" y="0"/>
              <a:ext cx="280924" cy="280924"/>
            </a:xfrm>
            <a:custGeom>
              <a:avLst/>
              <a:gdLst/>
              <a:ahLst/>
              <a:cxnLst/>
              <a:rect l="l" t="t" r="r" b="b"/>
              <a:pathLst>
                <a:path w="280924" h="280924">
                  <a:moveTo>
                    <a:pt x="0" y="0"/>
                  </a:moveTo>
                  <a:lnTo>
                    <a:pt x="280924" y="0"/>
                  </a:lnTo>
                  <a:lnTo>
                    <a:pt x="280924" y="280924"/>
                  </a:lnTo>
                  <a:lnTo>
                    <a:pt x="0" y="280924"/>
                  </a:lnTo>
                  <a:lnTo>
                    <a:pt x="0" y="0"/>
                  </a:lnTo>
                  <a:close/>
                </a:path>
              </a:pathLst>
            </a:custGeom>
            <a:blipFill>
              <a:blip r:embed="rId5"/>
              <a:stretch>
                <a:fillRect r="9" b="9"/>
              </a:stretch>
            </a:blipFill>
          </p:spPr>
          <p:txBody>
            <a:bodyPr/>
            <a:lstStyle/>
            <a:p>
              <a:endParaRPr lang="es-CO"/>
            </a:p>
          </p:txBody>
        </p:sp>
      </p:grpSp>
      <p:grpSp>
        <p:nvGrpSpPr>
          <p:cNvPr id="50" name="Group 50"/>
          <p:cNvGrpSpPr/>
          <p:nvPr/>
        </p:nvGrpSpPr>
        <p:grpSpPr>
          <a:xfrm>
            <a:off x="1936232" y="7454646"/>
            <a:ext cx="6377854" cy="685800"/>
            <a:chOff x="0" y="0"/>
            <a:chExt cx="8503806" cy="914400"/>
          </a:xfrm>
        </p:grpSpPr>
        <p:sp>
          <p:nvSpPr>
            <p:cNvPr id="51" name="Freeform 51"/>
            <p:cNvSpPr/>
            <p:nvPr/>
          </p:nvSpPr>
          <p:spPr>
            <a:xfrm>
              <a:off x="0" y="0"/>
              <a:ext cx="8503800" cy="914400"/>
            </a:xfrm>
            <a:custGeom>
              <a:avLst/>
              <a:gdLst/>
              <a:ahLst/>
              <a:cxnLst/>
              <a:rect l="l" t="t" r="r" b="b"/>
              <a:pathLst>
                <a:path w="8503800" h="914400">
                  <a:moveTo>
                    <a:pt x="0" y="0"/>
                  </a:moveTo>
                  <a:lnTo>
                    <a:pt x="8503800" y="0"/>
                  </a:lnTo>
                  <a:lnTo>
                    <a:pt x="8503800" y="914400"/>
                  </a:lnTo>
                  <a:lnTo>
                    <a:pt x="0" y="914400"/>
                  </a:lnTo>
                  <a:close/>
                </a:path>
              </a:pathLst>
            </a:custGeom>
            <a:blipFill>
              <a:blip r:embed="rId4">
                <a:alphaModFix amt="0"/>
              </a:blip>
              <a:stretch>
                <a:fillRect t="-131208" b="-131208"/>
              </a:stretch>
            </a:blipFill>
          </p:spPr>
          <p:txBody>
            <a:bodyPr/>
            <a:lstStyle/>
            <a:p>
              <a:endParaRPr lang="es-CO"/>
            </a:p>
          </p:txBody>
        </p:sp>
        <p:sp>
          <p:nvSpPr>
            <p:cNvPr id="52" name="TextBox 52"/>
            <p:cNvSpPr txBox="1"/>
            <p:nvPr/>
          </p:nvSpPr>
          <p:spPr>
            <a:xfrm>
              <a:off x="0" y="-38100"/>
              <a:ext cx="8503806" cy="952500"/>
            </a:xfrm>
            <a:prstGeom prst="rect">
              <a:avLst/>
            </a:prstGeom>
          </p:spPr>
          <p:txBody>
            <a:bodyPr lIns="0" tIns="0" rIns="0" bIns="0" rtlCol="0" anchor="ctr"/>
            <a:lstStyle/>
            <a:p>
              <a:pPr algn="l">
                <a:lnSpc>
                  <a:spcPts val="2070"/>
                </a:lnSpc>
              </a:pPr>
              <a:r>
                <a:rPr lang="en-US" sz="1725">
                  <a:solidFill>
                    <a:srgbClr val="22292E"/>
                  </a:solidFill>
                  <a:latin typeface="Calibri (MS)"/>
                  <a:ea typeface="Calibri (MS)"/>
                  <a:cs typeface="Calibri (MS)"/>
                  <a:sym typeface="Calibri (MS)"/>
                </a:rPr>
                <a:t>Sin precencia digital dentro del entorno laboral</a:t>
              </a:r>
            </a:p>
          </p:txBody>
        </p:sp>
      </p:grpSp>
      <p:grpSp>
        <p:nvGrpSpPr>
          <p:cNvPr id="53" name="Group 53"/>
          <p:cNvGrpSpPr/>
          <p:nvPr/>
        </p:nvGrpSpPr>
        <p:grpSpPr>
          <a:xfrm>
            <a:off x="8903960" y="2468880"/>
            <a:ext cx="8572500" cy="6720754"/>
            <a:chOff x="0" y="0"/>
            <a:chExt cx="11430000" cy="8961006"/>
          </a:xfrm>
        </p:grpSpPr>
        <p:sp>
          <p:nvSpPr>
            <p:cNvPr id="54" name="Freeform 54"/>
            <p:cNvSpPr/>
            <p:nvPr/>
          </p:nvSpPr>
          <p:spPr>
            <a:xfrm>
              <a:off x="0" y="0"/>
              <a:ext cx="11430000" cy="8960993"/>
            </a:xfrm>
            <a:custGeom>
              <a:avLst/>
              <a:gdLst/>
              <a:ahLst/>
              <a:cxnLst/>
              <a:rect l="l" t="t" r="r" b="b"/>
              <a:pathLst>
                <a:path w="11430000" h="8960993">
                  <a:moveTo>
                    <a:pt x="0" y="146304"/>
                  </a:moveTo>
                  <a:cubicBezTo>
                    <a:pt x="0" y="65532"/>
                    <a:pt x="65532" y="0"/>
                    <a:pt x="146304" y="0"/>
                  </a:cubicBezTo>
                  <a:lnTo>
                    <a:pt x="11283696" y="0"/>
                  </a:lnTo>
                  <a:cubicBezTo>
                    <a:pt x="11364468" y="0"/>
                    <a:pt x="11430000" y="65532"/>
                    <a:pt x="11430000" y="146304"/>
                  </a:cubicBezTo>
                  <a:lnTo>
                    <a:pt x="11430000" y="8814689"/>
                  </a:lnTo>
                  <a:cubicBezTo>
                    <a:pt x="11430000" y="8895461"/>
                    <a:pt x="11364468" y="8960993"/>
                    <a:pt x="11283696" y="8960993"/>
                  </a:cubicBezTo>
                  <a:lnTo>
                    <a:pt x="146304" y="8960993"/>
                  </a:lnTo>
                  <a:cubicBezTo>
                    <a:pt x="65532" y="8960993"/>
                    <a:pt x="0" y="8895461"/>
                    <a:pt x="0" y="8814689"/>
                  </a:cubicBezTo>
                  <a:close/>
                </a:path>
              </a:pathLst>
            </a:custGeom>
            <a:solidFill>
              <a:srgbClr val="FACEC7"/>
            </a:solidFill>
          </p:spPr>
          <p:txBody>
            <a:bodyPr/>
            <a:lstStyle/>
            <a:p>
              <a:endParaRPr lang="es-CO"/>
            </a:p>
          </p:txBody>
        </p:sp>
      </p:grpSp>
      <p:grpSp>
        <p:nvGrpSpPr>
          <p:cNvPr id="55" name="Group 55"/>
          <p:cNvGrpSpPr/>
          <p:nvPr/>
        </p:nvGrpSpPr>
        <p:grpSpPr>
          <a:xfrm>
            <a:off x="9384020" y="2880360"/>
            <a:ext cx="823046" cy="823046"/>
            <a:chOff x="0" y="0"/>
            <a:chExt cx="1097394" cy="1097394"/>
          </a:xfrm>
        </p:grpSpPr>
        <p:sp>
          <p:nvSpPr>
            <p:cNvPr id="56" name="Freeform 56"/>
            <p:cNvSpPr/>
            <p:nvPr/>
          </p:nvSpPr>
          <p:spPr>
            <a:xfrm>
              <a:off x="0" y="0"/>
              <a:ext cx="1097280" cy="1097280"/>
            </a:xfrm>
            <a:custGeom>
              <a:avLst/>
              <a:gdLst/>
              <a:ahLst/>
              <a:cxnLst/>
              <a:rect l="l" t="t" r="r" b="b"/>
              <a:pathLst>
                <a:path w="1097280" h="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789"/>
                    <a:pt x="0" y="548640"/>
                  </a:cubicBezTo>
                  <a:close/>
                </a:path>
              </a:pathLst>
            </a:custGeom>
            <a:solidFill>
              <a:srgbClr val="C74E3C"/>
            </a:solidFill>
          </p:spPr>
          <p:txBody>
            <a:bodyPr/>
            <a:lstStyle/>
            <a:p>
              <a:endParaRPr lang="es-CO"/>
            </a:p>
          </p:txBody>
        </p:sp>
      </p:grpSp>
      <p:grpSp>
        <p:nvGrpSpPr>
          <p:cNvPr id="57" name="Group 57"/>
          <p:cNvGrpSpPr/>
          <p:nvPr/>
        </p:nvGrpSpPr>
        <p:grpSpPr>
          <a:xfrm>
            <a:off x="10412720" y="2990088"/>
            <a:ext cx="6858000" cy="617400"/>
            <a:chOff x="0" y="0"/>
            <a:chExt cx="9144000" cy="823200"/>
          </a:xfrm>
        </p:grpSpPr>
        <p:sp>
          <p:nvSpPr>
            <p:cNvPr id="58" name="Freeform 58"/>
            <p:cNvSpPr/>
            <p:nvPr/>
          </p:nvSpPr>
          <p:spPr>
            <a:xfrm>
              <a:off x="0" y="0"/>
              <a:ext cx="9144000" cy="823199"/>
            </a:xfrm>
            <a:custGeom>
              <a:avLst/>
              <a:gdLst/>
              <a:ahLst/>
              <a:cxnLst/>
              <a:rect l="l" t="t" r="r" b="b"/>
              <a:pathLst>
                <a:path w="9144000" h="823199">
                  <a:moveTo>
                    <a:pt x="0" y="0"/>
                  </a:moveTo>
                  <a:lnTo>
                    <a:pt x="9144000" y="0"/>
                  </a:lnTo>
                  <a:lnTo>
                    <a:pt x="9144000" y="823199"/>
                  </a:lnTo>
                  <a:lnTo>
                    <a:pt x="0" y="823199"/>
                  </a:lnTo>
                  <a:close/>
                </a:path>
              </a:pathLst>
            </a:custGeom>
            <a:blipFill>
              <a:blip r:embed="rId4">
                <a:alphaModFix amt="0"/>
              </a:blip>
              <a:stretch>
                <a:fillRect t="-166437" b="-166437"/>
              </a:stretch>
            </a:blipFill>
          </p:spPr>
          <p:txBody>
            <a:bodyPr/>
            <a:lstStyle/>
            <a:p>
              <a:endParaRPr lang="es-CO"/>
            </a:p>
          </p:txBody>
        </p:sp>
        <p:sp>
          <p:nvSpPr>
            <p:cNvPr id="59" name="TextBox 59"/>
            <p:cNvSpPr txBox="1"/>
            <p:nvPr/>
          </p:nvSpPr>
          <p:spPr>
            <a:xfrm>
              <a:off x="0" y="-38100"/>
              <a:ext cx="9144000" cy="861300"/>
            </a:xfrm>
            <a:prstGeom prst="rect">
              <a:avLst/>
            </a:prstGeom>
          </p:spPr>
          <p:txBody>
            <a:bodyPr lIns="0" tIns="0" rIns="0" bIns="0" rtlCol="0" anchor="ctr"/>
            <a:lstStyle/>
            <a:p>
              <a:pPr algn="l">
                <a:lnSpc>
                  <a:spcPts val="2879"/>
                </a:lnSpc>
              </a:pPr>
              <a:r>
                <a:rPr lang="en-US" sz="2400" b="1" dirty="0">
                  <a:solidFill>
                    <a:srgbClr val="00304D"/>
                  </a:solidFill>
                  <a:latin typeface="Calibri (MS) Bold"/>
                  <a:ea typeface="Calibri (MS) Bold"/>
                  <a:cs typeface="Calibri (MS) Bold"/>
                  <a:sym typeface="Calibri (MS) Bold"/>
                </a:rPr>
                <a:t>Problema de </a:t>
              </a:r>
              <a:r>
                <a:rPr lang="en-US" sz="2400" b="1" dirty="0" err="1">
                  <a:solidFill>
                    <a:srgbClr val="00304D"/>
                  </a:solidFill>
                  <a:latin typeface="Calibri (MS) Bold"/>
                  <a:ea typeface="Calibri (MS) Bold"/>
                  <a:cs typeface="Calibri (MS) Bold"/>
                  <a:sym typeface="Calibri (MS) Bold"/>
                </a:rPr>
                <a:t>inventarios</a:t>
              </a:r>
              <a:endParaRPr lang="en-US" sz="2400" b="1" dirty="0">
                <a:solidFill>
                  <a:srgbClr val="00304D"/>
                </a:solidFill>
                <a:latin typeface="Calibri (MS) Bold"/>
                <a:ea typeface="Calibri (MS) Bold"/>
                <a:cs typeface="Calibri (MS) Bold"/>
                <a:sym typeface="Calibri (MS) Bold"/>
              </a:endParaRPr>
            </a:p>
          </p:txBody>
        </p:sp>
      </p:grpSp>
      <p:grpSp>
        <p:nvGrpSpPr>
          <p:cNvPr id="60" name="Group 60"/>
          <p:cNvGrpSpPr/>
          <p:nvPr/>
        </p:nvGrpSpPr>
        <p:grpSpPr>
          <a:xfrm>
            <a:off x="9384020" y="3909060"/>
            <a:ext cx="7681046" cy="1303200"/>
            <a:chOff x="0" y="0"/>
            <a:chExt cx="10241394" cy="1737600"/>
          </a:xfrm>
        </p:grpSpPr>
        <p:sp>
          <p:nvSpPr>
            <p:cNvPr id="61" name="Freeform 61"/>
            <p:cNvSpPr/>
            <p:nvPr/>
          </p:nvSpPr>
          <p:spPr>
            <a:xfrm>
              <a:off x="0" y="0"/>
              <a:ext cx="10241400" cy="1737599"/>
            </a:xfrm>
            <a:custGeom>
              <a:avLst/>
              <a:gdLst/>
              <a:ahLst/>
              <a:cxnLst/>
              <a:rect l="l" t="t" r="r" b="b"/>
              <a:pathLst>
                <a:path w="10241400" h="1737599">
                  <a:moveTo>
                    <a:pt x="0" y="0"/>
                  </a:moveTo>
                  <a:lnTo>
                    <a:pt x="10241400" y="0"/>
                  </a:lnTo>
                  <a:lnTo>
                    <a:pt x="10241400" y="1737599"/>
                  </a:lnTo>
                  <a:lnTo>
                    <a:pt x="0" y="1737599"/>
                  </a:lnTo>
                  <a:close/>
                </a:path>
              </a:pathLst>
            </a:custGeom>
            <a:blipFill>
              <a:blip r:embed="rId4">
                <a:alphaModFix amt="0"/>
              </a:blip>
              <a:stretch>
                <a:fillRect t="-64844" b="-64844"/>
              </a:stretch>
            </a:blipFill>
          </p:spPr>
          <p:txBody>
            <a:bodyPr/>
            <a:lstStyle/>
            <a:p>
              <a:endParaRPr lang="es-CO"/>
            </a:p>
          </p:txBody>
        </p:sp>
        <p:sp>
          <p:nvSpPr>
            <p:cNvPr id="62" name="TextBox 62"/>
            <p:cNvSpPr txBox="1"/>
            <p:nvPr/>
          </p:nvSpPr>
          <p:spPr>
            <a:xfrm>
              <a:off x="0" y="-38100"/>
              <a:ext cx="10241394" cy="1775700"/>
            </a:xfrm>
            <a:prstGeom prst="rect">
              <a:avLst/>
            </a:prstGeom>
          </p:spPr>
          <p:txBody>
            <a:bodyPr lIns="0" tIns="0" rIns="0" bIns="0" rtlCol="0" anchor="ctr"/>
            <a:lstStyle/>
            <a:p>
              <a:pPr algn="l">
                <a:lnSpc>
                  <a:spcPts val="2250"/>
                </a:lnSpc>
              </a:pPr>
              <a:r>
                <a:rPr lang="en-US" sz="1875">
                  <a:solidFill>
                    <a:srgbClr val="22292E"/>
                  </a:solidFill>
                  <a:latin typeface="Calibri (MS)"/>
                  <a:ea typeface="Calibri (MS)"/>
                  <a:cs typeface="Calibri (MS)"/>
                  <a:sym typeface="Calibri (MS)"/>
                </a:rPr>
                <a:t>El exesivo ingreso de CITAS y INVENTARIOS hizo que se desperdiciara demaciado tiempo y papel en anotar todo a mano</a:t>
              </a:r>
            </a:p>
          </p:txBody>
        </p:sp>
      </p:grpSp>
      <p:grpSp>
        <p:nvGrpSpPr>
          <p:cNvPr id="63" name="Group 63"/>
          <p:cNvGrpSpPr/>
          <p:nvPr/>
        </p:nvGrpSpPr>
        <p:grpSpPr>
          <a:xfrm>
            <a:off x="9384020" y="5417820"/>
            <a:ext cx="7681046" cy="3497399"/>
            <a:chOff x="0" y="0"/>
            <a:chExt cx="10241394" cy="4663199"/>
          </a:xfrm>
        </p:grpSpPr>
        <p:sp>
          <p:nvSpPr>
            <p:cNvPr id="64" name="Freeform 64"/>
            <p:cNvSpPr/>
            <p:nvPr/>
          </p:nvSpPr>
          <p:spPr>
            <a:xfrm>
              <a:off x="0" y="0"/>
              <a:ext cx="10241407" cy="4663186"/>
            </a:xfrm>
            <a:custGeom>
              <a:avLst/>
              <a:gdLst/>
              <a:ahLst/>
              <a:cxnLst/>
              <a:rect l="l" t="t" r="r" b="b"/>
              <a:pathLst>
                <a:path w="10241407" h="4663186">
                  <a:moveTo>
                    <a:pt x="0" y="146304"/>
                  </a:moveTo>
                  <a:cubicBezTo>
                    <a:pt x="0" y="65532"/>
                    <a:pt x="65532" y="0"/>
                    <a:pt x="146304" y="0"/>
                  </a:cubicBezTo>
                  <a:lnTo>
                    <a:pt x="10095103" y="0"/>
                  </a:lnTo>
                  <a:cubicBezTo>
                    <a:pt x="10175875" y="0"/>
                    <a:pt x="10241407" y="65532"/>
                    <a:pt x="10241407" y="146304"/>
                  </a:cubicBezTo>
                  <a:lnTo>
                    <a:pt x="10241407" y="4516882"/>
                  </a:lnTo>
                  <a:cubicBezTo>
                    <a:pt x="10241407" y="4597654"/>
                    <a:pt x="10175875" y="4663186"/>
                    <a:pt x="10095103" y="4663186"/>
                  </a:cubicBezTo>
                  <a:lnTo>
                    <a:pt x="146304" y="4663186"/>
                  </a:lnTo>
                  <a:cubicBezTo>
                    <a:pt x="65532" y="4663186"/>
                    <a:pt x="0" y="4597654"/>
                    <a:pt x="0" y="4516882"/>
                  </a:cubicBezTo>
                  <a:close/>
                </a:path>
              </a:pathLst>
            </a:custGeom>
            <a:solidFill>
              <a:srgbClr val="00304D"/>
            </a:solidFill>
          </p:spPr>
          <p:txBody>
            <a:bodyPr/>
            <a:lstStyle/>
            <a:p>
              <a:endParaRPr lang="es-CO"/>
            </a:p>
          </p:txBody>
        </p:sp>
      </p:grpSp>
      <p:grpSp>
        <p:nvGrpSpPr>
          <p:cNvPr id="65" name="Group 65"/>
          <p:cNvGrpSpPr/>
          <p:nvPr/>
        </p:nvGrpSpPr>
        <p:grpSpPr>
          <a:xfrm>
            <a:off x="9795500" y="5692140"/>
            <a:ext cx="6858000" cy="438750"/>
            <a:chOff x="0" y="0"/>
            <a:chExt cx="9144000" cy="585000"/>
          </a:xfrm>
        </p:grpSpPr>
        <p:sp>
          <p:nvSpPr>
            <p:cNvPr id="66" name="Freeform 66"/>
            <p:cNvSpPr/>
            <p:nvPr/>
          </p:nvSpPr>
          <p:spPr>
            <a:xfrm>
              <a:off x="0" y="0"/>
              <a:ext cx="9144000" cy="585000"/>
            </a:xfrm>
            <a:custGeom>
              <a:avLst/>
              <a:gdLst/>
              <a:ahLst/>
              <a:cxnLst/>
              <a:rect l="l" t="t" r="r" b="b"/>
              <a:pathLst>
                <a:path w="9144000" h="585000">
                  <a:moveTo>
                    <a:pt x="0" y="0"/>
                  </a:moveTo>
                  <a:lnTo>
                    <a:pt x="9144000" y="0"/>
                  </a:lnTo>
                  <a:lnTo>
                    <a:pt x="9144000" y="585000"/>
                  </a:lnTo>
                  <a:lnTo>
                    <a:pt x="0" y="585000"/>
                  </a:lnTo>
                  <a:close/>
                </a:path>
              </a:pathLst>
            </a:custGeom>
            <a:blipFill>
              <a:blip r:embed="rId4">
                <a:alphaModFix amt="0"/>
              </a:blip>
              <a:stretch>
                <a:fillRect t="-254566" b="-254566"/>
              </a:stretch>
            </a:blipFill>
          </p:spPr>
          <p:txBody>
            <a:bodyPr/>
            <a:lstStyle/>
            <a:p>
              <a:endParaRPr lang="es-CO"/>
            </a:p>
          </p:txBody>
        </p:sp>
        <p:sp>
          <p:nvSpPr>
            <p:cNvPr id="67" name="TextBox 67"/>
            <p:cNvSpPr txBox="1"/>
            <p:nvPr/>
          </p:nvSpPr>
          <p:spPr>
            <a:xfrm>
              <a:off x="0" y="-38100"/>
              <a:ext cx="9144000" cy="623100"/>
            </a:xfrm>
            <a:prstGeom prst="rect">
              <a:avLst/>
            </a:prstGeom>
          </p:spPr>
          <p:txBody>
            <a:bodyPr lIns="0" tIns="0" rIns="0" bIns="0" rtlCol="0" anchor="ctr"/>
            <a:lstStyle/>
            <a:p>
              <a:pPr algn="l">
                <a:lnSpc>
                  <a:spcPts val="2160"/>
                </a:lnSpc>
              </a:pPr>
              <a:r>
                <a:rPr lang="en-US" sz="1800" b="1">
                  <a:solidFill>
                    <a:srgbClr val="FACEC7"/>
                  </a:solidFill>
                  <a:latin typeface="Calibri (MS) Bold"/>
                  <a:ea typeface="Calibri (MS) Bold"/>
                  <a:cs typeface="Calibri (MS) Bold"/>
                  <a:sym typeface="Calibri (MS) Bold"/>
                </a:rPr>
                <a:t>SOLUCIÓN PROPUESTA</a:t>
              </a:r>
            </a:p>
          </p:txBody>
        </p:sp>
      </p:grpSp>
      <p:grpSp>
        <p:nvGrpSpPr>
          <p:cNvPr id="68" name="Group 68"/>
          <p:cNvGrpSpPr/>
          <p:nvPr/>
        </p:nvGrpSpPr>
        <p:grpSpPr>
          <a:xfrm>
            <a:off x="9795500" y="6172200"/>
            <a:ext cx="6926399" cy="2537550"/>
            <a:chOff x="0" y="0"/>
            <a:chExt cx="9235199" cy="3383400"/>
          </a:xfrm>
        </p:grpSpPr>
        <p:sp>
          <p:nvSpPr>
            <p:cNvPr id="69" name="Freeform 69"/>
            <p:cNvSpPr/>
            <p:nvPr/>
          </p:nvSpPr>
          <p:spPr>
            <a:xfrm>
              <a:off x="0" y="0"/>
              <a:ext cx="9235200" cy="3383406"/>
            </a:xfrm>
            <a:custGeom>
              <a:avLst/>
              <a:gdLst/>
              <a:ahLst/>
              <a:cxnLst/>
              <a:rect l="l" t="t" r="r" b="b"/>
              <a:pathLst>
                <a:path w="9235200" h="3383406">
                  <a:moveTo>
                    <a:pt x="0" y="0"/>
                  </a:moveTo>
                  <a:lnTo>
                    <a:pt x="9235200" y="0"/>
                  </a:lnTo>
                  <a:lnTo>
                    <a:pt x="9235200" y="3383406"/>
                  </a:lnTo>
                  <a:lnTo>
                    <a:pt x="0" y="3383406"/>
                  </a:lnTo>
                  <a:close/>
                </a:path>
              </a:pathLst>
            </a:custGeom>
            <a:blipFill>
              <a:blip r:embed="rId4">
                <a:alphaModFix amt="0"/>
              </a:blip>
              <a:stretch>
                <a:fillRect t="-3185" b="-3185"/>
              </a:stretch>
            </a:blipFill>
          </p:spPr>
          <p:txBody>
            <a:bodyPr/>
            <a:lstStyle/>
            <a:p>
              <a:endParaRPr lang="es-CO"/>
            </a:p>
          </p:txBody>
        </p:sp>
        <p:sp>
          <p:nvSpPr>
            <p:cNvPr id="70" name="TextBox 70"/>
            <p:cNvSpPr txBox="1"/>
            <p:nvPr/>
          </p:nvSpPr>
          <p:spPr>
            <a:xfrm>
              <a:off x="0" y="-47625"/>
              <a:ext cx="9235199" cy="3431025"/>
            </a:xfrm>
            <a:prstGeom prst="rect">
              <a:avLst/>
            </a:prstGeom>
          </p:spPr>
          <p:txBody>
            <a:bodyPr lIns="0" tIns="0" rIns="0" bIns="0" rtlCol="0" anchor="ctr"/>
            <a:lstStyle/>
            <a:p>
              <a:pPr algn="l">
                <a:lnSpc>
                  <a:spcPts val="2340"/>
                </a:lnSpc>
              </a:pPr>
              <a:r>
                <a:rPr lang="en-US" sz="1950">
                  <a:solidFill>
                    <a:srgbClr val="FFFFFF"/>
                  </a:solidFill>
                  <a:latin typeface="Calibri (MS)"/>
                  <a:ea typeface="Calibri (MS)"/>
                  <a:cs typeface="Calibri (MS)"/>
                  <a:sym typeface="Calibri (MS)"/>
                </a:rPr>
                <a:t>DMI Junta estos procesos en una plataforma web enfocada en el uso de administradores y usuarios simultaneamente en la que se gestionan las necesidades principales de la mecanica</a:t>
              </a:r>
            </a:p>
          </p:txBody>
        </p:sp>
      </p:grpSp>
      <p:grpSp>
        <p:nvGrpSpPr>
          <p:cNvPr id="71" name="Group 71"/>
          <p:cNvGrpSpPr/>
          <p:nvPr/>
        </p:nvGrpSpPr>
        <p:grpSpPr>
          <a:xfrm>
            <a:off x="9497547" y="2993929"/>
            <a:ext cx="595908" cy="595908"/>
            <a:chOff x="0" y="0"/>
            <a:chExt cx="491579" cy="491579"/>
          </a:xfrm>
        </p:grpSpPr>
        <p:sp>
          <p:nvSpPr>
            <p:cNvPr id="72" name="Freeform 72" descr="icons/bullseye.png"/>
            <p:cNvSpPr/>
            <p:nvPr/>
          </p:nvSpPr>
          <p:spPr>
            <a:xfrm>
              <a:off x="0" y="0"/>
              <a:ext cx="491617" cy="491617"/>
            </a:xfrm>
            <a:custGeom>
              <a:avLst/>
              <a:gdLst/>
              <a:ahLst/>
              <a:cxnLst/>
              <a:rect l="l" t="t" r="r" b="b"/>
              <a:pathLst>
                <a:path w="491617" h="491617">
                  <a:moveTo>
                    <a:pt x="0" y="0"/>
                  </a:moveTo>
                  <a:lnTo>
                    <a:pt x="491617" y="0"/>
                  </a:lnTo>
                  <a:lnTo>
                    <a:pt x="491617" y="491617"/>
                  </a:lnTo>
                  <a:lnTo>
                    <a:pt x="0" y="491617"/>
                  </a:lnTo>
                  <a:lnTo>
                    <a:pt x="0" y="0"/>
                  </a:lnTo>
                  <a:close/>
                </a:path>
              </a:pathLst>
            </a:custGeom>
            <a:blipFill>
              <a:blip r:embed="rId6"/>
              <a:stretch>
                <a:fillRect r="7" b="7"/>
              </a:stretch>
            </a:blipFill>
          </p:spPr>
          <p:txBody>
            <a:bodyPr/>
            <a:lstStyle/>
            <a:p>
              <a:endParaRPr lang="es-CO"/>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22960" y="576072"/>
            <a:ext cx="13716000" cy="480146"/>
            <a:chOff x="0" y="0"/>
            <a:chExt cx="18288000" cy="640194"/>
          </a:xfrm>
        </p:grpSpPr>
        <p:sp>
          <p:nvSpPr>
            <p:cNvPr id="3" name="Freeform 3"/>
            <p:cNvSpPr/>
            <p:nvPr/>
          </p:nvSpPr>
          <p:spPr>
            <a:xfrm>
              <a:off x="0" y="0"/>
              <a:ext cx="18288000" cy="640200"/>
            </a:xfrm>
            <a:custGeom>
              <a:avLst/>
              <a:gdLst/>
              <a:ahLst/>
              <a:cxnLst/>
              <a:rect l="l" t="t" r="r" b="b"/>
              <a:pathLst>
                <a:path w="18288000" h="640200">
                  <a:moveTo>
                    <a:pt x="0" y="0"/>
                  </a:moveTo>
                  <a:lnTo>
                    <a:pt x="18288000" y="0"/>
                  </a:lnTo>
                  <a:lnTo>
                    <a:pt x="18288000" y="640200"/>
                  </a:lnTo>
                  <a:lnTo>
                    <a:pt x="0" y="640200"/>
                  </a:lnTo>
                  <a:close/>
                </a:path>
              </a:pathLst>
            </a:custGeom>
            <a:blipFill>
              <a:blip r:embed="rId3">
                <a:alphaModFix amt="0"/>
              </a:blip>
              <a:stretch>
                <a:fillRect t="-506611" b="-506610"/>
              </a:stretch>
            </a:blipFill>
          </p:spPr>
          <p:txBody>
            <a:bodyPr/>
            <a:lstStyle/>
            <a:p>
              <a:endParaRPr lang="es-CO"/>
            </a:p>
          </p:txBody>
        </p:sp>
        <p:sp>
          <p:nvSpPr>
            <p:cNvPr id="4" name="TextBox 4"/>
            <p:cNvSpPr txBox="1"/>
            <p:nvPr/>
          </p:nvSpPr>
          <p:spPr>
            <a:xfrm>
              <a:off x="0" y="-47625"/>
              <a:ext cx="18288000" cy="687819"/>
            </a:xfrm>
            <a:prstGeom prst="rect">
              <a:avLst/>
            </a:prstGeom>
          </p:spPr>
          <p:txBody>
            <a:bodyPr lIns="0" tIns="0" rIns="0" bIns="0" rtlCol="0" anchor="ctr"/>
            <a:lstStyle/>
            <a:p>
              <a:pPr algn="l">
                <a:lnSpc>
                  <a:spcPts val="2340"/>
                </a:lnSpc>
              </a:pPr>
              <a:r>
                <a:rPr lang="en-US" sz="1950" b="1">
                  <a:solidFill>
                    <a:srgbClr val="39A900"/>
                  </a:solidFill>
                  <a:latin typeface="Calibri (MS) Bold"/>
                  <a:ea typeface="Calibri (MS) Bold"/>
                  <a:cs typeface="Calibri (MS) Bold"/>
                  <a:sym typeface="Calibri (MS) Bold"/>
                </a:rPr>
                <a:t>METAS DEL PROYECTO</a:t>
              </a:r>
            </a:p>
          </p:txBody>
        </p:sp>
      </p:grpSp>
      <p:grpSp>
        <p:nvGrpSpPr>
          <p:cNvPr id="5" name="Group 5"/>
          <p:cNvGrpSpPr/>
          <p:nvPr/>
        </p:nvGrpSpPr>
        <p:grpSpPr>
          <a:xfrm>
            <a:off x="822960" y="987552"/>
            <a:ext cx="16184699" cy="1165946"/>
            <a:chOff x="0" y="0"/>
            <a:chExt cx="21579599" cy="1554594"/>
          </a:xfrm>
        </p:grpSpPr>
        <p:sp>
          <p:nvSpPr>
            <p:cNvPr id="6" name="Freeform 6"/>
            <p:cNvSpPr/>
            <p:nvPr/>
          </p:nvSpPr>
          <p:spPr>
            <a:xfrm>
              <a:off x="0" y="0"/>
              <a:ext cx="21579601" cy="1554600"/>
            </a:xfrm>
            <a:custGeom>
              <a:avLst/>
              <a:gdLst/>
              <a:ahLst/>
              <a:cxnLst/>
              <a:rect l="l" t="t" r="r" b="b"/>
              <a:pathLst>
                <a:path w="21579601" h="1554600">
                  <a:moveTo>
                    <a:pt x="0" y="0"/>
                  </a:moveTo>
                  <a:lnTo>
                    <a:pt x="21579601" y="0"/>
                  </a:lnTo>
                  <a:lnTo>
                    <a:pt x="21579601" y="1554600"/>
                  </a:lnTo>
                  <a:lnTo>
                    <a:pt x="0" y="1554600"/>
                  </a:lnTo>
                  <a:close/>
                </a:path>
              </a:pathLst>
            </a:custGeom>
            <a:blipFill>
              <a:blip r:embed="rId3">
                <a:alphaModFix amt="0"/>
              </a:blip>
              <a:stretch>
                <a:fillRect t="-220474" b="-220474"/>
              </a:stretch>
            </a:blipFill>
          </p:spPr>
          <p:txBody>
            <a:bodyPr/>
            <a:lstStyle/>
            <a:p>
              <a:endParaRPr lang="es-CO"/>
            </a:p>
          </p:txBody>
        </p:sp>
        <p:sp>
          <p:nvSpPr>
            <p:cNvPr id="7" name="TextBox 7"/>
            <p:cNvSpPr txBox="1"/>
            <p:nvPr/>
          </p:nvSpPr>
          <p:spPr>
            <a:xfrm>
              <a:off x="0" y="0"/>
              <a:ext cx="21579599" cy="1554594"/>
            </a:xfrm>
            <a:prstGeom prst="rect">
              <a:avLst/>
            </a:prstGeom>
          </p:spPr>
          <p:txBody>
            <a:bodyPr lIns="0" tIns="0" rIns="0" bIns="0" rtlCol="0" anchor="ctr"/>
            <a:lstStyle/>
            <a:p>
              <a:pPr algn="l">
                <a:lnSpc>
                  <a:spcPts val="6480"/>
                </a:lnSpc>
              </a:pPr>
              <a:r>
                <a:rPr lang="en-US" sz="5400" b="1">
                  <a:solidFill>
                    <a:srgbClr val="38AA00"/>
                  </a:solidFill>
                  <a:latin typeface="Work Sans Bold"/>
                  <a:ea typeface="Work Sans Bold"/>
                  <a:cs typeface="Work Sans Bold"/>
                  <a:sym typeface="Work Sans Bold"/>
                </a:rPr>
                <a:t>Objetivos</a:t>
              </a:r>
            </a:p>
          </p:txBody>
        </p:sp>
      </p:grpSp>
      <p:grpSp>
        <p:nvGrpSpPr>
          <p:cNvPr id="8" name="Group 8"/>
          <p:cNvGrpSpPr/>
          <p:nvPr/>
        </p:nvGrpSpPr>
        <p:grpSpPr>
          <a:xfrm>
            <a:off x="822960" y="2468880"/>
            <a:ext cx="15910646" cy="1577254"/>
            <a:chOff x="0" y="0"/>
            <a:chExt cx="21214194" cy="2103006"/>
          </a:xfrm>
        </p:grpSpPr>
        <p:sp>
          <p:nvSpPr>
            <p:cNvPr id="9" name="Freeform 9"/>
            <p:cNvSpPr/>
            <p:nvPr/>
          </p:nvSpPr>
          <p:spPr>
            <a:xfrm>
              <a:off x="0" y="0"/>
              <a:ext cx="21214207" cy="2102993"/>
            </a:xfrm>
            <a:custGeom>
              <a:avLst/>
              <a:gdLst/>
              <a:ahLst/>
              <a:cxnLst/>
              <a:rect l="l" t="t" r="r" b="b"/>
              <a:pathLst>
                <a:path w="21214207" h="2102993">
                  <a:moveTo>
                    <a:pt x="0" y="146304"/>
                  </a:moveTo>
                  <a:cubicBezTo>
                    <a:pt x="0" y="65532"/>
                    <a:pt x="65532" y="0"/>
                    <a:pt x="146304" y="0"/>
                  </a:cubicBezTo>
                  <a:lnTo>
                    <a:pt x="21067903" y="0"/>
                  </a:lnTo>
                  <a:cubicBezTo>
                    <a:pt x="21148675" y="0"/>
                    <a:pt x="21214207" y="65532"/>
                    <a:pt x="21214207" y="146304"/>
                  </a:cubicBezTo>
                  <a:lnTo>
                    <a:pt x="21214207" y="1956689"/>
                  </a:lnTo>
                  <a:cubicBezTo>
                    <a:pt x="21214207" y="2037461"/>
                    <a:pt x="21148675" y="2102993"/>
                    <a:pt x="21067903" y="2102993"/>
                  </a:cubicBezTo>
                  <a:lnTo>
                    <a:pt x="146304" y="2102993"/>
                  </a:lnTo>
                  <a:cubicBezTo>
                    <a:pt x="65532" y="2102993"/>
                    <a:pt x="0" y="2037461"/>
                    <a:pt x="0" y="1956689"/>
                  </a:cubicBezTo>
                  <a:close/>
                </a:path>
              </a:pathLst>
            </a:custGeom>
            <a:solidFill>
              <a:srgbClr val="00304D"/>
            </a:solidFill>
          </p:spPr>
          <p:txBody>
            <a:bodyPr/>
            <a:lstStyle/>
            <a:p>
              <a:endParaRPr lang="es-CO"/>
            </a:p>
          </p:txBody>
        </p:sp>
      </p:grpSp>
      <p:grpSp>
        <p:nvGrpSpPr>
          <p:cNvPr id="10" name="Group 10"/>
          <p:cNvGrpSpPr/>
          <p:nvPr/>
        </p:nvGrpSpPr>
        <p:grpSpPr>
          <a:xfrm>
            <a:off x="1303020" y="2811780"/>
            <a:ext cx="891454" cy="891454"/>
            <a:chOff x="0" y="0"/>
            <a:chExt cx="1188606" cy="1188606"/>
          </a:xfrm>
        </p:grpSpPr>
        <p:sp>
          <p:nvSpPr>
            <p:cNvPr id="11" name="Freeform 11"/>
            <p:cNvSpPr/>
            <p:nvPr/>
          </p:nvSpPr>
          <p:spPr>
            <a:xfrm>
              <a:off x="0" y="0"/>
              <a:ext cx="1188720" cy="1188720"/>
            </a:xfrm>
            <a:custGeom>
              <a:avLst/>
              <a:gdLst/>
              <a:ahLst/>
              <a:cxnLst/>
              <a:rect l="l" t="t" r="r" b="b"/>
              <a:pathLst>
                <a:path w="1188720" h="1188720">
                  <a:moveTo>
                    <a:pt x="0" y="594360"/>
                  </a:moveTo>
                  <a:cubicBezTo>
                    <a:pt x="0" y="266065"/>
                    <a:pt x="266065" y="0"/>
                    <a:pt x="594360" y="0"/>
                  </a:cubicBezTo>
                  <a:cubicBezTo>
                    <a:pt x="922655" y="0"/>
                    <a:pt x="1188720" y="266065"/>
                    <a:pt x="1188720" y="594360"/>
                  </a:cubicBezTo>
                  <a:cubicBezTo>
                    <a:pt x="1188720" y="922655"/>
                    <a:pt x="922655" y="1188720"/>
                    <a:pt x="594360" y="1188720"/>
                  </a:cubicBezTo>
                  <a:cubicBezTo>
                    <a:pt x="266065" y="1188720"/>
                    <a:pt x="0" y="922528"/>
                    <a:pt x="0" y="594360"/>
                  </a:cubicBezTo>
                  <a:close/>
                </a:path>
              </a:pathLst>
            </a:custGeom>
            <a:solidFill>
              <a:srgbClr val="39A900"/>
            </a:solidFill>
          </p:spPr>
          <p:txBody>
            <a:bodyPr/>
            <a:lstStyle/>
            <a:p>
              <a:endParaRPr lang="es-CO"/>
            </a:p>
          </p:txBody>
        </p:sp>
      </p:grpSp>
      <p:grpSp>
        <p:nvGrpSpPr>
          <p:cNvPr id="12" name="Group 12"/>
          <p:cNvGrpSpPr/>
          <p:nvPr/>
        </p:nvGrpSpPr>
        <p:grpSpPr>
          <a:xfrm>
            <a:off x="1534820" y="3043580"/>
            <a:ext cx="427939" cy="427939"/>
            <a:chOff x="0" y="0"/>
            <a:chExt cx="570586" cy="570586"/>
          </a:xfrm>
        </p:grpSpPr>
        <p:sp>
          <p:nvSpPr>
            <p:cNvPr id="13" name="Freeform 13" descr="icons/bullseye.png"/>
            <p:cNvSpPr/>
            <p:nvPr/>
          </p:nvSpPr>
          <p:spPr>
            <a:xfrm>
              <a:off x="0" y="0"/>
              <a:ext cx="570611" cy="570611"/>
            </a:xfrm>
            <a:custGeom>
              <a:avLst/>
              <a:gdLst/>
              <a:ahLst/>
              <a:cxnLst/>
              <a:rect l="l" t="t" r="r" b="b"/>
              <a:pathLst>
                <a:path w="570611" h="570611">
                  <a:moveTo>
                    <a:pt x="0" y="0"/>
                  </a:moveTo>
                  <a:lnTo>
                    <a:pt x="570611" y="0"/>
                  </a:lnTo>
                  <a:lnTo>
                    <a:pt x="570611" y="570611"/>
                  </a:lnTo>
                  <a:lnTo>
                    <a:pt x="0" y="570611"/>
                  </a:lnTo>
                  <a:lnTo>
                    <a:pt x="0" y="0"/>
                  </a:lnTo>
                  <a:close/>
                </a:path>
              </a:pathLst>
            </a:custGeom>
            <a:blipFill>
              <a:blip r:embed="rId4"/>
              <a:stretch>
                <a:fillRect r="4" b="4"/>
              </a:stretch>
            </a:blipFill>
          </p:spPr>
          <p:txBody>
            <a:bodyPr/>
            <a:lstStyle/>
            <a:p>
              <a:endParaRPr lang="es-CO"/>
            </a:p>
          </p:txBody>
        </p:sp>
      </p:grpSp>
      <p:grpSp>
        <p:nvGrpSpPr>
          <p:cNvPr id="14" name="Group 14"/>
          <p:cNvGrpSpPr/>
          <p:nvPr/>
        </p:nvGrpSpPr>
        <p:grpSpPr>
          <a:xfrm>
            <a:off x="2457907" y="2517019"/>
            <a:ext cx="4114800" cy="411299"/>
            <a:chOff x="0" y="0"/>
            <a:chExt cx="5486400" cy="548399"/>
          </a:xfrm>
        </p:grpSpPr>
        <p:sp>
          <p:nvSpPr>
            <p:cNvPr id="15" name="Freeform 15"/>
            <p:cNvSpPr/>
            <p:nvPr/>
          </p:nvSpPr>
          <p:spPr>
            <a:xfrm>
              <a:off x="0" y="0"/>
              <a:ext cx="5486400" cy="548400"/>
            </a:xfrm>
            <a:custGeom>
              <a:avLst/>
              <a:gdLst/>
              <a:ahLst/>
              <a:cxnLst/>
              <a:rect l="l" t="t" r="r" b="b"/>
              <a:pathLst>
                <a:path w="5486400" h="548400">
                  <a:moveTo>
                    <a:pt x="0" y="0"/>
                  </a:moveTo>
                  <a:lnTo>
                    <a:pt x="5486400" y="0"/>
                  </a:lnTo>
                  <a:lnTo>
                    <a:pt x="5486400" y="548400"/>
                  </a:lnTo>
                  <a:lnTo>
                    <a:pt x="0" y="548400"/>
                  </a:lnTo>
                  <a:close/>
                </a:path>
              </a:pathLst>
            </a:custGeom>
            <a:blipFill>
              <a:blip r:embed="rId3">
                <a:alphaModFix amt="0"/>
              </a:blip>
              <a:stretch>
                <a:fillRect t="-144935" b="-144935"/>
              </a:stretch>
            </a:blipFill>
          </p:spPr>
          <p:txBody>
            <a:bodyPr/>
            <a:lstStyle/>
            <a:p>
              <a:endParaRPr lang="es-CO"/>
            </a:p>
          </p:txBody>
        </p:sp>
        <p:sp>
          <p:nvSpPr>
            <p:cNvPr id="16" name="TextBox 16"/>
            <p:cNvSpPr txBox="1"/>
            <p:nvPr/>
          </p:nvSpPr>
          <p:spPr>
            <a:xfrm>
              <a:off x="0" y="-38100"/>
              <a:ext cx="5486400" cy="586499"/>
            </a:xfrm>
            <a:prstGeom prst="rect">
              <a:avLst/>
            </a:prstGeom>
          </p:spPr>
          <p:txBody>
            <a:bodyPr lIns="0" tIns="0" rIns="0" bIns="0" rtlCol="0" anchor="ctr"/>
            <a:lstStyle/>
            <a:p>
              <a:pPr algn="l">
                <a:lnSpc>
                  <a:spcPts val="2879"/>
                </a:lnSpc>
              </a:pPr>
              <a:r>
                <a:rPr lang="en-US" sz="2400" b="1">
                  <a:solidFill>
                    <a:srgbClr val="FDC300"/>
                  </a:solidFill>
                  <a:latin typeface="Calibri (MS) Bold"/>
                  <a:ea typeface="Calibri (MS) Bold"/>
                  <a:cs typeface="Calibri (MS) Bold"/>
                  <a:sym typeface="Calibri (MS) Bold"/>
                </a:rPr>
                <a:t>Objetivo general</a:t>
              </a:r>
            </a:p>
          </p:txBody>
        </p:sp>
      </p:grpSp>
      <p:grpSp>
        <p:nvGrpSpPr>
          <p:cNvPr id="17" name="Group 17"/>
          <p:cNvGrpSpPr/>
          <p:nvPr/>
        </p:nvGrpSpPr>
        <p:grpSpPr>
          <a:xfrm>
            <a:off x="2468880" y="2956465"/>
            <a:ext cx="13853246" cy="1360829"/>
            <a:chOff x="0" y="0"/>
            <a:chExt cx="18470994" cy="1814438"/>
          </a:xfrm>
        </p:grpSpPr>
        <p:sp>
          <p:nvSpPr>
            <p:cNvPr id="18" name="Freeform 18"/>
            <p:cNvSpPr/>
            <p:nvPr/>
          </p:nvSpPr>
          <p:spPr>
            <a:xfrm>
              <a:off x="0" y="0"/>
              <a:ext cx="18471000" cy="1814438"/>
            </a:xfrm>
            <a:custGeom>
              <a:avLst/>
              <a:gdLst/>
              <a:ahLst/>
              <a:cxnLst/>
              <a:rect l="l" t="t" r="r" b="b"/>
              <a:pathLst>
                <a:path w="18471000" h="1814438">
                  <a:moveTo>
                    <a:pt x="0" y="0"/>
                  </a:moveTo>
                  <a:lnTo>
                    <a:pt x="18471000" y="0"/>
                  </a:lnTo>
                  <a:lnTo>
                    <a:pt x="18471000" y="1814438"/>
                  </a:lnTo>
                  <a:lnTo>
                    <a:pt x="0" y="1814438"/>
                  </a:lnTo>
                  <a:close/>
                </a:path>
              </a:pathLst>
            </a:custGeom>
            <a:blipFill>
              <a:blip r:embed="rId3">
                <a:alphaModFix amt="0"/>
              </a:blip>
              <a:stretch>
                <a:fillRect t="-164082" b="-132632"/>
              </a:stretch>
            </a:blipFill>
          </p:spPr>
          <p:txBody>
            <a:bodyPr/>
            <a:lstStyle/>
            <a:p>
              <a:endParaRPr lang="es-CO"/>
            </a:p>
          </p:txBody>
        </p:sp>
        <p:sp>
          <p:nvSpPr>
            <p:cNvPr id="19" name="TextBox 19"/>
            <p:cNvSpPr txBox="1"/>
            <p:nvPr/>
          </p:nvSpPr>
          <p:spPr>
            <a:xfrm>
              <a:off x="0" y="-47625"/>
              <a:ext cx="18470994" cy="1862063"/>
            </a:xfrm>
            <a:prstGeom prst="rect">
              <a:avLst/>
            </a:prstGeom>
          </p:spPr>
          <p:txBody>
            <a:bodyPr lIns="0" tIns="0" rIns="0" bIns="0" rtlCol="0" anchor="ctr"/>
            <a:lstStyle/>
            <a:p>
              <a:pPr algn="l">
                <a:lnSpc>
                  <a:spcPts val="2520"/>
                </a:lnSpc>
              </a:pPr>
              <a:r>
                <a:rPr lang="en-US" sz="2100">
                  <a:solidFill>
                    <a:srgbClr val="FFFFFF"/>
                  </a:solidFill>
                  <a:latin typeface="Calibri (MS)"/>
                  <a:ea typeface="Calibri (MS)"/>
                  <a:cs typeface="Calibri (MS)"/>
                  <a:sym typeface="Calibri (MS)"/>
                </a:rPr>
                <a:t>Diseñar e implementar un aplicativo web con base de datos integrada para DISOL MOTORS que permita automatizar la gestión de inventario, el control de reparaciones, la venta de repuestos y la atención al cliente, optimizando los procesos internos y mejorando la eficiencia en la prestación de servicios.</a:t>
              </a:r>
            </a:p>
            <a:p>
              <a:pPr algn="l">
                <a:lnSpc>
                  <a:spcPts val="2520"/>
                </a:lnSpc>
              </a:pPr>
              <a:endParaRPr lang="en-US" sz="2100">
                <a:solidFill>
                  <a:srgbClr val="FFFFFF"/>
                </a:solidFill>
                <a:latin typeface="Calibri (MS)"/>
                <a:ea typeface="Calibri (MS)"/>
                <a:cs typeface="Calibri (MS)"/>
                <a:sym typeface="Calibri (MS)"/>
              </a:endParaRPr>
            </a:p>
          </p:txBody>
        </p:sp>
      </p:grpSp>
      <p:grpSp>
        <p:nvGrpSpPr>
          <p:cNvPr id="20" name="Group 20"/>
          <p:cNvGrpSpPr/>
          <p:nvPr/>
        </p:nvGrpSpPr>
        <p:grpSpPr>
          <a:xfrm>
            <a:off x="822960" y="4389120"/>
            <a:ext cx="6858000" cy="480146"/>
            <a:chOff x="0" y="0"/>
            <a:chExt cx="9144000" cy="640194"/>
          </a:xfrm>
        </p:grpSpPr>
        <p:sp>
          <p:nvSpPr>
            <p:cNvPr id="21" name="Freeform 21"/>
            <p:cNvSpPr/>
            <p:nvPr/>
          </p:nvSpPr>
          <p:spPr>
            <a:xfrm>
              <a:off x="0" y="0"/>
              <a:ext cx="9144000" cy="640200"/>
            </a:xfrm>
            <a:custGeom>
              <a:avLst/>
              <a:gdLst/>
              <a:ahLst/>
              <a:cxnLst/>
              <a:rect l="l" t="t" r="r" b="b"/>
              <a:pathLst>
                <a:path w="9144000" h="640200">
                  <a:moveTo>
                    <a:pt x="0" y="0"/>
                  </a:moveTo>
                  <a:lnTo>
                    <a:pt x="9144000" y="0"/>
                  </a:lnTo>
                  <a:lnTo>
                    <a:pt x="9144000" y="640200"/>
                  </a:lnTo>
                  <a:lnTo>
                    <a:pt x="0" y="640200"/>
                  </a:lnTo>
                  <a:close/>
                </a:path>
              </a:pathLst>
            </a:custGeom>
            <a:blipFill>
              <a:blip r:embed="rId3">
                <a:alphaModFix amt="0"/>
              </a:blip>
              <a:stretch>
                <a:fillRect t="-228305" b="-228305"/>
              </a:stretch>
            </a:blipFill>
          </p:spPr>
          <p:txBody>
            <a:bodyPr/>
            <a:lstStyle/>
            <a:p>
              <a:endParaRPr lang="es-CO"/>
            </a:p>
          </p:txBody>
        </p:sp>
        <p:sp>
          <p:nvSpPr>
            <p:cNvPr id="22" name="TextBox 22"/>
            <p:cNvSpPr txBox="1"/>
            <p:nvPr/>
          </p:nvSpPr>
          <p:spPr>
            <a:xfrm>
              <a:off x="0" y="-57150"/>
              <a:ext cx="9144000" cy="697344"/>
            </a:xfrm>
            <a:prstGeom prst="rect">
              <a:avLst/>
            </a:prstGeom>
          </p:spPr>
          <p:txBody>
            <a:bodyPr lIns="0" tIns="0" rIns="0" bIns="0" rtlCol="0" anchor="ctr"/>
            <a:lstStyle/>
            <a:p>
              <a:pPr algn="l">
                <a:lnSpc>
                  <a:spcPts val="2700"/>
                </a:lnSpc>
              </a:pPr>
              <a:r>
                <a:rPr lang="en-US" sz="2250" b="1">
                  <a:solidFill>
                    <a:srgbClr val="00304D"/>
                  </a:solidFill>
                  <a:latin typeface="Calibri (MS) Bold"/>
                  <a:ea typeface="Calibri (MS) Bold"/>
                  <a:cs typeface="Calibri (MS) Bold"/>
                  <a:sym typeface="Calibri (MS) Bold"/>
                </a:rPr>
                <a:t>Objetivos específicos</a:t>
              </a:r>
            </a:p>
          </p:txBody>
        </p:sp>
      </p:grpSp>
      <p:grpSp>
        <p:nvGrpSpPr>
          <p:cNvPr id="23" name="Group 23"/>
          <p:cNvGrpSpPr/>
          <p:nvPr/>
        </p:nvGrpSpPr>
        <p:grpSpPr>
          <a:xfrm>
            <a:off x="822960" y="5006340"/>
            <a:ext cx="2940748" cy="3223346"/>
            <a:chOff x="0" y="0"/>
            <a:chExt cx="3920998" cy="4297794"/>
          </a:xfrm>
        </p:grpSpPr>
        <p:sp>
          <p:nvSpPr>
            <p:cNvPr id="24" name="Freeform 24"/>
            <p:cNvSpPr/>
            <p:nvPr/>
          </p:nvSpPr>
          <p:spPr>
            <a:xfrm>
              <a:off x="0" y="0"/>
              <a:ext cx="3920998" cy="4297807"/>
            </a:xfrm>
            <a:custGeom>
              <a:avLst/>
              <a:gdLst/>
              <a:ahLst/>
              <a:cxnLst/>
              <a:rect l="l" t="t" r="r" b="b"/>
              <a:pathLst>
                <a:path w="3920998" h="4297807">
                  <a:moveTo>
                    <a:pt x="0" y="146304"/>
                  </a:moveTo>
                  <a:cubicBezTo>
                    <a:pt x="0" y="65532"/>
                    <a:pt x="65532" y="0"/>
                    <a:pt x="146304" y="0"/>
                  </a:cubicBezTo>
                  <a:lnTo>
                    <a:pt x="3774694" y="0"/>
                  </a:lnTo>
                  <a:cubicBezTo>
                    <a:pt x="3855466" y="0"/>
                    <a:pt x="3920998" y="65532"/>
                    <a:pt x="3920998" y="146304"/>
                  </a:cubicBezTo>
                  <a:lnTo>
                    <a:pt x="3920998" y="4151503"/>
                  </a:lnTo>
                  <a:cubicBezTo>
                    <a:pt x="3920998" y="4232275"/>
                    <a:pt x="3855466" y="4297807"/>
                    <a:pt x="3774694" y="4297807"/>
                  </a:cubicBezTo>
                  <a:lnTo>
                    <a:pt x="146304" y="4297807"/>
                  </a:lnTo>
                  <a:cubicBezTo>
                    <a:pt x="65532" y="4297807"/>
                    <a:pt x="0" y="4232275"/>
                    <a:pt x="0" y="4151503"/>
                  </a:cubicBezTo>
                  <a:close/>
                </a:path>
              </a:pathLst>
            </a:custGeom>
            <a:solidFill>
              <a:srgbClr val="F6F6F6"/>
            </a:solidFill>
          </p:spPr>
          <p:txBody>
            <a:bodyPr/>
            <a:lstStyle/>
            <a:p>
              <a:endParaRPr lang="es-CO"/>
            </a:p>
          </p:txBody>
        </p:sp>
      </p:grpSp>
      <p:grpSp>
        <p:nvGrpSpPr>
          <p:cNvPr id="25" name="Group 25"/>
          <p:cNvGrpSpPr/>
          <p:nvPr/>
        </p:nvGrpSpPr>
        <p:grpSpPr>
          <a:xfrm>
            <a:off x="1950415" y="5280660"/>
            <a:ext cx="685800" cy="685800"/>
            <a:chOff x="0" y="0"/>
            <a:chExt cx="914400" cy="914400"/>
          </a:xfrm>
        </p:grpSpPr>
        <p:sp>
          <p:nvSpPr>
            <p:cNvPr id="26" name="Freeform 26"/>
            <p:cNvSpPr/>
            <p:nvPr/>
          </p:nvSpPr>
          <p:spPr>
            <a:xfrm>
              <a:off x="0" y="0"/>
              <a:ext cx="914400" cy="914400"/>
            </a:xfrm>
            <a:custGeom>
              <a:avLst/>
              <a:gdLst/>
              <a:ahLst/>
              <a:cxnLst/>
              <a:rect l="l" t="t" r="r" b="b"/>
              <a:pathLst>
                <a:path w="914400" h="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A900"/>
            </a:solidFill>
          </p:spPr>
          <p:txBody>
            <a:bodyPr/>
            <a:lstStyle/>
            <a:p>
              <a:endParaRPr lang="es-CO"/>
            </a:p>
          </p:txBody>
        </p:sp>
      </p:grpSp>
      <p:grpSp>
        <p:nvGrpSpPr>
          <p:cNvPr id="27" name="Group 27"/>
          <p:cNvGrpSpPr/>
          <p:nvPr/>
        </p:nvGrpSpPr>
        <p:grpSpPr>
          <a:xfrm>
            <a:off x="2128723" y="5458968"/>
            <a:ext cx="329184" cy="329184"/>
            <a:chOff x="0" y="0"/>
            <a:chExt cx="438912" cy="438912"/>
          </a:xfrm>
        </p:grpSpPr>
        <p:sp>
          <p:nvSpPr>
            <p:cNvPr id="28" name="Freeform 28" descr="icons/clipboard.png"/>
            <p:cNvSpPr/>
            <p:nvPr/>
          </p:nvSpPr>
          <p:spPr>
            <a:xfrm>
              <a:off x="0" y="0"/>
              <a:ext cx="438912" cy="438912"/>
            </a:xfrm>
            <a:custGeom>
              <a:avLst/>
              <a:gdLst/>
              <a:ahLst/>
              <a:cxnLst/>
              <a:rect l="l" t="t" r="r" b="b"/>
              <a:pathLst>
                <a:path w="438912" h="438912">
                  <a:moveTo>
                    <a:pt x="0" y="0"/>
                  </a:moveTo>
                  <a:lnTo>
                    <a:pt x="438912" y="0"/>
                  </a:lnTo>
                  <a:lnTo>
                    <a:pt x="438912" y="438912"/>
                  </a:lnTo>
                  <a:lnTo>
                    <a:pt x="0" y="438912"/>
                  </a:lnTo>
                  <a:lnTo>
                    <a:pt x="0" y="0"/>
                  </a:lnTo>
                  <a:close/>
                </a:path>
              </a:pathLst>
            </a:custGeom>
            <a:blipFill>
              <a:blip r:embed="rId5"/>
              <a:stretch>
                <a:fillRect/>
              </a:stretch>
            </a:blipFill>
          </p:spPr>
          <p:txBody>
            <a:bodyPr/>
            <a:lstStyle/>
            <a:p>
              <a:endParaRPr lang="es-CO"/>
            </a:p>
          </p:txBody>
        </p:sp>
      </p:grpSp>
      <p:grpSp>
        <p:nvGrpSpPr>
          <p:cNvPr id="29" name="Group 29"/>
          <p:cNvGrpSpPr/>
          <p:nvPr/>
        </p:nvGrpSpPr>
        <p:grpSpPr>
          <a:xfrm>
            <a:off x="960120" y="6172200"/>
            <a:ext cx="2666248" cy="754199"/>
            <a:chOff x="0" y="0"/>
            <a:chExt cx="3554997" cy="1005599"/>
          </a:xfrm>
        </p:grpSpPr>
        <p:sp>
          <p:nvSpPr>
            <p:cNvPr id="30" name="Freeform 30"/>
            <p:cNvSpPr/>
            <p:nvPr/>
          </p:nvSpPr>
          <p:spPr>
            <a:xfrm>
              <a:off x="0" y="0"/>
              <a:ext cx="3555000" cy="1005600"/>
            </a:xfrm>
            <a:custGeom>
              <a:avLst/>
              <a:gdLst/>
              <a:ahLst/>
              <a:cxnLst/>
              <a:rect l="l" t="t" r="r" b="b"/>
              <a:pathLst>
                <a:path w="3555000" h="1005600">
                  <a:moveTo>
                    <a:pt x="0" y="0"/>
                  </a:moveTo>
                  <a:lnTo>
                    <a:pt x="3555000" y="0"/>
                  </a:lnTo>
                  <a:lnTo>
                    <a:pt x="3555000" y="1005600"/>
                  </a:lnTo>
                  <a:lnTo>
                    <a:pt x="0" y="1005600"/>
                  </a:lnTo>
                  <a:close/>
                </a:path>
              </a:pathLst>
            </a:custGeom>
            <a:blipFill>
              <a:blip r:embed="rId3">
                <a:alphaModFix amt="0"/>
              </a:blip>
              <a:stretch>
                <a:fillRect t="-18883" b="-18883"/>
              </a:stretch>
            </a:blipFill>
          </p:spPr>
          <p:txBody>
            <a:bodyPr/>
            <a:lstStyle/>
            <a:p>
              <a:endParaRPr lang="es-CO"/>
            </a:p>
          </p:txBody>
        </p:sp>
        <p:sp>
          <p:nvSpPr>
            <p:cNvPr id="31" name="TextBox 31"/>
            <p:cNvSpPr txBox="1"/>
            <p:nvPr/>
          </p:nvSpPr>
          <p:spPr>
            <a:xfrm>
              <a:off x="0" y="-38100"/>
              <a:ext cx="3554997" cy="1043699"/>
            </a:xfrm>
            <a:prstGeom prst="rect">
              <a:avLst/>
            </a:prstGeom>
          </p:spPr>
          <p:txBody>
            <a:bodyPr lIns="0" tIns="0" rIns="0" bIns="0" rtlCol="0" anchor="ctr"/>
            <a:lstStyle/>
            <a:p>
              <a:pPr algn="ctr">
                <a:lnSpc>
                  <a:spcPts val="2160"/>
                </a:lnSpc>
              </a:pPr>
              <a:r>
                <a:rPr lang="en-US" sz="1800" b="1" dirty="0">
                  <a:solidFill>
                    <a:srgbClr val="00304D"/>
                  </a:solidFill>
                  <a:latin typeface="Calibri (MS) Bold"/>
                  <a:ea typeface="Calibri (MS) Bold"/>
                  <a:cs typeface="Calibri (MS) Bold"/>
                  <a:sym typeface="Calibri (MS) Bold"/>
                </a:rPr>
                <a:t>Problema </a:t>
              </a:r>
              <a:r>
                <a:rPr lang="en-US" sz="1800" b="1" dirty="0" err="1">
                  <a:solidFill>
                    <a:srgbClr val="00304D"/>
                  </a:solidFill>
                  <a:latin typeface="Calibri (MS) Bold"/>
                  <a:ea typeface="Calibri (MS) Bold"/>
                  <a:cs typeface="Calibri (MS) Bold"/>
                  <a:sym typeface="Calibri (MS) Bold"/>
                </a:rPr>
                <a:t>detectado</a:t>
              </a:r>
              <a:endParaRPr lang="en-US" sz="1800" b="1" dirty="0">
                <a:solidFill>
                  <a:srgbClr val="00304D"/>
                </a:solidFill>
                <a:latin typeface="Calibri (MS) Bold"/>
                <a:ea typeface="Calibri (MS) Bold"/>
                <a:cs typeface="Calibri (MS) Bold"/>
                <a:sym typeface="Calibri (MS) Bold"/>
              </a:endParaRPr>
            </a:p>
          </p:txBody>
        </p:sp>
      </p:grpSp>
      <p:grpSp>
        <p:nvGrpSpPr>
          <p:cNvPr id="32" name="Group 32"/>
          <p:cNvGrpSpPr/>
          <p:nvPr/>
        </p:nvGrpSpPr>
        <p:grpSpPr>
          <a:xfrm>
            <a:off x="987552" y="6926580"/>
            <a:ext cx="2611345" cy="1165950"/>
            <a:chOff x="0" y="0"/>
            <a:chExt cx="3481794" cy="1554600"/>
          </a:xfrm>
        </p:grpSpPr>
        <p:sp>
          <p:nvSpPr>
            <p:cNvPr id="33" name="Freeform 33"/>
            <p:cNvSpPr/>
            <p:nvPr/>
          </p:nvSpPr>
          <p:spPr>
            <a:xfrm>
              <a:off x="0" y="0"/>
              <a:ext cx="3481800" cy="1554606"/>
            </a:xfrm>
            <a:custGeom>
              <a:avLst/>
              <a:gdLst/>
              <a:ahLst/>
              <a:cxnLst/>
              <a:rect l="l" t="t" r="r" b="b"/>
              <a:pathLst>
                <a:path w="3481800" h="1554606">
                  <a:moveTo>
                    <a:pt x="0" y="0"/>
                  </a:moveTo>
                  <a:lnTo>
                    <a:pt x="3481800" y="0"/>
                  </a:lnTo>
                  <a:lnTo>
                    <a:pt x="3481800" y="1554606"/>
                  </a:lnTo>
                  <a:lnTo>
                    <a:pt x="0" y="1554606"/>
                  </a:lnTo>
                  <a:close/>
                </a:path>
              </a:pathLst>
            </a:custGeom>
            <a:blipFill>
              <a:blip r:embed="rId3">
                <a:alphaModFix amt="0"/>
              </a:blip>
              <a:stretch>
                <a:fillRect l="-7286" r="-7286"/>
              </a:stretch>
            </a:blipFill>
          </p:spPr>
          <p:txBody>
            <a:bodyPr/>
            <a:lstStyle/>
            <a:p>
              <a:endParaRPr lang="es-CO"/>
            </a:p>
          </p:txBody>
        </p:sp>
        <p:sp>
          <p:nvSpPr>
            <p:cNvPr id="34" name="TextBox 34"/>
            <p:cNvSpPr txBox="1"/>
            <p:nvPr/>
          </p:nvSpPr>
          <p:spPr>
            <a:xfrm>
              <a:off x="0" y="-19050"/>
              <a:ext cx="3481794" cy="1573650"/>
            </a:xfrm>
            <a:prstGeom prst="rect">
              <a:avLst/>
            </a:prstGeom>
          </p:spPr>
          <p:txBody>
            <a:bodyPr lIns="0" tIns="0" rIns="0" bIns="0" rtlCol="0" anchor="ctr"/>
            <a:lstStyle/>
            <a:p>
              <a:pPr algn="ctr">
                <a:lnSpc>
                  <a:spcPct val="100000"/>
                </a:lnSpc>
              </a:pPr>
              <a:r>
                <a:rPr lang="es-CO" sz="1600" dirty="0"/>
                <a:t>gestiona inventario, reparaciones y ventas de forma manual</a:t>
              </a:r>
              <a:endParaRPr lang="en-US" sz="1575" dirty="0">
                <a:solidFill>
                  <a:srgbClr val="000000"/>
                </a:solidFill>
                <a:latin typeface="Calibri (MS)"/>
                <a:ea typeface="Calibri (MS)"/>
                <a:cs typeface="Calibri (MS)"/>
                <a:sym typeface="Calibri (MS)"/>
              </a:endParaRPr>
            </a:p>
          </p:txBody>
        </p:sp>
      </p:grpSp>
      <p:grpSp>
        <p:nvGrpSpPr>
          <p:cNvPr id="35" name="Group 35"/>
          <p:cNvGrpSpPr/>
          <p:nvPr/>
        </p:nvGrpSpPr>
        <p:grpSpPr>
          <a:xfrm>
            <a:off x="4065422" y="5006340"/>
            <a:ext cx="2940748" cy="3223346"/>
            <a:chOff x="0" y="0"/>
            <a:chExt cx="3920998" cy="4297794"/>
          </a:xfrm>
        </p:grpSpPr>
        <p:sp>
          <p:nvSpPr>
            <p:cNvPr id="36" name="Freeform 36"/>
            <p:cNvSpPr/>
            <p:nvPr/>
          </p:nvSpPr>
          <p:spPr>
            <a:xfrm>
              <a:off x="0" y="0"/>
              <a:ext cx="3920998" cy="4297807"/>
            </a:xfrm>
            <a:custGeom>
              <a:avLst/>
              <a:gdLst/>
              <a:ahLst/>
              <a:cxnLst/>
              <a:rect l="l" t="t" r="r" b="b"/>
              <a:pathLst>
                <a:path w="3920998" h="4297807">
                  <a:moveTo>
                    <a:pt x="0" y="146304"/>
                  </a:moveTo>
                  <a:cubicBezTo>
                    <a:pt x="0" y="65532"/>
                    <a:pt x="65532" y="0"/>
                    <a:pt x="146304" y="0"/>
                  </a:cubicBezTo>
                  <a:lnTo>
                    <a:pt x="3774694" y="0"/>
                  </a:lnTo>
                  <a:cubicBezTo>
                    <a:pt x="3855466" y="0"/>
                    <a:pt x="3920998" y="65532"/>
                    <a:pt x="3920998" y="146304"/>
                  </a:cubicBezTo>
                  <a:lnTo>
                    <a:pt x="3920998" y="4151503"/>
                  </a:lnTo>
                  <a:cubicBezTo>
                    <a:pt x="3920998" y="4232275"/>
                    <a:pt x="3855466" y="4297807"/>
                    <a:pt x="3774694" y="4297807"/>
                  </a:cubicBezTo>
                  <a:lnTo>
                    <a:pt x="146304" y="4297807"/>
                  </a:lnTo>
                  <a:cubicBezTo>
                    <a:pt x="65532" y="4297807"/>
                    <a:pt x="0" y="4232275"/>
                    <a:pt x="0" y="4151503"/>
                  </a:cubicBezTo>
                  <a:close/>
                </a:path>
              </a:pathLst>
            </a:custGeom>
            <a:solidFill>
              <a:srgbClr val="F6F6F6"/>
            </a:solidFill>
          </p:spPr>
          <p:txBody>
            <a:bodyPr/>
            <a:lstStyle/>
            <a:p>
              <a:endParaRPr lang="es-CO"/>
            </a:p>
          </p:txBody>
        </p:sp>
      </p:grpSp>
      <p:grpSp>
        <p:nvGrpSpPr>
          <p:cNvPr id="37" name="Group 37"/>
          <p:cNvGrpSpPr/>
          <p:nvPr/>
        </p:nvGrpSpPr>
        <p:grpSpPr>
          <a:xfrm>
            <a:off x="5192878" y="5280660"/>
            <a:ext cx="685800" cy="685800"/>
            <a:chOff x="0" y="0"/>
            <a:chExt cx="914400" cy="914400"/>
          </a:xfrm>
        </p:grpSpPr>
        <p:sp>
          <p:nvSpPr>
            <p:cNvPr id="38" name="Freeform 38"/>
            <p:cNvSpPr/>
            <p:nvPr/>
          </p:nvSpPr>
          <p:spPr>
            <a:xfrm>
              <a:off x="0" y="0"/>
              <a:ext cx="914400" cy="914400"/>
            </a:xfrm>
            <a:custGeom>
              <a:avLst/>
              <a:gdLst/>
              <a:ahLst/>
              <a:cxnLst/>
              <a:rect l="l" t="t" r="r" b="b"/>
              <a:pathLst>
                <a:path w="914400" h="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A900"/>
            </a:solidFill>
          </p:spPr>
          <p:txBody>
            <a:bodyPr/>
            <a:lstStyle/>
            <a:p>
              <a:endParaRPr lang="es-CO"/>
            </a:p>
          </p:txBody>
        </p:sp>
      </p:grpSp>
      <p:grpSp>
        <p:nvGrpSpPr>
          <p:cNvPr id="39" name="Group 39"/>
          <p:cNvGrpSpPr/>
          <p:nvPr/>
        </p:nvGrpSpPr>
        <p:grpSpPr>
          <a:xfrm>
            <a:off x="4202582" y="6172200"/>
            <a:ext cx="2666248" cy="754199"/>
            <a:chOff x="0" y="0"/>
            <a:chExt cx="3554997" cy="1005599"/>
          </a:xfrm>
        </p:grpSpPr>
        <p:sp>
          <p:nvSpPr>
            <p:cNvPr id="40" name="Freeform 40"/>
            <p:cNvSpPr/>
            <p:nvPr/>
          </p:nvSpPr>
          <p:spPr>
            <a:xfrm>
              <a:off x="0" y="0"/>
              <a:ext cx="3555000" cy="1005600"/>
            </a:xfrm>
            <a:custGeom>
              <a:avLst/>
              <a:gdLst/>
              <a:ahLst/>
              <a:cxnLst/>
              <a:rect l="l" t="t" r="r" b="b"/>
              <a:pathLst>
                <a:path w="3555000" h="1005600">
                  <a:moveTo>
                    <a:pt x="0" y="0"/>
                  </a:moveTo>
                  <a:lnTo>
                    <a:pt x="3555000" y="0"/>
                  </a:lnTo>
                  <a:lnTo>
                    <a:pt x="3555000" y="1005600"/>
                  </a:lnTo>
                  <a:lnTo>
                    <a:pt x="0" y="1005600"/>
                  </a:lnTo>
                  <a:close/>
                </a:path>
              </a:pathLst>
            </a:custGeom>
            <a:blipFill>
              <a:blip r:embed="rId3">
                <a:alphaModFix amt="0"/>
              </a:blip>
              <a:stretch>
                <a:fillRect t="-18883" b="-18883"/>
              </a:stretch>
            </a:blipFill>
          </p:spPr>
          <p:txBody>
            <a:bodyPr/>
            <a:lstStyle/>
            <a:p>
              <a:endParaRPr lang="es-CO"/>
            </a:p>
          </p:txBody>
        </p:sp>
        <p:sp>
          <p:nvSpPr>
            <p:cNvPr id="41" name="TextBox 41"/>
            <p:cNvSpPr txBox="1"/>
            <p:nvPr/>
          </p:nvSpPr>
          <p:spPr>
            <a:xfrm>
              <a:off x="0" y="-38100"/>
              <a:ext cx="3554997" cy="1043699"/>
            </a:xfrm>
            <a:prstGeom prst="rect">
              <a:avLst/>
            </a:prstGeom>
          </p:spPr>
          <p:txBody>
            <a:bodyPr lIns="0" tIns="0" rIns="0" bIns="0" rtlCol="0" anchor="ctr"/>
            <a:lstStyle/>
            <a:p>
              <a:pPr algn="ctr">
                <a:lnSpc>
                  <a:spcPts val="2160"/>
                </a:lnSpc>
              </a:pPr>
              <a:r>
                <a:rPr lang="en-US" b="1" dirty="0" err="1">
                  <a:solidFill>
                    <a:srgbClr val="00304D"/>
                  </a:solidFill>
                  <a:latin typeface="Calibri (MS) Bold"/>
                  <a:ea typeface="Calibri (MS) Bold"/>
                  <a:cs typeface="Calibri (MS) Bold"/>
                  <a:sym typeface="Calibri (MS) Bold"/>
                </a:rPr>
                <a:t>Necesidad</a:t>
              </a:r>
              <a:r>
                <a:rPr lang="en-US" b="1" dirty="0">
                  <a:solidFill>
                    <a:srgbClr val="00304D"/>
                  </a:solidFill>
                  <a:latin typeface="Calibri (MS) Bold"/>
                  <a:ea typeface="Calibri (MS) Bold"/>
                  <a:cs typeface="Calibri (MS) Bold"/>
                  <a:sym typeface="Calibri (MS) Bold"/>
                </a:rPr>
                <a:t> del </a:t>
              </a:r>
              <a:r>
                <a:rPr lang="en-US" b="1" dirty="0" err="1">
                  <a:solidFill>
                    <a:srgbClr val="00304D"/>
                  </a:solidFill>
                  <a:latin typeface="Calibri (MS) Bold"/>
                  <a:ea typeface="Calibri (MS) Bold"/>
                  <a:cs typeface="Calibri (MS) Bold"/>
                  <a:sym typeface="Calibri (MS) Bold"/>
                </a:rPr>
                <a:t>cliente</a:t>
              </a:r>
              <a:endParaRPr lang="en-US" sz="1800" b="1" dirty="0">
                <a:solidFill>
                  <a:srgbClr val="00304D"/>
                </a:solidFill>
                <a:latin typeface="Calibri (MS) Bold"/>
                <a:ea typeface="Calibri (MS) Bold"/>
                <a:cs typeface="Calibri (MS) Bold"/>
                <a:sym typeface="Calibri (MS) Bold"/>
              </a:endParaRPr>
            </a:p>
          </p:txBody>
        </p:sp>
      </p:grpSp>
      <p:grpSp>
        <p:nvGrpSpPr>
          <p:cNvPr id="42" name="Group 42"/>
          <p:cNvGrpSpPr/>
          <p:nvPr/>
        </p:nvGrpSpPr>
        <p:grpSpPr>
          <a:xfrm>
            <a:off x="4230014" y="6926580"/>
            <a:ext cx="2611345" cy="1165946"/>
            <a:chOff x="0" y="0"/>
            <a:chExt cx="3481794" cy="1554594"/>
          </a:xfrm>
        </p:grpSpPr>
        <p:sp>
          <p:nvSpPr>
            <p:cNvPr id="43" name="Freeform 43"/>
            <p:cNvSpPr/>
            <p:nvPr/>
          </p:nvSpPr>
          <p:spPr>
            <a:xfrm>
              <a:off x="0" y="0"/>
              <a:ext cx="3481800" cy="1554600"/>
            </a:xfrm>
            <a:custGeom>
              <a:avLst/>
              <a:gdLst/>
              <a:ahLst/>
              <a:cxnLst/>
              <a:rect l="l" t="t" r="r" b="b"/>
              <a:pathLst>
                <a:path w="3481800" h="1554600">
                  <a:moveTo>
                    <a:pt x="0" y="0"/>
                  </a:moveTo>
                  <a:lnTo>
                    <a:pt x="3481800" y="0"/>
                  </a:lnTo>
                  <a:lnTo>
                    <a:pt x="3481800" y="1554600"/>
                  </a:lnTo>
                  <a:lnTo>
                    <a:pt x="0" y="1554600"/>
                  </a:lnTo>
                  <a:close/>
                </a:path>
              </a:pathLst>
            </a:custGeom>
            <a:blipFill>
              <a:blip r:embed="rId3">
                <a:alphaModFix amt="0"/>
              </a:blip>
              <a:stretch>
                <a:fillRect l="-7286" r="-7286"/>
              </a:stretch>
            </a:blipFill>
          </p:spPr>
          <p:txBody>
            <a:bodyPr/>
            <a:lstStyle/>
            <a:p>
              <a:endParaRPr lang="es-CO"/>
            </a:p>
          </p:txBody>
        </p:sp>
        <p:sp>
          <p:nvSpPr>
            <p:cNvPr id="44" name="TextBox 44"/>
            <p:cNvSpPr txBox="1"/>
            <p:nvPr/>
          </p:nvSpPr>
          <p:spPr>
            <a:xfrm>
              <a:off x="0" y="-19050"/>
              <a:ext cx="3481794" cy="1573644"/>
            </a:xfrm>
            <a:prstGeom prst="rect">
              <a:avLst/>
            </a:prstGeom>
          </p:spPr>
          <p:txBody>
            <a:bodyPr lIns="0" tIns="0" rIns="0" bIns="0" rtlCol="0" anchor="ctr"/>
            <a:lstStyle/>
            <a:p>
              <a:pPr algn="ctr">
                <a:lnSpc>
                  <a:spcPct val="100000"/>
                </a:lnSpc>
              </a:pPr>
              <a:r>
                <a:rPr lang="es-CO" sz="1600" dirty="0"/>
                <a:t>El negocio pide automatizar procesos internos y ofrecer un canal digital de atención y compra</a:t>
              </a:r>
              <a:endParaRPr lang="en-US" sz="1575" dirty="0">
                <a:solidFill>
                  <a:srgbClr val="000000"/>
                </a:solidFill>
                <a:latin typeface="Calibri (MS)"/>
                <a:ea typeface="Calibri (MS)"/>
                <a:cs typeface="Calibri (MS)"/>
                <a:sym typeface="Calibri (MS)"/>
              </a:endParaRPr>
            </a:p>
          </p:txBody>
        </p:sp>
      </p:grpSp>
      <p:grpSp>
        <p:nvGrpSpPr>
          <p:cNvPr id="45" name="Group 45"/>
          <p:cNvGrpSpPr/>
          <p:nvPr/>
        </p:nvGrpSpPr>
        <p:grpSpPr>
          <a:xfrm>
            <a:off x="7307885" y="5006340"/>
            <a:ext cx="2940748" cy="3223346"/>
            <a:chOff x="0" y="0"/>
            <a:chExt cx="3920998" cy="4297794"/>
          </a:xfrm>
        </p:grpSpPr>
        <p:sp>
          <p:nvSpPr>
            <p:cNvPr id="46" name="Freeform 46"/>
            <p:cNvSpPr/>
            <p:nvPr/>
          </p:nvSpPr>
          <p:spPr>
            <a:xfrm>
              <a:off x="0" y="0"/>
              <a:ext cx="3920998" cy="4297807"/>
            </a:xfrm>
            <a:custGeom>
              <a:avLst/>
              <a:gdLst/>
              <a:ahLst/>
              <a:cxnLst/>
              <a:rect l="l" t="t" r="r" b="b"/>
              <a:pathLst>
                <a:path w="3920998" h="4297807">
                  <a:moveTo>
                    <a:pt x="0" y="146304"/>
                  </a:moveTo>
                  <a:cubicBezTo>
                    <a:pt x="0" y="65532"/>
                    <a:pt x="65532" y="0"/>
                    <a:pt x="146304" y="0"/>
                  </a:cubicBezTo>
                  <a:lnTo>
                    <a:pt x="3774694" y="0"/>
                  </a:lnTo>
                  <a:cubicBezTo>
                    <a:pt x="3855466" y="0"/>
                    <a:pt x="3920998" y="65532"/>
                    <a:pt x="3920998" y="146304"/>
                  </a:cubicBezTo>
                  <a:lnTo>
                    <a:pt x="3920998" y="4151503"/>
                  </a:lnTo>
                  <a:cubicBezTo>
                    <a:pt x="3920998" y="4232275"/>
                    <a:pt x="3855466" y="4297807"/>
                    <a:pt x="3774694" y="4297807"/>
                  </a:cubicBezTo>
                  <a:lnTo>
                    <a:pt x="146304" y="4297807"/>
                  </a:lnTo>
                  <a:cubicBezTo>
                    <a:pt x="65532" y="4297807"/>
                    <a:pt x="0" y="4232275"/>
                    <a:pt x="0" y="4151503"/>
                  </a:cubicBezTo>
                  <a:close/>
                </a:path>
              </a:pathLst>
            </a:custGeom>
            <a:solidFill>
              <a:srgbClr val="F6F6F6"/>
            </a:solidFill>
          </p:spPr>
          <p:txBody>
            <a:bodyPr/>
            <a:lstStyle/>
            <a:p>
              <a:endParaRPr lang="es-CO"/>
            </a:p>
          </p:txBody>
        </p:sp>
      </p:grpSp>
      <p:grpSp>
        <p:nvGrpSpPr>
          <p:cNvPr id="47" name="Group 47"/>
          <p:cNvGrpSpPr/>
          <p:nvPr/>
        </p:nvGrpSpPr>
        <p:grpSpPr>
          <a:xfrm>
            <a:off x="8435340" y="5280660"/>
            <a:ext cx="685800" cy="685800"/>
            <a:chOff x="0" y="0"/>
            <a:chExt cx="914400" cy="914400"/>
          </a:xfrm>
        </p:grpSpPr>
        <p:sp>
          <p:nvSpPr>
            <p:cNvPr id="48" name="Freeform 48"/>
            <p:cNvSpPr/>
            <p:nvPr/>
          </p:nvSpPr>
          <p:spPr>
            <a:xfrm>
              <a:off x="0" y="0"/>
              <a:ext cx="914400" cy="914400"/>
            </a:xfrm>
            <a:custGeom>
              <a:avLst/>
              <a:gdLst/>
              <a:ahLst/>
              <a:cxnLst/>
              <a:rect l="l" t="t" r="r" b="b"/>
              <a:pathLst>
                <a:path w="914400" h="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A900"/>
            </a:solidFill>
          </p:spPr>
          <p:txBody>
            <a:bodyPr/>
            <a:lstStyle/>
            <a:p>
              <a:endParaRPr lang="es-CO"/>
            </a:p>
          </p:txBody>
        </p:sp>
      </p:grpSp>
      <p:grpSp>
        <p:nvGrpSpPr>
          <p:cNvPr id="49" name="Group 49"/>
          <p:cNvGrpSpPr/>
          <p:nvPr/>
        </p:nvGrpSpPr>
        <p:grpSpPr>
          <a:xfrm>
            <a:off x="5368976" y="5458968"/>
            <a:ext cx="329184" cy="329184"/>
            <a:chOff x="0" y="0"/>
            <a:chExt cx="438912" cy="438912"/>
          </a:xfrm>
        </p:grpSpPr>
        <p:sp>
          <p:nvSpPr>
            <p:cNvPr id="50" name="Freeform 50" descr="icons/cart.png"/>
            <p:cNvSpPr/>
            <p:nvPr/>
          </p:nvSpPr>
          <p:spPr>
            <a:xfrm>
              <a:off x="0" y="0"/>
              <a:ext cx="438912" cy="438912"/>
            </a:xfrm>
            <a:custGeom>
              <a:avLst/>
              <a:gdLst/>
              <a:ahLst/>
              <a:cxnLst/>
              <a:rect l="l" t="t" r="r" b="b"/>
              <a:pathLst>
                <a:path w="438912" h="438912">
                  <a:moveTo>
                    <a:pt x="0" y="0"/>
                  </a:moveTo>
                  <a:lnTo>
                    <a:pt x="438912" y="0"/>
                  </a:lnTo>
                  <a:lnTo>
                    <a:pt x="438912" y="438912"/>
                  </a:lnTo>
                  <a:lnTo>
                    <a:pt x="0" y="438912"/>
                  </a:lnTo>
                  <a:lnTo>
                    <a:pt x="0" y="0"/>
                  </a:lnTo>
                  <a:close/>
                </a:path>
              </a:pathLst>
            </a:custGeom>
            <a:blipFill>
              <a:blip r:embed="rId6"/>
              <a:stretch>
                <a:fillRect/>
              </a:stretch>
            </a:blipFill>
          </p:spPr>
          <p:txBody>
            <a:bodyPr/>
            <a:lstStyle/>
            <a:p>
              <a:endParaRPr lang="es-CO"/>
            </a:p>
          </p:txBody>
        </p:sp>
      </p:grpSp>
      <p:grpSp>
        <p:nvGrpSpPr>
          <p:cNvPr id="51" name="Group 51"/>
          <p:cNvGrpSpPr/>
          <p:nvPr/>
        </p:nvGrpSpPr>
        <p:grpSpPr>
          <a:xfrm>
            <a:off x="8615896" y="5457345"/>
            <a:ext cx="329184" cy="329184"/>
            <a:chOff x="0" y="0"/>
            <a:chExt cx="438912" cy="438912"/>
          </a:xfrm>
        </p:grpSpPr>
        <p:sp>
          <p:nvSpPr>
            <p:cNvPr id="52" name="Freeform 52" descr="icons/boxes.png"/>
            <p:cNvSpPr/>
            <p:nvPr/>
          </p:nvSpPr>
          <p:spPr>
            <a:xfrm>
              <a:off x="0" y="0"/>
              <a:ext cx="438912" cy="438912"/>
            </a:xfrm>
            <a:custGeom>
              <a:avLst/>
              <a:gdLst/>
              <a:ahLst/>
              <a:cxnLst/>
              <a:rect l="l" t="t" r="r" b="b"/>
              <a:pathLst>
                <a:path w="438912" h="438912">
                  <a:moveTo>
                    <a:pt x="0" y="0"/>
                  </a:moveTo>
                  <a:lnTo>
                    <a:pt x="438912" y="0"/>
                  </a:lnTo>
                  <a:lnTo>
                    <a:pt x="438912" y="438912"/>
                  </a:lnTo>
                  <a:lnTo>
                    <a:pt x="0" y="438912"/>
                  </a:lnTo>
                  <a:lnTo>
                    <a:pt x="0" y="0"/>
                  </a:lnTo>
                  <a:close/>
                </a:path>
              </a:pathLst>
            </a:custGeom>
            <a:blipFill>
              <a:blip r:embed="rId7"/>
              <a:stretch>
                <a:fillRect/>
              </a:stretch>
            </a:blipFill>
          </p:spPr>
          <p:txBody>
            <a:bodyPr/>
            <a:lstStyle/>
            <a:p>
              <a:endParaRPr lang="es-CO"/>
            </a:p>
          </p:txBody>
        </p:sp>
      </p:grpSp>
      <p:grpSp>
        <p:nvGrpSpPr>
          <p:cNvPr id="53" name="Group 53"/>
          <p:cNvGrpSpPr/>
          <p:nvPr/>
        </p:nvGrpSpPr>
        <p:grpSpPr>
          <a:xfrm>
            <a:off x="7445045" y="6172200"/>
            <a:ext cx="2666248" cy="754199"/>
            <a:chOff x="0" y="0"/>
            <a:chExt cx="3554997" cy="1005599"/>
          </a:xfrm>
        </p:grpSpPr>
        <p:sp>
          <p:nvSpPr>
            <p:cNvPr id="54" name="Freeform 54"/>
            <p:cNvSpPr/>
            <p:nvPr/>
          </p:nvSpPr>
          <p:spPr>
            <a:xfrm>
              <a:off x="0" y="0"/>
              <a:ext cx="3555000" cy="1005600"/>
            </a:xfrm>
            <a:custGeom>
              <a:avLst/>
              <a:gdLst/>
              <a:ahLst/>
              <a:cxnLst/>
              <a:rect l="l" t="t" r="r" b="b"/>
              <a:pathLst>
                <a:path w="3555000" h="1005600">
                  <a:moveTo>
                    <a:pt x="0" y="0"/>
                  </a:moveTo>
                  <a:lnTo>
                    <a:pt x="3555000" y="0"/>
                  </a:lnTo>
                  <a:lnTo>
                    <a:pt x="3555000" y="1005600"/>
                  </a:lnTo>
                  <a:lnTo>
                    <a:pt x="0" y="1005600"/>
                  </a:lnTo>
                  <a:close/>
                </a:path>
              </a:pathLst>
            </a:custGeom>
            <a:blipFill>
              <a:blip r:embed="rId3">
                <a:alphaModFix amt="0"/>
              </a:blip>
              <a:stretch>
                <a:fillRect t="-18883" b="-18883"/>
              </a:stretch>
            </a:blipFill>
          </p:spPr>
          <p:txBody>
            <a:bodyPr/>
            <a:lstStyle/>
            <a:p>
              <a:endParaRPr lang="es-CO"/>
            </a:p>
          </p:txBody>
        </p:sp>
        <p:sp>
          <p:nvSpPr>
            <p:cNvPr id="55" name="TextBox 55"/>
            <p:cNvSpPr txBox="1"/>
            <p:nvPr/>
          </p:nvSpPr>
          <p:spPr>
            <a:xfrm>
              <a:off x="0" y="-38100"/>
              <a:ext cx="3554997" cy="1043699"/>
            </a:xfrm>
            <a:prstGeom prst="rect">
              <a:avLst/>
            </a:prstGeom>
          </p:spPr>
          <p:txBody>
            <a:bodyPr lIns="0" tIns="0" rIns="0" bIns="0" rtlCol="0" anchor="ctr"/>
            <a:lstStyle/>
            <a:p>
              <a:pPr algn="ctr">
                <a:lnSpc>
                  <a:spcPts val="2160"/>
                </a:lnSpc>
              </a:pPr>
              <a:r>
                <a:rPr lang="en-US" b="1" dirty="0" err="1">
                  <a:solidFill>
                    <a:srgbClr val="00304D"/>
                  </a:solidFill>
                  <a:latin typeface="Calibri (MS) Bold"/>
                  <a:ea typeface="Calibri (MS) Bold"/>
                  <a:cs typeface="Calibri (MS) Bold"/>
                  <a:sym typeface="Calibri (MS) Bold"/>
                </a:rPr>
                <a:t>Investigacion</a:t>
              </a:r>
              <a:r>
                <a:rPr lang="en-US" b="1" dirty="0">
                  <a:solidFill>
                    <a:srgbClr val="00304D"/>
                  </a:solidFill>
                  <a:latin typeface="Calibri (MS) Bold"/>
                  <a:ea typeface="Calibri (MS) Bold"/>
                  <a:cs typeface="Calibri (MS) Bold"/>
                  <a:sym typeface="Calibri (MS) Bold"/>
                </a:rPr>
                <a:t> de </a:t>
              </a:r>
              <a:r>
                <a:rPr lang="en-US" b="1" dirty="0" err="1">
                  <a:solidFill>
                    <a:srgbClr val="00304D"/>
                  </a:solidFill>
                  <a:latin typeface="Calibri (MS) Bold"/>
                  <a:ea typeface="Calibri (MS) Bold"/>
                  <a:cs typeface="Calibri (MS) Bold"/>
                  <a:sym typeface="Calibri (MS) Bold"/>
                </a:rPr>
                <a:t>soluciones</a:t>
              </a:r>
              <a:endParaRPr lang="en-US" sz="1800" b="1" dirty="0">
                <a:solidFill>
                  <a:srgbClr val="00304D"/>
                </a:solidFill>
                <a:latin typeface="Calibri (MS) Bold"/>
                <a:ea typeface="Calibri (MS) Bold"/>
                <a:cs typeface="Calibri (MS) Bold"/>
                <a:sym typeface="Calibri (MS) Bold"/>
              </a:endParaRPr>
            </a:p>
          </p:txBody>
        </p:sp>
      </p:grpSp>
      <p:grpSp>
        <p:nvGrpSpPr>
          <p:cNvPr id="56" name="Group 56"/>
          <p:cNvGrpSpPr/>
          <p:nvPr/>
        </p:nvGrpSpPr>
        <p:grpSpPr>
          <a:xfrm>
            <a:off x="7472477" y="6926580"/>
            <a:ext cx="2611345" cy="1165950"/>
            <a:chOff x="0" y="0"/>
            <a:chExt cx="3481794" cy="1554600"/>
          </a:xfrm>
        </p:grpSpPr>
        <p:sp>
          <p:nvSpPr>
            <p:cNvPr id="57" name="Freeform 57"/>
            <p:cNvSpPr/>
            <p:nvPr/>
          </p:nvSpPr>
          <p:spPr>
            <a:xfrm>
              <a:off x="0" y="0"/>
              <a:ext cx="3481800" cy="1554606"/>
            </a:xfrm>
            <a:custGeom>
              <a:avLst/>
              <a:gdLst/>
              <a:ahLst/>
              <a:cxnLst/>
              <a:rect l="l" t="t" r="r" b="b"/>
              <a:pathLst>
                <a:path w="3481800" h="1554606">
                  <a:moveTo>
                    <a:pt x="0" y="0"/>
                  </a:moveTo>
                  <a:lnTo>
                    <a:pt x="3481800" y="0"/>
                  </a:lnTo>
                  <a:lnTo>
                    <a:pt x="3481800" y="1554606"/>
                  </a:lnTo>
                  <a:lnTo>
                    <a:pt x="0" y="1554606"/>
                  </a:lnTo>
                  <a:close/>
                </a:path>
              </a:pathLst>
            </a:custGeom>
            <a:blipFill>
              <a:blip r:embed="rId3">
                <a:alphaModFix amt="0"/>
              </a:blip>
              <a:stretch>
                <a:fillRect l="-7286" r="-7286"/>
              </a:stretch>
            </a:blipFill>
          </p:spPr>
          <p:txBody>
            <a:bodyPr/>
            <a:lstStyle/>
            <a:p>
              <a:endParaRPr lang="es-CO"/>
            </a:p>
          </p:txBody>
        </p:sp>
        <p:sp>
          <p:nvSpPr>
            <p:cNvPr id="58" name="TextBox 58"/>
            <p:cNvSpPr txBox="1"/>
            <p:nvPr/>
          </p:nvSpPr>
          <p:spPr>
            <a:xfrm>
              <a:off x="0" y="-19050"/>
              <a:ext cx="3481794" cy="1573650"/>
            </a:xfrm>
            <a:prstGeom prst="rect">
              <a:avLst/>
            </a:prstGeom>
          </p:spPr>
          <p:txBody>
            <a:bodyPr lIns="0" tIns="0" rIns="0" bIns="0" rtlCol="0" anchor="ctr"/>
            <a:lstStyle/>
            <a:p>
              <a:pPr algn="ctr">
                <a:lnSpc>
                  <a:spcPct val="100000"/>
                </a:lnSpc>
              </a:pPr>
              <a:r>
                <a:rPr lang="es-CO" sz="1600" dirty="0"/>
                <a:t>Se analizan alternativas (sistemas existentes, tecnologías, requisitos IEEE 830) para definir el enfoque técnico.</a:t>
              </a:r>
              <a:endParaRPr lang="en-US" sz="1575" dirty="0">
                <a:solidFill>
                  <a:srgbClr val="000000"/>
                </a:solidFill>
                <a:latin typeface="Calibri (MS)"/>
                <a:ea typeface="Calibri (MS)"/>
                <a:cs typeface="Calibri (MS)"/>
                <a:sym typeface="Calibri (MS)"/>
              </a:endParaRPr>
            </a:p>
          </p:txBody>
        </p:sp>
      </p:grpSp>
      <p:grpSp>
        <p:nvGrpSpPr>
          <p:cNvPr id="59" name="Group 59"/>
          <p:cNvGrpSpPr/>
          <p:nvPr/>
        </p:nvGrpSpPr>
        <p:grpSpPr>
          <a:xfrm>
            <a:off x="10550347" y="5006340"/>
            <a:ext cx="2940748" cy="3223346"/>
            <a:chOff x="0" y="0"/>
            <a:chExt cx="3920998" cy="4297794"/>
          </a:xfrm>
        </p:grpSpPr>
        <p:sp>
          <p:nvSpPr>
            <p:cNvPr id="60" name="Freeform 60"/>
            <p:cNvSpPr/>
            <p:nvPr/>
          </p:nvSpPr>
          <p:spPr>
            <a:xfrm>
              <a:off x="0" y="0"/>
              <a:ext cx="3920998" cy="4297807"/>
            </a:xfrm>
            <a:custGeom>
              <a:avLst/>
              <a:gdLst/>
              <a:ahLst/>
              <a:cxnLst/>
              <a:rect l="l" t="t" r="r" b="b"/>
              <a:pathLst>
                <a:path w="3920998" h="4297807">
                  <a:moveTo>
                    <a:pt x="0" y="146304"/>
                  </a:moveTo>
                  <a:cubicBezTo>
                    <a:pt x="0" y="65532"/>
                    <a:pt x="65532" y="0"/>
                    <a:pt x="146304" y="0"/>
                  </a:cubicBezTo>
                  <a:lnTo>
                    <a:pt x="3774694" y="0"/>
                  </a:lnTo>
                  <a:cubicBezTo>
                    <a:pt x="3855466" y="0"/>
                    <a:pt x="3920998" y="65532"/>
                    <a:pt x="3920998" y="146304"/>
                  </a:cubicBezTo>
                  <a:lnTo>
                    <a:pt x="3920998" y="4151503"/>
                  </a:lnTo>
                  <a:cubicBezTo>
                    <a:pt x="3920998" y="4232275"/>
                    <a:pt x="3855466" y="4297807"/>
                    <a:pt x="3774694" y="4297807"/>
                  </a:cubicBezTo>
                  <a:lnTo>
                    <a:pt x="146304" y="4297807"/>
                  </a:lnTo>
                  <a:cubicBezTo>
                    <a:pt x="65532" y="4297807"/>
                    <a:pt x="0" y="4232275"/>
                    <a:pt x="0" y="4151503"/>
                  </a:cubicBezTo>
                  <a:close/>
                </a:path>
              </a:pathLst>
            </a:custGeom>
            <a:solidFill>
              <a:srgbClr val="F6F6F6"/>
            </a:solidFill>
          </p:spPr>
          <p:txBody>
            <a:bodyPr/>
            <a:lstStyle/>
            <a:p>
              <a:endParaRPr lang="es-CO"/>
            </a:p>
          </p:txBody>
        </p:sp>
      </p:grpSp>
      <p:grpSp>
        <p:nvGrpSpPr>
          <p:cNvPr id="61" name="Group 61"/>
          <p:cNvGrpSpPr/>
          <p:nvPr/>
        </p:nvGrpSpPr>
        <p:grpSpPr>
          <a:xfrm>
            <a:off x="11677802" y="5280660"/>
            <a:ext cx="685800" cy="685800"/>
            <a:chOff x="0" y="0"/>
            <a:chExt cx="914400" cy="914400"/>
          </a:xfrm>
        </p:grpSpPr>
        <p:sp>
          <p:nvSpPr>
            <p:cNvPr id="62" name="Freeform 62"/>
            <p:cNvSpPr/>
            <p:nvPr/>
          </p:nvSpPr>
          <p:spPr>
            <a:xfrm>
              <a:off x="0" y="0"/>
              <a:ext cx="914400" cy="914400"/>
            </a:xfrm>
            <a:custGeom>
              <a:avLst/>
              <a:gdLst/>
              <a:ahLst/>
              <a:cxnLst/>
              <a:rect l="l" t="t" r="r" b="b"/>
              <a:pathLst>
                <a:path w="914400" h="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A900"/>
            </a:solidFill>
          </p:spPr>
          <p:txBody>
            <a:bodyPr/>
            <a:lstStyle/>
            <a:p>
              <a:endParaRPr lang="es-CO"/>
            </a:p>
          </p:txBody>
        </p:sp>
      </p:grpSp>
      <p:grpSp>
        <p:nvGrpSpPr>
          <p:cNvPr id="63" name="Group 63"/>
          <p:cNvGrpSpPr/>
          <p:nvPr/>
        </p:nvGrpSpPr>
        <p:grpSpPr>
          <a:xfrm>
            <a:off x="11856110" y="5458968"/>
            <a:ext cx="329184" cy="329184"/>
            <a:chOff x="0" y="0"/>
            <a:chExt cx="438912" cy="438912"/>
          </a:xfrm>
        </p:grpSpPr>
        <p:sp>
          <p:nvSpPr>
            <p:cNvPr id="64" name="Freeform 64" descr="icons/mobile.png"/>
            <p:cNvSpPr/>
            <p:nvPr/>
          </p:nvSpPr>
          <p:spPr>
            <a:xfrm>
              <a:off x="0" y="0"/>
              <a:ext cx="438912" cy="438912"/>
            </a:xfrm>
            <a:custGeom>
              <a:avLst/>
              <a:gdLst/>
              <a:ahLst/>
              <a:cxnLst/>
              <a:rect l="l" t="t" r="r" b="b"/>
              <a:pathLst>
                <a:path w="438912" h="438912">
                  <a:moveTo>
                    <a:pt x="0" y="0"/>
                  </a:moveTo>
                  <a:lnTo>
                    <a:pt x="438912" y="0"/>
                  </a:lnTo>
                  <a:lnTo>
                    <a:pt x="438912" y="438912"/>
                  </a:lnTo>
                  <a:lnTo>
                    <a:pt x="0" y="438912"/>
                  </a:lnTo>
                  <a:lnTo>
                    <a:pt x="0" y="0"/>
                  </a:lnTo>
                  <a:close/>
                </a:path>
              </a:pathLst>
            </a:custGeom>
            <a:blipFill>
              <a:blip r:embed="rId8"/>
              <a:stretch>
                <a:fillRect/>
              </a:stretch>
            </a:blipFill>
          </p:spPr>
          <p:txBody>
            <a:bodyPr/>
            <a:lstStyle/>
            <a:p>
              <a:endParaRPr lang="es-CO"/>
            </a:p>
          </p:txBody>
        </p:sp>
      </p:grpSp>
      <p:grpSp>
        <p:nvGrpSpPr>
          <p:cNvPr id="65" name="Group 65"/>
          <p:cNvGrpSpPr/>
          <p:nvPr/>
        </p:nvGrpSpPr>
        <p:grpSpPr>
          <a:xfrm>
            <a:off x="10687507" y="6172200"/>
            <a:ext cx="2666248" cy="754199"/>
            <a:chOff x="0" y="0"/>
            <a:chExt cx="3554997" cy="1005599"/>
          </a:xfrm>
        </p:grpSpPr>
        <p:sp>
          <p:nvSpPr>
            <p:cNvPr id="66" name="Freeform 66"/>
            <p:cNvSpPr/>
            <p:nvPr/>
          </p:nvSpPr>
          <p:spPr>
            <a:xfrm>
              <a:off x="0" y="0"/>
              <a:ext cx="3555000" cy="1005600"/>
            </a:xfrm>
            <a:custGeom>
              <a:avLst/>
              <a:gdLst/>
              <a:ahLst/>
              <a:cxnLst/>
              <a:rect l="l" t="t" r="r" b="b"/>
              <a:pathLst>
                <a:path w="3555000" h="1005600">
                  <a:moveTo>
                    <a:pt x="0" y="0"/>
                  </a:moveTo>
                  <a:lnTo>
                    <a:pt x="3555000" y="0"/>
                  </a:lnTo>
                  <a:lnTo>
                    <a:pt x="3555000" y="1005600"/>
                  </a:lnTo>
                  <a:lnTo>
                    <a:pt x="0" y="1005600"/>
                  </a:lnTo>
                  <a:close/>
                </a:path>
              </a:pathLst>
            </a:custGeom>
            <a:blipFill>
              <a:blip r:embed="rId3">
                <a:alphaModFix amt="0"/>
              </a:blip>
              <a:stretch>
                <a:fillRect t="-18883" b="-18883"/>
              </a:stretch>
            </a:blipFill>
          </p:spPr>
          <p:txBody>
            <a:bodyPr/>
            <a:lstStyle/>
            <a:p>
              <a:endParaRPr lang="es-CO"/>
            </a:p>
          </p:txBody>
        </p:sp>
        <p:sp>
          <p:nvSpPr>
            <p:cNvPr id="67" name="TextBox 67"/>
            <p:cNvSpPr txBox="1"/>
            <p:nvPr/>
          </p:nvSpPr>
          <p:spPr>
            <a:xfrm>
              <a:off x="0" y="-38100"/>
              <a:ext cx="3554997" cy="1043699"/>
            </a:xfrm>
            <a:prstGeom prst="rect">
              <a:avLst/>
            </a:prstGeom>
          </p:spPr>
          <p:txBody>
            <a:bodyPr lIns="0" tIns="0" rIns="0" bIns="0" rtlCol="0" anchor="ctr"/>
            <a:lstStyle/>
            <a:p>
              <a:pPr algn="ctr">
                <a:lnSpc>
                  <a:spcPts val="2160"/>
                </a:lnSpc>
              </a:pPr>
              <a:r>
                <a:rPr lang="en-US" sz="1800" b="1" dirty="0" err="1">
                  <a:solidFill>
                    <a:srgbClr val="00304D"/>
                  </a:solidFill>
                  <a:latin typeface="Calibri (MS) Bold"/>
                  <a:ea typeface="Calibri (MS) Bold"/>
                  <a:cs typeface="Calibri (MS) Bold"/>
                  <a:sym typeface="Calibri (MS) Bold"/>
                </a:rPr>
                <a:t>Definicion</a:t>
              </a:r>
              <a:r>
                <a:rPr lang="en-US" sz="1800" b="1" dirty="0">
                  <a:solidFill>
                    <a:srgbClr val="00304D"/>
                  </a:solidFill>
                  <a:latin typeface="Calibri (MS) Bold"/>
                  <a:ea typeface="Calibri (MS) Bold"/>
                  <a:cs typeface="Calibri (MS) Bold"/>
                  <a:sym typeface="Calibri (MS) Bold"/>
                </a:rPr>
                <a:t> de </a:t>
              </a:r>
              <a:r>
                <a:rPr lang="en-US" sz="1800" b="1" dirty="0" err="1">
                  <a:solidFill>
                    <a:srgbClr val="00304D"/>
                  </a:solidFill>
                  <a:latin typeface="Calibri (MS) Bold"/>
                  <a:ea typeface="Calibri (MS) Bold"/>
                  <a:cs typeface="Calibri (MS) Bold"/>
                  <a:sym typeface="Calibri (MS) Bold"/>
                </a:rPr>
                <a:t>alcance</a:t>
              </a:r>
              <a:endParaRPr lang="en-US" sz="1800" b="1" dirty="0">
                <a:solidFill>
                  <a:srgbClr val="00304D"/>
                </a:solidFill>
                <a:latin typeface="Calibri (MS) Bold"/>
                <a:ea typeface="Calibri (MS) Bold"/>
                <a:cs typeface="Calibri (MS) Bold"/>
                <a:sym typeface="Calibri (MS) Bold"/>
              </a:endParaRPr>
            </a:p>
          </p:txBody>
        </p:sp>
      </p:grpSp>
      <p:grpSp>
        <p:nvGrpSpPr>
          <p:cNvPr id="68" name="Group 68"/>
          <p:cNvGrpSpPr/>
          <p:nvPr/>
        </p:nvGrpSpPr>
        <p:grpSpPr>
          <a:xfrm>
            <a:off x="10714939" y="6926580"/>
            <a:ext cx="2611345" cy="1165950"/>
            <a:chOff x="0" y="0"/>
            <a:chExt cx="3481794" cy="1554600"/>
          </a:xfrm>
        </p:grpSpPr>
        <p:sp>
          <p:nvSpPr>
            <p:cNvPr id="69" name="Freeform 69"/>
            <p:cNvSpPr/>
            <p:nvPr/>
          </p:nvSpPr>
          <p:spPr>
            <a:xfrm>
              <a:off x="0" y="0"/>
              <a:ext cx="3481800" cy="1554606"/>
            </a:xfrm>
            <a:custGeom>
              <a:avLst/>
              <a:gdLst/>
              <a:ahLst/>
              <a:cxnLst/>
              <a:rect l="l" t="t" r="r" b="b"/>
              <a:pathLst>
                <a:path w="3481800" h="1554606">
                  <a:moveTo>
                    <a:pt x="0" y="0"/>
                  </a:moveTo>
                  <a:lnTo>
                    <a:pt x="3481800" y="0"/>
                  </a:lnTo>
                  <a:lnTo>
                    <a:pt x="3481800" y="1554606"/>
                  </a:lnTo>
                  <a:lnTo>
                    <a:pt x="0" y="1554606"/>
                  </a:lnTo>
                  <a:close/>
                </a:path>
              </a:pathLst>
            </a:custGeom>
            <a:blipFill>
              <a:blip r:embed="rId3">
                <a:alphaModFix amt="0"/>
              </a:blip>
              <a:stretch>
                <a:fillRect l="-7286" r="-7286"/>
              </a:stretch>
            </a:blipFill>
          </p:spPr>
          <p:txBody>
            <a:bodyPr/>
            <a:lstStyle/>
            <a:p>
              <a:endParaRPr lang="es-CO"/>
            </a:p>
          </p:txBody>
        </p:sp>
        <p:sp>
          <p:nvSpPr>
            <p:cNvPr id="70" name="TextBox 70"/>
            <p:cNvSpPr txBox="1"/>
            <p:nvPr/>
          </p:nvSpPr>
          <p:spPr>
            <a:xfrm>
              <a:off x="0" y="-19050"/>
              <a:ext cx="3481794" cy="1573650"/>
            </a:xfrm>
            <a:prstGeom prst="rect">
              <a:avLst/>
            </a:prstGeom>
          </p:spPr>
          <p:txBody>
            <a:bodyPr lIns="0" tIns="0" rIns="0" bIns="0" rtlCol="0" anchor="ctr"/>
            <a:lstStyle/>
            <a:p>
              <a:pPr algn="ctr">
                <a:lnSpc>
                  <a:spcPct val="100000"/>
                </a:lnSpc>
              </a:pPr>
              <a:r>
                <a:rPr lang="es-CO" sz="1600" dirty="0"/>
                <a:t>Se delimitan los módulos clave: inventario, servicios, carrito en línea y atención al cliente.</a:t>
              </a:r>
              <a:endParaRPr lang="en-US" sz="1575" dirty="0">
                <a:solidFill>
                  <a:srgbClr val="000000"/>
                </a:solidFill>
                <a:latin typeface="Calibri (MS)"/>
                <a:ea typeface="Calibri (MS)"/>
                <a:cs typeface="Calibri (MS)"/>
                <a:sym typeface="Calibri (MS)"/>
              </a:endParaRPr>
            </a:p>
          </p:txBody>
        </p:sp>
      </p:grpSp>
      <p:grpSp>
        <p:nvGrpSpPr>
          <p:cNvPr id="71" name="Group 71"/>
          <p:cNvGrpSpPr/>
          <p:nvPr/>
        </p:nvGrpSpPr>
        <p:grpSpPr>
          <a:xfrm>
            <a:off x="13792810" y="5006340"/>
            <a:ext cx="2940748" cy="3223346"/>
            <a:chOff x="0" y="0"/>
            <a:chExt cx="3920998" cy="4297794"/>
          </a:xfrm>
        </p:grpSpPr>
        <p:sp>
          <p:nvSpPr>
            <p:cNvPr id="72" name="Freeform 72"/>
            <p:cNvSpPr/>
            <p:nvPr/>
          </p:nvSpPr>
          <p:spPr>
            <a:xfrm>
              <a:off x="0" y="0"/>
              <a:ext cx="3920998" cy="4297807"/>
            </a:xfrm>
            <a:custGeom>
              <a:avLst/>
              <a:gdLst/>
              <a:ahLst/>
              <a:cxnLst/>
              <a:rect l="l" t="t" r="r" b="b"/>
              <a:pathLst>
                <a:path w="3920998" h="4297807">
                  <a:moveTo>
                    <a:pt x="0" y="146304"/>
                  </a:moveTo>
                  <a:cubicBezTo>
                    <a:pt x="0" y="65532"/>
                    <a:pt x="65532" y="0"/>
                    <a:pt x="146304" y="0"/>
                  </a:cubicBezTo>
                  <a:lnTo>
                    <a:pt x="3774694" y="0"/>
                  </a:lnTo>
                  <a:cubicBezTo>
                    <a:pt x="3855466" y="0"/>
                    <a:pt x="3920998" y="65532"/>
                    <a:pt x="3920998" y="146304"/>
                  </a:cubicBezTo>
                  <a:lnTo>
                    <a:pt x="3920998" y="4151503"/>
                  </a:lnTo>
                  <a:cubicBezTo>
                    <a:pt x="3920998" y="4232275"/>
                    <a:pt x="3855466" y="4297807"/>
                    <a:pt x="3774694" y="4297807"/>
                  </a:cubicBezTo>
                  <a:lnTo>
                    <a:pt x="146304" y="4297807"/>
                  </a:lnTo>
                  <a:cubicBezTo>
                    <a:pt x="65532" y="4297807"/>
                    <a:pt x="0" y="4232275"/>
                    <a:pt x="0" y="4151503"/>
                  </a:cubicBezTo>
                  <a:close/>
                </a:path>
              </a:pathLst>
            </a:custGeom>
            <a:solidFill>
              <a:srgbClr val="F6F6F6"/>
            </a:solidFill>
          </p:spPr>
          <p:txBody>
            <a:bodyPr/>
            <a:lstStyle/>
            <a:p>
              <a:endParaRPr lang="es-CO"/>
            </a:p>
          </p:txBody>
        </p:sp>
      </p:grpSp>
      <p:grpSp>
        <p:nvGrpSpPr>
          <p:cNvPr id="73" name="Group 73"/>
          <p:cNvGrpSpPr/>
          <p:nvPr/>
        </p:nvGrpSpPr>
        <p:grpSpPr>
          <a:xfrm>
            <a:off x="14920265" y="5280660"/>
            <a:ext cx="685800" cy="685800"/>
            <a:chOff x="0" y="0"/>
            <a:chExt cx="914400" cy="914400"/>
          </a:xfrm>
        </p:grpSpPr>
        <p:sp>
          <p:nvSpPr>
            <p:cNvPr id="74" name="Freeform 74"/>
            <p:cNvSpPr/>
            <p:nvPr/>
          </p:nvSpPr>
          <p:spPr>
            <a:xfrm>
              <a:off x="0" y="0"/>
              <a:ext cx="914400" cy="914400"/>
            </a:xfrm>
            <a:custGeom>
              <a:avLst/>
              <a:gdLst/>
              <a:ahLst/>
              <a:cxnLst/>
              <a:rect l="l" t="t" r="r" b="b"/>
              <a:pathLst>
                <a:path w="914400" h="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A900"/>
            </a:solidFill>
          </p:spPr>
          <p:txBody>
            <a:bodyPr/>
            <a:lstStyle/>
            <a:p>
              <a:endParaRPr lang="es-CO"/>
            </a:p>
          </p:txBody>
        </p:sp>
      </p:grpSp>
      <p:grpSp>
        <p:nvGrpSpPr>
          <p:cNvPr id="75" name="Group 75"/>
          <p:cNvGrpSpPr/>
          <p:nvPr/>
        </p:nvGrpSpPr>
        <p:grpSpPr>
          <a:xfrm>
            <a:off x="15098573" y="5458968"/>
            <a:ext cx="329184" cy="329184"/>
            <a:chOff x="0" y="0"/>
            <a:chExt cx="438912" cy="438912"/>
          </a:xfrm>
        </p:grpSpPr>
        <p:sp>
          <p:nvSpPr>
            <p:cNvPr id="76" name="Freeform 76" descr="icons/leaf.png"/>
            <p:cNvSpPr/>
            <p:nvPr/>
          </p:nvSpPr>
          <p:spPr>
            <a:xfrm>
              <a:off x="0" y="0"/>
              <a:ext cx="438912" cy="438912"/>
            </a:xfrm>
            <a:custGeom>
              <a:avLst/>
              <a:gdLst/>
              <a:ahLst/>
              <a:cxnLst/>
              <a:rect l="l" t="t" r="r" b="b"/>
              <a:pathLst>
                <a:path w="438912" h="438912">
                  <a:moveTo>
                    <a:pt x="0" y="0"/>
                  </a:moveTo>
                  <a:lnTo>
                    <a:pt x="438912" y="0"/>
                  </a:lnTo>
                  <a:lnTo>
                    <a:pt x="438912" y="438912"/>
                  </a:lnTo>
                  <a:lnTo>
                    <a:pt x="0" y="438912"/>
                  </a:lnTo>
                  <a:lnTo>
                    <a:pt x="0" y="0"/>
                  </a:lnTo>
                  <a:close/>
                </a:path>
              </a:pathLst>
            </a:custGeom>
            <a:blipFill>
              <a:blip r:embed="rId9"/>
              <a:stretch>
                <a:fillRect/>
              </a:stretch>
            </a:blipFill>
          </p:spPr>
          <p:txBody>
            <a:bodyPr/>
            <a:lstStyle/>
            <a:p>
              <a:endParaRPr lang="es-CO"/>
            </a:p>
          </p:txBody>
        </p:sp>
      </p:grpSp>
      <p:grpSp>
        <p:nvGrpSpPr>
          <p:cNvPr id="77" name="Group 77"/>
          <p:cNvGrpSpPr/>
          <p:nvPr/>
        </p:nvGrpSpPr>
        <p:grpSpPr>
          <a:xfrm>
            <a:off x="13929970" y="6172200"/>
            <a:ext cx="2666248" cy="754199"/>
            <a:chOff x="0" y="0"/>
            <a:chExt cx="3554997" cy="1005599"/>
          </a:xfrm>
        </p:grpSpPr>
        <p:sp>
          <p:nvSpPr>
            <p:cNvPr id="78" name="Freeform 78"/>
            <p:cNvSpPr/>
            <p:nvPr/>
          </p:nvSpPr>
          <p:spPr>
            <a:xfrm>
              <a:off x="0" y="0"/>
              <a:ext cx="3555000" cy="1005600"/>
            </a:xfrm>
            <a:custGeom>
              <a:avLst/>
              <a:gdLst/>
              <a:ahLst/>
              <a:cxnLst/>
              <a:rect l="l" t="t" r="r" b="b"/>
              <a:pathLst>
                <a:path w="3555000" h="1005600">
                  <a:moveTo>
                    <a:pt x="0" y="0"/>
                  </a:moveTo>
                  <a:lnTo>
                    <a:pt x="3555000" y="0"/>
                  </a:lnTo>
                  <a:lnTo>
                    <a:pt x="3555000" y="1005600"/>
                  </a:lnTo>
                  <a:lnTo>
                    <a:pt x="0" y="1005600"/>
                  </a:lnTo>
                  <a:close/>
                </a:path>
              </a:pathLst>
            </a:custGeom>
            <a:blipFill>
              <a:blip r:embed="rId3">
                <a:alphaModFix amt="0"/>
              </a:blip>
              <a:stretch>
                <a:fillRect t="-18883" b="-18883"/>
              </a:stretch>
            </a:blipFill>
          </p:spPr>
          <p:txBody>
            <a:bodyPr/>
            <a:lstStyle/>
            <a:p>
              <a:endParaRPr lang="es-CO"/>
            </a:p>
          </p:txBody>
        </p:sp>
        <p:sp>
          <p:nvSpPr>
            <p:cNvPr id="79" name="TextBox 79"/>
            <p:cNvSpPr txBox="1"/>
            <p:nvPr/>
          </p:nvSpPr>
          <p:spPr>
            <a:xfrm>
              <a:off x="0" y="-38100"/>
              <a:ext cx="3554997" cy="1043699"/>
            </a:xfrm>
            <a:prstGeom prst="rect">
              <a:avLst/>
            </a:prstGeom>
          </p:spPr>
          <p:txBody>
            <a:bodyPr lIns="0" tIns="0" rIns="0" bIns="0" rtlCol="0" anchor="ctr"/>
            <a:lstStyle/>
            <a:p>
              <a:pPr algn="ctr">
                <a:lnSpc>
                  <a:spcPts val="2160"/>
                </a:lnSpc>
              </a:pPr>
              <a:r>
                <a:rPr lang="en-US" b="1" dirty="0" err="1">
                  <a:solidFill>
                    <a:srgbClr val="00304D"/>
                  </a:solidFill>
                  <a:latin typeface="Calibri (MS) Bold"/>
                  <a:ea typeface="Calibri (MS) Bold"/>
                  <a:cs typeface="Calibri (MS) Bold"/>
                  <a:sym typeface="Calibri (MS) Bold"/>
                </a:rPr>
                <a:t>Objetivo</a:t>
              </a:r>
              <a:r>
                <a:rPr lang="en-US" b="1" dirty="0">
                  <a:solidFill>
                    <a:srgbClr val="00304D"/>
                  </a:solidFill>
                  <a:latin typeface="Calibri (MS) Bold"/>
                  <a:ea typeface="Calibri (MS) Bold"/>
                  <a:cs typeface="Calibri (MS) Bold"/>
                  <a:sym typeface="Calibri (MS) Bold"/>
                </a:rPr>
                <a:t> general</a:t>
              </a:r>
              <a:endParaRPr lang="en-US" sz="1800" b="1" dirty="0">
                <a:solidFill>
                  <a:srgbClr val="00304D"/>
                </a:solidFill>
                <a:latin typeface="Calibri (MS) Bold"/>
                <a:ea typeface="Calibri (MS) Bold"/>
                <a:cs typeface="Calibri (MS) Bold"/>
                <a:sym typeface="Calibri (MS) Bold"/>
              </a:endParaRPr>
            </a:p>
          </p:txBody>
        </p:sp>
      </p:grpSp>
      <p:grpSp>
        <p:nvGrpSpPr>
          <p:cNvPr id="80" name="Group 80"/>
          <p:cNvGrpSpPr/>
          <p:nvPr/>
        </p:nvGrpSpPr>
        <p:grpSpPr>
          <a:xfrm>
            <a:off x="13971137" y="6926313"/>
            <a:ext cx="2611345" cy="1165950"/>
            <a:chOff x="0" y="0"/>
            <a:chExt cx="3481794" cy="1554600"/>
          </a:xfrm>
        </p:grpSpPr>
        <p:sp>
          <p:nvSpPr>
            <p:cNvPr id="81" name="Freeform 81"/>
            <p:cNvSpPr/>
            <p:nvPr/>
          </p:nvSpPr>
          <p:spPr>
            <a:xfrm>
              <a:off x="0" y="0"/>
              <a:ext cx="3481800" cy="1554606"/>
            </a:xfrm>
            <a:custGeom>
              <a:avLst/>
              <a:gdLst/>
              <a:ahLst/>
              <a:cxnLst/>
              <a:rect l="l" t="t" r="r" b="b"/>
              <a:pathLst>
                <a:path w="3481800" h="1554606">
                  <a:moveTo>
                    <a:pt x="0" y="0"/>
                  </a:moveTo>
                  <a:lnTo>
                    <a:pt x="3481800" y="0"/>
                  </a:lnTo>
                  <a:lnTo>
                    <a:pt x="3481800" y="1554606"/>
                  </a:lnTo>
                  <a:lnTo>
                    <a:pt x="0" y="1554606"/>
                  </a:lnTo>
                  <a:close/>
                </a:path>
              </a:pathLst>
            </a:custGeom>
            <a:blipFill>
              <a:blip r:embed="rId3">
                <a:alphaModFix amt="0"/>
              </a:blip>
              <a:stretch>
                <a:fillRect l="-7286" r="-7286"/>
              </a:stretch>
            </a:blipFill>
          </p:spPr>
          <p:txBody>
            <a:bodyPr/>
            <a:lstStyle/>
            <a:p>
              <a:endParaRPr lang="es-CO"/>
            </a:p>
          </p:txBody>
        </p:sp>
        <p:sp>
          <p:nvSpPr>
            <p:cNvPr id="82" name="TextBox 82"/>
            <p:cNvSpPr txBox="1"/>
            <p:nvPr/>
          </p:nvSpPr>
          <p:spPr>
            <a:xfrm>
              <a:off x="0" y="-19050"/>
              <a:ext cx="3481794" cy="1573650"/>
            </a:xfrm>
            <a:prstGeom prst="rect">
              <a:avLst/>
            </a:prstGeom>
          </p:spPr>
          <p:txBody>
            <a:bodyPr lIns="0" tIns="0" rIns="0" bIns="0" rtlCol="0" anchor="ctr"/>
            <a:lstStyle/>
            <a:p>
              <a:pPr algn="ctr">
                <a:lnSpc>
                  <a:spcPct val="100000"/>
                </a:lnSpc>
              </a:pPr>
              <a:r>
                <a:rPr lang="es-CO" sz="1600" dirty="0"/>
                <a:t>Se formula la meta: diseñar e implementar el aplicativo web con base de datos integrada.</a:t>
              </a:r>
              <a:endParaRPr lang="en-US" sz="1575" dirty="0">
                <a:solidFill>
                  <a:srgbClr val="000000"/>
                </a:solidFill>
                <a:latin typeface="Calibri (MS)"/>
                <a:ea typeface="Calibri (MS)"/>
                <a:cs typeface="Calibri (MS)"/>
                <a:sym typeface="Calibri (MS)"/>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s-CO"/>
          </a:p>
        </p:txBody>
      </p:sp>
      <p:grpSp>
        <p:nvGrpSpPr>
          <p:cNvPr id="3" name="Group 3"/>
          <p:cNvGrpSpPr/>
          <p:nvPr/>
        </p:nvGrpSpPr>
        <p:grpSpPr>
          <a:xfrm>
            <a:off x="822960" y="576072"/>
            <a:ext cx="13716000" cy="480150"/>
            <a:chOff x="0" y="0"/>
            <a:chExt cx="18288000" cy="640200"/>
          </a:xfrm>
        </p:grpSpPr>
        <p:sp>
          <p:nvSpPr>
            <p:cNvPr id="4" name="Freeform 4"/>
            <p:cNvSpPr/>
            <p:nvPr/>
          </p:nvSpPr>
          <p:spPr>
            <a:xfrm>
              <a:off x="0" y="0"/>
              <a:ext cx="18288000" cy="640206"/>
            </a:xfrm>
            <a:custGeom>
              <a:avLst/>
              <a:gdLst/>
              <a:ahLst/>
              <a:cxnLst/>
              <a:rect l="l" t="t" r="r" b="b"/>
              <a:pathLst>
                <a:path w="18288000" h="640206">
                  <a:moveTo>
                    <a:pt x="0" y="0"/>
                  </a:moveTo>
                  <a:lnTo>
                    <a:pt x="18288000" y="0"/>
                  </a:lnTo>
                  <a:lnTo>
                    <a:pt x="18288000" y="640206"/>
                  </a:lnTo>
                  <a:lnTo>
                    <a:pt x="0" y="640206"/>
                  </a:lnTo>
                  <a:close/>
                </a:path>
              </a:pathLst>
            </a:custGeom>
            <a:blipFill>
              <a:blip r:embed="rId4">
                <a:alphaModFix amt="0"/>
              </a:blip>
              <a:stretch>
                <a:fillRect t="-506606" b="-506605"/>
              </a:stretch>
            </a:blipFill>
          </p:spPr>
          <p:txBody>
            <a:bodyPr/>
            <a:lstStyle/>
            <a:p>
              <a:endParaRPr lang="es-CO"/>
            </a:p>
          </p:txBody>
        </p:sp>
        <p:sp>
          <p:nvSpPr>
            <p:cNvPr id="5" name="TextBox 5"/>
            <p:cNvSpPr txBox="1"/>
            <p:nvPr/>
          </p:nvSpPr>
          <p:spPr>
            <a:xfrm>
              <a:off x="0" y="-47625"/>
              <a:ext cx="18288000" cy="687825"/>
            </a:xfrm>
            <a:prstGeom prst="rect">
              <a:avLst/>
            </a:prstGeom>
          </p:spPr>
          <p:txBody>
            <a:bodyPr lIns="0" tIns="0" rIns="0" bIns="0" rtlCol="0" anchor="ctr"/>
            <a:lstStyle/>
            <a:p>
              <a:pPr algn="l">
                <a:lnSpc>
                  <a:spcPts val="2340"/>
                </a:lnSpc>
              </a:pPr>
              <a:r>
                <a:rPr lang="en-US" sz="1950" b="1">
                  <a:solidFill>
                    <a:srgbClr val="39A900"/>
                  </a:solidFill>
                  <a:latin typeface="Calibri (MS) Bold"/>
                  <a:ea typeface="Calibri (MS) Bold"/>
                  <a:cs typeface="Calibri (MS) Bold"/>
                  <a:sym typeface="Calibri (MS) Bold"/>
                </a:rPr>
                <a:t>¿POR QUÉ ESTE PROYECTO DMI?</a:t>
              </a:r>
            </a:p>
          </p:txBody>
        </p:sp>
      </p:grpSp>
      <p:grpSp>
        <p:nvGrpSpPr>
          <p:cNvPr id="6" name="Group 6"/>
          <p:cNvGrpSpPr/>
          <p:nvPr/>
        </p:nvGrpSpPr>
        <p:grpSpPr>
          <a:xfrm>
            <a:off x="822960" y="987552"/>
            <a:ext cx="16184699" cy="1165946"/>
            <a:chOff x="0" y="0"/>
            <a:chExt cx="21579599" cy="1554594"/>
          </a:xfrm>
        </p:grpSpPr>
        <p:sp>
          <p:nvSpPr>
            <p:cNvPr id="7" name="Freeform 7"/>
            <p:cNvSpPr/>
            <p:nvPr/>
          </p:nvSpPr>
          <p:spPr>
            <a:xfrm>
              <a:off x="0" y="0"/>
              <a:ext cx="21579601" cy="1554600"/>
            </a:xfrm>
            <a:custGeom>
              <a:avLst/>
              <a:gdLst/>
              <a:ahLst/>
              <a:cxnLst/>
              <a:rect l="l" t="t" r="r" b="b"/>
              <a:pathLst>
                <a:path w="21579601" h="1554600">
                  <a:moveTo>
                    <a:pt x="0" y="0"/>
                  </a:moveTo>
                  <a:lnTo>
                    <a:pt x="21579601" y="0"/>
                  </a:lnTo>
                  <a:lnTo>
                    <a:pt x="21579601" y="1554600"/>
                  </a:lnTo>
                  <a:lnTo>
                    <a:pt x="0" y="1554600"/>
                  </a:lnTo>
                  <a:close/>
                </a:path>
              </a:pathLst>
            </a:custGeom>
            <a:blipFill>
              <a:blip r:embed="rId4">
                <a:alphaModFix amt="0"/>
              </a:blip>
              <a:stretch>
                <a:fillRect t="-220474" b="-220474"/>
              </a:stretch>
            </a:blipFill>
          </p:spPr>
          <p:txBody>
            <a:bodyPr/>
            <a:lstStyle/>
            <a:p>
              <a:endParaRPr lang="es-CO"/>
            </a:p>
          </p:txBody>
        </p:sp>
        <p:sp>
          <p:nvSpPr>
            <p:cNvPr id="8" name="TextBox 8"/>
            <p:cNvSpPr txBox="1"/>
            <p:nvPr/>
          </p:nvSpPr>
          <p:spPr>
            <a:xfrm>
              <a:off x="0" y="0"/>
              <a:ext cx="21579599" cy="1554594"/>
            </a:xfrm>
            <a:prstGeom prst="rect">
              <a:avLst/>
            </a:prstGeom>
          </p:spPr>
          <p:txBody>
            <a:bodyPr lIns="0" tIns="0" rIns="0" bIns="0" rtlCol="0" anchor="ctr"/>
            <a:lstStyle/>
            <a:p>
              <a:pPr algn="l">
                <a:lnSpc>
                  <a:spcPts val="6480"/>
                </a:lnSpc>
              </a:pPr>
              <a:r>
                <a:rPr lang="en-US" sz="5400" b="1">
                  <a:solidFill>
                    <a:srgbClr val="38AA00"/>
                  </a:solidFill>
                  <a:latin typeface="Work Sans Bold"/>
                  <a:ea typeface="Work Sans Bold"/>
                  <a:cs typeface="Work Sans Bold"/>
                  <a:sym typeface="Work Sans Bold"/>
                </a:rPr>
                <a:t>Justificación</a:t>
              </a:r>
            </a:p>
          </p:txBody>
        </p:sp>
      </p:grpSp>
      <p:grpSp>
        <p:nvGrpSpPr>
          <p:cNvPr id="9" name="Group 9"/>
          <p:cNvGrpSpPr/>
          <p:nvPr/>
        </p:nvGrpSpPr>
        <p:grpSpPr>
          <a:xfrm>
            <a:off x="822960" y="2414301"/>
            <a:ext cx="15910646" cy="2372688"/>
            <a:chOff x="0" y="0"/>
            <a:chExt cx="21214194" cy="3163584"/>
          </a:xfrm>
        </p:grpSpPr>
        <p:sp>
          <p:nvSpPr>
            <p:cNvPr id="10" name="Freeform 10"/>
            <p:cNvSpPr/>
            <p:nvPr/>
          </p:nvSpPr>
          <p:spPr>
            <a:xfrm>
              <a:off x="0" y="0"/>
              <a:ext cx="21214200" cy="3163569"/>
            </a:xfrm>
            <a:custGeom>
              <a:avLst/>
              <a:gdLst/>
              <a:ahLst/>
              <a:cxnLst/>
              <a:rect l="l" t="t" r="r" b="b"/>
              <a:pathLst>
                <a:path w="21214200" h="3163569">
                  <a:moveTo>
                    <a:pt x="0" y="0"/>
                  </a:moveTo>
                  <a:lnTo>
                    <a:pt x="21214200" y="0"/>
                  </a:lnTo>
                  <a:lnTo>
                    <a:pt x="21214200" y="3163569"/>
                  </a:lnTo>
                  <a:lnTo>
                    <a:pt x="0" y="3163569"/>
                  </a:lnTo>
                  <a:close/>
                </a:path>
              </a:pathLst>
            </a:custGeom>
            <a:blipFill>
              <a:blip r:embed="rId4">
                <a:alphaModFix amt="0"/>
              </a:blip>
              <a:stretch>
                <a:fillRect t="-111876" b="-49448"/>
              </a:stretch>
            </a:blipFill>
          </p:spPr>
          <p:txBody>
            <a:bodyPr/>
            <a:lstStyle/>
            <a:p>
              <a:endParaRPr lang="es-CO"/>
            </a:p>
          </p:txBody>
        </p:sp>
        <p:sp>
          <p:nvSpPr>
            <p:cNvPr id="11" name="TextBox 11"/>
            <p:cNvSpPr txBox="1"/>
            <p:nvPr/>
          </p:nvSpPr>
          <p:spPr>
            <a:xfrm>
              <a:off x="0" y="-47625"/>
              <a:ext cx="21214194" cy="3211209"/>
            </a:xfrm>
            <a:prstGeom prst="rect">
              <a:avLst/>
            </a:prstGeom>
          </p:spPr>
          <p:txBody>
            <a:bodyPr lIns="0" tIns="0" rIns="0" bIns="0" rtlCol="0" anchor="ctr"/>
            <a:lstStyle/>
            <a:p>
              <a:pPr algn="l">
                <a:lnSpc>
                  <a:spcPts val="2520"/>
                </a:lnSpc>
              </a:pPr>
              <a:r>
                <a:rPr lang="en-US" sz="2100">
                  <a:solidFill>
                    <a:srgbClr val="22292E"/>
                  </a:solidFill>
                  <a:latin typeface="Calibri (MS)"/>
                  <a:ea typeface="Calibri (MS)"/>
                  <a:cs typeface="Calibri (MS)"/>
                  <a:sym typeface="Calibri (MS)"/>
                </a:rPr>
                <a:t>DMI se justifica por la necesidad de modernizar la gestión de talleres automotrices, facilitando el registro de vehículos, la programación de citas y el control de inventario para mejorar la organización y atención al cliente.</a:t>
              </a:r>
            </a:p>
            <a:p>
              <a:pPr algn="l">
                <a:lnSpc>
                  <a:spcPts val="2520"/>
                </a:lnSpc>
              </a:pPr>
              <a:endParaRPr lang="en-US" sz="2100">
                <a:solidFill>
                  <a:srgbClr val="22292E"/>
                </a:solidFill>
                <a:latin typeface="Calibri (MS)"/>
                <a:ea typeface="Calibri (MS)"/>
                <a:cs typeface="Calibri (MS)"/>
                <a:sym typeface="Calibri (MS)"/>
              </a:endParaRPr>
            </a:p>
            <a:p>
              <a:pPr algn="l">
                <a:lnSpc>
                  <a:spcPts val="2520"/>
                </a:lnSpc>
              </a:pPr>
              <a:endParaRPr lang="en-US" sz="2100">
                <a:solidFill>
                  <a:srgbClr val="22292E"/>
                </a:solidFill>
                <a:latin typeface="Calibri (MS)"/>
                <a:ea typeface="Calibri (MS)"/>
                <a:cs typeface="Calibri (MS)"/>
                <a:sym typeface="Calibri (MS)"/>
              </a:endParaRPr>
            </a:p>
            <a:p>
              <a:pPr algn="l">
                <a:lnSpc>
                  <a:spcPts val="2520"/>
                </a:lnSpc>
              </a:pPr>
              <a:endParaRPr lang="en-US" sz="2100">
                <a:solidFill>
                  <a:srgbClr val="22292E"/>
                </a:solidFill>
                <a:latin typeface="Calibri (MS)"/>
                <a:ea typeface="Calibri (MS)"/>
                <a:cs typeface="Calibri (MS)"/>
                <a:sym typeface="Calibri (MS)"/>
              </a:endParaRPr>
            </a:p>
            <a:p>
              <a:pPr algn="l">
                <a:lnSpc>
                  <a:spcPts val="2520"/>
                </a:lnSpc>
              </a:pPr>
              <a:endParaRPr lang="en-US" sz="2100">
                <a:solidFill>
                  <a:srgbClr val="22292E"/>
                </a:solidFill>
                <a:latin typeface="Calibri (MS)"/>
                <a:ea typeface="Calibri (MS)"/>
                <a:cs typeface="Calibri (MS)"/>
                <a:sym typeface="Calibri (MS)"/>
              </a:endParaRPr>
            </a:p>
            <a:p>
              <a:pPr algn="l">
                <a:lnSpc>
                  <a:spcPts val="2520"/>
                </a:lnSpc>
              </a:pPr>
              <a:endParaRPr lang="en-US" sz="2100">
                <a:solidFill>
                  <a:srgbClr val="22292E"/>
                </a:solidFill>
                <a:latin typeface="Calibri (MS)"/>
                <a:ea typeface="Calibri (MS)"/>
                <a:cs typeface="Calibri (MS)"/>
                <a:sym typeface="Calibri (MS)"/>
              </a:endParaRPr>
            </a:p>
          </p:txBody>
        </p:sp>
      </p:grpSp>
      <p:grpSp>
        <p:nvGrpSpPr>
          <p:cNvPr id="12" name="Group 12"/>
          <p:cNvGrpSpPr/>
          <p:nvPr/>
        </p:nvGrpSpPr>
        <p:grpSpPr>
          <a:xfrm>
            <a:off x="822960" y="3634740"/>
            <a:ext cx="5239350" cy="2537546"/>
            <a:chOff x="0" y="0"/>
            <a:chExt cx="6985800" cy="3383394"/>
          </a:xfrm>
        </p:grpSpPr>
        <p:sp>
          <p:nvSpPr>
            <p:cNvPr id="13" name="Freeform 13"/>
            <p:cNvSpPr/>
            <p:nvPr/>
          </p:nvSpPr>
          <p:spPr>
            <a:xfrm>
              <a:off x="0" y="0"/>
              <a:ext cx="6985762" cy="3383407"/>
            </a:xfrm>
            <a:custGeom>
              <a:avLst/>
              <a:gdLst/>
              <a:ahLst/>
              <a:cxnLst/>
              <a:rect l="l" t="t" r="r" b="b"/>
              <a:pathLst>
                <a:path w="6985762" h="3383407">
                  <a:moveTo>
                    <a:pt x="0" y="146304"/>
                  </a:moveTo>
                  <a:cubicBezTo>
                    <a:pt x="0" y="65532"/>
                    <a:pt x="65532" y="0"/>
                    <a:pt x="146304" y="0"/>
                  </a:cubicBezTo>
                  <a:lnTo>
                    <a:pt x="6839458" y="0"/>
                  </a:lnTo>
                  <a:cubicBezTo>
                    <a:pt x="6920230" y="0"/>
                    <a:pt x="6985762" y="65532"/>
                    <a:pt x="6985762" y="146304"/>
                  </a:cubicBezTo>
                  <a:lnTo>
                    <a:pt x="6985762" y="3237103"/>
                  </a:lnTo>
                  <a:cubicBezTo>
                    <a:pt x="6985762" y="3317875"/>
                    <a:pt x="6920230" y="3383407"/>
                    <a:pt x="6839458" y="3383407"/>
                  </a:cubicBezTo>
                  <a:lnTo>
                    <a:pt x="146304" y="3383407"/>
                  </a:lnTo>
                  <a:cubicBezTo>
                    <a:pt x="65532" y="3383407"/>
                    <a:pt x="0" y="3317875"/>
                    <a:pt x="0" y="3237103"/>
                  </a:cubicBezTo>
                  <a:close/>
                </a:path>
              </a:pathLst>
            </a:custGeom>
            <a:solidFill>
              <a:srgbClr val="EDF6E8"/>
            </a:solidFill>
          </p:spPr>
          <p:txBody>
            <a:bodyPr/>
            <a:lstStyle/>
            <a:p>
              <a:endParaRPr lang="es-CO"/>
            </a:p>
          </p:txBody>
        </p:sp>
      </p:grpSp>
      <p:grpSp>
        <p:nvGrpSpPr>
          <p:cNvPr id="14" name="Group 14"/>
          <p:cNvGrpSpPr/>
          <p:nvPr/>
        </p:nvGrpSpPr>
        <p:grpSpPr>
          <a:xfrm>
            <a:off x="3017520" y="3936492"/>
            <a:ext cx="850497" cy="850497"/>
            <a:chOff x="0" y="0"/>
            <a:chExt cx="1133996" cy="1133996"/>
          </a:xfrm>
        </p:grpSpPr>
        <p:sp>
          <p:nvSpPr>
            <p:cNvPr id="15" name="Freeform 15"/>
            <p:cNvSpPr/>
            <p:nvPr/>
          </p:nvSpPr>
          <p:spPr>
            <a:xfrm>
              <a:off x="0" y="0"/>
              <a:ext cx="1133983" cy="1133983"/>
            </a:xfrm>
            <a:custGeom>
              <a:avLst/>
              <a:gdLst/>
              <a:ahLst/>
              <a:cxnLst/>
              <a:rect l="l" t="t" r="r" b="b"/>
              <a:pathLst>
                <a:path w="1133983" h="1133983">
                  <a:moveTo>
                    <a:pt x="0" y="567055"/>
                  </a:moveTo>
                  <a:cubicBezTo>
                    <a:pt x="0" y="253873"/>
                    <a:pt x="253873" y="0"/>
                    <a:pt x="567055" y="0"/>
                  </a:cubicBezTo>
                  <a:cubicBezTo>
                    <a:pt x="880237" y="0"/>
                    <a:pt x="1133983" y="253873"/>
                    <a:pt x="1133983" y="567055"/>
                  </a:cubicBezTo>
                  <a:cubicBezTo>
                    <a:pt x="1133983" y="880237"/>
                    <a:pt x="880110" y="1133983"/>
                    <a:pt x="567055" y="1133983"/>
                  </a:cubicBezTo>
                  <a:cubicBezTo>
                    <a:pt x="254000" y="1133983"/>
                    <a:pt x="0" y="880110"/>
                    <a:pt x="0" y="567055"/>
                  </a:cubicBezTo>
                  <a:close/>
                </a:path>
              </a:pathLst>
            </a:custGeom>
            <a:solidFill>
              <a:srgbClr val="39A900"/>
            </a:solidFill>
          </p:spPr>
          <p:txBody>
            <a:bodyPr/>
            <a:lstStyle/>
            <a:p>
              <a:endParaRPr lang="es-CO"/>
            </a:p>
          </p:txBody>
        </p:sp>
      </p:grpSp>
      <p:grpSp>
        <p:nvGrpSpPr>
          <p:cNvPr id="16" name="Group 16"/>
          <p:cNvGrpSpPr/>
          <p:nvPr/>
        </p:nvGrpSpPr>
        <p:grpSpPr>
          <a:xfrm>
            <a:off x="3238624" y="4157596"/>
            <a:ext cx="408184" cy="408184"/>
            <a:chOff x="0" y="0"/>
            <a:chExt cx="544246" cy="544246"/>
          </a:xfrm>
        </p:grpSpPr>
        <p:sp>
          <p:nvSpPr>
            <p:cNvPr id="17" name="Freeform 17" descr="icons/cogs.png"/>
            <p:cNvSpPr/>
            <p:nvPr/>
          </p:nvSpPr>
          <p:spPr>
            <a:xfrm>
              <a:off x="0" y="0"/>
              <a:ext cx="544195" cy="544195"/>
            </a:xfrm>
            <a:custGeom>
              <a:avLst/>
              <a:gdLst/>
              <a:ahLst/>
              <a:cxnLst/>
              <a:rect l="l" t="t" r="r" b="b"/>
              <a:pathLst>
                <a:path w="544195" h="544195">
                  <a:moveTo>
                    <a:pt x="0" y="0"/>
                  </a:moveTo>
                  <a:lnTo>
                    <a:pt x="544195" y="0"/>
                  </a:lnTo>
                  <a:lnTo>
                    <a:pt x="544195" y="544195"/>
                  </a:lnTo>
                  <a:lnTo>
                    <a:pt x="0" y="544195"/>
                  </a:lnTo>
                  <a:lnTo>
                    <a:pt x="0" y="0"/>
                  </a:lnTo>
                  <a:close/>
                </a:path>
              </a:pathLst>
            </a:custGeom>
            <a:blipFill>
              <a:blip r:embed="rId5"/>
              <a:stretch>
                <a:fillRect r="-9" b="-9"/>
              </a:stretch>
            </a:blipFill>
          </p:spPr>
          <p:txBody>
            <a:bodyPr/>
            <a:lstStyle/>
            <a:p>
              <a:endParaRPr lang="es-CO"/>
            </a:p>
          </p:txBody>
        </p:sp>
      </p:grpSp>
      <p:grpSp>
        <p:nvGrpSpPr>
          <p:cNvPr id="18" name="Group 18"/>
          <p:cNvGrpSpPr/>
          <p:nvPr/>
        </p:nvGrpSpPr>
        <p:grpSpPr>
          <a:xfrm>
            <a:off x="1028700" y="4978908"/>
            <a:ext cx="4828051" cy="480146"/>
            <a:chOff x="0" y="0"/>
            <a:chExt cx="6437401" cy="640194"/>
          </a:xfrm>
        </p:grpSpPr>
        <p:sp>
          <p:nvSpPr>
            <p:cNvPr id="19" name="Freeform 19"/>
            <p:cNvSpPr/>
            <p:nvPr/>
          </p:nvSpPr>
          <p:spPr>
            <a:xfrm>
              <a:off x="0" y="0"/>
              <a:ext cx="6437400" cy="640200"/>
            </a:xfrm>
            <a:custGeom>
              <a:avLst/>
              <a:gdLst/>
              <a:ahLst/>
              <a:cxnLst/>
              <a:rect l="l" t="t" r="r" b="b"/>
              <a:pathLst>
                <a:path w="6437400" h="640200">
                  <a:moveTo>
                    <a:pt x="0" y="0"/>
                  </a:moveTo>
                  <a:lnTo>
                    <a:pt x="6437400" y="0"/>
                  </a:lnTo>
                  <a:lnTo>
                    <a:pt x="6437400" y="640200"/>
                  </a:lnTo>
                  <a:lnTo>
                    <a:pt x="0" y="640200"/>
                  </a:lnTo>
                  <a:close/>
                </a:path>
              </a:pathLst>
            </a:custGeom>
            <a:blipFill>
              <a:blip r:embed="rId4">
                <a:alphaModFix amt="0"/>
              </a:blip>
              <a:stretch>
                <a:fillRect t="-145928" b="-145927"/>
              </a:stretch>
            </a:blipFill>
          </p:spPr>
          <p:txBody>
            <a:bodyPr/>
            <a:lstStyle/>
            <a:p>
              <a:endParaRPr lang="es-CO"/>
            </a:p>
          </p:txBody>
        </p:sp>
        <p:sp>
          <p:nvSpPr>
            <p:cNvPr id="20" name="TextBox 20"/>
            <p:cNvSpPr txBox="1"/>
            <p:nvPr/>
          </p:nvSpPr>
          <p:spPr>
            <a:xfrm>
              <a:off x="0" y="-47625"/>
              <a:ext cx="6437401" cy="687819"/>
            </a:xfrm>
            <a:prstGeom prst="rect">
              <a:avLst/>
            </a:prstGeom>
          </p:spPr>
          <p:txBody>
            <a:bodyPr lIns="0" tIns="0" rIns="0" bIns="0" rtlCol="0" anchor="ctr"/>
            <a:lstStyle/>
            <a:p>
              <a:pPr algn="ctr">
                <a:lnSpc>
                  <a:spcPts val="2340"/>
                </a:lnSpc>
              </a:pPr>
              <a:r>
                <a:rPr lang="en-US" sz="1950" b="1">
                  <a:solidFill>
                    <a:srgbClr val="00304D"/>
                  </a:solidFill>
                  <a:latin typeface="Calibri (MS) Bold"/>
                  <a:ea typeface="Calibri (MS) Bold"/>
                  <a:cs typeface="Calibri (MS) Bold"/>
                  <a:sym typeface="Calibri (MS) Bold"/>
                </a:rPr>
                <a:t>Modernizar la gestión</a:t>
              </a:r>
            </a:p>
          </p:txBody>
        </p:sp>
      </p:grpSp>
      <p:grpSp>
        <p:nvGrpSpPr>
          <p:cNvPr id="21" name="Group 21"/>
          <p:cNvGrpSpPr/>
          <p:nvPr/>
        </p:nvGrpSpPr>
        <p:grpSpPr>
          <a:xfrm>
            <a:off x="1028700" y="5445252"/>
            <a:ext cx="4828051" cy="685800"/>
            <a:chOff x="0" y="0"/>
            <a:chExt cx="6437401" cy="914400"/>
          </a:xfrm>
        </p:grpSpPr>
        <p:sp>
          <p:nvSpPr>
            <p:cNvPr id="22" name="Freeform 22"/>
            <p:cNvSpPr/>
            <p:nvPr/>
          </p:nvSpPr>
          <p:spPr>
            <a:xfrm>
              <a:off x="0" y="0"/>
              <a:ext cx="6437400" cy="914400"/>
            </a:xfrm>
            <a:custGeom>
              <a:avLst/>
              <a:gdLst/>
              <a:ahLst/>
              <a:cxnLst/>
              <a:rect l="l" t="t" r="r" b="b"/>
              <a:pathLst>
                <a:path w="6437400" h="914400">
                  <a:moveTo>
                    <a:pt x="0" y="0"/>
                  </a:moveTo>
                  <a:lnTo>
                    <a:pt x="6437400" y="0"/>
                  </a:lnTo>
                  <a:lnTo>
                    <a:pt x="6437400" y="914400"/>
                  </a:lnTo>
                  <a:lnTo>
                    <a:pt x="0" y="914400"/>
                  </a:lnTo>
                  <a:close/>
                </a:path>
              </a:pathLst>
            </a:custGeom>
            <a:blipFill>
              <a:blip r:embed="rId4">
                <a:alphaModFix amt="0"/>
              </a:blip>
              <a:stretch>
                <a:fillRect t="-87175" b="-87175"/>
              </a:stretch>
            </a:blipFill>
          </p:spPr>
          <p:txBody>
            <a:bodyPr/>
            <a:lstStyle/>
            <a:p>
              <a:endParaRPr lang="es-CO"/>
            </a:p>
          </p:txBody>
        </p:sp>
        <p:sp>
          <p:nvSpPr>
            <p:cNvPr id="23" name="TextBox 23"/>
            <p:cNvSpPr txBox="1"/>
            <p:nvPr/>
          </p:nvSpPr>
          <p:spPr>
            <a:xfrm>
              <a:off x="0" y="-19050"/>
              <a:ext cx="6437401" cy="933450"/>
            </a:xfrm>
            <a:prstGeom prst="rect">
              <a:avLst/>
            </a:prstGeom>
          </p:spPr>
          <p:txBody>
            <a:bodyPr lIns="0" tIns="0" rIns="0" bIns="0" rtlCol="0" anchor="ctr"/>
            <a:lstStyle/>
            <a:p>
              <a:pPr algn="ctr">
                <a:lnSpc>
                  <a:spcPts val="1889"/>
                </a:lnSpc>
              </a:pPr>
              <a:r>
                <a:rPr lang="en-US" sz="1575">
                  <a:solidFill>
                    <a:srgbClr val="5B6670"/>
                  </a:solidFill>
                  <a:latin typeface="Calibri (MS)"/>
                  <a:ea typeface="Calibri (MS)"/>
                  <a:cs typeface="Calibri (MS)"/>
                  <a:sym typeface="Calibri (MS)"/>
                </a:rPr>
                <a:t>Organizar productos, ventas e inventario</a:t>
              </a:r>
            </a:p>
          </p:txBody>
        </p:sp>
      </p:grpSp>
      <p:grpSp>
        <p:nvGrpSpPr>
          <p:cNvPr id="24" name="Group 24"/>
          <p:cNvGrpSpPr/>
          <p:nvPr/>
        </p:nvGrpSpPr>
        <p:grpSpPr>
          <a:xfrm>
            <a:off x="6501384" y="3634740"/>
            <a:ext cx="5239350" cy="2537546"/>
            <a:chOff x="0" y="0"/>
            <a:chExt cx="6985800" cy="3383394"/>
          </a:xfrm>
        </p:grpSpPr>
        <p:sp>
          <p:nvSpPr>
            <p:cNvPr id="25" name="Freeform 25"/>
            <p:cNvSpPr/>
            <p:nvPr/>
          </p:nvSpPr>
          <p:spPr>
            <a:xfrm>
              <a:off x="0" y="0"/>
              <a:ext cx="6985762" cy="3383407"/>
            </a:xfrm>
            <a:custGeom>
              <a:avLst/>
              <a:gdLst/>
              <a:ahLst/>
              <a:cxnLst/>
              <a:rect l="l" t="t" r="r" b="b"/>
              <a:pathLst>
                <a:path w="6985762" h="3383407">
                  <a:moveTo>
                    <a:pt x="0" y="146304"/>
                  </a:moveTo>
                  <a:cubicBezTo>
                    <a:pt x="0" y="65532"/>
                    <a:pt x="65532" y="0"/>
                    <a:pt x="146304" y="0"/>
                  </a:cubicBezTo>
                  <a:lnTo>
                    <a:pt x="6839458" y="0"/>
                  </a:lnTo>
                  <a:cubicBezTo>
                    <a:pt x="6920230" y="0"/>
                    <a:pt x="6985762" y="65532"/>
                    <a:pt x="6985762" y="146304"/>
                  </a:cubicBezTo>
                  <a:lnTo>
                    <a:pt x="6985762" y="3237103"/>
                  </a:lnTo>
                  <a:cubicBezTo>
                    <a:pt x="6985762" y="3317875"/>
                    <a:pt x="6920230" y="3383407"/>
                    <a:pt x="6839458" y="3383407"/>
                  </a:cubicBezTo>
                  <a:lnTo>
                    <a:pt x="146304" y="3383407"/>
                  </a:lnTo>
                  <a:cubicBezTo>
                    <a:pt x="65532" y="3383407"/>
                    <a:pt x="0" y="3317875"/>
                    <a:pt x="0" y="3237103"/>
                  </a:cubicBezTo>
                  <a:close/>
                </a:path>
              </a:pathLst>
            </a:custGeom>
            <a:solidFill>
              <a:srgbClr val="EDF6E8"/>
            </a:solidFill>
          </p:spPr>
          <p:txBody>
            <a:bodyPr/>
            <a:lstStyle/>
            <a:p>
              <a:endParaRPr lang="es-CO"/>
            </a:p>
          </p:txBody>
        </p:sp>
      </p:grpSp>
      <p:grpSp>
        <p:nvGrpSpPr>
          <p:cNvPr id="26" name="Group 26"/>
          <p:cNvGrpSpPr/>
          <p:nvPr/>
        </p:nvGrpSpPr>
        <p:grpSpPr>
          <a:xfrm>
            <a:off x="8695944" y="3936492"/>
            <a:ext cx="850497" cy="850497"/>
            <a:chOff x="0" y="0"/>
            <a:chExt cx="1133996" cy="1133996"/>
          </a:xfrm>
        </p:grpSpPr>
        <p:sp>
          <p:nvSpPr>
            <p:cNvPr id="27" name="Freeform 27"/>
            <p:cNvSpPr/>
            <p:nvPr/>
          </p:nvSpPr>
          <p:spPr>
            <a:xfrm>
              <a:off x="0" y="0"/>
              <a:ext cx="1133983" cy="1133983"/>
            </a:xfrm>
            <a:custGeom>
              <a:avLst/>
              <a:gdLst/>
              <a:ahLst/>
              <a:cxnLst/>
              <a:rect l="l" t="t" r="r" b="b"/>
              <a:pathLst>
                <a:path w="1133983" h="1133983">
                  <a:moveTo>
                    <a:pt x="0" y="567055"/>
                  </a:moveTo>
                  <a:cubicBezTo>
                    <a:pt x="0" y="253873"/>
                    <a:pt x="253873" y="0"/>
                    <a:pt x="567055" y="0"/>
                  </a:cubicBezTo>
                  <a:cubicBezTo>
                    <a:pt x="880237" y="0"/>
                    <a:pt x="1133983" y="253873"/>
                    <a:pt x="1133983" y="567055"/>
                  </a:cubicBezTo>
                  <a:cubicBezTo>
                    <a:pt x="1133983" y="880237"/>
                    <a:pt x="880110" y="1133983"/>
                    <a:pt x="567055" y="1133983"/>
                  </a:cubicBezTo>
                  <a:cubicBezTo>
                    <a:pt x="254000" y="1133983"/>
                    <a:pt x="0" y="880110"/>
                    <a:pt x="0" y="567055"/>
                  </a:cubicBezTo>
                  <a:close/>
                </a:path>
              </a:pathLst>
            </a:custGeom>
            <a:solidFill>
              <a:srgbClr val="39A900"/>
            </a:solidFill>
          </p:spPr>
          <p:txBody>
            <a:bodyPr/>
            <a:lstStyle/>
            <a:p>
              <a:endParaRPr lang="es-CO"/>
            </a:p>
          </p:txBody>
        </p:sp>
      </p:grpSp>
      <p:grpSp>
        <p:nvGrpSpPr>
          <p:cNvPr id="28" name="Group 28"/>
          <p:cNvGrpSpPr/>
          <p:nvPr/>
        </p:nvGrpSpPr>
        <p:grpSpPr>
          <a:xfrm>
            <a:off x="8917048" y="4157596"/>
            <a:ext cx="408184" cy="408184"/>
            <a:chOff x="0" y="0"/>
            <a:chExt cx="544246" cy="544246"/>
          </a:xfrm>
        </p:grpSpPr>
        <p:sp>
          <p:nvSpPr>
            <p:cNvPr id="29" name="Freeform 29" descr="icons/check.png"/>
            <p:cNvSpPr/>
            <p:nvPr/>
          </p:nvSpPr>
          <p:spPr>
            <a:xfrm>
              <a:off x="0" y="0"/>
              <a:ext cx="544195" cy="544195"/>
            </a:xfrm>
            <a:custGeom>
              <a:avLst/>
              <a:gdLst/>
              <a:ahLst/>
              <a:cxnLst/>
              <a:rect l="l" t="t" r="r" b="b"/>
              <a:pathLst>
                <a:path w="544195" h="544195">
                  <a:moveTo>
                    <a:pt x="0" y="0"/>
                  </a:moveTo>
                  <a:lnTo>
                    <a:pt x="544195" y="0"/>
                  </a:lnTo>
                  <a:lnTo>
                    <a:pt x="544195" y="544195"/>
                  </a:lnTo>
                  <a:lnTo>
                    <a:pt x="0" y="544195"/>
                  </a:lnTo>
                  <a:lnTo>
                    <a:pt x="0" y="0"/>
                  </a:lnTo>
                  <a:close/>
                </a:path>
              </a:pathLst>
            </a:custGeom>
            <a:blipFill>
              <a:blip r:embed="rId6"/>
              <a:stretch>
                <a:fillRect r="-9" b="-9"/>
              </a:stretch>
            </a:blipFill>
          </p:spPr>
          <p:txBody>
            <a:bodyPr/>
            <a:lstStyle/>
            <a:p>
              <a:endParaRPr lang="es-CO"/>
            </a:p>
          </p:txBody>
        </p:sp>
      </p:grpSp>
      <p:grpSp>
        <p:nvGrpSpPr>
          <p:cNvPr id="30" name="Group 30"/>
          <p:cNvGrpSpPr/>
          <p:nvPr/>
        </p:nvGrpSpPr>
        <p:grpSpPr>
          <a:xfrm>
            <a:off x="6707124" y="4978908"/>
            <a:ext cx="4828051" cy="480146"/>
            <a:chOff x="0" y="0"/>
            <a:chExt cx="6437401" cy="640194"/>
          </a:xfrm>
        </p:grpSpPr>
        <p:sp>
          <p:nvSpPr>
            <p:cNvPr id="31" name="Freeform 31"/>
            <p:cNvSpPr/>
            <p:nvPr/>
          </p:nvSpPr>
          <p:spPr>
            <a:xfrm>
              <a:off x="0" y="0"/>
              <a:ext cx="6437400" cy="640200"/>
            </a:xfrm>
            <a:custGeom>
              <a:avLst/>
              <a:gdLst/>
              <a:ahLst/>
              <a:cxnLst/>
              <a:rect l="l" t="t" r="r" b="b"/>
              <a:pathLst>
                <a:path w="6437400" h="640200">
                  <a:moveTo>
                    <a:pt x="0" y="0"/>
                  </a:moveTo>
                  <a:lnTo>
                    <a:pt x="6437400" y="0"/>
                  </a:lnTo>
                  <a:lnTo>
                    <a:pt x="6437400" y="640200"/>
                  </a:lnTo>
                  <a:lnTo>
                    <a:pt x="0" y="640200"/>
                  </a:lnTo>
                  <a:close/>
                </a:path>
              </a:pathLst>
            </a:custGeom>
            <a:blipFill>
              <a:blip r:embed="rId4">
                <a:alphaModFix amt="0"/>
              </a:blip>
              <a:stretch>
                <a:fillRect t="-145928" b="-145927"/>
              </a:stretch>
            </a:blipFill>
          </p:spPr>
          <p:txBody>
            <a:bodyPr/>
            <a:lstStyle/>
            <a:p>
              <a:endParaRPr lang="es-CO"/>
            </a:p>
          </p:txBody>
        </p:sp>
        <p:sp>
          <p:nvSpPr>
            <p:cNvPr id="32" name="TextBox 32"/>
            <p:cNvSpPr txBox="1"/>
            <p:nvPr/>
          </p:nvSpPr>
          <p:spPr>
            <a:xfrm>
              <a:off x="0" y="-47625"/>
              <a:ext cx="6437401" cy="687819"/>
            </a:xfrm>
            <a:prstGeom prst="rect">
              <a:avLst/>
            </a:prstGeom>
          </p:spPr>
          <p:txBody>
            <a:bodyPr lIns="0" tIns="0" rIns="0" bIns="0" rtlCol="0" anchor="ctr"/>
            <a:lstStyle/>
            <a:p>
              <a:pPr algn="ctr">
                <a:lnSpc>
                  <a:spcPts val="2340"/>
                </a:lnSpc>
              </a:pPr>
              <a:r>
                <a:rPr lang="en-US" sz="1950" b="1">
                  <a:solidFill>
                    <a:srgbClr val="00304D"/>
                  </a:solidFill>
                  <a:latin typeface="Calibri (MS) Bold"/>
                  <a:ea typeface="Calibri (MS) Bold"/>
                  <a:cs typeface="Calibri (MS) Bold"/>
                  <a:sym typeface="Calibri (MS) Bold"/>
                </a:rPr>
                <a:t>Reducir errores</a:t>
              </a:r>
            </a:p>
          </p:txBody>
        </p:sp>
      </p:grpSp>
      <p:grpSp>
        <p:nvGrpSpPr>
          <p:cNvPr id="33" name="Group 33"/>
          <p:cNvGrpSpPr/>
          <p:nvPr/>
        </p:nvGrpSpPr>
        <p:grpSpPr>
          <a:xfrm>
            <a:off x="6707124" y="5445252"/>
            <a:ext cx="4828051" cy="685800"/>
            <a:chOff x="0" y="0"/>
            <a:chExt cx="6437401" cy="914400"/>
          </a:xfrm>
        </p:grpSpPr>
        <p:sp>
          <p:nvSpPr>
            <p:cNvPr id="34" name="Freeform 34"/>
            <p:cNvSpPr/>
            <p:nvPr/>
          </p:nvSpPr>
          <p:spPr>
            <a:xfrm>
              <a:off x="0" y="0"/>
              <a:ext cx="6437400" cy="914400"/>
            </a:xfrm>
            <a:custGeom>
              <a:avLst/>
              <a:gdLst/>
              <a:ahLst/>
              <a:cxnLst/>
              <a:rect l="l" t="t" r="r" b="b"/>
              <a:pathLst>
                <a:path w="6437400" h="914400">
                  <a:moveTo>
                    <a:pt x="0" y="0"/>
                  </a:moveTo>
                  <a:lnTo>
                    <a:pt x="6437400" y="0"/>
                  </a:lnTo>
                  <a:lnTo>
                    <a:pt x="6437400" y="914400"/>
                  </a:lnTo>
                  <a:lnTo>
                    <a:pt x="0" y="914400"/>
                  </a:lnTo>
                  <a:close/>
                </a:path>
              </a:pathLst>
            </a:custGeom>
            <a:blipFill>
              <a:blip r:embed="rId4">
                <a:alphaModFix amt="0"/>
              </a:blip>
              <a:stretch>
                <a:fillRect t="-87175" b="-87175"/>
              </a:stretch>
            </a:blipFill>
          </p:spPr>
          <p:txBody>
            <a:bodyPr/>
            <a:lstStyle/>
            <a:p>
              <a:endParaRPr lang="es-CO"/>
            </a:p>
          </p:txBody>
        </p:sp>
        <p:sp>
          <p:nvSpPr>
            <p:cNvPr id="35" name="TextBox 35"/>
            <p:cNvSpPr txBox="1"/>
            <p:nvPr/>
          </p:nvSpPr>
          <p:spPr>
            <a:xfrm>
              <a:off x="0" y="-19050"/>
              <a:ext cx="6437401" cy="933450"/>
            </a:xfrm>
            <a:prstGeom prst="rect">
              <a:avLst/>
            </a:prstGeom>
          </p:spPr>
          <p:txBody>
            <a:bodyPr lIns="0" tIns="0" rIns="0" bIns="0" rtlCol="0" anchor="ctr"/>
            <a:lstStyle/>
            <a:p>
              <a:pPr algn="ctr">
                <a:lnSpc>
                  <a:spcPts val="1889"/>
                </a:lnSpc>
              </a:pPr>
              <a:r>
                <a:rPr lang="en-US" sz="1575">
                  <a:solidFill>
                    <a:srgbClr val="5B6670"/>
                  </a:solidFill>
                  <a:latin typeface="Calibri (MS)"/>
                  <a:ea typeface="Calibri (MS)"/>
                  <a:cs typeface="Calibri (MS)"/>
                  <a:sym typeface="Calibri (MS)"/>
                </a:rPr>
                <a:t>Menos fallos por procesos manuales</a:t>
              </a:r>
            </a:p>
          </p:txBody>
        </p:sp>
      </p:grpSp>
      <p:grpSp>
        <p:nvGrpSpPr>
          <p:cNvPr id="36" name="Group 36"/>
          <p:cNvGrpSpPr/>
          <p:nvPr/>
        </p:nvGrpSpPr>
        <p:grpSpPr>
          <a:xfrm>
            <a:off x="12179808" y="3634740"/>
            <a:ext cx="5239350" cy="2537546"/>
            <a:chOff x="0" y="0"/>
            <a:chExt cx="6985800" cy="3383394"/>
          </a:xfrm>
        </p:grpSpPr>
        <p:sp>
          <p:nvSpPr>
            <p:cNvPr id="37" name="Freeform 37"/>
            <p:cNvSpPr/>
            <p:nvPr/>
          </p:nvSpPr>
          <p:spPr>
            <a:xfrm>
              <a:off x="0" y="0"/>
              <a:ext cx="6985762" cy="3383407"/>
            </a:xfrm>
            <a:custGeom>
              <a:avLst/>
              <a:gdLst/>
              <a:ahLst/>
              <a:cxnLst/>
              <a:rect l="l" t="t" r="r" b="b"/>
              <a:pathLst>
                <a:path w="6985762" h="3383407">
                  <a:moveTo>
                    <a:pt x="0" y="146304"/>
                  </a:moveTo>
                  <a:cubicBezTo>
                    <a:pt x="0" y="65532"/>
                    <a:pt x="65532" y="0"/>
                    <a:pt x="146304" y="0"/>
                  </a:cubicBezTo>
                  <a:lnTo>
                    <a:pt x="6839458" y="0"/>
                  </a:lnTo>
                  <a:cubicBezTo>
                    <a:pt x="6920230" y="0"/>
                    <a:pt x="6985762" y="65532"/>
                    <a:pt x="6985762" y="146304"/>
                  </a:cubicBezTo>
                  <a:lnTo>
                    <a:pt x="6985762" y="3237103"/>
                  </a:lnTo>
                  <a:cubicBezTo>
                    <a:pt x="6985762" y="3317875"/>
                    <a:pt x="6920230" y="3383407"/>
                    <a:pt x="6839458" y="3383407"/>
                  </a:cubicBezTo>
                  <a:lnTo>
                    <a:pt x="146304" y="3383407"/>
                  </a:lnTo>
                  <a:cubicBezTo>
                    <a:pt x="65532" y="3383407"/>
                    <a:pt x="0" y="3317875"/>
                    <a:pt x="0" y="3237103"/>
                  </a:cubicBezTo>
                  <a:close/>
                </a:path>
              </a:pathLst>
            </a:custGeom>
            <a:solidFill>
              <a:srgbClr val="EDF6E8"/>
            </a:solidFill>
          </p:spPr>
          <p:txBody>
            <a:bodyPr/>
            <a:lstStyle/>
            <a:p>
              <a:endParaRPr lang="es-CO"/>
            </a:p>
          </p:txBody>
        </p:sp>
      </p:grpSp>
      <p:grpSp>
        <p:nvGrpSpPr>
          <p:cNvPr id="38" name="Group 38"/>
          <p:cNvGrpSpPr/>
          <p:nvPr/>
        </p:nvGrpSpPr>
        <p:grpSpPr>
          <a:xfrm>
            <a:off x="14374368" y="3936492"/>
            <a:ext cx="850497" cy="850497"/>
            <a:chOff x="0" y="0"/>
            <a:chExt cx="1133996" cy="1133996"/>
          </a:xfrm>
        </p:grpSpPr>
        <p:sp>
          <p:nvSpPr>
            <p:cNvPr id="39" name="Freeform 39"/>
            <p:cNvSpPr/>
            <p:nvPr/>
          </p:nvSpPr>
          <p:spPr>
            <a:xfrm>
              <a:off x="0" y="0"/>
              <a:ext cx="1133983" cy="1133983"/>
            </a:xfrm>
            <a:custGeom>
              <a:avLst/>
              <a:gdLst/>
              <a:ahLst/>
              <a:cxnLst/>
              <a:rect l="l" t="t" r="r" b="b"/>
              <a:pathLst>
                <a:path w="1133983" h="1133983">
                  <a:moveTo>
                    <a:pt x="0" y="567055"/>
                  </a:moveTo>
                  <a:cubicBezTo>
                    <a:pt x="0" y="253873"/>
                    <a:pt x="253873" y="0"/>
                    <a:pt x="567055" y="0"/>
                  </a:cubicBezTo>
                  <a:cubicBezTo>
                    <a:pt x="880237" y="0"/>
                    <a:pt x="1133983" y="253873"/>
                    <a:pt x="1133983" y="567055"/>
                  </a:cubicBezTo>
                  <a:cubicBezTo>
                    <a:pt x="1133983" y="880237"/>
                    <a:pt x="880110" y="1133983"/>
                    <a:pt x="567055" y="1133983"/>
                  </a:cubicBezTo>
                  <a:cubicBezTo>
                    <a:pt x="254000" y="1133983"/>
                    <a:pt x="0" y="880110"/>
                    <a:pt x="0" y="567055"/>
                  </a:cubicBezTo>
                  <a:close/>
                </a:path>
              </a:pathLst>
            </a:custGeom>
            <a:solidFill>
              <a:srgbClr val="39A900"/>
            </a:solidFill>
          </p:spPr>
          <p:txBody>
            <a:bodyPr/>
            <a:lstStyle/>
            <a:p>
              <a:endParaRPr lang="es-CO"/>
            </a:p>
          </p:txBody>
        </p:sp>
      </p:grpSp>
      <p:grpSp>
        <p:nvGrpSpPr>
          <p:cNvPr id="40" name="Group 40"/>
          <p:cNvGrpSpPr/>
          <p:nvPr/>
        </p:nvGrpSpPr>
        <p:grpSpPr>
          <a:xfrm>
            <a:off x="14595472" y="4157596"/>
            <a:ext cx="408184" cy="408184"/>
            <a:chOff x="0" y="0"/>
            <a:chExt cx="544246" cy="544246"/>
          </a:xfrm>
        </p:grpSpPr>
        <p:sp>
          <p:nvSpPr>
            <p:cNvPr id="41" name="Freeform 41" descr="icons/mobile.png"/>
            <p:cNvSpPr/>
            <p:nvPr/>
          </p:nvSpPr>
          <p:spPr>
            <a:xfrm>
              <a:off x="0" y="0"/>
              <a:ext cx="544195" cy="544195"/>
            </a:xfrm>
            <a:custGeom>
              <a:avLst/>
              <a:gdLst/>
              <a:ahLst/>
              <a:cxnLst/>
              <a:rect l="l" t="t" r="r" b="b"/>
              <a:pathLst>
                <a:path w="544195" h="544195">
                  <a:moveTo>
                    <a:pt x="0" y="0"/>
                  </a:moveTo>
                  <a:lnTo>
                    <a:pt x="544195" y="0"/>
                  </a:lnTo>
                  <a:lnTo>
                    <a:pt x="544195" y="544195"/>
                  </a:lnTo>
                  <a:lnTo>
                    <a:pt x="0" y="544195"/>
                  </a:lnTo>
                  <a:lnTo>
                    <a:pt x="0" y="0"/>
                  </a:lnTo>
                  <a:close/>
                </a:path>
              </a:pathLst>
            </a:custGeom>
            <a:blipFill>
              <a:blip r:embed="rId7"/>
              <a:stretch>
                <a:fillRect r="-9" b="-9"/>
              </a:stretch>
            </a:blipFill>
          </p:spPr>
          <p:txBody>
            <a:bodyPr/>
            <a:lstStyle/>
            <a:p>
              <a:endParaRPr lang="es-CO"/>
            </a:p>
          </p:txBody>
        </p:sp>
      </p:grpSp>
      <p:grpSp>
        <p:nvGrpSpPr>
          <p:cNvPr id="42" name="Group 42"/>
          <p:cNvGrpSpPr/>
          <p:nvPr/>
        </p:nvGrpSpPr>
        <p:grpSpPr>
          <a:xfrm>
            <a:off x="12385548" y="4978908"/>
            <a:ext cx="4828051" cy="480146"/>
            <a:chOff x="0" y="0"/>
            <a:chExt cx="6437401" cy="640194"/>
          </a:xfrm>
        </p:grpSpPr>
        <p:sp>
          <p:nvSpPr>
            <p:cNvPr id="43" name="Freeform 43"/>
            <p:cNvSpPr/>
            <p:nvPr/>
          </p:nvSpPr>
          <p:spPr>
            <a:xfrm>
              <a:off x="0" y="0"/>
              <a:ext cx="6437400" cy="640200"/>
            </a:xfrm>
            <a:custGeom>
              <a:avLst/>
              <a:gdLst/>
              <a:ahLst/>
              <a:cxnLst/>
              <a:rect l="l" t="t" r="r" b="b"/>
              <a:pathLst>
                <a:path w="6437400" h="640200">
                  <a:moveTo>
                    <a:pt x="0" y="0"/>
                  </a:moveTo>
                  <a:lnTo>
                    <a:pt x="6437400" y="0"/>
                  </a:lnTo>
                  <a:lnTo>
                    <a:pt x="6437400" y="640200"/>
                  </a:lnTo>
                  <a:lnTo>
                    <a:pt x="0" y="640200"/>
                  </a:lnTo>
                  <a:close/>
                </a:path>
              </a:pathLst>
            </a:custGeom>
            <a:blipFill>
              <a:blip r:embed="rId4">
                <a:alphaModFix amt="0"/>
              </a:blip>
              <a:stretch>
                <a:fillRect t="-145928" b="-145927"/>
              </a:stretch>
            </a:blipFill>
          </p:spPr>
          <p:txBody>
            <a:bodyPr/>
            <a:lstStyle/>
            <a:p>
              <a:endParaRPr lang="es-CO"/>
            </a:p>
          </p:txBody>
        </p:sp>
        <p:sp>
          <p:nvSpPr>
            <p:cNvPr id="44" name="TextBox 44"/>
            <p:cNvSpPr txBox="1"/>
            <p:nvPr/>
          </p:nvSpPr>
          <p:spPr>
            <a:xfrm>
              <a:off x="0" y="-47625"/>
              <a:ext cx="6437401" cy="687819"/>
            </a:xfrm>
            <a:prstGeom prst="rect">
              <a:avLst/>
            </a:prstGeom>
          </p:spPr>
          <p:txBody>
            <a:bodyPr lIns="0" tIns="0" rIns="0" bIns="0" rtlCol="0" anchor="ctr"/>
            <a:lstStyle/>
            <a:p>
              <a:pPr algn="ctr">
                <a:lnSpc>
                  <a:spcPts val="2340"/>
                </a:lnSpc>
              </a:pPr>
              <a:r>
                <a:rPr lang="en-US" sz="1950" b="1">
                  <a:solidFill>
                    <a:srgbClr val="00304D"/>
                  </a:solidFill>
                  <a:latin typeface="Calibri (MS) Bold"/>
                  <a:ea typeface="Calibri (MS) Bold"/>
                  <a:cs typeface="Calibri (MS) Bold"/>
                  <a:sym typeface="Calibri (MS) Bold"/>
                </a:rPr>
                <a:t>Compra digital</a:t>
              </a:r>
            </a:p>
          </p:txBody>
        </p:sp>
      </p:grpSp>
      <p:grpSp>
        <p:nvGrpSpPr>
          <p:cNvPr id="45" name="Group 45"/>
          <p:cNvGrpSpPr/>
          <p:nvPr/>
        </p:nvGrpSpPr>
        <p:grpSpPr>
          <a:xfrm>
            <a:off x="12385548" y="5445252"/>
            <a:ext cx="4828051" cy="685800"/>
            <a:chOff x="0" y="0"/>
            <a:chExt cx="6437401" cy="914400"/>
          </a:xfrm>
        </p:grpSpPr>
        <p:sp>
          <p:nvSpPr>
            <p:cNvPr id="46" name="Freeform 46"/>
            <p:cNvSpPr/>
            <p:nvPr/>
          </p:nvSpPr>
          <p:spPr>
            <a:xfrm>
              <a:off x="0" y="0"/>
              <a:ext cx="6437400" cy="914400"/>
            </a:xfrm>
            <a:custGeom>
              <a:avLst/>
              <a:gdLst/>
              <a:ahLst/>
              <a:cxnLst/>
              <a:rect l="l" t="t" r="r" b="b"/>
              <a:pathLst>
                <a:path w="6437400" h="914400">
                  <a:moveTo>
                    <a:pt x="0" y="0"/>
                  </a:moveTo>
                  <a:lnTo>
                    <a:pt x="6437400" y="0"/>
                  </a:lnTo>
                  <a:lnTo>
                    <a:pt x="6437400" y="914400"/>
                  </a:lnTo>
                  <a:lnTo>
                    <a:pt x="0" y="914400"/>
                  </a:lnTo>
                  <a:close/>
                </a:path>
              </a:pathLst>
            </a:custGeom>
            <a:blipFill>
              <a:blip r:embed="rId4">
                <a:alphaModFix amt="0"/>
              </a:blip>
              <a:stretch>
                <a:fillRect t="-87175" b="-87175"/>
              </a:stretch>
            </a:blipFill>
          </p:spPr>
          <p:txBody>
            <a:bodyPr/>
            <a:lstStyle/>
            <a:p>
              <a:endParaRPr lang="es-CO"/>
            </a:p>
          </p:txBody>
        </p:sp>
        <p:sp>
          <p:nvSpPr>
            <p:cNvPr id="47" name="TextBox 47"/>
            <p:cNvSpPr txBox="1"/>
            <p:nvPr/>
          </p:nvSpPr>
          <p:spPr>
            <a:xfrm>
              <a:off x="0" y="-19050"/>
              <a:ext cx="6437401" cy="933450"/>
            </a:xfrm>
            <a:prstGeom prst="rect">
              <a:avLst/>
            </a:prstGeom>
          </p:spPr>
          <p:txBody>
            <a:bodyPr lIns="0" tIns="0" rIns="0" bIns="0" rtlCol="0" anchor="ctr"/>
            <a:lstStyle/>
            <a:p>
              <a:pPr algn="ctr">
                <a:lnSpc>
                  <a:spcPts val="1889"/>
                </a:lnSpc>
              </a:pPr>
              <a:r>
                <a:rPr lang="en-US" sz="1575">
                  <a:solidFill>
                    <a:srgbClr val="5B6670"/>
                  </a:solidFill>
                  <a:latin typeface="Calibri (MS)"/>
                  <a:ea typeface="Calibri (MS)"/>
                  <a:cs typeface="Calibri (MS)"/>
                  <a:sym typeface="Calibri (MS)"/>
                </a:rPr>
                <a:t>Acceso desde cualquier dispositivo</a:t>
              </a:r>
            </a:p>
          </p:txBody>
        </p:sp>
      </p:grpSp>
      <p:grpSp>
        <p:nvGrpSpPr>
          <p:cNvPr id="48" name="Group 48"/>
          <p:cNvGrpSpPr/>
          <p:nvPr/>
        </p:nvGrpSpPr>
        <p:grpSpPr>
          <a:xfrm>
            <a:off x="822960" y="6556248"/>
            <a:ext cx="5239350" cy="2537546"/>
            <a:chOff x="0" y="0"/>
            <a:chExt cx="6985800" cy="3383394"/>
          </a:xfrm>
        </p:grpSpPr>
        <p:sp>
          <p:nvSpPr>
            <p:cNvPr id="49" name="Freeform 49"/>
            <p:cNvSpPr/>
            <p:nvPr/>
          </p:nvSpPr>
          <p:spPr>
            <a:xfrm>
              <a:off x="0" y="0"/>
              <a:ext cx="6985762" cy="3383407"/>
            </a:xfrm>
            <a:custGeom>
              <a:avLst/>
              <a:gdLst/>
              <a:ahLst/>
              <a:cxnLst/>
              <a:rect l="l" t="t" r="r" b="b"/>
              <a:pathLst>
                <a:path w="6985762" h="3383407">
                  <a:moveTo>
                    <a:pt x="0" y="146304"/>
                  </a:moveTo>
                  <a:cubicBezTo>
                    <a:pt x="0" y="65532"/>
                    <a:pt x="65532" y="0"/>
                    <a:pt x="146304" y="0"/>
                  </a:cubicBezTo>
                  <a:lnTo>
                    <a:pt x="6839458" y="0"/>
                  </a:lnTo>
                  <a:cubicBezTo>
                    <a:pt x="6920230" y="0"/>
                    <a:pt x="6985762" y="65532"/>
                    <a:pt x="6985762" y="146304"/>
                  </a:cubicBezTo>
                  <a:lnTo>
                    <a:pt x="6985762" y="3237103"/>
                  </a:lnTo>
                  <a:cubicBezTo>
                    <a:pt x="6985762" y="3317875"/>
                    <a:pt x="6920230" y="3383407"/>
                    <a:pt x="6839458" y="3383407"/>
                  </a:cubicBezTo>
                  <a:lnTo>
                    <a:pt x="146304" y="3383407"/>
                  </a:lnTo>
                  <a:cubicBezTo>
                    <a:pt x="65532" y="3383407"/>
                    <a:pt x="0" y="3317875"/>
                    <a:pt x="0" y="3237103"/>
                  </a:cubicBezTo>
                  <a:close/>
                </a:path>
              </a:pathLst>
            </a:custGeom>
            <a:solidFill>
              <a:srgbClr val="EDF6E8"/>
            </a:solidFill>
          </p:spPr>
          <p:txBody>
            <a:bodyPr/>
            <a:lstStyle/>
            <a:p>
              <a:endParaRPr lang="es-CO"/>
            </a:p>
          </p:txBody>
        </p:sp>
      </p:grpSp>
      <p:grpSp>
        <p:nvGrpSpPr>
          <p:cNvPr id="50" name="Group 50"/>
          <p:cNvGrpSpPr/>
          <p:nvPr/>
        </p:nvGrpSpPr>
        <p:grpSpPr>
          <a:xfrm>
            <a:off x="3017520" y="6858000"/>
            <a:ext cx="850497" cy="850497"/>
            <a:chOff x="0" y="0"/>
            <a:chExt cx="1133996" cy="1133996"/>
          </a:xfrm>
        </p:grpSpPr>
        <p:sp>
          <p:nvSpPr>
            <p:cNvPr id="51" name="Freeform 51"/>
            <p:cNvSpPr/>
            <p:nvPr/>
          </p:nvSpPr>
          <p:spPr>
            <a:xfrm>
              <a:off x="0" y="0"/>
              <a:ext cx="1133983" cy="1133983"/>
            </a:xfrm>
            <a:custGeom>
              <a:avLst/>
              <a:gdLst/>
              <a:ahLst/>
              <a:cxnLst/>
              <a:rect l="l" t="t" r="r" b="b"/>
              <a:pathLst>
                <a:path w="1133983" h="1133983">
                  <a:moveTo>
                    <a:pt x="0" y="567055"/>
                  </a:moveTo>
                  <a:cubicBezTo>
                    <a:pt x="0" y="253873"/>
                    <a:pt x="253873" y="0"/>
                    <a:pt x="567055" y="0"/>
                  </a:cubicBezTo>
                  <a:cubicBezTo>
                    <a:pt x="880237" y="0"/>
                    <a:pt x="1133983" y="253873"/>
                    <a:pt x="1133983" y="567055"/>
                  </a:cubicBezTo>
                  <a:cubicBezTo>
                    <a:pt x="1133983" y="880237"/>
                    <a:pt x="880110" y="1133983"/>
                    <a:pt x="567055" y="1133983"/>
                  </a:cubicBezTo>
                  <a:cubicBezTo>
                    <a:pt x="254000" y="1133983"/>
                    <a:pt x="0" y="880110"/>
                    <a:pt x="0" y="567055"/>
                  </a:cubicBezTo>
                  <a:close/>
                </a:path>
              </a:pathLst>
            </a:custGeom>
            <a:solidFill>
              <a:srgbClr val="39A900"/>
            </a:solidFill>
          </p:spPr>
          <p:txBody>
            <a:bodyPr/>
            <a:lstStyle/>
            <a:p>
              <a:endParaRPr lang="es-CO"/>
            </a:p>
          </p:txBody>
        </p:sp>
      </p:grpSp>
      <p:grpSp>
        <p:nvGrpSpPr>
          <p:cNvPr id="52" name="Group 52"/>
          <p:cNvGrpSpPr/>
          <p:nvPr/>
        </p:nvGrpSpPr>
        <p:grpSpPr>
          <a:xfrm>
            <a:off x="3238624" y="7079104"/>
            <a:ext cx="408184" cy="408184"/>
            <a:chOff x="0" y="0"/>
            <a:chExt cx="544246" cy="544246"/>
          </a:xfrm>
        </p:grpSpPr>
        <p:sp>
          <p:nvSpPr>
            <p:cNvPr id="53" name="Freeform 53" descr="icons/leaf.png"/>
            <p:cNvSpPr/>
            <p:nvPr/>
          </p:nvSpPr>
          <p:spPr>
            <a:xfrm>
              <a:off x="0" y="0"/>
              <a:ext cx="544195" cy="544195"/>
            </a:xfrm>
            <a:custGeom>
              <a:avLst/>
              <a:gdLst/>
              <a:ahLst/>
              <a:cxnLst/>
              <a:rect l="l" t="t" r="r" b="b"/>
              <a:pathLst>
                <a:path w="544195" h="544195">
                  <a:moveTo>
                    <a:pt x="0" y="0"/>
                  </a:moveTo>
                  <a:lnTo>
                    <a:pt x="544195" y="0"/>
                  </a:lnTo>
                  <a:lnTo>
                    <a:pt x="544195" y="544195"/>
                  </a:lnTo>
                  <a:lnTo>
                    <a:pt x="0" y="544195"/>
                  </a:lnTo>
                  <a:lnTo>
                    <a:pt x="0" y="0"/>
                  </a:lnTo>
                  <a:close/>
                </a:path>
              </a:pathLst>
            </a:custGeom>
            <a:blipFill>
              <a:blip r:embed="rId8"/>
              <a:stretch>
                <a:fillRect r="-9" b="-9"/>
              </a:stretch>
            </a:blipFill>
          </p:spPr>
          <p:txBody>
            <a:bodyPr/>
            <a:lstStyle/>
            <a:p>
              <a:endParaRPr lang="es-CO"/>
            </a:p>
          </p:txBody>
        </p:sp>
      </p:grpSp>
      <p:grpSp>
        <p:nvGrpSpPr>
          <p:cNvPr id="54" name="Group 54"/>
          <p:cNvGrpSpPr/>
          <p:nvPr/>
        </p:nvGrpSpPr>
        <p:grpSpPr>
          <a:xfrm>
            <a:off x="1028700" y="7900416"/>
            <a:ext cx="4828051" cy="480146"/>
            <a:chOff x="0" y="0"/>
            <a:chExt cx="6437401" cy="640194"/>
          </a:xfrm>
        </p:grpSpPr>
        <p:sp>
          <p:nvSpPr>
            <p:cNvPr id="55" name="Freeform 55"/>
            <p:cNvSpPr/>
            <p:nvPr/>
          </p:nvSpPr>
          <p:spPr>
            <a:xfrm>
              <a:off x="0" y="0"/>
              <a:ext cx="6437400" cy="640200"/>
            </a:xfrm>
            <a:custGeom>
              <a:avLst/>
              <a:gdLst/>
              <a:ahLst/>
              <a:cxnLst/>
              <a:rect l="l" t="t" r="r" b="b"/>
              <a:pathLst>
                <a:path w="6437400" h="640200">
                  <a:moveTo>
                    <a:pt x="0" y="0"/>
                  </a:moveTo>
                  <a:lnTo>
                    <a:pt x="6437400" y="0"/>
                  </a:lnTo>
                  <a:lnTo>
                    <a:pt x="6437400" y="640200"/>
                  </a:lnTo>
                  <a:lnTo>
                    <a:pt x="0" y="640200"/>
                  </a:lnTo>
                  <a:close/>
                </a:path>
              </a:pathLst>
            </a:custGeom>
            <a:blipFill>
              <a:blip r:embed="rId4">
                <a:alphaModFix amt="0"/>
              </a:blip>
              <a:stretch>
                <a:fillRect t="-145928" b="-145927"/>
              </a:stretch>
            </a:blipFill>
          </p:spPr>
          <p:txBody>
            <a:bodyPr/>
            <a:lstStyle/>
            <a:p>
              <a:endParaRPr lang="es-CO"/>
            </a:p>
          </p:txBody>
        </p:sp>
        <p:sp>
          <p:nvSpPr>
            <p:cNvPr id="56" name="TextBox 56"/>
            <p:cNvSpPr txBox="1"/>
            <p:nvPr/>
          </p:nvSpPr>
          <p:spPr>
            <a:xfrm>
              <a:off x="0" y="-47625"/>
              <a:ext cx="6437401" cy="687819"/>
            </a:xfrm>
            <a:prstGeom prst="rect">
              <a:avLst/>
            </a:prstGeom>
          </p:spPr>
          <p:txBody>
            <a:bodyPr lIns="0" tIns="0" rIns="0" bIns="0" rtlCol="0" anchor="ctr"/>
            <a:lstStyle/>
            <a:p>
              <a:pPr algn="ctr">
                <a:lnSpc>
                  <a:spcPts val="2340"/>
                </a:lnSpc>
              </a:pPr>
              <a:r>
                <a:rPr lang="en-US" sz="1950" b="1">
                  <a:solidFill>
                    <a:srgbClr val="00304D"/>
                  </a:solidFill>
                  <a:latin typeface="Calibri (MS) Bold"/>
                  <a:ea typeface="Calibri (MS) Bold"/>
                  <a:cs typeface="Calibri (MS) Bold"/>
                  <a:sym typeface="Calibri (MS) Bold"/>
                </a:rPr>
                <a:t>Cuidado ambiental</a:t>
              </a:r>
            </a:p>
          </p:txBody>
        </p:sp>
      </p:grpSp>
      <p:grpSp>
        <p:nvGrpSpPr>
          <p:cNvPr id="57" name="Group 57"/>
          <p:cNvGrpSpPr/>
          <p:nvPr/>
        </p:nvGrpSpPr>
        <p:grpSpPr>
          <a:xfrm>
            <a:off x="1028700" y="8366760"/>
            <a:ext cx="4828051" cy="685800"/>
            <a:chOff x="0" y="0"/>
            <a:chExt cx="6437401" cy="914400"/>
          </a:xfrm>
        </p:grpSpPr>
        <p:sp>
          <p:nvSpPr>
            <p:cNvPr id="58" name="Freeform 58"/>
            <p:cNvSpPr/>
            <p:nvPr/>
          </p:nvSpPr>
          <p:spPr>
            <a:xfrm>
              <a:off x="0" y="0"/>
              <a:ext cx="6437400" cy="914400"/>
            </a:xfrm>
            <a:custGeom>
              <a:avLst/>
              <a:gdLst/>
              <a:ahLst/>
              <a:cxnLst/>
              <a:rect l="l" t="t" r="r" b="b"/>
              <a:pathLst>
                <a:path w="6437400" h="914400">
                  <a:moveTo>
                    <a:pt x="0" y="0"/>
                  </a:moveTo>
                  <a:lnTo>
                    <a:pt x="6437400" y="0"/>
                  </a:lnTo>
                  <a:lnTo>
                    <a:pt x="6437400" y="914400"/>
                  </a:lnTo>
                  <a:lnTo>
                    <a:pt x="0" y="914400"/>
                  </a:lnTo>
                  <a:close/>
                </a:path>
              </a:pathLst>
            </a:custGeom>
            <a:blipFill>
              <a:blip r:embed="rId4">
                <a:alphaModFix amt="0"/>
              </a:blip>
              <a:stretch>
                <a:fillRect t="-87175" b="-87175"/>
              </a:stretch>
            </a:blipFill>
          </p:spPr>
          <p:txBody>
            <a:bodyPr/>
            <a:lstStyle/>
            <a:p>
              <a:endParaRPr lang="es-CO"/>
            </a:p>
          </p:txBody>
        </p:sp>
        <p:sp>
          <p:nvSpPr>
            <p:cNvPr id="59" name="TextBox 59"/>
            <p:cNvSpPr txBox="1"/>
            <p:nvPr/>
          </p:nvSpPr>
          <p:spPr>
            <a:xfrm>
              <a:off x="0" y="-19050"/>
              <a:ext cx="6437401" cy="933450"/>
            </a:xfrm>
            <a:prstGeom prst="rect">
              <a:avLst/>
            </a:prstGeom>
          </p:spPr>
          <p:txBody>
            <a:bodyPr lIns="0" tIns="0" rIns="0" bIns="0" rtlCol="0" anchor="ctr"/>
            <a:lstStyle/>
            <a:p>
              <a:pPr algn="ctr">
                <a:lnSpc>
                  <a:spcPts val="1889"/>
                </a:lnSpc>
              </a:pPr>
              <a:r>
                <a:rPr lang="en-US" sz="1575">
                  <a:solidFill>
                    <a:srgbClr val="5B6670"/>
                  </a:solidFill>
                  <a:latin typeface="Calibri (MS)"/>
                  <a:ea typeface="Calibri (MS)"/>
                  <a:cs typeface="Calibri (MS)"/>
                  <a:sym typeface="Calibri (MS)"/>
                </a:rPr>
                <a:t>Fomenta la reduccion del uso del papel</a:t>
              </a:r>
            </a:p>
          </p:txBody>
        </p:sp>
      </p:grpSp>
      <p:grpSp>
        <p:nvGrpSpPr>
          <p:cNvPr id="60" name="Group 60"/>
          <p:cNvGrpSpPr/>
          <p:nvPr/>
        </p:nvGrpSpPr>
        <p:grpSpPr>
          <a:xfrm>
            <a:off x="6501384" y="6556248"/>
            <a:ext cx="5239350" cy="2537546"/>
            <a:chOff x="0" y="0"/>
            <a:chExt cx="6985800" cy="3383394"/>
          </a:xfrm>
        </p:grpSpPr>
        <p:sp>
          <p:nvSpPr>
            <p:cNvPr id="61" name="Freeform 61"/>
            <p:cNvSpPr/>
            <p:nvPr/>
          </p:nvSpPr>
          <p:spPr>
            <a:xfrm>
              <a:off x="0" y="0"/>
              <a:ext cx="6985762" cy="3383407"/>
            </a:xfrm>
            <a:custGeom>
              <a:avLst/>
              <a:gdLst/>
              <a:ahLst/>
              <a:cxnLst/>
              <a:rect l="l" t="t" r="r" b="b"/>
              <a:pathLst>
                <a:path w="6985762" h="3383407">
                  <a:moveTo>
                    <a:pt x="0" y="146304"/>
                  </a:moveTo>
                  <a:cubicBezTo>
                    <a:pt x="0" y="65532"/>
                    <a:pt x="65532" y="0"/>
                    <a:pt x="146304" y="0"/>
                  </a:cubicBezTo>
                  <a:lnTo>
                    <a:pt x="6839458" y="0"/>
                  </a:lnTo>
                  <a:cubicBezTo>
                    <a:pt x="6920230" y="0"/>
                    <a:pt x="6985762" y="65532"/>
                    <a:pt x="6985762" y="146304"/>
                  </a:cubicBezTo>
                  <a:lnTo>
                    <a:pt x="6985762" y="3237103"/>
                  </a:lnTo>
                  <a:cubicBezTo>
                    <a:pt x="6985762" y="3317875"/>
                    <a:pt x="6920230" y="3383407"/>
                    <a:pt x="6839458" y="3383407"/>
                  </a:cubicBezTo>
                  <a:lnTo>
                    <a:pt x="146304" y="3383407"/>
                  </a:lnTo>
                  <a:cubicBezTo>
                    <a:pt x="65532" y="3383407"/>
                    <a:pt x="0" y="3317875"/>
                    <a:pt x="0" y="3237103"/>
                  </a:cubicBezTo>
                  <a:close/>
                </a:path>
              </a:pathLst>
            </a:custGeom>
            <a:solidFill>
              <a:srgbClr val="EDF6E8"/>
            </a:solidFill>
          </p:spPr>
          <p:txBody>
            <a:bodyPr/>
            <a:lstStyle/>
            <a:p>
              <a:endParaRPr lang="es-CO"/>
            </a:p>
          </p:txBody>
        </p:sp>
      </p:grpSp>
      <p:grpSp>
        <p:nvGrpSpPr>
          <p:cNvPr id="62" name="Group 62"/>
          <p:cNvGrpSpPr/>
          <p:nvPr/>
        </p:nvGrpSpPr>
        <p:grpSpPr>
          <a:xfrm>
            <a:off x="8695944" y="6858000"/>
            <a:ext cx="850497" cy="850497"/>
            <a:chOff x="0" y="0"/>
            <a:chExt cx="1133996" cy="1133996"/>
          </a:xfrm>
        </p:grpSpPr>
        <p:sp>
          <p:nvSpPr>
            <p:cNvPr id="63" name="Freeform 63"/>
            <p:cNvSpPr/>
            <p:nvPr/>
          </p:nvSpPr>
          <p:spPr>
            <a:xfrm>
              <a:off x="0" y="0"/>
              <a:ext cx="1133983" cy="1133983"/>
            </a:xfrm>
            <a:custGeom>
              <a:avLst/>
              <a:gdLst/>
              <a:ahLst/>
              <a:cxnLst/>
              <a:rect l="l" t="t" r="r" b="b"/>
              <a:pathLst>
                <a:path w="1133983" h="1133983">
                  <a:moveTo>
                    <a:pt x="0" y="567055"/>
                  </a:moveTo>
                  <a:cubicBezTo>
                    <a:pt x="0" y="253873"/>
                    <a:pt x="253873" y="0"/>
                    <a:pt x="567055" y="0"/>
                  </a:cubicBezTo>
                  <a:cubicBezTo>
                    <a:pt x="880237" y="0"/>
                    <a:pt x="1133983" y="253873"/>
                    <a:pt x="1133983" y="567055"/>
                  </a:cubicBezTo>
                  <a:cubicBezTo>
                    <a:pt x="1133983" y="880237"/>
                    <a:pt x="880110" y="1133983"/>
                    <a:pt x="567055" y="1133983"/>
                  </a:cubicBezTo>
                  <a:cubicBezTo>
                    <a:pt x="254000" y="1133983"/>
                    <a:pt x="0" y="880110"/>
                    <a:pt x="0" y="567055"/>
                  </a:cubicBezTo>
                  <a:close/>
                </a:path>
              </a:pathLst>
            </a:custGeom>
            <a:solidFill>
              <a:srgbClr val="39A900"/>
            </a:solidFill>
          </p:spPr>
          <p:txBody>
            <a:bodyPr/>
            <a:lstStyle/>
            <a:p>
              <a:endParaRPr lang="es-CO"/>
            </a:p>
          </p:txBody>
        </p:sp>
      </p:grpSp>
      <p:grpSp>
        <p:nvGrpSpPr>
          <p:cNvPr id="64" name="Group 64"/>
          <p:cNvGrpSpPr/>
          <p:nvPr/>
        </p:nvGrpSpPr>
        <p:grpSpPr>
          <a:xfrm>
            <a:off x="8917048" y="7079104"/>
            <a:ext cx="408184" cy="408184"/>
            <a:chOff x="0" y="0"/>
            <a:chExt cx="544246" cy="544246"/>
          </a:xfrm>
        </p:grpSpPr>
        <p:sp>
          <p:nvSpPr>
            <p:cNvPr id="65" name="Freeform 65" descr="icons/chart.png"/>
            <p:cNvSpPr/>
            <p:nvPr/>
          </p:nvSpPr>
          <p:spPr>
            <a:xfrm>
              <a:off x="0" y="0"/>
              <a:ext cx="544195" cy="544195"/>
            </a:xfrm>
            <a:custGeom>
              <a:avLst/>
              <a:gdLst/>
              <a:ahLst/>
              <a:cxnLst/>
              <a:rect l="l" t="t" r="r" b="b"/>
              <a:pathLst>
                <a:path w="544195" h="544195">
                  <a:moveTo>
                    <a:pt x="0" y="0"/>
                  </a:moveTo>
                  <a:lnTo>
                    <a:pt x="544195" y="0"/>
                  </a:lnTo>
                  <a:lnTo>
                    <a:pt x="544195" y="544195"/>
                  </a:lnTo>
                  <a:lnTo>
                    <a:pt x="0" y="544195"/>
                  </a:lnTo>
                  <a:lnTo>
                    <a:pt x="0" y="0"/>
                  </a:lnTo>
                  <a:close/>
                </a:path>
              </a:pathLst>
            </a:custGeom>
            <a:blipFill>
              <a:blip r:embed="rId9"/>
              <a:stretch>
                <a:fillRect r="-9" b="-9"/>
              </a:stretch>
            </a:blipFill>
          </p:spPr>
          <p:txBody>
            <a:bodyPr/>
            <a:lstStyle/>
            <a:p>
              <a:endParaRPr lang="es-CO"/>
            </a:p>
          </p:txBody>
        </p:sp>
      </p:grpSp>
      <p:grpSp>
        <p:nvGrpSpPr>
          <p:cNvPr id="66" name="Group 66"/>
          <p:cNvGrpSpPr/>
          <p:nvPr/>
        </p:nvGrpSpPr>
        <p:grpSpPr>
          <a:xfrm>
            <a:off x="6707124" y="7900416"/>
            <a:ext cx="4828051" cy="480146"/>
            <a:chOff x="0" y="0"/>
            <a:chExt cx="6437401" cy="640194"/>
          </a:xfrm>
        </p:grpSpPr>
        <p:sp>
          <p:nvSpPr>
            <p:cNvPr id="67" name="Freeform 67"/>
            <p:cNvSpPr/>
            <p:nvPr/>
          </p:nvSpPr>
          <p:spPr>
            <a:xfrm>
              <a:off x="0" y="0"/>
              <a:ext cx="6437400" cy="640200"/>
            </a:xfrm>
            <a:custGeom>
              <a:avLst/>
              <a:gdLst/>
              <a:ahLst/>
              <a:cxnLst/>
              <a:rect l="l" t="t" r="r" b="b"/>
              <a:pathLst>
                <a:path w="6437400" h="640200">
                  <a:moveTo>
                    <a:pt x="0" y="0"/>
                  </a:moveTo>
                  <a:lnTo>
                    <a:pt x="6437400" y="0"/>
                  </a:lnTo>
                  <a:lnTo>
                    <a:pt x="6437400" y="640200"/>
                  </a:lnTo>
                  <a:lnTo>
                    <a:pt x="0" y="640200"/>
                  </a:lnTo>
                  <a:close/>
                </a:path>
              </a:pathLst>
            </a:custGeom>
            <a:blipFill>
              <a:blip r:embed="rId4">
                <a:alphaModFix amt="0"/>
              </a:blip>
              <a:stretch>
                <a:fillRect t="-145928" b="-145927"/>
              </a:stretch>
            </a:blipFill>
          </p:spPr>
          <p:txBody>
            <a:bodyPr/>
            <a:lstStyle/>
            <a:p>
              <a:endParaRPr lang="es-CO"/>
            </a:p>
          </p:txBody>
        </p:sp>
        <p:sp>
          <p:nvSpPr>
            <p:cNvPr id="68" name="TextBox 68"/>
            <p:cNvSpPr txBox="1"/>
            <p:nvPr/>
          </p:nvSpPr>
          <p:spPr>
            <a:xfrm>
              <a:off x="0" y="-47625"/>
              <a:ext cx="6437401" cy="687819"/>
            </a:xfrm>
            <a:prstGeom prst="rect">
              <a:avLst/>
            </a:prstGeom>
          </p:spPr>
          <p:txBody>
            <a:bodyPr lIns="0" tIns="0" rIns="0" bIns="0" rtlCol="0" anchor="ctr"/>
            <a:lstStyle/>
            <a:p>
              <a:pPr algn="ctr">
                <a:lnSpc>
                  <a:spcPts val="2340"/>
                </a:lnSpc>
              </a:pPr>
              <a:r>
                <a:rPr lang="en-US" sz="1950" b="1">
                  <a:solidFill>
                    <a:srgbClr val="00304D"/>
                  </a:solidFill>
                  <a:latin typeface="Calibri (MS) Bold"/>
                  <a:ea typeface="Calibri (MS) Bold"/>
                  <a:cs typeface="Calibri (MS) Bold"/>
                  <a:sym typeface="Calibri (MS) Bold"/>
                </a:rPr>
                <a:t>Mejor administración</a:t>
              </a:r>
            </a:p>
          </p:txBody>
        </p:sp>
      </p:grpSp>
      <p:grpSp>
        <p:nvGrpSpPr>
          <p:cNvPr id="69" name="Group 69"/>
          <p:cNvGrpSpPr/>
          <p:nvPr/>
        </p:nvGrpSpPr>
        <p:grpSpPr>
          <a:xfrm>
            <a:off x="6707124" y="8366760"/>
            <a:ext cx="4828051" cy="685800"/>
            <a:chOff x="0" y="0"/>
            <a:chExt cx="6437401" cy="914400"/>
          </a:xfrm>
        </p:grpSpPr>
        <p:sp>
          <p:nvSpPr>
            <p:cNvPr id="70" name="Freeform 70"/>
            <p:cNvSpPr/>
            <p:nvPr/>
          </p:nvSpPr>
          <p:spPr>
            <a:xfrm>
              <a:off x="0" y="0"/>
              <a:ext cx="6437400" cy="914400"/>
            </a:xfrm>
            <a:custGeom>
              <a:avLst/>
              <a:gdLst/>
              <a:ahLst/>
              <a:cxnLst/>
              <a:rect l="l" t="t" r="r" b="b"/>
              <a:pathLst>
                <a:path w="6437400" h="914400">
                  <a:moveTo>
                    <a:pt x="0" y="0"/>
                  </a:moveTo>
                  <a:lnTo>
                    <a:pt x="6437400" y="0"/>
                  </a:lnTo>
                  <a:lnTo>
                    <a:pt x="6437400" y="914400"/>
                  </a:lnTo>
                  <a:lnTo>
                    <a:pt x="0" y="914400"/>
                  </a:lnTo>
                  <a:close/>
                </a:path>
              </a:pathLst>
            </a:custGeom>
            <a:blipFill>
              <a:blip r:embed="rId4">
                <a:alphaModFix amt="0"/>
              </a:blip>
              <a:stretch>
                <a:fillRect t="-87175" b="-87175"/>
              </a:stretch>
            </a:blipFill>
          </p:spPr>
          <p:txBody>
            <a:bodyPr/>
            <a:lstStyle/>
            <a:p>
              <a:endParaRPr lang="es-CO"/>
            </a:p>
          </p:txBody>
        </p:sp>
        <p:sp>
          <p:nvSpPr>
            <p:cNvPr id="71" name="TextBox 71"/>
            <p:cNvSpPr txBox="1"/>
            <p:nvPr/>
          </p:nvSpPr>
          <p:spPr>
            <a:xfrm>
              <a:off x="0" y="-19050"/>
              <a:ext cx="6437401" cy="933450"/>
            </a:xfrm>
            <a:prstGeom prst="rect">
              <a:avLst/>
            </a:prstGeom>
          </p:spPr>
          <p:txBody>
            <a:bodyPr lIns="0" tIns="0" rIns="0" bIns="0" rtlCol="0" anchor="ctr"/>
            <a:lstStyle/>
            <a:p>
              <a:pPr algn="ctr">
                <a:lnSpc>
                  <a:spcPts val="1889"/>
                </a:lnSpc>
              </a:pPr>
              <a:r>
                <a:rPr lang="en-US" sz="1575">
                  <a:solidFill>
                    <a:srgbClr val="5B6670"/>
                  </a:solidFill>
                  <a:latin typeface="Calibri (MS)"/>
                  <a:ea typeface="Calibri (MS)"/>
                  <a:cs typeface="Calibri (MS)"/>
                  <a:sym typeface="Calibri (MS)"/>
                </a:rPr>
                <a:t>Mayor control e incremento de ventas</a:t>
              </a:r>
            </a:p>
          </p:txBody>
        </p:sp>
      </p:grpSp>
      <p:grpSp>
        <p:nvGrpSpPr>
          <p:cNvPr id="72" name="Group 72"/>
          <p:cNvGrpSpPr/>
          <p:nvPr/>
        </p:nvGrpSpPr>
        <p:grpSpPr>
          <a:xfrm>
            <a:off x="12179808" y="6556248"/>
            <a:ext cx="5239350" cy="2537546"/>
            <a:chOff x="0" y="0"/>
            <a:chExt cx="6985800" cy="3383394"/>
          </a:xfrm>
        </p:grpSpPr>
        <p:sp>
          <p:nvSpPr>
            <p:cNvPr id="73" name="Freeform 73"/>
            <p:cNvSpPr/>
            <p:nvPr/>
          </p:nvSpPr>
          <p:spPr>
            <a:xfrm>
              <a:off x="0" y="0"/>
              <a:ext cx="6985762" cy="3383407"/>
            </a:xfrm>
            <a:custGeom>
              <a:avLst/>
              <a:gdLst/>
              <a:ahLst/>
              <a:cxnLst/>
              <a:rect l="l" t="t" r="r" b="b"/>
              <a:pathLst>
                <a:path w="6985762" h="3383407">
                  <a:moveTo>
                    <a:pt x="0" y="146304"/>
                  </a:moveTo>
                  <a:cubicBezTo>
                    <a:pt x="0" y="65532"/>
                    <a:pt x="65532" y="0"/>
                    <a:pt x="146304" y="0"/>
                  </a:cubicBezTo>
                  <a:lnTo>
                    <a:pt x="6839458" y="0"/>
                  </a:lnTo>
                  <a:cubicBezTo>
                    <a:pt x="6920230" y="0"/>
                    <a:pt x="6985762" y="65532"/>
                    <a:pt x="6985762" y="146304"/>
                  </a:cubicBezTo>
                  <a:lnTo>
                    <a:pt x="6985762" y="3237103"/>
                  </a:lnTo>
                  <a:cubicBezTo>
                    <a:pt x="6985762" y="3317875"/>
                    <a:pt x="6920230" y="3383407"/>
                    <a:pt x="6839458" y="3383407"/>
                  </a:cubicBezTo>
                  <a:lnTo>
                    <a:pt x="146304" y="3383407"/>
                  </a:lnTo>
                  <a:cubicBezTo>
                    <a:pt x="65532" y="3383407"/>
                    <a:pt x="0" y="3317875"/>
                    <a:pt x="0" y="3237103"/>
                  </a:cubicBezTo>
                  <a:close/>
                </a:path>
              </a:pathLst>
            </a:custGeom>
            <a:solidFill>
              <a:srgbClr val="EDF6E8"/>
            </a:solidFill>
          </p:spPr>
          <p:txBody>
            <a:bodyPr/>
            <a:lstStyle/>
            <a:p>
              <a:endParaRPr lang="es-CO"/>
            </a:p>
          </p:txBody>
        </p:sp>
      </p:grpSp>
      <p:grpSp>
        <p:nvGrpSpPr>
          <p:cNvPr id="74" name="Group 74"/>
          <p:cNvGrpSpPr/>
          <p:nvPr/>
        </p:nvGrpSpPr>
        <p:grpSpPr>
          <a:xfrm>
            <a:off x="14374368" y="6858000"/>
            <a:ext cx="850497" cy="850497"/>
            <a:chOff x="0" y="0"/>
            <a:chExt cx="1133996" cy="1133996"/>
          </a:xfrm>
        </p:grpSpPr>
        <p:sp>
          <p:nvSpPr>
            <p:cNvPr id="75" name="Freeform 75"/>
            <p:cNvSpPr/>
            <p:nvPr/>
          </p:nvSpPr>
          <p:spPr>
            <a:xfrm>
              <a:off x="0" y="0"/>
              <a:ext cx="1133983" cy="1133983"/>
            </a:xfrm>
            <a:custGeom>
              <a:avLst/>
              <a:gdLst/>
              <a:ahLst/>
              <a:cxnLst/>
              <a:rect l="l" t="t" r="r" b="b"/>
              <a:pathLst>
                <a:path w="1133983" h="1133983">
                  <a:moveTo>
                    <a:pt x="0" y="567055"/>
                  </a:moveTo>
                  <a:cubicBezTo>
                    <a:pt x="0" y="253873"/>
                    <a:pt x="253873" y="0"/>
                    <a:pt x="567055" y="0"/>
                  </a:cubicBezTo>
                  <a:cubicBezTo>
                    <a:pt x="880237" y="0"/>
                    <a:pt x="1133983" y="253873"/>
                    <a:pt x="1133983" y="567055"/>
                  </a:cubicBezTo>
                  <a:cubicBezTo>
                    <a:pt x="1133983" y="880237"/>
                    <a:pt x="880110" y="1133983"/>
                    <a:pt x="567055" y="1133983"/>
                  </a:cubicBezTo>
                  <a:cubicBezTo>
                    <a:pt x="254000" y="1133983"/>
                    <a:pt x="0" y="880110"/>
                    <a:pt x="0" y="567055"/>
                  </a:cubicBezTo>
                  <a:close/>
                </a:path>
              </a:pathLst>
            </a:custGeom>
            <a:solidFill>
              <a:srgbClr val="39A900"/>
            </a:solidFill>
          </p:spPr>
          <p:txBody>
            <a:bodyPr/>
            <a:lstStyle/>
            <a:p>
              <a:endParaRPr lang="es-CO"/>
            </a:p>
          </p:txBody>
        </p:sp>
      </p:grpSp>
      <p:grpSp>
        <p:nvGrpSpPr>
          <p:cNvPr id="76" name="Group 76"/>
          <p:cNvGrpSpPr/>
          <p:nvPr/>
        </p:nvGrpSpPr>
        <p:grpSpPr>
          <a:xfrm>
            <a:off x="14595472" y="7079104"/>
            <a:ext cx="408184" cy="408184"/>
            <a:chOff x="0" y="0"/>
            <a:chExt cx="544246" cy="544246"/>
          </a:xfrm>
        </p:grpSpPr>
        <p:sp>
          <p:nvSpPr>
            <p:cNvPr id="77" name="Freeform 77" descr="icons/shield.png"/>
            <p:cNvSpPr/>
            <p:nvPr/>
          </p:nvSpPr>
          <p:spPr>
            <a:xfrm>
              <a:off x="0" y="0"/>
              <a:ext cx="544195" cy="544195"/>
            </a:xfrm>
            <a:custGeom>
              <a:avLst/>
              <a:gdLst/>
              <a:ahLst/>
              <a:cxnLst/>
              <a:rect l="l" t="t" r="r" b="b"/>
              <a:pathLst>
                <a:path w="544195" h="544195">
                  <a:moveTo>
                    <a:pt x="0" y="0"/>
                  </a:moveTo>
                  <a:lnTo>
                    <a:pt x="544195" y="0"/>
                  </a:lnTo>
                  <a:lnTo>
                    <a:pt x="544195" y="544195"/>
                  </a:lnTo>
                  <a:lnTo>
                    <a:pt x="0" y="544195"/>
                  </a:lnTo>
                  <a:lnTo>
                    <a:pt x="0" y="0"/>
                  </a:lnTo>
                  <a:close/>
                </a:path>
              </a:pathLst>
            </a:custGeom>
            <a:blipFill>
              <a:blip r:embed="rId10"/>
              <a:stretch>
                <a:fillRect r="-9" b="-9"/>
              </a:stretch>
            </a:blipFill>
          </p:spPr>
          <p:txBody>
            <a:bodyPr/>
            <a:lstStyle/>
            <a:p>
              <a:endParaRPr lang="es-CO"/>
            </a:p>
          </p:txBody>
        </p:sp>
      </p:grpSp>
      <p:grpSp>
        <p:nvGrpSpPr>
          <p:cNvPr id="78" name="Group 78"/>
          <p:cNvGrpSpPr/>
          <p:nvPr/>
        </p:nvGrpSpPr>
        <p:grpSpPr>
          <a:xfrm>
            <a:off x="12385548" y="7900416"/>
            <a:ext cx="4828051" cy="480146"/>
            <a:chOff x="0" y="0"/>
            <a:chExt cx="6437401" cy="640194"/>
          </a:xfrm>
        </p:grpSpPr>
        <p:sp>
          <p:nvSpPr>
            <p:cNvPr id="79" name="Freeform 79"/>
            <p:cNvSpPr/>
            <p:nvPr/>
          </p:nvSpPr>
          <p:spPr>
            <a:xfrm>
              <a:off x="0" y="0"/>
              <a:ext cx="6437400" cy="640200"/>
            </a:xfrm>
            <a:custGeom>
              <a:avLst/>
              <a:gdLst/>
              <a:ahLst/>
              <a:cxnLst/>
              <a:rect l="l" t="t" r="r" b="b"/>
              <a:pathLst>
                <a:path w="6437400" h="640200">
                  <a:moveTo>
                    <a:pt x="0" y="0"/>
                  </a:moveTo>
                  <a:lnTo>
                    <a:pt x="6437400" y="0"/>
                  </a:lnTo>
                  <a:lnTo>
                    <a:pt x="6437400" y="640200"/>
                  </a:lnTo>
                  <a:lnTo>
                    <a:pt x="0" y="640200"/>
                  </a:lnTo>
                  <a:close/>
                </a:path>
              </a:pathLst>
            </a:custGeom>
            <a:blipFill>
              <a:blip r:embed="rId4">
                <a:alphaModFix amt="0"/>
              </a:blip>
              <a:stretch>
                <a:fillRect t="-145928" b="-145927"/>
              </a:stretch>
            </a:blipFill>
          </p:spPr>
          <p:txBody>
            <a:bodyPr/>
            <a:lstStyle/>
            <a:p>
              <a:endParaRPr lang="es-CO"/>
            </a:p>
          </p:txBody>
        </p:sp>
        <p:sp>
          <p:nvSpPr>
            <p:cNvPr id="80" name="TextBox 80"/>
            <p:cNvSpPr txBox="1"/>
            <p:nvPr/>
          </p:nvSpPr>
          <p:spPr>
            <a:xfrm>
              <a:off x="0" y="-47625"/>
              <a:ext cx="6437401" cy="687819"/>
            </a:xfrm>
            <a:prstGeom prst="rect">
              <a:avLst/>
            </a:prstGeom>
          </p:spPr>
          <p:txBody>
            <a:bodyPr lIns="0" tIns="0" rIns="0" bIns="0" rtlCol="0" anchor="ctr"/>
            <a:lstStyle/>
            <a:p>
              <a:pPr algn="ctr">
                <a:lnSpc>
                  <a:spcPts val="2340"/>
                </a:lnSpc>
              </a:pPr>
              <a:r>
                <a:rPr lang="en-US" sz="1950" b="1">
                  <a:solidFill>
                    <a:srgbClr val="00304D"/>
                  </a:solidFill>
                  <a:latin typeface="Calibri (MS) Bold"/>
                  <a:ea typeface="Calibri (MS) Bold"/>
                  <a:cs typeface="Calibri (MS) Bold"/>
                  <a:sym typeface="Calibri (MS) Bold"/>
                </a:rPr>
                <a:t>Confianza del cliente</a:t>
              </a:r>
            </a:p>
          </p:txBody>
        </p:sp>
      </p:grpSp>
      <p:grpSp>
        <p:nvGrpSpPr>
          <p:cNvPr id="81" name="Group 81"/>
          <p:cNvGrpSpPr/>
          <p:nvPr/>
        </p:nvGrpSpPr>
        <p:grpSpPr>
          <a:xfrm>
            <a:off x="12385548" y="8366760"/>
            <a:ext cx="4828051" cy="685800"/>
            <a:chOff x="0" y="0"/>
            <a:chExt cx="6437401" cy="914400"/>
          </a:xfrm>
        </p:grpSpPr>
        <p:sp>
          <p:nvSpPr>
            <p:cNvPr id="82" name="Freeform 82"/>
            <p:cNvSpPr/>
            <p:nvPr/>
          </p:nvSpPr>
          <p:spPr>
            <a:xfrm>
              <a:off x="0" y="0"/>
              <a:ext cx="6437400" cy="914400"/>
            </a:xfrm>
            <a:custGeom>
              <a:avLst/>
              <a:gdLst/>
              <a:ahLst/>
              <a:cxnLst/>
              <a:rect l="l" t="t" r="r" b="b"/>
              <a:pathLst>
                <a:path w="6437400" h="914400">
                  <a:moveTo>
                    <a:pt x="0" y="0"/>
                  </a:moveTo>
                  <a:lnTo>
                    <a:pt x="6437400" y="0"/>
                  </a:lnTo>
                  <a:lnTo>
                    <a:pt x="6437400" y="914400"/>
                  </a:lnTo>
                  <a:lnTo>
                    <a:pt x="0" y="914400"/>
                  </a:lnTo>
                  <a:close/>
                </a:path>
              </a:pathLst>
            </a:custGeom>
            <a:blipFill>
              <a:blip r:embed="rId4">
                <a:alphaModFix amt="0"/>
              </a:blip>
              <a:stretch>
                <a:fillRect t="-87175" b="-87175"/>
              </a:stretch>
            </a:blipFill>
          </p:spPr>
          <p:txBody>
            <a:bodyPr/>
            <a:lstStyle/>
            <a:p>
              <a:endParaRPr lang="es-CO"/>
            </a:p>
          </p:txBody>
        </p:sp>
        <p:sp>
          <p:nvSpPr>
            <p:cNvPr id="83" name="TextBox 83"/>
            <p:cNvSpPr txBox="1"/>
            <p:nvPr/>
          </p:nvSpPr>
          <p:spPr>
            <a:xfrm>
              <a:off x="0" y="-19050"/>
              <a:ext cx="6437401" cy="933450"/>
            </a:xfrm>
            <a:prstGeom prst="rect">
              <a:avLst/>
            </a:prstGeom>
          </p:spPr>
          <p:txBody>
            <a:bodyPr lIns="0" tIns="0" rIns="0" bIns="0" rtlCol="0" anchor="ctr"/>
            <a:lstStyle/>
            <a:p>
              <a:pPr algn="ctr">
                <a:lnSpc>
                  <a:spcPts val="1889"/>
                </a:lnSpc>
              </a:pPr>
              <a:r>
                <a:rPr lang="en-US" sz="1575">
                  <a:solidFill>
                    <a:srgbClr val="5B6670"/>
                  </a:solidFill>
                  <a:latin typeface="Calibri (MS)"/>
                  <a:ea typeface="Calibri (MS)"/>
                  <a:cs typeface="Calibri (MS)"/>
                  <a:sym typeface="Calibri (MS)"/>
                </a:rPr>
                <a:t>Información clara y transparente</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s-CO"/>
          </a:p>
        </p:txBody>
      </p:sp>
      <p:grpSp>
        <p:nvGrpSpPr>
          <p:cNvPr id="3" name="Group 3"/>
          <p:cNvGrpSpPr/>
          <p:nvPr/>
        </p:nvGrpSpPr>
        <p:grpSpPr>
          <a:xfrm>
            <a:off x="822960" y="576072"/>
            <a:ext cx="13716000" cy="480146"/>
            <a:chOff x="0" y="0"/>
            <a:chExt cx="18288000" cy="640194"/>
          </a:xfrm>
        </p:grpSpPr>
        <p:sp>
          <p:nvSpPr>
            <p:cNvPr id="4" name="Freeform 4"/>
            <p:cNvSpPr/>
            <p:nvPr/>
          </p:nvSpPr>
          <p:spPr>
            <a:xfrm>
              <a:off x="0" y="0"/>
              <a:ext cx="18288000" cy="640200"/>
            </a:xfrm>
            <a:custGeom>
              <a:avLst/>
              <a:gdLst/>
              <a:ahLst/>
              <a:cxnLst/>
              <a:rect l="l" t="t" r="r" b="b"/>
              <a:pathLst>
                <a:path w="18288000" h="640200">
                  <a:moveTo>
                    <a:pt x="0" y="0"/>
                  </a:moveTo>
                  <a:lnTo>
                    <a:pt x="18288000" y="0"/>
                  </a:lnTo>
                  <a:lnTo>
                    <a:pt x="18288000" y="640200"/>
                  </a:lnTo>
                  <a:lnTo>
                    <a:pt x="0" y="640200"/>
                  </a:lnTo>
                  <a:close/>
                </a:path>
              </a:pathLst>
            </a:custGeom>
            <a:blipFill>
              <a:blip r:embed="rId4">
                <a:alphaModFix amt="0"/>
              </a:blip>
              <a:stretch>
                <a:fillRect t="-506611" b="-506610"/>
              </a:stretch>
            </a:blipFill>
          </p:spPr>
          <p:txBody>
            <a:bodyPr/>
            <a:lstStyle/>
            <a:p>
              <a:endParaRPr lang="es-CO"/>
            </a:p>
          </p:txBody>
        </p:sp>
        <p:sp>
          <p:nvSpPr>
            <p:cNvPr id="5" name="TextBox 5"/>
            <p:cNvSpPr txBox="1"/>
            <p:nvPr/>
          </p:nvSpPr>
          <p:spPr>
            <a:xfrm>
              <a:off x="0" y="-47625"/>
              <a:ext cx="18288000" cy="687819"/>
            </a:xfrm>
            <a:prstGeom prst="rect">
              <a:avLst/>
            </a:prstGeom>
          </p:spPr>
          <p:txBody>
            <a:bodyPr lIns="0" tIns="0" rIns="0" bIns="0" rtlCol="0" anchor="ctr"/>
            <a:lstStyle/>
            <a:p>
              <a:pPr algn="l">
                <a:lnSpc>
                  <a:spcPts val="2340"/>
                </a:lnSpc>
              </a:pPr>
              <a:r>
                <a:rPr lang="en-US" sz="1950" b="1">
                  <a:solidFill>
                    <a:srgbClr val="39A900"/>
                  </a:solidFill>
                  <a:latin typeface="Calibri (MS) Bold"/>
                  <a:ea typeface="Calibri (MS) Bold"/>
                  <a:cs typeface="Calibri (MS) Bold"/>
                  <a:sym typeface="Calibri (MS) Bold"/>
                </a:rPr>
                <a:t>DELIMITACIÓN</a:t>
              </a:r>
            </a:p>
          </p:txBody>
        </p:sp>
      </p:grpSp>
      <p:grpSp>
        <p:nvGrpSpPr>
          <p:cNvPr id="6" name="Group 6"/>
          <p:cNvGrpSpPr/>
          <p:nvPr/>
        </p:nvGrpSpPr>
        <p:grpSpPr>
          <a:xfrm>
            <a:off x="822960" y="987552"/>
            <a:ext cx="16184699" cy="1165946"/>
            <a:chOff x="0" y="0"/>
            <a:chExt cx="21579599" cy="1554594"/>
          </a:xfrm>
        </p:grpSpPr>
        <p:sp>
          <p:nvSpPr>
            <p:cNvPr id="7" name="Freeform 7"/>
            <p:cNvSpPr/>
            <p:nvPr/>
          </p:nvSpPr>
          <p:spPr>
            <a:xfrm>
              <a:off x="0" y="0"/>
              <a:ext cx="21579601" cy="1554600"/>
            </a:xfrm>
            <a:custGeom>
              <a:avLst/>
              <a:gdLst/>
              <a:ahLst/>
              <a:cxnLst/>
              <a:rect l="l" t="t" r="r" b="b"/>
              <a:pathLst>
                <a:path w="21579601" h="1554600">
                  <a:moveTo>
                    <a:pt x="0" y="0"/>
                  </a:moveTo>
                  <a:lnTo>
                    <a:pt x="21579601" y="0"/>
                  </a:lnTo>
                  <a:lnTo>
                    <a:pt x="21579601" y="1554600"/>
                  </a:lnTo>
                  <a:lnTo>
                    <a:pt x="0" y="1554600"/>
                  </a:lnTo>
                  <a:close/>
                </a:path>
              </a:pathLst>
            </a:custGeom>
            <a:blipFill>
              <a:blip r:embed="rId4">
                <a:alphaModFix amt="0"/>
              </a:blip>
              <a:stretch>
                <a:fillRect t="-220474" b="-220474"/>
              </a:stretch>
            </a:blipFill>
          </p:spPr>
          <p:txBody>
            <a:bodyPr/>
            <a:lstStyle/>
            <a:p>
              <a:endParaRPr lang="es-CO"/>
            </a:p>
          </p:txBody>
        </p:sp>
        <p:sp>
          <p:nvSpPr>
            <p:cNvPr id="8" name="TextBox 8"/>
            <p:cNvSpPr txBox="1"/>
            <p:nvPr/>
          </p:nvSpPr>
          <p:spPr>
            <a:xfrm>
              <a:off x="0" y="0"/>
              <a:ext cx="21579599" cy="1554594"/>
            </a:xfrm>
            <a:prstGeom prst="rect">
              <a:avLst/>
            </a:prstGeom>
          </p:spPr>
          <p:txBody>
            <a:bodyPr lIns="0" tIns="0" rIns="0" bIns="0" rtlCol="0" anchor="ctr"/>
            <a:lstStyle/>
            <a:p>
              <a:pPr algn="l">
                <a:lnSpc>
                  <a:spcPts val="6480"/>
                </a:lnSpc>
              </a:pPr>
              <a:r>
                <a:rPr lang="en-US" sz="5400" b="1">
                  <a:solidFill>
                    <a:srgbClr val="38AA00"/>
                  </a:solidFill>
                  <a:latin typeface="Work Sans Bold"/>
                  <a:ea typeface="Work Sans Bold"/>
                  <a:cs typeface="Work Sans Bold"/>
                  <a:sym typeface="Work Sans Bold"/>
                </a:rPr>
                <a:t>Alcance del proyecto</a:t>
              </a:r>
            </a:p>
          </p:txBody>
        </p:sp>
      </p:grpSp>
      <p:grpSp>
        <p:nvGrpSpPr>
          <p:cNvPr id="9" name="Group 9"/>
          <p:cNvGrpSpPr/>
          <p:nvPr/>
        </p:nvGrpSpPr>
        <p:grpSpPr>
          <a:xfrm>
            <a:off x="822960" y="2468880"/>
            <a:ext cx="5075101" cy="6720754"/>
            <a:chOff x="0" y="0"/>
            <a:chExt cx="6766801" cy="8961006"/>
          </a:xfrm>
        </p:grpSpPr>
        <p:sp>
          <p:nvSpPr>
            <p:cNvPr id="10" name="Freeform 10"/>
            <p:cNvSpPr/>
            <p:nvPr/>
          </p:nvSpPr>
          <p:spPr>
            <a:xfrm>
              <a:off x="0" y="0"/>
              <a:ext cx="6766814" cy="8960993"/>
            </a:xfrm>
            <a:custGeom>
              <a:avLst/>
              <a:gdLst/>
              <a:ahLst/>
              <a:cxnLst/>
              <a:rect l="l" t="t" r="r" b="b"/>
              <a:pathLst>
                <a:path w="6766814" h="8960993">
                  <a:moveTo>
                    <a:pt x="0" y="146304"/>
                  </a:moveTo>
                  <a:cubicBezTo>
                    <a:pt x="0" y="65532"/>
                    <a:pt x="65532" y="0"/>
                    <a:pt x="146304" y="0"/>
                  </a:cubicBezTo>
                  <a:lnTo>
                    <a:pt x="6620510" y="0"/>
                  </a:lnTo>
                  <a:cubicBezTo>
                    <a:pt x="6701282" y="0"/>
                    <a:pt x="6766814" y="65532"/>
                    <a:pt x="6766814" y="146304"/>
                  </a:cubicBezTo>
                  <a:lnTo>
                    <a:pt x="6766814" y="8814689"/>
                  </a:lnTo>
                  <a:cubicBezTo>
                    <a:pt x="6766814" y="8895461"/>
                    <a:pt x="6701282" y="8960993"/>
                    <a:pt x="6620510" y="8960993"/>
                  </a:cubicBezTo>
                  <a:lnTo>
                    <a:pt x="146304" y="8960993"/>
                  </a:lnTo>
                  <a:cubicBezTo>
                    <a:pt x="65532" y="8960993"/>
                    <a:pt x="0" y="8895461"/>
                    <a:pt x="0" y="8814689"/>
                  </a:cubicBezTo>
                  <a:close/>
                </a:path>
              </a:pathLst>
            </a:custGeom>
            <a:solidFill>
              <a:srgbClr val="EDF6E8"/>
            </a:solidFill>
          </p:spPr>
          <p:txBody>
            <a:bodyPr/>
            <a:lstStyle/>
            <a:p>
              <a:endParaRPr lang="es-CO"/>
            </a:p>
          </p:txBody>
        </p:sp>
      </p:grpSp>
      <p:grpSp>
        <p:nvGrpSpPr>
          <p:cNvPr id="11" name="Group 11"/>
          <p:cNvGrpSpPr/>
          <p:nvPr/>
        </p:nvGrpSpPr>
        <p:grpSpPr>
          <a:xfrm>
            <a:off x="1303020" y="2880360"/>
            <a:ext cx="823046" cy="823046"/>
            <a:chOff x="0" y="0"/>
            <a:chExt cx="1097394" cy="1097394"/>
          </a:xfrm>
        </p:grpSpPr>
        <p:sp>
          <p:nvSpPr>
            <p:cNvPr id="12" name="Freeform 12"/>
            <p:cNvSpPr/>
            <p:nvPr/>
          </p:nvSpPr>
          <p:spPr>
            <a:xfrm>
              <a:off x="0" y="0"/>
              <a:ext cx="1097280" cy="1097280"/>
            </a:xfrm>
            <a:custGeom>
              <a:avLst/>
              <a:gdLst/>
              <a:ahLst/>
              <a:cxnLst/>
              <a:rect l="l" t="t" r="r" b="b"/>
              <a:pathLst>
                <a:path w="1097280" h="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789"/>
                    <a:pt x="0" y="548640"/>
                  </a:cubicBezTo>
                  <a:close/>
                </a:path>
              </a:pathLst>
            </a:custGeom>
            <a:solidFill>
              <a:srgbClr val="39A900"/>
            </a:solidFill>
          </p:spPr>
          <p:txBody>
            <a:bodyPr/>
            <a:lstStyle/>
            <a:p>
              <a:endParaRPr lang="es-CO"/>
            </a:p>
          </p:txBody>
        </p:sp>
      </p:grpSp>
      <p:grpSp>
        <p:nvGrpSpPr>
          <p:cNvPr id="13" name="Group 13"/>
          <p:cNvGrpSpPr/>
          <p:nvPr/>
        </p:nvGrpSpPr>
        <p:grpSpPr>
          <a:xfrm>
            <a:off x="1516990" y="3094330"/>
            <a:ext cx="395021" cy="395021"/>
            <a:chOff x="0" y="0"/>
            <a:chExt cx="526694" cy="526694"/>
          </a:xfrm>
        </p:grpSpPr>
        <p:sp>
          <p:nvSpPr>
            <p:cNvPr id="14" name="Freeform 14" descr="icons/users.png"/>
            <p:cNvSpPr/>
            <p:nvPr/>
          </p:nvSpPr>
          <p:spPr>
            <a:xfrm>
              <a:off x="0" y="0"/>
              <a:ext cx="526669" cy="526669"/>
            </a:xfrm>
            <a:custGeom>
              <a:avLst/>
              <a:gdLst/>
              <a:ahLst/>
              <a:cxnLst/>
              <a:rect l="l" t="t" r="r" b="b"/>
              <a:pathLst>
                <a:path w="526669" h="526669">
                  <a:moveTo>
                    <a:pt x="0" y="0"/>
                  </a:moveTo>
                  <a:lnTo>
                    <a:pt x="526669" y="0"/>
                  </a:lnTo>
                  <a:lnTo>
                    <a:pt x="526669" y="526669"/>
                  </a:lnTo>
                  <a:lnTo>
                    <a:pt x="0" y="526669"/>
                  </a:lnTo>
                  <a:lnTo>
                    <a:pt x="0" y="0"/>
                  </a:lnTo>
                  <a:close/>
                </a:path>
              </a:pathLst>
            </a:custGeom>
            <a:blipFill>
              <a:blip r:embed="rId5"/>
              <a:stretch>
                <a:fillRect r="-4" b="-4"/>
              </a:stretch>
            </a:blipFill>
          </p:spPr>
          <p:txBody>
            <a:bodyPr/>
            <a:lstStyle/>
            <a:p>
              <a:endParaRPr lang="es-CO"/>
            </a:p>
          </p:txBody>
        </p:sp>
      </p:grpSp>
      <p:grpSp>
        <p:nvGrpSpPr>
          <p:cNvPr id="15" name="Group 15"/>
          <p:cNvGrpSpPr/>
          <p:nvPr/>
        </p:nvGrpSpPr>
        <p:grpSpPr>
          <a:xfrm>
            <a:off x="2331720" y="2990088"/>
            <a:ext cx="3291754" cy="617401"/>
            <a:chOff x="0" y="0"/>
            <a:chExt cx="4389006" cy="823201"/>
          </a:xfrm>
        </p:grpSpPr>
        <p:sp>
          <p:nvSpPr>
            <p:cNvPr id="16" name="Freeform 16"/>
            <p:cNvSpPr/>
            <p:nvPr/>
          </p:nvSpPr>
          <p:spPr>
            <a:xfrm>
              <a:off x="0" y="0"/>
              <a:ext cx="4389000" cy="823200"/>
            </a:xfrm>
            <a:custGeom>
              <a:avLst/>
              <a:gdLst/>
              <a:ahLst/>
              <a:cxnLst/>
              <a:rect l="l" t="t" r="r" b="b"/>
              <a:pathLst>
                <a:path w="4389000" h="823200">
                  <a:moveTo>
                    <a:pt x="0" y="0"/>
                  </a:moveTo>
                  <a:lnTo>
                    <a:pt x="4389000" y="0"/>
                  </a:lnTo>
                  <a:lnTo>
                    <a:pt x="4389000" y="823200"/>
                  </a:lnTo>
                  <a:lnTo>
                    <a:pt x="0" y="823200"/>
                  </a:lnTo>
                  <a:close/>
                </a:path>
              </a:pathLst>
            </a:custGeom>
            <a:blipFill>
              <a:blip r:embed="rId4">
                <a:alphaModFix amt="0"/>
              </a:blip>
              <a:stretch>
                <a:fillRect t="-53887" b="-53887"/>
              </a:stretch>
            </a:blipFill>
          </p:spPr>
          <p:txBody>
            <a:bodyPr/>
            <a:lstStyle/>
            <a:p>
              <a:endParaRPr lang="es-CO"/>
            </a:p>
          </p:txBody>
        </p:sp>
        <p:sp>
          <p:nvSpPr>
            <p:cNvPr id="17" name="TextBox 17"/>
            <p:cNvSpPr txBox="1"/>
            <p:nvPr/>
          </p:nvSpPr>
          <p:spPr>
            <a:xfrm>
              <a:off x="0" y="-38100"/>
              <a:ext cx="4389006" cy="861301"/>
            </a:xfrm>
            <a:prstGeom prst="rect">
              <a:avLst/>
            </a:prstGeom>
          </p:spPr>
          <p:txBody>
            <a:bodyPr lIns="0" tIns="0" rIns="0" bIns="0" rtlCol="0" anchor="ctr"/>
            <a:lstStyle/>
            <a:p>
              <a:pPr algn="l">
                <a:lnSpc>
                  <a:spcPts val="2879"/>
                </a:lnSpc>
              </a:pPr>
              <a:r>
                <a:rPr lang="en-US" sz="2400" b="1">
                  <a:solidFill>
                    <a:srgbClr val="00304D"/>
                  </a:solidFill>
                  <a:latin typeface="Calibri (MS) Bold"/>
                  <a:ea typeface="Calibri (MS) Bold"/>
                  <a:cs typeface="Calibri (MS) Bold"/>
                  <a:sym typeface="Calibri (MS) Bold"/>
                </a:rPr>
                <a:t>Cliente</a:t>
              </a:r>
            </a:p>
          </p:txBody>
        </p:sp>
      </p:grpSp>
      <p:sp>
        <p:nvSpPr>
          <p:cNvPr id="18" name="TextBox 18"/>
          <p:cNvSpPr txBox="1"/>
          <p:nvPr/>
        </p:nvSpPr>
        <p:spPr>
          <a:xfrm>
            <a:off x="1303020" y="3870960"/>
            <a:ext cx="4183199" cy="723900"/>
          </a:xfrm>
          <a:prstGeom prst="rect">
            <a:avLst/>
          </a:prstGeom>
        </p:spPr>
        <p:txBody>
          <a:bodyPr lIns="0" tIns="0" rIns="0" bIns="0" rtlCol="0" anchor="t">
            <a:spAutoFit/>
          </a:bodyPr>
          <a:lstStyle/>
          <a:p>
            <a:pPr algn="l">
              <a:lnSpc>
                <a:spcPts val="2070"/>
              </a:lnSpc>
            </a:pPr>
            <a:r>
              <a:rPr lang="en-US" sz="1725" b="1">
                <a:solidFill>
                  <a:srgbClr val="39A900"/>
                </a:solidFill>
                <a:latin typeface="Calibri (MS) Bold"/>
                <a:ea typeface="Calibri (MS) Bold"/>
                <a:cs typeface="Calibri (MS) Bold"/>
                <a:sym typeface="Calibri (MS) Bold"/>
              </a:rPr>
              <a:t>•  </a:t>
            </a:r>
            <a:r>
              <a:rPr lang="en-US" sz="1725">
                <a:solidFill>
                  <a:srgbClr val="22292E"/>
                </a:solidFill>
                <a:latin typeface="Calibri (MS)"/>
                <a:ea typeface="Calibri (MS)"/>
                <a:cs typeface="Calibri (MS)"/>
                <a:sym typeface="Calibri (MS)"/>
              </a:rPr>
              <a:t>Registro e inicio de sesión</a:t>
            </a:r>
          </a:p>
        </p:txBody>
      </p:sp>
      <p:sp>
        <p:nvSpPr>
          <p:cNvPr id="19" name="TextBox 19"/>
          <p:cNvSpPr txBox="1"/>
          <p:nvPr/>
        </p:nvSpPr>
        <p:spPr>
          <a:xfrm>
            <a:off x="1303020" y="4803648"/>
            <a:ext cx="4183199" cy="295275"/>
          </a:xfrm>
          <a:prstGeom prst="rect">
            <a:avLst/>
          </a:prstGeom>
        </p:spPr>
        <p:txBody>
          <a:bodyPr lIns="0" tIns="0" rIns="0" bIns="0" rtlCol="0" anchor="t">
            <a:spAutoFit/>
          </a:bodyPr>
          <a:lstStyle/>
          <a:p>
            <a:pPr algn="l">
              <a:lnSpc>
                <a:spcPts val="2070"/>
              </a:lnSpc>
            </a:pPr>
            <a:r>
              <a:rPr lang="en-US" sz="1725" b="1">
                <a:solidFill>
                  <a:srgbClr val="39A900"/>
                </a:solidFill>
                <a:latin typeface="Calibri (MS) Bold"/>
                <a:ea typeface="Calibri (MS) Bold"/>
                <a:cs typeface="Calibri (MS) Bold"/>
                <a:sym typeface="Calibri (MS) Bold"/>
              </a:rPr>
              <a:t>•  </a:t>
            </a:r>
            <a:r>
              <a:rPr lang="en-US" sz="1725">
                <a:solidFill>
                  <a:srgbClr val="22292E"/>
                </a:solidFill>
                <a:latin typeface="Calibri (MS)"/>
                <a:ea typeface="Calibri (MS)"/>
                <a:cs typeface="Calibri (MS)"/>
                <a:sym typeface="Calibri (MS)"/>
              </a:rPr>
              <a:t>Ver perfil, registrar vehiculo</a:t>
            </a:r>
          </a:p>
        </p:txBody>
      </p:sp>
      <p:sp>
        <p:nvSpPr>
          <p:cNvPr id="20" name="TextBox 20"/>
          <p:cNvSpPr txBox="1"/>
          <p:nvPr/>
        </p:nvSpPr>
        <p:spPr>
          <a:xfrm>
            <a:off x="1303020" y="5736336"/>
            <a:ext cx="4183199" cy="295275"/>
          </a:xfrm>
          <a:prstGeom prst="rect">
            <a:avLst/>
          </a:prstGeom>
        </p:spPr>
        <p:txBody>
          <a:bodyPr lIns="0" tIns="0" rIns="0" bIns="0" rtlCol="0" anchor="t">
            <a:spAutoFit/>
          </a:bodyPr>
          <a:lstStyle/>
          <a:p>
            <a:pPr algn="l">
              <a:lnSpc>
                <a:spcPts val="2070"/>
              </a:lnSpc>
            </a:pPr>
            <a:r>
              <a:rPr lang="en-US" sz="1725" b="1">
                <a:solidFill>
                  <a:srgbClr val="39A900"/>
                </a:solidFill>
                <a:latin typeface="Calibri (MS) Bold"/>
                <a:ea typeface="Calibri (MS) Bold"/>
                <a:cs typeface="Calibri (MS) Bold"/>
                <a:sym typeface="Calibri (MS) Bold"/>
              </a:rPr>
              <a:t>•  </a:t>
            </a:r>
            <a:r>
              <a:rPr lang="en-US" sz="1725">
                <a:solidFill>
                  <a:srgbClr val="22292E"/>
                </a:solidFill>
                <a:latin typeface="Calibri (MS)"/>
                <a:ea typeface="Calibri (MS)"/>
                <a:cs typeface="Calibri (MS)"/>
                <a:sym typeface="Calibri (MS)"/>
              </a:rPr>
              <a:t>Seleccionar caracteristicas del vehiculo</a:t>
            </a:r>
          </a:p>
        </p:txBody>
      </p:sp>
      <p:sp>
        <p:nvSpPr>
          <p:cNvPr id="21" name="TextBox 21"/>
          <p:cNvSpPr txBox="1"/>
          <p:nvPr/>
        </p:nvSpPr>
        <p:spPr>
          <a:xfrm>
            <a:off x="1303020" y="6669024"/>
            <a:ext cx="4183199" cy="295275"/>
          </a:xfrm>
          <a:prstGeom prst="rect">
            <a:avLst/>
          </a:prstGeom>
        </p:spPr>
        <p:txBody>
          <a:bodyPr lIns="0" tIns="0" rIns="0" bIns="0" rtlCol="0" anchor="t">
            <a:spAutoFit/>
          </a:bodyPr>
          <a:lstStyle/>
          <a:p>
            <a:pPr algn="l">
              <a:lnSpc>
                <a:spcPts val="2070"/>
              </a:lnSpc>
            </a:pPr>
            <a:r>
              <a:rPr lang="en-US" sz="1725" b="1">
                <a:solidFill>
                  <a:srgbClr val="39A900"/>
                </a:solidFill>
                <a:latin typeface="Calibri (MS) Bold"/>
                <a:ea typeface="Calibri (MS) Bold"/>
                <a:cs typeface="Calibri (MS) Bold"/>
                <a:sym typeface="Calibri (MS) Bold"/>
              </a:rPr>
              <a:t>•  </a:t>
            </a:r>
            <a:r>
              <a:rPr lang="en-US" sz="1725">
                <a:solidFill>
                  <a:srgbClr val="22292E"/>
                </a:solidFill>
                <a:latin typeface="Calibri (MS)"/>
                <a:ea typeface="Calibri (MS)"/>
                <a:cs typeface="Calibri (MS)"/>
                <a:sym typeface="Calibri (MS)"/>
              </a:rPr>
              <a:t>Seleccionar servicio y agendar</a:t>
            </a:r>
          </a:p>
        </p:txBody>
      </p:sp>
      <p:sp>
        <p:nvSpPr>
          <p:cNvPr id="22" name="TextBox 22"/>
          <p:cNvSpPr txBox="1"/>
          <p:nvPr/>
        </p:nvSpPr>
        <p:spPr>
          <a:xfrm>
            <a:off x="1303020" y="7601712"/>
            <a:ext cx="4183199" cy="295275"/>
          </a:xfrm>
          <a:prstGeom prst="rect">
            <a:avLst/>
          </a:prstGeom>
        </p:spPr>
        <p:txBody>
          <a:bodyPr lIns="0" tIns="0" rIns="0" bIns="0" rtlCol="0" anchor="t">
            <a:spAutoFit/>
          </a:bodyPr>
          <a:lstStyle/>
          <a:p>
            <a:pPr algn="l">
              <a:lnSpc>
                <a:spcPts val="2070"/>
              </a:lnSpc>
            </a:pPr>
            <a:r>
              <a:rPr lang="en-US" sz="1725" b="1">
                <a:solidFill>
                  <a:srgbClr val="39A900"/>
                </a:solidFill>
                <a:latin typeface="Calibri (MS) Bold"/>
                <a:ea typeface="Calibri (MS) Bold"/>
                <a:cs typeface="Calibri (MS) Bold"/>
                <a:sym typeface="Calibri (MS) Bold"/>
              </a:rPr>
              <a:t>•  </a:t>
            </a:r>
            <a:r>
              <a:rPr lang="en-US" sz="1725">
                <a:solidFill>
                  <a:srgbClr val="22292E"/>
                </a:solidFill>
                <a:latin typeface="Calibri (MS)"/>
                <a:ea typeface="Calibri (MS)"/>
                <a:cs typeface="Calibri (MS)"/>
                <a:sym typeface="Calibri (MS)"/>
              </a:rPr>
              <a:t>Consultar estado del servicio y cotizacion</a:t>
            </a:r>
          </a:p>
        </p:txBody>
      </p:sp>
      <p:grpSp>
        <p:nvGrpSpPr>
          <p:cNvPr id="23" name="Group 23"/>
          <p:cNvGrpSpPr/>
          <p:nvPr/>
        </p:nvGrpSpPr>
        <p:grpSpPr>
          <a:xfrm>
            <a:off x="6240780" y="2468880"/>
            <a:ext cx="5075101" cy="6720754"/>
            <a:chOff x="0" y="0"/>
            <a:chExt cx="6766801" cy="8961006"/>
          </a:xfrm>
        </p:grpSpPr>
        <p:sp>
          <p:nvSpPr>
            <p:cNvPr id="24" name="Freeform 24"/>
            <p:cNvSpPr/>
            <p:nvPr/>
          </p:nvSpPr>
          <p:spPr>
            <a:xfrm>
              <a:off x="0" y="0"/>
              <a:ext cx="6766814" cy="8960993"/>
            </a:xfrm>
            <a:custGeom>
              <a:avLst/>
              <a:gdLst/>
              <a:ahLst/>
              <a:cxnLst/>
              <a:rect l="l" t="t" r="r" b="b"/>
              <a:pathLst>
                <a:path w="6766814" h="8960993">
                  <a:moveTo>
                    <a:pt x="0" y="146304"/>
                  </a:moveTo>
                  <a:cubicBezTo>
                    <a:pt x="0" y="65532"/>
                    <a:pt x="65532" y="0"/>
                    <a:pt x="146304" y="0"/>
                  </a:cubicBezTo>
                  <a:lnTo>
                    <a:pt x="6620510" y="0"/>
                  </a:lnTo>
                  <a:cubicBezTo>
                    <a:pt x="6701282" y="0"/>
                    <a:pt x="6766814" y="65532"/>
                    <a:pt x="6766814" y="146304"/>
                  </a:cubicBezTo>
                  <a:lnTo>
                    <a:pt x="6766814" y="8814689"/>
                  </a:lnTo>
                  <a:cubicBezTo>
                    <a:pt x="6766814" y="8895461"/>
                    <a:pt x="6701282" y="8960993"/>
                    <a:pt x="6620510" y="8960993"/>
                  </a:cubicBezTo>
                  <a:lnTo>
                    <a:pt x="146304" y="8960993"/>
                  </a:lnTo>
                  <a:cubicBezTo>
                    <a:pt x="65532" y="8960993"/>
                    <a:pt x="0" y="8895461"/>
                    <a:pt x="0" y="8814689"/>
                  </a:cubicBezTo>
                  <a:close/>
                </a:path>
              </a:pathLst>
            </a:custGeom>
            <a:solidFill>
              <a:srgbClr val="EDF6E8"/>
            </a:solidFill>
          </p:spPr>
          <p:txBody>
            <a:bodyPr/>
            <a:lstStyle/>
            <a:p>
              <a:endParaRPr lang="es-CO"/>
            </a:p>
          </p:txBody>
        </p:sp>
      </p:grpSp>
      <p:grpSp>
        <p:nvGrpSpPr>
          <p:cNvPr id="25" name="Group 25"/>
          <p:cNvGrpSpPr/>
          <p:nvPr/>
        </p:nvGrpSpPr>
        <p:grpSpPr>
          <a:xfrm>
            <a:off x="6720840" y="2880360"/>
            <a:ext cx="823046" cy="823046"/>
            <a:chOff x="0" y="0"/>
            <a:chExt cx="1097394" cy="1097394"/>
          </a:xfrm>
        </p:grpSpPr>
        <p:sp>
          <p:nvSpPr>
            <p:cNvPr id="26" name="Freeform 26"/>
            <p:cNvSpPr/>
            <p:nvPr/>
          </p:nvSpPr>
          <p:spPr>
            <a:xfrm>
              <a:off x="0" y="0"/>
              <a:ext cx="1097280" cy="1097280"/>
            </a:xfrm>
            <a:custGeom>
              <a:avLst/>
              <a:gdLst/>
              <a:ahLst/>
              <a:cxnLst/>
              <a:rect l="l" t="t" r="r" b="b"/>
              <a:pathLst>
                <a:path w="1097280" h="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789"/>
                    <a:pt x="0" y="548640"/>
                  </a:cubicBezTo>
                  <a:close/>
                </a:path>
              </a:pathLst>
            </a:custGeom>
            <a:solidFill>
              <a:srgbClr val="39A900"/>
            </a:solidFill>
          </p:spPr>
          <p:txBody>
            <a:bodyPr/>
            <a:lstStyle/>
            <a:p>
              <a:endParaRPr lang="es-CO"/>
            </a:p>
          </p:txBody>
        </p:sp>
      </p:grpSp>
      <p:grpSp>
        <p:nvGrpSpPr>
          <p:cNvPr id="27" name="Group 27"/>
          <p:cNvGrpSpPr/>
          <p:nvPr/>
        </p:nvGrpSpPr>
        <p:grpSpPr>
          <a:xfrm>
            <a:off x="6934810" y="3094330"/>
            <a:ext cx="395021" cy="395021"/>
            <a:chOff x="0" y="0"/>
            <a:chExt cx="526694" cy="526694"/>
          </a:xfrm>
        </p:grpSpPr>
        <p:sp>
          <p:nvSpPr>
            <p:cNvPr id="28" name="Freeform 28" descr="icons/cogs.png"/>
            <p:cNvSpPr/>
            <p:nvPr/>
          </p:nvSpPr>
          <p:spPr>
            <a:xfrm>
              <a:off x="0" y="0"/>
              <a:ext cx="526669" cy="526669"/>
            </a:xfrm>
            <a:custGeom>
              <a:avLst/>
              <a:gdLst/>
              <a:ahLst/>
              <a:cxnLst/>
              <a:rect l="l" t="t" r="r" b="b"/>
              <a:pathLst>
                <a:path w="526669" h="526669">
                  <a:moveTo>
                    <a:pt x="0" y="0"/>
                  </a:moveTo>
                  <a:lnTo>
                    <a:pt x="526669" y="0"/>
                  </a:lnTo>
                  <a:lnTo>
                    <a:pt x="526669" y="526669"/>
                  </a:lnTo>
                  <a:lnTo>
                    <a:pt x="0" y="526669"/>
                  </a:lnTo>
                  <a:lnTo>
                    <a:pt x="0" y="0"/>
                  </a:lnTo>
                  <a:close/>
                </a:path>
              </a:pathLst>
            </a:custGeom>
            <a:blipFill>
              <a:blip r:embed="rId6"/>
              <a:stretch>
                <a:fillRect r="-4" b="-4"/>
              </a:stretch>
            </a:blipFill>
          </p:spPr>
          <p:txBody>
            <a:bodyPr/>
            <a:lstStyle/>
            <a:p>
              <a:endParaRPr lang="es-CO"/>
            </a:p>
          </p:txBody>
        </p:sp>
      </p:grpSp>
      <p:grpSp>
        <p:nvGrpSpPr>
          <p:cNvPr id="29" name="Group 29"/>
          <p:cNvGrpSpPr/>
          <p:nvPr/>
        </p:nvGrpSpPr>
        <p:grpSpPr>
          <a:xfrm>
            <a:off x="7749540" y="2990088"/>
            <a:ext cx="3429000" cy="617401"/>
            <a:chOff x="0" y="0"/>
            <a:chExt cx="4572000" cy="823201"/>
          </a:xfrm>
        </p:grpSpPr>
        <p:sp>
          <p:nvSpPr>
            <p:cNvPr id="30" name="Freeform 30"/>
            <p:cNvSpPr/>
            <p:nvPr/>
          </p:nvSpPr>
          <p:spPr>
            <a:xfrm>
              <a:off x="0" y="0"/>
              <a:ext cx="4572000" cy="823200"/>
            </a:xfrm>
            <a:custGeom>
              <a:avLst/>
              <a:gdLst/>
              <a:ahLst/>
              <a:cxnLst/>
              <a:rect l="l" t="t" r="r" b="b"/>
              <a:pathLst>
                <a:path w="4572000" h="823200">
                  <a:moveTo>
                    <a:pt x="0" y="0"/>
                  </a:moveTo>
                  <a:lnTo>
                    <a:pt x="4572000" y="0"/>
                  </a:lnTo>
                  <a:lnTo>
                    <a:pt x="4572000" y="823200"/>
                  </a:lnTo>
                  <a:lnTo>
                    <a:pt x="0" y="823200"/>
                  </a:lnTo>
                  <a:close/>
                </a:path>
              </a:pathLst>
            </a:custGeom>
            <a:blipFill>
              <a:blip r:embed="rId4">
                <a:alphaModFix amt="0"/>
              </a:blip>
              <a:stretch>
                <a:fillRect t="-58218" b="-58218"/>
              </a:stretch>
            </a:blipFill>
          </p:spPr>
          <p:txBody>
            <a:bodyPr/>
            <a:lstStyle/>
            <a:p>
              <a:endParaRPr lang="es-CO"/>
            </a:p>
          </p:txBody>
        </p:sp>
        <p:sp>
          <p:nvSpPr>
            <p:cNvPr id="31" name="TextBox 31"/>
            <p:cNvSpPr txBox="1"/>
            <p:nvPr/>
          </p:nvSpPr>
          <p:spPr>
            <a:xfrm>
              <a:off x="0" y="-38100"/>
              <a:ext cx="4572000" cy="861301"/>
            </a:xfrm>
            <a:prstGeom prst="rect">
              <a:avLst/>
            </a:prstGeom>
          </p:spPr>
          <p:txBody>
            <a:bodyPr lIns="0" tIns="0" rIns="0" bIns="0" rtlCol="0" anchor="ctr"/>
            <a:lstStyle/>
            <a:p>
              <a:pPr algn="l">
                <a:lnSpc>
                  <a:spcPts val="2879"/>
                </a:lnSpc>
              </a:pPr>
              <a:r>
                <a:rPr lang="en-US" sz="2400" b="1">
                  <a:solidFill>
                    <a:srgbClr val="00304D"/>
                  </a:solidFill>
                  <a:latin typeface="Calibri (MS) Bold"/>
                  <a:ea typeface="Calibri (MS) Bold"/>
                  <a:cs typeface="Calibri (MS) Bold"/>
                  <a:sym typeface="Calibri (MS) Bold"/>
                </a:rPr>
                <a:t>Administrador</a:t>
              </a:r>
            </a:p>
          </p:txBody>
        </p:sp>
      </p:grpSp>
      <p:sp>
        <p:nvSpPr>
          <p:cNvPr id="32" name="TextBox 32"/>
          <p:cNvSpPr txBox="1"/>
          <p:nvPr/>
        </p:nvSpPr>
        <p:spPr>
          <a:xfrm>
            <a:off x="6720840" y="3870960"/>
            <a:ext cx="4183199" cy="295275"/>
          </a:xfrm>
          <a:prstGeom prst="rect">
            <a:avLst/>
          </a:prstGeom>
        </p:spPr>
        <p:txBody>
          <a:bodyPr lIns="0" tIns="0" rIns="0" bIns="0" rtlCol="0" anchor="t">
            <a:spAutoFit/>
          </a:bodyPr>
          <a:lstStyle/>
          <a:p>
            <a:pPr algn="l">
              <a:lnSpc>
                <a:spcPts val="2070"/>
              </a:lnSpc>
            </a:pPr>
            <a:r>
              <a:rPr lang="en-US" sz="1725" b="1">
                <a:solidFill>
                  <a:srgbClr val="39A900"/>
                </a:solidFill>
                <a:latin typeface="Calibri (MS) Bold"/>
                <a:ea typeface="Calibri (MS) Bold"/>
                <a:cs typeface="Calibri (MS) Bold"/>
                <a:sym typeface="Calibri (MS) Bold"/>
              </a:rPr>
              <a:t>•  </a:t>
            </a:r>
            <a:r>
              <a:rPr lang="en-US" sz="1725">
                <a:solidFill>
                  <a:srgbClr val="22292E"/>
                </a:solidFill>
                <a:latin typeface="Calibri (MS)"/>
                <a:ea typeface="Calibri (MS)"/>
                <a:cs typeface="Calibri (MS)"/>
                <a:sym typeface="Calibri (MS)"/>
              </a:rPr>
              <a:t>Gestionar productos </a:t>
            </a:r>
          </a:p>
        </p:txBody>
      </p:sp>
      <p:sp>
        <p:nvSpPr>
          <p:cNvPr id="33" name="TextBox 33"/>
          <p:cNvSpPr txBox="1"/>
          <p:nvPr/>
        </p:nvSpPr>
        <p:spPr>
          <a:xfrm>
            <a:off x="6720840" y="4803648"/>
            <a:ext cx="4183199" cy="723900"/>
          </a:xfrm>
          <a:prstGeom prst="rect">
            <a:avLst/>
          </a:prstGeom>
        </p:spPr>
        <p:txBody>
          <a:bodyPr lIns="0" tIns="0" rIns="0" bIns="0" rtlCol="0" anchor="t">
            <a:spAutoFit/>
          </a:bodyPr>
          <a:lstStyle/>
          <a:p>
            <a:pPr algn="l">
              <a:lnSpc>
                <a:spcPts val="2070"/>
              </a:lnSpc>
            </a:pPr>
            <a:r>
              <a:rPr lang="en-US" sz="1725" b="1">
                <a:solidFill>
                  <a:srgbClr val="39A900"/>
                </a:solidFill>
                <a:latin typeface="Calibri (MS) Bold"/>
                <a:ea typeface="Calibri (MS) Bold"/>
                <a:cs typeface="Calibri (MS) Bold"/>
                <a:sym typeface="Calibri (MS) Bold"/>
              </a:rPr>
              <a:t>•  </a:t>
            </a:r>
            <a:r>
              <a:rPr lang="en-US" sz="1725">
                <a:solidFill>
                  <a:srgbClr val="22292E"/>
                </a:solidFill>
                <a:latin typeface="Calibri (MS)"/>
                <a:ea typeface="Calibri (MS)"/>
                <a:cs typeface="Calibri (MS)"/>
                <a:sym typeface="Calibri (MS)"/>
              </a:rPr>
              <a:t>Administrar inventario</a:t>
            </a:r>
          </a:p>
        </p:txBody>
      </p:sp>
      <p:sp>
        <p:nvSpPr>
          <p:cNvPr id="34" name="TextBox 34"/>
          <p:cNvSpPr txBox="1"/>
          <p:nvPr/>
        </p:nvSpPr>
        <p:spPr>
          <a:xfrm>
            <a:off x="6720840" y="5736336"/>
            <a:ext cx="4183199" cy="723900"/>
          </a:xfrm>
          <a:prstGeom prst="rect">
            <a:avLst/>
          </a:prstGeom>
        </p:spPr>
        <p:txBody>
          <a:bodyPr lIns="0" tIns="0" rIns="0" bIns="0" rtlCol="0" anchor="t">
            <a:spAutoFit/>
          </a:bodyPr>
          <a:lstStyle/>
          <a:p>
            <a:pPr algn="l">
              <a:lnSpc>
                <a:spcPts val="2070"/>
              </a:lnSpc>
            </a:pPr>
            <a:r>
              <a:rPr lang="en-US" sz="1725" b="1">
                <a:solidFill>
                  <a:srgbClr val="39A900"/>
                </a:solidFill>
                <a:latin typeface="Calibri (MS) Bold"/>
                <a:ea typeface="Calibri (MS) Bold"/>
                <a:cs typeface="Calibri (MS) Bold"/>
                <a:sym typeface="Calibri (MS) Bold"/>
              </a:rPr>
              <a:t>•  </a:t>
            </a:r>
            <a:r>
              <a:rPr lang="en-US" sz="1725">
                <a:solidFill>
                  <a:srgbClr val="22292E"/>
                </a:solidFill>
                <a:latin typeface="Calibri (MS)"/>
                <a:ea typeface="Calibri (MS)"/>
                <a:cs typeface="Calibri (MS)"/>
                <a:sym typeface="Calibri (MS)"/>
              </a:rPr>
              <a:t>Gestionar usuarios y roles</a:t>
            </a:r>
          </a:p>
        </p:txBody>
      </p:sp>
      <p:sp>
        <p:nvSpPr>
          <p:cNvPr id="35" name="TextBox 35"/>
          <p:cNvSpPr txBox="1"/>
          <p:nvPr/>
        </p:nvSpPr>
        <p:spPr>
          <a:xfrm>
            <a:off x="6720840" y="6669024"/>
            <a:ext cx="4183199" cy="723900"/>
          </a:xfrm>
          <a:prstGeom prst="rect">
            <a:avLst/>
          </a:prstGeom>
        </p:spPr>
        <p:txBody>
          <a:bodyPr lIns="0" tIns="0" rIns="0" bIns="0" rtlCol="0" anchor="t">
            <a:spAutoFit/>
          </a:bodyPr>
          <a:lstStyle/>
          <a:p>
            <a:pPr algn="l">
              <a:lnSpc>
                <a:spcPts val="2070"/>
              </a:lnSpc>
            </a:pPr>
            <a:r>
              <a:rPr lang="en-US" sz="1725" b="1">
                <a:solidFill>
                  <a:srgbClr val="39A900"/>
                </a:solidFill>
                <a:latin typeface="Calibri (MS) Bold"/>
                <a:ea typeface="Calibri (MS) Bold"/>
                <a:cs typeface="Calibri (MS) Bold"/>
                <a:sym typeface="Calibri (MS) Bold"/>
              </a:rPr>
              <a:t>•  </a:t>
            </a:r>
            <a:r>
              <a:rPr lang="en-US" sz="1725">
                <a:solidFill>
                  <a:srgbClr val="22292E"/>
                </a:solidFill>
                <a:latin typeface="Calibri (MS)"/>
                <a:ea typeface="Calibri (MS)"/>
                <a:cs typeface="Calibri (MS)"/>
                <a:sym typeface="Calibri (MS)"/>
              </a:rPr>
              <a:t>Ver y gestionar pedidos</a:t>
            </a:r>
          </a:p>
        </p:txBody>
      </p:sp>
      <p:sp>
        <p:nvSpPr>
          <p:cNvPr id="36" name="TextBox 36"/>
          <p:cNvSpPr txBox="1"/>
          <p:nvPr/>
        </p:nvSpPr>
        <p:spPr>
          <a:xfrm>
            <a:off x="6720840" y="7601712"/>
            <a:ext cx="4183199" cy="723900"/>
          </a:xfrm>
          <a:prstGeom prst="rect">
            <a:avLst/>
          </a:prstGeom>
        </p:spPr>
        <p:txBody>
          <a:bodyPr lIns="0" tIns="0" rIns="0" bIns="0" rtlCol="0" anchor="t">
            <a:spAutoFit/>
          </a:bodyPr>
          <a:lstStyle/>
          <a:p>
            <a:pPr algn="l">
              <a:lnSpc>
                <a:spcPts val="2070"/>
              </a:lnSpc>
            </a:pPr>
            <a:r>
              <a:rPr lang="en-US" sz="1725" b="1">
                <a:solidFill>
                  <a:srgbClr val="39A900"/>
                </a:solidFill>
                <a:latin typeface="Calibri (MS) Bold"/>
                <a:ea typeface="Calibri (MS) Bold"/>
                <a:cs typeface="Calibri (MS) Bold"/>
                <a:sym typeface="Calibri (MS) Bold"/>
              </a:rPr>
              <a:t>•  </a:t>
            </a:r>
            <a:r>
              <a:rPr lang="en-US" sz="1725">
                <a:solidFill>
                  <a:srgbClr val="22292E"/>
                </a:solidFill>
                <a:latin typeface="Calibri (MS)"/>
                <a:ea typeface="Calibri (MS)"/>
                <a:cs typeface="Calibri (MS)"/>
                <a:sym typeface="Calibri (MS)"/>
              </a:rPr>
              <a:t>Notificaciones en tiempo real</a:t>
            </a:r>
          </a:p>
        </p:txBody>
      </p:sp>
      <p:grpSp>
        <p:nvGrpSpPr>
          <p:cNvPr id="37" name="Group 37"/>
          <p:cNvGrpSpPr/>
          <p:nvPr/>
        </p:nvGrpSpPr>
        <p:grpSpPr>
          <a:xfrm>
            <a:off x="11658600" y="2468880"/>
            <a:ext cx="5897699" cy="6720754"/>
            <a:chOff x="0" y="0"/>
            <a:chExt cx="7863599" cy="8961006"/>
          </a:xfrm>
        </p:grpSpPr>
        <p:sp>
          <p:nvSpPr>
            <p:cNvPr id="38" name="Freeform 38"/>
            <p:cNvSpPr/>
            <p:nvPr/>
          </p:nvSpPr>
          <p:spPr>
            <a:xfrm>
              <a:off x="0" y="0"/>
              <a:ext cx="7863586" cy="8960993"/>
            </a:xfrm>
            <a:custGeom>
              <a:avLst/>
              <a:gdLst/>
              <a:ahLst/>
              <a:cxnLst/>
              <a:rect l="l" t="t" r="r" b="b"/>
              <a:pathLst>
                <a:path w="7863586" h="8960993">
                  <a:moveTo>
                    <a:pt x="0" y="146304"/>
                  </a:moveTo>
                  <a:cubicBezTo>
                    <a:pt x="0" y="65532"/>
                    <a:pt x="65532" y="0"/>
                    <a:pt x="146304" y="0"/>
                  </a:cubicBezTo>
                  <a:lnTo>
                    <a:pt x="7717282" y="0"/>
                  </a:lnTo>
                  <a:cubicBezTo>
                    <a:pt x="7798053" y="0"/>
                    <a:pt x="7863586" y="65532"/>
                    <a:pt x="7863586" y="146304"/>
                  </a:cubicBezTo>
                  <a:lnTo>
                    <a:pt x="7863586" y="8814689"/>
                  </a:lnTo>
                  <a:cubicBezTo>
                    <a:pt x="7863586" y="8895461"/>
                    <a:pt x="7798053" y="8960993"/>
                    <a:pt x="7717282" y="8960993"/>
                  </a:cubicBezTo>
                  <a:lnTo>
                    <a:pt x="146304" y="8960993"/>
                  </a:lnTo>
                  <a:cubicBezTo>
                    <a:pt x="65532" y="8960993"/>
                    <a:pt x="0" y="8895461"/>
                    <a:pt x="0" y="8814689"/>
                  </a:cubicBezTo>
                  <a:close/>
                </a:path>
              </a:pathLst>
            </a:custGeom>
            <a:solidFill>
              <a:srgbClr val="00304D"/>
            </a:solidFill>
          </p:spPr>
          <p:txBody>
            <a:bodyPr/>
            <a:lstStyle/>
            <a:p>
              <a:endParaRPr lang="es-CO"/>
            </a:p>
          </p:txBody>
        </p:sp>
      </p:grpSp>
      <p:grpSp>
        <p:nvGrpSpPr>
          <p:cNvPr id="39" name="Group 39"/>
          <p:cNvGrpSpPr/>
          <p:nvPr/>
        </p:nvGrpSpPr>
        <p:grpSpPr>
          <a:xfrm>
            <a:off x="12138660" y="2880360"/>
            <a:ext cx="823046" cy="823046"/>
            <a:chOff x="0" y="0"/>
            <a:chExt cx="1097394" cy="1097394"/>
          </a:xfrm>
        </p:grpSpPr>
        <p:sp>
          <p:nvSpPr>
            <p:cNvPr id="40" name="Freeform 40"/>
            <p:cNvSpPr/>
            <p:nvPr/>
          </p:nvSpPr>
          <p:spPr>
            <a:xfrm>
              <a:off x="0" y="0"/>
              <a:ext cx="1097280" cy="1097280"/>
            </a:xfrm>
            <a:custGeom>
              <a:avLst/>
              <a:gdLst/>
              <a:ahLst/>
              <a:cxnLst/>
              <a:rect l="l" t="t" r="r" b="b"/>
              <a:pathLst>
                <a:path w="1097280" h="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789"/>
                    <a:pt x="0" y="548640"/>
                  </a:cubicBezTo>
                  <a:close/>
                </a:path>
              </a:pathLst>
            </a:custGeom>
            <a:solidFill>
              <a:srgbClr val="FDC300"/>
            </a:solidFill>
          </p:spPr>
          <p:txBody>
            <a:bodyPr/>
            <a:lstStyle/>
            <a:p>
              <a:endParaRPr lang="es-CO"/>
            </a:p>
          </p:txBody>
        </p:sp>
      </p:grpSp>
      <p:grpSp>
        <p:nvGrpSpPr>
          <p:cNvPr id="41" name="Group 41"/>
          <p:cNvGrpSpPr/>
          <p:nvPr/>
        </p:nvGrpSpPr>
        <p:grpSpPr>
          <a:xfrm>
            <a:off x="12352630" y="3094330"/>
            <a:ext cx="395021" cy="395021"/>
            <a:chOff x="0" y="0"/>
            <a:chExt cx="526694" cy="526694"/>
          </a:xfrm>
        </p:grpSpPr>
        <p:sp>
          <p:nvSpPr>
            <p:cNvPr id="42" name="Freeform 42" descr="icons/cloud.png"/>
            <p:cNvSpPr/>
            <p:nvPr/>
          </p:nvSpPr>
          <p:spPr>
            <a:xfrm>
              <a:off x="0" y="0"/>
              <a:ext cx="526669" cy="526669"/>
            </a:xfrm>
            <a:custGeom>
              <a:avLst/>
              <a:gdLst/>
              <a:ahLst/>
              <a:cxnLst/>
              <a:rect l="l" t="t" r="r" b="b"/>
              <a:pathLst>
                <a:path w="526669" h="526669">
                  <a:moveTo>
                    <a:pt x="0" y="0"/>
                  </a:moveTo>
                  <a:lnTo>
                    <a:pt x="526669" y="0"/>
                  </a:lnTo>
                  <a:lnTo>
                    <a:pt x="526669" y="526669"/>
                  </a:lnTo>
                  <a:lnTo>
                    <a:pt x="0" y="526669"/>
                  </a:lnTo>
                  <a:lnTo>
                    <a:pt x="0" y="0"/>
                  </a:lnTo>
                  <a:close/>
                </a:path>
              </a:pathLst>
            </a:custGeom>
            <a:blipFill>
              <a:blip r:embed="rId7"/>
              <a:stretch>
                <a:fillRect r="-4" b="-4"/>
              </a:stretch>
            </a:blipFill>
          </p:spPr>
          <p:txBody>
            <a:bodyPr/>
            <a:lstStyle/>
            <a:p>
              <a:endParaRPr lang="es-CO"/>
            </a:p>
          </p:txBody>
        </p:sp>
      </p:grpSp>
      <p:grpSp>
        <p:nvGrpSpPr>
          <p:cNvPr id="43" name="Group 43"/>
          <p:cNvGrpSpPr/>
          <p:nvPr/>
        </p:nvGrpSpPr>
        <p:grpSpPr>
          <a:xfrm>
            <a:off x="13167360" y="2990088"/>
            <a:ext cx="4114800" cy="617401"/>
            <a:chOff x="0" y="0"/>
            <a:chExt cx="5486400" cy="823201"/>
          </a:xfrm>
        </p:grpSpPr>
        <p:sp>
          <p:nvSpPr>
            <p:cNvPr id="44" name="Freeform 44"/>
            <p:cNvSpPr/>
            <p:nvPr/>
          </p:nvSpPr>
          <p:spPr>
            <a:xfrm>
              <a:off x="0" y="0"/>
              <a:ext cx="5486400" cy="823200"/>
            </a:xfrm>
            <a:custGeom>
              <a:avLst/>
              <a:gdLst/>
              <a:ahLst/>
              <a:cxnLst/>
              <a:rect l="l" t="t" r="r" b="b"/>
              <a:pathLst>
                <a:path w="5486400" h="823200">
                  <a:moveTo>
                    <a:pt x="0" y="0"/>
                  </a:moveTo>
                  <a:lnTo>
                    <a:pt x="5486400" y="0"/>
                  </a:lnTo>
                  <a:lnTo>
                    <a:pt x="5486400" y="823200"/>
                  </a:lnTo>
                  <a:lnTo>
                    <a:pt x="0" y="823200"/>
                  </a:lnTo>
                  <a:close/>
                </a:path>
              </a:pathLst>
            </a:custGeom>
            <a:blipFill>
              <a:blip r:embed="rId4">
                <a:alphaModFix amt="0"/>
              </a:blip>
              <a:stretch>
                <a:fillRect t="-79862" b="-79862"/>
              </a:stretch>
            </a:blipFill>
          </p:spPr>
          <p:txBody>
            <a:bodyPr/>
            <a:lstStyle/>
            <a:p>
              <a:endParaRPr lang="es-CO"/>
            </a:p>
          </p:txBody>
        </p:sp>
        <p:sp>
          <p:nvSpPr>
            <p:cNvPr id="45" name="TextBox 45"/>
            <p:cNvSpPr txBox="1"/>
            <p:nvPr/>
          </p:nvSpPr>
          <p:spPr>
            <a:xfrm>
              <a:off x="0" y="-57150"/>
              <a:ext cx="5486400" cy="880351"/>
            </a:xfrm>
            <a:prstGeom prst="rect">
              <a:avLst/>
            </a:prstGeom>
          </p:spPr>
          <p:txBody>
            <a:bodyPr lIns="0" tIns="0" rIns="0" bIns="0" rtlCol="0" anchor="ctr"/>
            <a:lstStyle/>
            <a:p>
              <a:pPr algn="l">
                <a:lnSpc>
                  <a:spcPts val="2700"/>
                </a:lnSpc>
              </a:pPr>
              <a:r>
                <a:rPr lang="en-US" sz="2250" b="1">
                  <a:solidFill>
                    <a:srgbClr val="FFFFFF"/>
                  </a:solidFill>
                  <a:latin typeface="Calibri (MS) Bold"/>
                  <a:ea typeface="Calibri (MS) Bold"/>
                  <a:cs typeface="Calibri (MS) Bold"/>
                  <a:sym typeface="Calibri (MS) Bold"/>
                </a:rPr>
                <a:t>Alcance tecnológico</a:t>
              </a:r>
            </a:p>
          </p:txBody>
        </p:sp>
      </p:grpSp>
      <p:sp>
        <p:nvSpPr>
          <p:cNvPr id="46" name="TextBox 46"/>
          <p:cNvSpPr txBox="1"/>
          <p:nvPr/>
        </p:nvSpPr>
        <p:spPr>
          <a:xfrm>
            <a:off x="12138660" y="3870960"/>
            <a:ext cx="5143500" cy="792299"/>
          </a:xfrm>
          <a:prstGeom prst="rect">
            <a:avLst/>
          </a:prstGeom>
        </p:spPr>
        <p:txBody>
          <a:bodyPr lIns="0" tIns="0" rIns="0" bIns="0" rtlCol="0" anchor="t">
            <a:spAutoFit/>
          </a:bodyPr>
          <a:lstStyle/>
          <a:p>
            <a:pPr algn="l">
              <a:lnSpc>
                <a:spcPts val="2070"/>
              </a:lnSpc>
            </a:pPr>
            <a:r>
              <a:rPr lang="en-US" sz="1725" b="1">
                <a:solidFill>
                  <a:srgbClr val="FDC300"/>
                </a:solidFill>
                <a:latin typeface="Calibri (MS) Bold"/>
                <a:ea typeface="Calibri (MS) Bold"/>
                <a:cs typeface="Calibri (MS) Bold"/>
                <a:sym typeface="Calibri (MS) Bold"/>
              </a:rPr>
              <a:t>•  </a:t>
            </a:r>
            <a:r>
              <a:rPr lang="en-US" sz="1725">
                <a:solidFill>
                  <a:srgbClr val="E4EEF3"/>
                </a:solidFill>
                <a:latin typeface="Calibri (MS)"/>
                <a:ea typeface="Calibri (MS)"/>
                <a:cs typeface="Calibri (MS)"/>
                <a:sym typeface="Calibri (MS)"/>
              </a:rPr>
              <a:t>Plataforma web adaptable (responsive)</a:t>
            </a:r>
          </a:p>
        </p:txBody>
      </p:sp>
      <p:sp>
        <p:nvSpPr>
          <p:cNvPr id="47" name="TextBox 47"/>
          <p:cNvSpPr txBox="1"/>
          <p:nvPr/>
        </p:nvSpPr>
        <p:spPr>
          <a:xfrm>
            <a:off x="12138660" y="4803648"/>
            <a:ext cx="5143500" cy="295275"/>
          </a:xfrm>
          <a:prstGeom prst="rect">
            <a:avLst/>
          </a:prstGeom>
        </p:spPr>
        <p:txBody>
          <a:bodyPr lIns="0" tIns="0" rIns="0" bIns="0" rtlCol="0" anchor="t">
            <a:spAutoFit/>
          </a:bodyPr>
          <a:lstStyle/>
          <a:p>
            <a:pPr algn="l">
              <a:lnSpc>
                <a:spcPts val="2070"/>
              </a:lnSpc>
            </a:pPr>
            <a:r>
              <a:rPr lang="en-US" sz="1725" b="1">
                <a:solidFill>
                  <a:srgbClr val="FDC300"/>
                </a:solidFill>
                <a:latin typeface="Calibri (MS) Bold"/>
                <a:ea typeface="Calibri (MS) Bold"/>
                <a:cs typeface="Calibri (MS) Bold"/>
                <a:sym typeface="Calibri (MS) Bold"/>
              </a:rPr>
              <a:t>•  </a:t>
            </a:r>
            <a:r>
              <a:rPr lang="en-US" sz="1725">
                <a:solidFill>
                  <a:srgbClr val="E4EEF3"/>
                </a:solidFill>
                <a:latin typeface="Calibri (MS)"/>
                <a:ea typeface="Calibri (MS)"/>
                <a:cs typeface="Calibri (MS)"/>
                <a:sym typeface="Calibri (MS)"/>
              </a:rPr>
              <a:t>Unificacion de procesos</a:t>
            </a:r>
          </a:p>
        </p:txBody>
      </p:sp>
      <p:sp>
        <p:nvSpPr>
          <p:cNvPr id="48" name="TextBox 48"/>
          <p:cNvSpPr txBox="1"/>
          <p:nvPr/>
        </p:nvSpPr>
        <p:spPr>
          <a:xfrm>
            <a:off x="12138660" y="5736336"/>
            <a:ext cx="5143500" cy="295275"/>
          </a:xfrm>
          <a:prstGeom prst="rect">
            <a:avLst/>
          </a:prstGeom>
        </p:spPr>
        <p:txBody>
          <a:bodyPr lIns="0" tIns="0" rIns="0" bIns="0" rtlCol="0" anchor="t">
            <a:spAutoFit/>
          </a:bodyPr>
          <a:lstStyle/>
          <a:p>
            <a:pPr algn="l">
              <a:lnSpc>
                <a:spcPts val="2070"/>
              </a:lnSpc>
            </a:pPr>
            <a:r>
              <a:rPr lang="en-US" sz="1725" b="1">
                <a:solidFill>
                  <a:srgbClr val="FDC300"/>
                </a:solidFill>
                <a:latin typeface="Calibri (MS) Bold"/>
                <a:ea typeface="Calibri (MS) Bold"/>
                <a:cs typeface="Calibri (MS) Bold"/>
                <a:sym typeface="Calibri (MS) Bold"/>
              </a:rPr>
              <a:t>•  </a:t>
            </a:r>
            <a:r>
              <a:rPr lang="en-US" sz="1725">
                <a:solidFill>
                  <a:srgbClr val="E4EEF3"/>
                </a:solidFill>
                <a:latin typeface="Calibri (MS)"/>
                <a:ea typeface="Calibri (MS)"/>
                <a:cs typeface="Calibri (MS)"/>
                <a:sym typeface="Calibri (MS)"/>
              </a:rPr>
              <a:t>Base de datos relacional</a:t>
            </a:r>
          </a:p>
        </p:txBody>
      </p:sp>
      <p:sp>
        <p:nvSpPr>
          <p:cNvPr id="49" name="TextBox 49"/>
          <p:cNvSpPr txBox="1"/>
          <p:nvPr/>
        </p:nvSpPr>
        <p:spPr>
          <a:xfrm>
            <a:off x="12138660" y="6669024"/>
            <a:ext cx="5143500" cy="295275"/>
          </a:xfrm>
          <a:prstGeom prst="rect">
            <a:avLst/>
          </a:prstGeom>
        </p:spPr>
        <p:txBody>
          <a:bodyPr lIns="0" tIns="0" rIns="0" bIns="0" rtlCol="0" anchor="t">
            <a:spAutoFit/>
          </a:bodyPr>
          <a:lstStyle/>
          <a:p>
            <a:pPr algn="l">
              <a:lnSpc>
                <a:spcPts val="2070"/>
              </a:lnSpc>
            </a:pPr>
            <a:r>
              <a:rPr lang="en-US" sz="1725" b="1">
                <a:solidFill>
                  <a:srgbClr val="FDC300"/>
                </a:solidFill>
                <a:latin typeface="Calibri (MS) Bold"/>
                <a:ea typeface="Calibri (MS) Bold"/>
                <a:cs typeface="Calibri (MS) Bold"/>
                <a:sym typeface="Calibri (MS) Bold"/>
              </a:rPr>
              <a:t>•  </a:t>
            </a:r>
            <a:r>
              <a:rPr lang="en-US" sz="1725">
                <a:solidFill>
                  <a:srgbClr val="E4EEF3"/>
                </a:solidFill>
                <a:latin typeface="Calibri (MS)"/>
                <a:ea typeface="Calibri (MS)"/>
                <a:cs typeface="Calibri (MS)"/>
                <a:sym typeface="Calibri (MS)"/>
              </a:rPr>
              <a:t>Integración con servicios en la nube (Supabase)</a:t>
            </a:r>
          </a:p>
        </p:txBody>
      </p:sp>
      <p:sp>
        <p:nvSpPr>
          <p:cNvPr id="50" name="TextBox 50"/>
          <p:cNvSpPr txBox="1"/>
          <p:nvPr/>
        </p:nvSpPr>
        <p:spPr>
          <a:xfrm>
            <a:off x="12138660" y="7601712"/>
            <a:ext cx="5143500" cy="295275"/>
          </a:xfrm>
          <a:prstGeom prst="rect">
            <a:avLst/>
          </a:prstGeom>
        </p:spPr>
        <p:txBody>
          <a:bodyPr lIns="0" tIns="0" rIns="0" bIns="0" rtlCol="0" anchor="t">
            <a:spAutoFit/>
          </a:bodyPr>
          <a:lstStyle/>
          <a:p>
            <a:pPr algn="l">
              <a:lnSpc>
                <a:spcPts val="2070"/>
              </a:lnSpc>
            </a:pPr>
            <a:r>
              <a:rPr lang="en-US" sz="1725" b="1">
                <a:solidFill>
                  <a:srgbClr val="FDC300"/>
                </a:solidFill>
                <a:latin typeface="Calibri (MS) Bold"/>
                <a:ea typeface="Calibri (MS) Bold"/>
                <a:cs typeface="Calibri (MS) Bold"/>
                <a:sym typeface="Calibri (MS) Bold"/>
              </a:rPr>
              <a:t>•  </a:t>
            </a:r>
            <a:r>
              <a:rPr lang="en-US" sz="1725">
                <a:solidFill>
                  <a:srgbClr val="E4EEF3"/>
                </a:solidFill>
                <a:latin typeface="Calibri (MS)"/>
                <a:ea typeface="Calibri (MS)"/>
                <a:cs typeface="Calibri (MS)"/>
                <a:sym typeface="Calibri (MS)"/>
              </a:rPr>
              <a:t>Enfoque en una sola mecanica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s-CO"/>
          </a:p>
        </p:txBody>
      </p:sp>
      <p:grpSp>
        <p:nvGrpSpPr>
          <p:cNvPr id="3" name="Group 3"/>
          <p:cNvGrpSpPr/>
          <p:nvPr/>
        </p:nvGrpSpPr>
        <p:grpSpPr>
          <a:xfrm>
            <a:off x="822960" y="987552"/>
            <a:ext cx="16184699" cy="1165946"/>
            <a:chOff x="0" y="0"/>
            <a:chExt cx="21579599" cy="1554594"/>
          </a:xfrm>
        </p:grpSpPr>
        <p:sp>
          <p:nvSpPr>
            <p:cNvPr id="4" name="Freeform 4"/>
            <p:cNvSpPr/>
            <p:nvPr/>
          </p:nvSpPr>
          <p:spPr>
            <a:xfrm>
              <a:off x="0" y="0"/>
              <a:ext cx="21579601" cy="1554600"/>
            </a:xfrm>
            <a:custGeom>
              <a:avLst/>
              <a:gdLst/>
              <a:ahLst/>
              <a:cxnLst/>
              <a:rect l="l" t="t" r="r" b="b"/>
              <a:pathLst>
                <a:path w="21579601" h="1554600">
                  <a:moveTo>
                    <a:pt x="0" y="0"/>
                  </a:moveTo>
                  <a:lnTo>
                    <a:pt x="21579601" y="0"/>
                  </a:lnTo>
                  <a:lnTo>
                    <a:pt x="21579601" y="1554600"/>
                  </a:lnTo>
                  <a:lnTo>
                    <a:pt x="0" y="1554600"/>
                  </a:lnTo>
                  <a:close/>
                </a:path>
              </a:pathLst>
            </a:custGeom>
            <a:blipFill>
              <a:blip r:embed="rId4">
                <a:alphaModFix amt="0"/>
              </a:blip>
              <a:stretch>
                <a:fillRect t="-220474" b="-220474"/>
              </a:stretch>
            </a:blipFill>
          </p:spPr>
          <p:txBody>
            <a:bodyPr/>
            <a:lstStyle/>
            <a:p>
              <a:endParaRPr lang="es-CO"/>
            </a:p>
          </p:txBody>
        </p:sp>
        <p:sp>
          <p:nvSpPr>
            <p:cNvPr id="5" name="TextBox 5"/>
            <p:cNvSpPr txBox="1"/>
            <p:nvPr/>
          </p:nvSpPr>
          <p:spPr>
            <a:xfrm>
              <a:off x="0" y="0"/>
              <a:ext cx="21579599" cy="1554594"/>
            </a:xfrm>
            <a:prstGeom prst="rect">
              <a:avLst/>
            </a:prstGeom>
          </p:spPr>
          <p:txBody>
            <a:bodyPr lIns="0" tIns="0" rIns="0" bIns="0" rtlCol="0" anchor="ctr"/>
            <a:lstStyle/>
            <a:p>
              <a:pPr algn="l">
                <a:lnSpc>
                  <a:spcPts val="6480"/>
                </a:lnSpc>
              </a:pPr>
              <a:r>
                <a:rPr lang="en-US" sz="5400" b="1">
                  <a:solidFill>
                    <a:srgbClr val="38AA00"/>
                  </a:solidFill>
                  <a:latin typeface="Work Sans Bold"/>
                  <a:ea typeface="Work Sans Bold"/>
                  <a:cs typeface="Work Sans Bold"/>
                  <a:sym typeface="Work Sans Bold"/>
                </a:rPr>
                <a:t>Conclusiones</a:t>
              </a:r>
            </a:p>
          </p:txBody>
        </p:sp>
      </p:grpSp>
      <p:grpSp>
        <p:nvGrpSpPr>
          <p:cNvPr id="6" name="Group 6"/>
          <p:cNvGrpSpPr/>
          <p:nvPr/>
        </p:nvGrpSpPr>
        <p:grpSpPr>
          <a:xfrm>
            <a:off x="9144000" y="5074920"/>
            <a:ext cx="7715250" cy="2125799"/>
            <a:chOff x="0" y="0"/>
            <a:chExt cx="10287000" cy="2834399"/>
          </a:xfrm>
        </p:grpSpPr>
        <p:sp>
          <p:nvSpPr>
            <p:cNvPr id="7" name="Freeform 7"/>
            <p:cNvSpPr/>
            <p:nvPr/>
          </p:nvSpPr>
          <p:spPr>
            <a:xfrm>
              <a:off x="0" y="0"/>
              <a:ext cx="10287000" cy="2834386"/>
            </a:xfrm>
            <a:custGeom>
              <a:avLst/>
              <a:gdLst/>
              <a:ahLst/>
              <a:cxnLst/>
              <a:rect l="l" t="t" r="r" b="b"/>
              <a:pathLst>
                <a:path w="10287000" h="2834386">
                  <a:moveTo>
                    <a:pt x="0" y="146304"/>
                  </a:moveTo>
                  <a:cubicBezTo>
                    <a:pt x="0" y="65532"/>
                    <a:pt x="65532" y="0"/>
                    <a:pt x="146304" y="0"/>
                  </a:cubicBezTo>
                  <a:lnTo>
                    <a:pt x="10140696" y="0"/>
                  </a:lnTo>
                  <a:cubicBezTo>
                    <a:pt x="10221468" y="0"/>
                    <a:pt x="10287000" y="65532"/>
                    <a:pt x="10287000" y="146304"/>
                  </a:cubicBezTo>
                  <a:lnTo>
                    <a:pt x="10287000" y="2688082"/>
                  </a:lnTo>
                  <a:cubicBezTo>
                    <a:pt x="10287000" y="2768854"/>
                    <a:pt x="10221468" y="2834386"/>
                    <a:pt x="10140696" y="2834386"/>
                  </a:cubicBezTo>
                  <a:lnTo>
                    <a:pt x="146304" y="2834386"/>
                  </a:lnTo>
                  <a:cubicBezTo>
                    <a:pt x="65532" y="2834386"/>
                    <a:pt x="0" y="2768854"/>
                    <a:pt x="0" y="2688082"/>
                  </a:cubicBezTo>
                  <a:close/>
                </a:path>
              </a:pathLst>
            </a:custGeom>
            <a:solidFill>
              <a:srgbClr val="F6F6F6"/>
            </a:solidFill>
          </p:spPr>
          <p:txBody>
            <a:bodyPr/>
            <a:lstStyle/>
            <a:p>
              <a:endParaRPr lang="es-CO"/>
            </a:p>
          </p:txBody>
        </p:sp>
      </p:grpSp>
      <p:grpSp>
        <p:nvGrpSpPr>
          <p:cNvPr id="8" name="Group 8"/>
          <p:cNvGrpSpPr/>
          <p:nvPr/>
        </p:nvGrpSpPr>
        <p:grpSpPr>
          <a:xfrm>
            <a:off x="9418320" y="5692140"/>
            <a:ext cx="891454" cy="891454"/>
            <a:chOff x="0" y="0"/>
            <a:chExt cx="1188606" cy="1188606"/>
          </a:xfrm>
        </p:grpSpPr>
        <p:sp>
          <p:nvSpPr>
            <p:cNvPr id="9" name="Freeform 9"/>
            <p:cNvSpPr/>
            <p:nvPr/>
          </p:nvSpPr>
          <p:spPr>
            <a:xfrm>
              <a:off x="0" y="0"/>
              <a:ext cx="1188720" cy="1188720"/>
            </a:xfrm>
            <a:custGeom>
              <a:avLst/>
              <a:gdLst/>
              <a:ahLst/>
              <a:cxnLst/>
              <a:rect l="l" t="t" r="r" b="b"/>
              <a:pathLst>
                <a:path w="1188720" h="1188720">
                  <a:moveTo>
                    <a:pt x="0" y="594360"/>
                  </a:moveTo>
                  <a:cubicBezTo>
                    <a:pt x="0" y="266065"/>
                    <a:pt x="266065" y="0"/>
                    <a:pt x="594360" y="0"/>
                  </a:cubicBezTo>
                  <a:cubicBezTo>
                    <a:pt x="922655" y="0"/>
                    <a:pt x="1188720" y="266065"/>
                    <a:pt x="1188720" y="594360"/>
                  </a:cubicBezTo>
                  <a:cubicBezTo>
                    <a:pt x="1188720" y="922655"/>
                    <a:pt x="922655" y="1188720"/>
                    <a:pt x="594360" y="1188720"/>
                  </a:cubicBezTo>
                  <a:cubicBezTo>
                    <a:pt x="266065" y="1188720"/>
                    <a:pt x="0" y="922528"/>
                    <a:pt x="0" y="594360"/>
                  </a:cubicBezTo>
                  <a:close/>
                </a:path>
              </a:pathLst>
            </a:custGeom>
            <a:solidFill>
              <a:srgbClr val="39A900"/>
            </a:solidFill>
          </p:spPr>
          <p:txBody>
            <a:bodyPr/>
            <a:lstStyle/>
            <a:p>
              <a:endParaRPr lang="es-CO"/>
            </a:p>
          </p:txBody>
        </p:sp>
      </p:grpSp>
      <p:grpSp>
        <p:nvGrpSpPr>
          <p:cNvPr id="10" name="Group 10"/>
          <p:cNvGrpSpPr/>
          <p:nvPr/>
        </p:nvGrpSpPr>
        <p:grpSpPr>
          <a:xfrm>
            <a:off x="9650120" y="5923940"/>
            <a:ext cx="427939" cy="427939"/>
            <a:chOff x="0" y="0"/>
            <a:chExt cx="570586" cy="570586"/>
          </a:xfrm>
        </p:grpSpPr>
        <p:sp>
          <p:nvSpPr>
            <p:cNvPr id="11" name="Freeform 11" descr="icons/check.png"/>
            <p:cNvSpPr/>
            <p:nvPr/>
          </p:nvSpPr>
          <p:spPr>
            <a:xfrm>
              <a:off x="0" y="0"/>
              <a:ext cx="570611" cy="570611"/>
            </a:xfrm>
            <a:custGeom>
              <a:avLst/>
              <a:gdLst/>
              <a:ahLst/>
              <a:cxnLst/>
              <a:rect l="l" t="t" r="r" b="b"/>
              <a:pathLst>
                <a:path w="570611" h="570611">
                  <a:moveTo>
                    <a:pt x="0" y="0"/>
                  </a:moveTo>
                  <a:lnTo>
                    <a:pt x="570611" y="0"/>
                  </a:lnTo>
                  <a:lnTo>
                    <a:pt x="570611" y="570611"/>
                  </a:lnTo>
                  <a:lnTo>
                    <a:pt x="0" y="570611"/>
                  </a:lnTo>
                  <a:lnTo>
                    <a:pt x="0" y="0"/>
                  </a:lnTo>
                  <a:close/>
                </a:path>
              </a:pathLst>
            </a:custGeom>
            <a:blipFill>
              <a:blip r:embed="rId5"/>
              <a:stretch>
                <a:fillRect r="4" b="4"/>
              </a:stretch>
            </a:blipFill>
          </p:spPr>
          <p:txBody>
            <a:bodyPr/>
            <a:lstStyle/>
            <a:p>
              <a:endParaRPr lang="es-CO"/>
            </a:p>
          </p:txBody>
        </p:sp>
      </p:grpSp>
      <p:grpSp>
        <p:nvGrpSpPr>
          <p:cNvPr id="12" name="Group 12"/>
          <p:cNvGrpSpPr/>
          <p:nvPr/>
        </p:nvGrpSpPr>
        <p:grpSpPr>
          <a:xfrm>
            <a:off x="10584180" y="5321808"/>
            <a:ext cx="6069149" cy="480146"/>
            <a:chOff x="0" y="0"/>
            <a:chExt cx="8092199" cy="640194"/>
          </a:xfrm>
        </p:grpSpPr>
        <p:sp>
          <p:nvSpPr>
            <p:cNvPr id="13" name="Freeform 13"/>
            <p:cNvSpPr/>
            <p:nvPr/>
          </p:nvSpPr>
          <p:spPr>
            <a:xfrm>
              <a:off x="0" y="0"/>
              <a:ext cx="8092200" cy="640200"/>
            </a:xfrm>
            <a:custGeom>
              <a:avLst/>
              <a:gdLst/>
              <a:ahLst/>
              <a:cxnLst/>
              <a:rect l="l" t="t" r="r" b="b"/>
              <a:pathLst>
                <a:path w="8092200" h="640200">
                  <a:moveTo>
                    <a:pt x="0" y="0"/>
                  </a:moveTo>
                  <a:lnTo>
                    <a:pt x="8092200" y="0"/>
                  </a:lnTo>
                  <a:lnTo>
                    <a:pt x="8092200" y="640200"/>
                  </a:lnTo>
                  <a:lnTo>
                    <a:pt x="0" y="640200"/>
                  </a:lnTo>
                  <a:close/>
                </a:path>
              </a:pathLst>
            </a:custGeom>
            <a:blipFill>
              <a:blip r:embed="rId4">
                <a:alphaModFix amt="0"/>
              </a:blip>
              <a:stretch>
                <a:fillRect t="-196293" b="-196292"/>
              </a:stretch>
            </a:blipFill>
          </p:spPr>
          <p:txBody>
            <a:bodyPr/>
            <a:lstStyle/>
            <a:p>
              <a:endParaRPr lang="es-CO"/>
            </a:p>
          </p:txBody>
        </p:sp>
        <p:sp>
          <p:nvSpPr>
            <p:cNvPr id="14" name="TextBox 14"/>
            <p:cNvSpPr txBox="1"/>
            <p:nvPr/>
          </p:nvSpPr>
          <p:spPr>
            <a:xfrm>
              <a:off x="0" y="-47625"/>
              <a:ext cx="8092199" cy="687819"/>
            </a:xfrm>
            <a:prstGeom prst="rect">
              <a:avLst/>
            </a:prstGeom>
          </p:spPr>
          <p:txBody>
            <a:bodyPr lIns="0" tIns="0" rIns="0" bIns="0" rtlCol="0" anchor="ctr"/>
            <a:lstStyle/>
            <a:p>
              <a:pPr algn="l">
                <a:lnSpc>
                  <a:spcPts val="2520"/>
                </a:lnSpc>
              </a:pPr>
              <a:r>
                <a:rPr lang="en-US" sz="2100" b="1">
                  <a:solidFill>
                    <a:srgbClr val="00304D"/>
                  </a:solidFill>
                  <a:latin typeface="Calibri (MS) Bold"/>
                  <a:ea typeface="Calibri (MS) Bold"/>
                  <a:cs typeface="Calibri (MS) Bold"/>
                  <a:sym typeface="Calibri (MS) Bold"/>
                </a:rPr>
                <a:t>Gestión de productos</a:t>
              </a:r>
            </a:p>
          </p:txBody>
        </p:sp>
      </p:grpSp>
      <p:grpSp>
        <p:nvGrpSpPr>
          <p:cNvPr id="15" name="Group 15"/>
          <p:cNvGrpSpPr/>
          <p:nvPr/>
        </p:nvGrpSpPr>
        <p:grpSpPr>
          <a:xfrm>
            <a:off x="10584180" y="5734705"/>
            <a:ext cx="6069149" cy="1234350"/>
            <a:chOff x="0" y="0"/>
            <a:chExt cx="8092199" cy="1645800"/>
          </a:xfrm>
        </p:grpSpPr>
        <p:sp>
          <p:nvSpPr>
            <p:cNvPr id="16" name="Freeform 16"/>
            <p:cNvSpPr/>
            <p:nvPr/>
          </p:nvSpPr>
          <p:spPr>
            <a:xfrm>
              <a:off x="0" y="0"/>
              <a:ext cx="8092200" cy="1645794"/>
            </a:xfrm>
            <a:custGeom>
              <a:avLst/>
              <a:gdLst/>
              <a:ahLst/>
              <a:cxnLst/>
              <a:rect l="l" t="t" r="r" b="b"/>
              <a:pathLst>
                <a:path w="8092200" h="1645794">
                  <a:moveTo>
                    <a:pt x="0" y="0"/>
                  </a:moveTo>
                  <a:lnTo>
                    <a:pt x="8092200" y="0"/>
                  </a:lnTo>
                  <a:lnTo>
                    <a:pt x="8092200" y="1645794"/>
                  </a:lnTo>
                  <a:lnTo>
                    <a:pt x="0" y="1645794"/>
                  </a:lnTo>
                  <a:close/>
                </a:path>
              </a:pathLst>
            </a:custGeom>
            <a:blipFill>
              <a:blip r:embed="rId4">
                <a:alphaModFix amt="0"/>
              </a:blip>
              <a:stretch>
                <a:fillRect t="-45805" b="-45806"/>
              </a:stretch>
            </a:blipFill>
          </p:spPr>
          <p:txBody>
            <a:bodyPr/>
            <a:lstStyle/>
            <a:p>
              <a:endParaRPr lang="es-CO"/>
            </a:p>
          </p:txBody>
        </p:sp>
        <p:sp>
          <p:nvSpPr>
            <p:cNvPr id="17" name="TextBox 17"/>
            <p:cNvSpPr txBox="1"/>
            <p:nvPr/>
          </p:nvSpPr>
          <p:spPr>
            <a:xfrm>
              <a:off x="0" y="-47625"/>
              <a:ext cx="8092199" cy="1693425"/>
            </a:xfrm>
            <a:prstGeom prst="rect">
              <a:avLst/>
            </a:prstGeom>
          </p:spPr>
          <p:txBody>
            <a:bodyPr lIns="0" tIns="0" rIns="0" bIns="0" rtlCol="0" anchor="ctr"/>
            <a:lstStyle/>
            <a:p>
              <a:pPr algn="l">
                <a:lnSpc>
                  <a:spcPts val="2520"/>
                </a:lnSpc>
              </a:pPr>
              <a:r>
                <a:rPr lang="en-US" sz="2100">
                  <a:solidFill>
                    <a:srgbClr val="000000"/>
                  </a:solidFill>
                  <a:latin typeface="Calibri (MS)"/>
                  <a:ea typeface="Calibri (MS)"/>
                  <a:cs typeface="Calibri (MS)"/>
                  <a:sym typeface="Calibri (MS)"/>
                </a:rPr>
                <a:t>CRUD completo sobre vehículos, órdenes de trabajo, servicios e inventario, con visualización de estados.</a:t>
              </a:r>
            </a:p>
          </p:txBody>
        </p:sp>
      </p:grpSp>
      <p:grpSp>
        <p:nvGrpSpPr>
          <p:cNvPr id="18" name="Group 18"/>
          <p:cNvGrpSpPr/>
          <p:nvPr/>
        </p:nvGrpSpPr>
        <p:grpSpPr>
          <a:xfrm>
            <a:off x="822960" y="2548376"/>
            <a:ext cx="16036290" cy="2125799"/>
            <a:chOff x="0" y="0"/>
            <a:chExt cx="21381720" cy="2834399"/>
          </a:xfrm>
        </p:grpSpPr>
        <p:sp>
          <p:nvSpPr>
            <p:cNvPr id="19" name="Freeform 19"/>
            <p:cNvSpPr/>
            <p:nvPr/>
          </p:nvSpPr>
          <p:spPr>
            <a:xfrm>
              <a:off x="0" y="0"/>
              <a:ext cx="21381720" cy="2834386"/>
            </a:xfrm>
            <a:custGeom>
              <a:avLst/>
              <a:gdLst/>
              <a:ahLst/>
              <a:cxnLst/>
              <a:rect l="l" t="t" r="r" b="b"/>
              <a:pathLst>
                <a:path w="21381720" h="2834386">
                  <a:moveTo>
                    <a:pt x="0" y="146304"/>
                  </a:moveTo>
                  <a:cubicBezTo>
                    <a:pt x="0" y="65532"/>
                    <a:pt x="65532" y="0"/>
                    <a:pt x="146304" y="0"/>
                  </a:cubicBezTo>
                  <a:lnTo>
                    <a:pt x="21235415" y="0"/>
                  </a:lnTo>
                  <a:cubicBezTo>
                    <a:pt x="21316187" y="0"/>
                    <a:pt x="21381720" y="65532"/>
                    <a:pt x="21381720" y="146304"/>
                  </a:cubicBezTo>
                  <a:lnTo>
                    <a:pt x="21381720" y="2688082"/>
                  </a:lnTo>
                  <a:cubicBezTo>
                    <a:pt x="21381720" y="2768854"/>
                    <a:pt x="21316187" y="2834386"/>
                    <a:pt x="21235415" y="2834386"/>
                  </a:cubicBezTo>
                  <a:lnTo>
                    <a:pt x="146304" y="2834386"/>
                  </a:lnTo>
                  <a:cubicBezTo>
                    <a:pt x="65532" y="2834386"/>
                    <a:pt x="0" y="2768854"/>
                    <a:pt x="0" y="2688082"/>
                  </a:cubicBezTo>
                  <a:close/>
                </a:path>
              </a:pathLst>
            </a:custGeom>
            <a:solidFill>
              <a:srgbClr val="F6F6F6"/>
            </a:solidFill>
          </p:spPr>
          <p:txBody>
            <a:bodyPr/>
            <a:lstStyle/>
            <a:p>
              <a:endParaRPr lang="es-CO"/>
            </a:p>
          </p:txBody>
        </p:sp>
      </p:grpSp>
      <p:grpSp>
        <p:nvGrpSpPr>
          <p:cNvPr id="20" name="Group 20"/>
          <p:cNvGrpSpPr/>
          <p:nvPr/>
        </p:nvGrpSpPr>
        <p:grpSpPr>
          <a:xfrm>
            <a:off x="1097280" y="3165596"/>
            <a:ext cx="891454" cy="891454"/>
            <a:chOff x="0" y="0"/>
            <a:chExt cx="1188606" cy="1188606"/>
          </a:xfrm>
        </p:grpSpPr>
        <p:sp>
          <p:nvSpPr>
            <p:cNvPr id="21" name="Freeform 21"/>
            <p:cNvSpPr/>
            <p:nvPr/>
          </p:nvSpPr>
          <p:spPr>
            <a:xfrm>
              <a:off x="0" y="0"/>
              <a:ext cx="1188720" cy="1188720"/>
            </a:xfrm>
            <a:custGeom>
              <a:avLst/>
              <a:gdLst/>
              <a:ahLst/>
              <a:cxnLst/>
              <a:rect l="l" t="t" r="r" b="b"/>
              <a:pathLst>
                <a:path w="1188720" h="1188720">
                  <a:moveTo>
                    <a:pt x="0" y="594360"/>
                  </a:moveTo>
                  <a:cubicBezTo>
                    <a:pt x="0" y="266065"/>
                    <a:pt x="266065" y="0"/>
                    <a:pt x="594360" y="0"/>
                  </a:cubicBezTo>
                  <a:cubicBezTo>
                    <a:pt x="922655" y="0"/>
                    <a:pt x="1188720" y="266065"/>
                    <a:pt x="1188720" y="594360"/>
                  </a:cubicBezTo>
                  <a:cubicBezTo>
                    <a:pt x="1188720" y="922655"/>
                    <a:pt x="922655" y="1188720"/>
                    <a:pt x="594360" y="1188720"/>
                  </a:cubicBezTo>
                  <a:cubicBezTo>
                    <a:pt x="266065" y="1188720"/>
                    <a:pt x="0" y="922528"/>
                    <a:pt x="0" y="594360"/>
                  </a:cubicBezTo>
                  <a:close/>
                </a:path>
              </a:pathLst>
            </a:custGeom>
            <a:solidFill>
              <a:srgbClr val="39A900"/>
            </a:solidFill>
          </p:spPr>
          <p:txBody>
            <a:bodyPr/>
            <a:lstStyle/>
            <a:p>
              <a:endParaRPr lang="es-CO"/>
            </a:p>
          </p:txBody>
        </p:sp>
      </p:grpSp>
      <p:grpSp>
        <p:nvGrpSpPr>
          <p:cNvPr id="22" name="Group 22"/>
          <p:cNvGrpSpPr/>
          <p:nvPr/>
        </p:nvGrpSpPr>
        <p:grpSpPr>
          <a:xfrm>
            <a:off x="2263140" y="2795264"/>
            <a:ext cx="6069149" cy="480146"/>
            <a:chOff x="0" y="0"/>
            <a:chExt cx="8092199" cy="640194"/>
          </a:xfrm>
        </p:grpSpPr>
        <p:sp>
          <p:nvSpPr>
            <p:cNvPr id="23" name="Freeform 23"/>
            <p:cNvSpPr/>
            <p:nvPr/>
          </p:nvSpPr>
          <p:spPr>
            <a:xfrm>
              <a:off x="0" y="0"/>
              <a:ext cx="8092200" cy="640200"/>
            </a:xfrm>
            <a:custGeom>
              <a:avLst/>
              <a:gdLst/>
              <a:ahLst/>
              <a:cxnLst/>
              <a:rect l="l" t="t" r="r" b="b"/>
              <a:pathLst>
                <a:path w="8092200" h="640200">
                  <a:moveTo>
                    <a:pt x="0" y="0"/>
                  </a:moveTo>
                  <a:lnTo>
                    <a:pt x="8092200" y="0"/>
                  </a:lnTo>
                  <a:lnTo>
                    <a:pt x="8092200" y="640200"/>
                  </a:lnTo>
                  <a:lnTo>
                    <a:pt x="0" y="640200"/>
                  </a:lnTo>
                  <a:close/>
                </a:path>
              </a:pathLst>
            </a:custGeom>
            <a:blipFill>
              <a:blip r:embed="rId4">
                <a:alphaModFix amt="0"/>
              </a:blip>
              <a:stretch>
                <a:fillRect t="-196293" b="-196292"/>
              </a:stretch>
            </a:blipFill>
          </p:spPr>
          <p:txBody>
            <a:bodyPr/>
            <a:lstStyle/>
            <a:p>
              <a:endParaRPr lang="es-CO"/>
            </a:p>
          </p:txBody>
        </p:sp>
        <p:sp>
          <p:nvSpPr>
            <p:cNvPr id="24" name="TextBox 24"/>
            <p:cNvSpPr txBox="1"/>
            <p:nvPr/>
          </p:nvSpPr>
          <p:spPr>
            <a:xfrm>
              <a:off x="0" y="-47625"/>
              <a:ext cx="8092199" cy="687819"/>
            </a:xfrm>
            <a:prstGeom prst="rect">
              <a:avLst/>
            </a:prstGeom>
          </p:spPr>
          <p:txBody>
            <a:bodyPr lIns="0" tIns="0" rIns="0" bIns="0" rtlCol="0" anchor="ctr"/>
            <a:lstStyle/>
            <a:p>
              <a:pPr algn="l">
                <a:lnSpc>
                  <a:spcPts val="2520"/>
                </a:lnSpc>
              </a:pPr>
              <a:r>
                <a:rPr lang="en-US" sz="2100" b="1">
                  <a:solidFill>
                    <a:srgbClr val="00304D"/>
                  </a:solidFill>
                  <a:latin typeface="Calibri (MS) Bold"/>
                  <a:ea typeface="Calibri (MS) Bold"/>
                  <a:cs typeface="Calibri (MS) Bold"/>
                  <a:sym typeface="Calibri (MS) Bold"/>
                </a:rPr>
                <a:t>Creación de aplicación web</a:t>
              </a:r>
            </a:p>
          </p:txBody>
        </p:sp>
      </p:grpSp>
      <p:grpSp>
        <p:nvGrpSpPr>
          <p:cNvPr id="25" name="Group 25"/>
          <p:cNvGrpSpPr/>
          <p:nvPr/>
        </p:nvGrpSpPr>
        <p:grpSpPr>
          <a:xfrm>
            <a:off x="2263140" y="3302756"/>
            <a:ext cx="14390189" cy="1234350"/>
            <a:chOff x="0" y="0"/>
            <a:chExt cx="19186919" cy="1645800"/>
          </a:xfrm>
        </p:grpSpPr>
        <p:sp>
          <p:nvSpPr>
            <p:cNvPr id="26" name="Freeform 26"/>
            <p:cNvSpPr/>
            <p:nvPr/>
          </p:nvSpPr>
          <p:spPr>
            <a:xfrm>
              <a:off x="0" y="0"/>
              <a:ext cx="19186920" cy="1645794"/>
            </a:xfrm>
            <a:custGeom>
              <a:avLst/>
              <a:gdLst/>
              <a:ahLst/>
              <a:cxnLst/>
              <a:rect l="l" t="t" r="r" b="b"/>
              <a:pathLst>
                <a:path w="19186920" h="1645794">
                  <a:moveTo>
                    <a:pt x="0" y="0"/>
                  </a:moveTo>
                  <a:lnTo>
                    <a:pt x="19186920" y="0"/>
                  </a:lnTo>
                  <a:lnTo>
                    <a:pt x="19186920" y="1645794"/>
                  </a:lnTo>
                  <a:lnTo>
                    <a:pt x="0" y="1645794"/>
                  </a:lnTo>
                  <a:close/>
                </a:path>
              </a:pathLst>
            </a:custGeom>
            <a:blipFill>
              <a:blip r:embed="rId4">
                <a:alphaModFix amt="0"/>
              </a:blip>
              <a:stretch>
                <a:fillRect t="-177159" b="-177159"/>
              </a:stretch>
            </a:blipFill>
          </p:spPr>
          <p:txBody>
            <a:bodyPr/>
            <a:lstStyle/>
            <a:p>
              <a:endParaRPr lang="es-CO"/>
            </a:p>
          </p:txBody>
        </p:sp>
        <p:sp>
          <p:nvSpPr>
            <p:cNvPr id="27" name="TextBox 27"/>
            <p:cNvSpPr txBox="1"/>
            <p:nvPr/>
          </p:nvSpPr>
          <p:spPr>
            <a:xfrm>
              <a:off x="0" y="-47625"/>
              <a:ext cx="19186919" cy="1693425"/>
            </a:xfrm>
            <a:prstGeom prst="rect">
              <a:avLst/>
            </a:prstGeom>
          </p:spPr>
          <p:txBody>
            <a:bodyPr lIns="0" tIns="0" rIns="0" bIns="0" rtlCol="0" anchor="ctr"/>
            <a:lstStyle/>
            <a:p>
              <a:pPr algn="l">
                <a:lnSpc>
                  <a:spcPts val="2520"/>
                </a:lnSpc>
              </a:pPr>
              <a:r>
                <a:rPr lang="en-US" sz="2100">
                  <a:solidFill>
                    <a:srgbClr val="000000"/>
                  </a:solidFill>
                  <a:latin typeface="Calibri (MS)"/>
                  <a:ea typeface="Calibri (MS)"/>
                  <a:cs typeface="Calibri (MS)"/>
                  <a:sym typeface="Calibri (MS)"/>
                </a:rPr>
                <a:t>Se crea exitosamente un sistema web para la gestión integral de un taller vehicular, permitiendo centralizar el control de vehículos, servicios, órdenes de trabajo, inventario y facturación en una sola plataforma.</a:t>
              </a:r>
            </a:p>
          </p:txBody>
        </p:sp>
      </p:grpSp>
      <p:grpSp>
        <p:nvGrpSpPr>
          <p:cNvPr id="28" name="Group 28"/>
          <p:cNvGrpSpPr/>
          <p:nvPr/>
        </p:nvGrpSpPr>
        <p:grpSpPr>
          <a:xfrm>
            <a:off x="822960" y="5074920"/>
            <a:ext cx="7715250" cy="2125799"/>
            <a:chOff x="0" y="0"/>
            <a:chExt cx="10287000" cy="2834399"/>
          </a:xfrm>
        </p:grpSpPr>
        <p:sp>
          <p:nvSpPr>
            <p:cNvPr id="29" name="Freeform 29"/>
            <p:cNvSpPr/>
            <p:nvPr/>
          </p:nvSpPr>
          <p:spPr>
            <a:xfrm>
              <a:off x="0" y="0"/>
              <a:ext cx="10287000" cy="2834386"/>
            </a:xfrm>
            <a:custGeom>
              <a:avLst/>
              <a:gdLst/>
              <a:ahLst/>
              <a:cxnLst/>
              <a:rect l="l" t="t" r="r" b="b"/>
              <a:pathLst>
                <a:path w="10287000" h="2834386">
                  <a:moveTo>
                    <a:pt x="0" y="146304"/>
                  </a:moveTo>
                  <a:cubicBezTo>
                    <a:pt x="0" y="65532"/>
                    <a:pt x="65532" y="0"/>
                    <a:pt x="146304" y="0"/>
                  </a:cubicBezTo>
                  <a:lnTo>
                    <a:pt x="10140696" y="0"/>
                  </a:lnTo>
                  <a:cubicBezTo>
                    <a:pt x="10221468" y="0"/>
                    <a:pt x="10287000" y="65532"/>
                    <a:pt x="10287000" y="146304"/>
                  </a:cubicBezTo>
                  <a:lnTo>
                    <a:pt x="10287000" y="2688082"/>
                  </a:lnTo>
                  <a:cubicBezTo>
                    <a:pt x="10287000" y="2768854"/>
                    <a:pt x="10221468" y="2834386"/>
                    <a:pt x="10140696" y="2834386"/>
                  </a:cubicBezTo>
                  <a:lnTo>
                    <a:pt x="146304" y="2834386"/>
                  </a:lnTo>
                  <a:cubicBezTo>
                    <a:pt x="65532" y="2834386"/>
                    <a:pt x="0" y="2768854"/>
                    <a:pt x="0" y="2688082"/>
                  </a:cubicBezTo>
                  <a:close/>
                </a:path>
              </a:pathLst>
            </a:custGeom>
            <a:solidFill>
              <a:srgbClr val="F6F6F6"/>
            </a:solidFill>
          </p:spPr>
          <p:txBody>
            <a:bodyPr/>
            <a:lstStyle/>
            <a:p>
              <a:endParaRPr lang="es-CO"/>
            </a:p>
          </p:txBody>
        </p:sp>
      </p:grpSp>
      <p:grpSp>
        <p:nvGrpSpPr>
          <p:cNvPr id="30" name="Group 30"/>
          <p:cNvGrpSpPr/>
          <p:nvPr/>
        </p:nvGrpSpPr>
        <p:grpSpPr>
          <a:xfrm>
            <a:off x="1097280" y="5692140"/>
            <a:ext cx="891454" cy="891454"/>
            <a:chOff x="0" y="0"/>
            <a:chExt cx="1188606" cy="1188606"/>
          </a:xfrm>
        </p:grpSpPr>
        <p:sp>
          <p:nvSpPr>
            <p:cNvPr id="31" name="Freeform 31"/>
            <p:cNvSpPr/>
            <p:nvPr/>
          </p:nvSpPr>
          <p:spPr>
            <a:xfrm>
              <a:off x="0" y="0"/>
              <a:ext cx="1188720" cy="1188720"/>
            </a:xfrm>
            <a:custGeom>
              <a:avLst/>
              <a:gdLst/>
              <a:ahLst/>
              <a:cxnLst/>
              <a:rect l="l" t="t" r="r" b="b"/>
              <a:pathLst>
                <a:path w="1188720" h="1188720">
                  <a:moveTo>
                    <a:pt x="0" y="594360"/>
                  </a:moveTo>
                  <a:cubicBezTo>
                    <a:pt x="0" y="266065"/>
                    <a:pt x="266065" y="0"/>
                    <a:pt x="594360" y="0"/>
                  </a:cubicBezTo>
                  <a:cubicBezTo>
                    <a:pt x="922655" y="0"/>
                    <a:pt x="1188720" y="266065"/>
                    <a:pt x="1188720" y="594360"/>
                  </a:cubicBezTo>
                  <a:cubicBezTo>
                    <a:pt x="1188720" y="922655"/>
                    <a:pt x="922655" y="1188720"/>
                    <a:pt x="594360" y="1188720"/>
                  </a:cubicBezTo>
                  <a:cubicBezTo>
                    <a:pt x="266065" y="1188720"/>
                    <a:pt x="0" y="922528"/>
                    <a:pt x="0" y="594360"/>
                  </a:cubicBezTo>
                  <a:close/>
                </a:path>
              </a:pathLst>
            </a:custGeom>
            <a:solidFill>
              <a:srgbClr val="39A900"/>
            </a:solidFill>
          </p:spPr>
          <p:txBody>
            <a:bodyPr/>
            <a:lstStyle/>
            <a:p>
              <a:endParaRPr lang="es-CO"/>
            </a:p>
          </p:txBody>
        </p:sp>
      </p:grpSp>
      <p:grpSp>
        <p:nvGrpSpPr>
          <p:cNvPr id="32" name="Group 32"/>
          <p:cNvGrpSpPr/>
          <p:nvPr/>
        </p:nvGrpSpPr>
        <p:grpSpPr>
          <a:xfrm>
            <a:off x="1329080" y="5923940"/>
            <a:ext cx="427939" cy="427939"/>
            <a:chOff x="0" y="0"/>
            <a:chExt cx="570586" cy="570586"/>
          </a:xfrm>
        </p:grpSpPr>
        <p:sp>
          <p:nvSpPr>
            <p:cNvPr id="33" name="Freeform 33" descr="icons/mobile.png"/>
            <p:cNvSpPr/>
            <p:nvPr/>
          </p:nvSpPr>
          <p:spPr>
            <a:xfrm>
              <a:off x="0" y="0"/>
              <a:ext cx="570611" cy="570611"/>
            </a:xfrm>
            <a:custGeom>
              <a:avLst/>
              <a:gdLst/>
              <a:ahLst/>
              <a:cxnLst/>
              <a:rect l="l" t="t" r="r" b="b"/>
              <a:pathLst>
                <a:path w="570611" h="570611">
                  <a:moveTo>
                    <a:pt x="0" y="0"/>
                  </a:moveTo>
                  <a:lnTo>
                    <a:pt x="570611" y="0"/>
                  </a:lnTo>
                  <a:lnTo>
                    <a:pt x="570611" y="570611"/>
                  </a:lnTo>
                  <a:lnTo>
                    <a:pt x="0" y="570611"/>
                  </a:lnTo>
                  <a:lnTo>
                    <a:pt x="0" y="0"/>
                  </a:lnTo>
                  <a:close/>
                </a:path>
              </a:pathLst>
            </a:custGeom>
            <a:blipFill>
              <a:blip r:embed="rId6"/>
              <a:stretch>
                <a:fillRect r="4" b="4"/>
              </a:stretch>
            </a:blipFill>
          </p:spPr>
          <p:txBody>
            <a:bodyPr/>
            <a:lstStyle/>
            <a:p>
              <a:endParaRPr lang="es-CO"/>
            </a:p>
          </p:txBody>
        </p:sp>
      </p:grpSp>
      <p:grpSp>
        <p:nvGrpSpPr>
          <p:cNvPr id="34" name="Group 34"/>
          <p:cNvGrpSpPr/>
          <p:nvPr/>
        </p:nvGrpSpPr>
        <p:grpSpPr>
          <a:xfrm>
            <a:off x="2263140" y="5321808"/>
            <a:ext cx="6069149" cy="480146"/>
            <a:chOff x="0" y="0"/>
            <a:chExt cx="8092199" cy="640194"/>
          </a:xfrm>
        </p:grpSpPr>
        <p:sp>
          <p:nvSpPr>
            <p:cNvPr id="35" name="Freeform 35"/>
            <p:cNvSpPr/>
            <p:nvPr/>
          </p:nvSpPr>
          <p:spPr>
            <a:xfrm>
              <a:off x="0" y="0"/>
              <a:ext cx="8092200" cy="640200"/>
            </a:xfrm>
            <a:custGeom>
              <a:avLst/>
              <a:gdLst/>
              <a:ahLst/>
              <a:cxnLst/>
              <a:rect l="l" t="t" r="r" b="b"/>
              <a:pathLst>
                <a:path w="8092200" h="640200">
                  <a:moveTo>
                    <a:pt x="0" y="0"/>
                  </a:moveTo>
                  <a:lnTo>
                    <a:pt x="8092200" y="0"/>
                  </a:lnTo>
                  <a:lnTo>
                    <a:pt x="8092200" y="640200"/>
                  </a:lnTo>
                  <a:lnTo>
                    <a:pt x="0" y="640200"/>
                  </a:lnTo>
                  <a:close/>
                </a:path>
              </a:pathLst>
            </a:custGeom>
            <a:blipFill>
              <a:blip r:embed="rId4">
                <a:alphaModFix amt="0"/>
              </a:blip>
              <a:stretch>
                <a:fillRect t="-196293" b="-196292"/>
              </a:stretch>
            </a:blipFill>
          </p:spPr>
          <p:txBody>
            <a:bodyPr/>
            <a:lstStyle/>
            <a:p>
              <a:endParaRPr lang="es-CO"/>
            </a:p>
          </p:txBody>
        </p:sp>
        <p:sp>
          <p:nvSpPr>
            <p:cNvPr id="36" name="TextBox 36"/>
            <p:cNvSpPr txBox="1"/>
            <p:nvPr/>
          </p:nvSpPr>
          <p:spPr>
            <a:xfrm>
              <a:off x="0" y="-47625"/>
              <a:ext cx="8092199" cy="687819"/>
            </a:xfrm>
            <a:prstGeom prst="rect">
              <a:avLst/>
            </a:prstGeom>
          </p:spPr>
          <p:txBody>
            <a:bodyPr lIns="0" tIns="0" rIns="0" bIns="0" rtlCol="0" anchor="ctr"/>
            <a:lstStyle/>
            <a:p>
              <a:pPr algn="l">
                <a:lnSpc>
                  <a:spcPts val="2520"/>
                </a:lnSpc>
              </a:pPr>
              <a:r>
                <a:rPr lang="en-US" sz="2100" b="1">
                  <a:solidFill>
                    <a:srgbClr val="00304D"/>
                  </a:solidFill>
                  <a:latin typeface="Calibri (MS) Bold"/>
                  <a:ea typeface="Calibri (MS) Bold"/>
                  <a:cs typeface="Calibri (MS) Bold"/>
                  <a:sym typeface="Calibri (MS) Bold"/>
                </a:rPr>
                <a:t>Experiencia de usuario</a:t>
              </a:r>
            </a:p>
          </p:txBody>
        </p:sp>
      </p:grpSp>
      <p:grpSp>
        <p:nvGrpSpPr>
          <p:cNvPr id="37" name="Group 37"/>
          <p:cNvGrpSpPr/>
          <p:nvPr/>
        </p:nvGrpSpPr>
        <p:grpSpPr>
          <a:xfrm>
            <a:off x="2263140" y="5792429"/>
            <a:ext cx="6069149" cy="1371419"/>
            <a:chOff x="0" y="0"/>
            <a:chExt cx="8092199" cy="1828559"/>
          </a:xfrm>
        </p:grpSpPr>
        <p:sp>
          <p:nvSpPr>
            <p:cNvPr id="38" name="Freeform 38"/>
            <p:cNvSpPr/>
            <p:nvPr/>
          </p:nvSpPr>
          <p:spPr>
            <a:xfrm>
              <a:off x="0" y="0"/>
              <a:ext cx="8092200" cy="1828552"/>
            </a:xfrm>
            <a:custGeom>
              <a:avLst/>
              <a:gdLst/>
              <a:ahLst/>
              <a:cxnLst/>
              <a:rect l="l" t="t" r="r" b="b"/>
              <a:pathLst>
                <a:path w="8092200" h="1828552">
                  <a:moveTo>
                    <a:pt x="0" y="0"/>
                  </a:moveTo>
                  <a:lnTo>
                    <a:pt x="8092200" y="0"/>
                  </a:lnTo>
                  <a:lnTo>
                    <a:pt x="8092200" y="1828552"/>
                  </a:lnTo>
                  <a:lnTo>
                    <a:pt x="0" y="1828552"/>
                  </a:lnTo>
                  <a:close/>
                </a:path>
              </a:pathLst>
            </a:custGeom>
            <a:blipFill>
              <a:blip r:embed="rId4">
                <a:alphaModFix amt="0"/>
              </a:blip>
              <a:stretch>
                <a:fillRect t="-41227" b="-31233"/>
              </a:stretch>
            </a:blipFill>
          </p:spPr>
          <p:txBody>
            <a:bodyPr/>
            <a:lstStyle/>
            <a:p>
              <a:endParaRPr lang="es-CO"/>
            </a:p>
          </p:txBody>
        </p:sp>
        <p:sp>
          <p:nvSpPr>
            <p:cNvPr id="39" name="TextBox 39"/>
            <p:cNvSpPr txBox="1"/>
            <p:nvPr/>
          </p:nvSpPr>
          <p:spPr>
            <a:xfrm>
              <a:off x="0" y="-47625"/>
              <a:ext cx="8092199" cy="1876184"/>
            </a:xfrm>
            <a:prstGeom prst="rect">
              <a:avLst/>
            </a:prstGeom>
          </p:spPr>
          <p:txBody>
            <a:bodyPr lIns="0" tIns="0" rIns="0" bIns="0" rtlCol="0" anchor="ctr"/>
            <a:lstStyle/>
            <a:p>
              <a:pPr algn="just">
                <a:lnSpc>
                  <a:spcPts val="2520"/>
                </a:lnSpc>
              </a:pPr>
              <a:r>
                <a:rPr lang="en-US" sz="2100">
                  <a:solidFill>
                    <a:srgbClr val="000000"/>
                  </a:solidFill>
                  <a:latin typeface="Calibri (MS)"/>
                  <a:ea typeface="Calibri (MS)"/>
                  <a:cs typeface="Calibri (MS)"/>
                  <a:sym typeface="Calibri (MS)"/>
                </a:rPr>
                <a:t>Interfaz intuitiva y adaptable, con panel administrativo funcional para registrar clientes y agendar servicios.</a:t>
              </a:r>
            </a:p>
          </p:txBody>
        </p:sp>
      </p:grpSp>
      <p:grpSp>
        <p:nvGrpSpPr>
          <p:cNvPr id="40" name="Group 40"/>
          <p:cNvGrpSpPr/>
          <p:nvPr/>
        </p:nvGrpSpPr>
        <p:grpSpPr>
          <a:xfrm>
            <a:off x="822960" y="7886700"/>
            <a:ext cx="15910646" cy="1371600"/>
            <a:chOff x="0" y="0"/>
            <a:chExt cx="21214194" cy="1828800"/>
          </a:xfrm>
        </p:grpSpPr>
        <p:sp>
          <p:nvSpPr>
            <p:cNvPr id="41" name="Freeform 41"/>
            <p:cNvSpPr/>
            <p:nvPr/>
          </p:nvSpPr>
          <p:spPr>
            <a:xfrm>
              <a:off x="0" y="0"/>
              <a:ext cx="21214207" cy="1828800"/>
            </a:xfrm>
            <a:custGeom>
              <a:avLst/>
              <a:gdLst/>
              <a:ahLst/>
              <a:cxnLst/>
              <a:rect l="l" t="t" r="r" b="b"/>
              <a:pathLst>
                <a:path w="21214207" h="1828800">
                  <a:moveTo>
                    <a:pt x="0" y="146304"/>
                  </a:moveTo>
                  <a:cubicBezTo>
                    <a:pt x="0" y="65532"/>
                    <a:pt x="65532" y="0"/>
                    <a:pt x="146304" y="0"/>
                  </a:cubicBezTo>
                  <a:lnTo>
                    <a:pt x="21067903" y="0"/>
                  </a:lnTo>
                  <a:cubicBezTo>
                    <a:pt x="21148675" y="0"/>
                    <a:pt x="21214207" y="65532"/>
                    <a:pt x="21214207" y="146304"/>
                  </a:cubicBezTo>
                  <a:lnTo>
                    <a:pt x="21214207" y="1682496"/>
                  </a:lnTo>
                  <a:cubicBezTo>
                    <a:pt x="21214207" y="1763268"/>
                    <a:pt x="21148675" y="1828800"/>
                    <a:pt x="21067903" y="1828800"/>
                  </a:cubicBezTo>
                  <a:lnTo>
                    <a:pt x="146304" y="1828800"/>
                  </a:lnTo>
                  <a:cubicBezTo>
                    <a:pt x="65532" y="1828800"/>
                    <a:pt x="0" y="1763268"/>
                    <a:pt x="0" y="1682496"/>
                  </a:cubicBezTo>
                  <a:close/>
                </a:path>
              </a:pathLst>
            </a:custGeom>
            <a:solidFill>
              <a:srgbClr val="FFF3D6"/>
            </a:solidFill>
          </p:spPr>
          <p:txBody>
            <a:bodyPr/>
            <a:lstStyle/>
            <a:p>
              <a:endParaRPr lang="es-CO"/>
            </a:p>
          </p:txBody>
        </p:sp>
      </p:grpSp>
      <p:grpSp>
        <p:nvGrpSpPr>
          <p:cNvPr id="42" name="Group 42"/>
          <p:cNvGrpSpPr/>
          <p:nvPr/>
        </p:nvGrpSpPr>
        <p:grpSpPr>
          <a:xfrm>
            <a:off x="1234440" y="7886700"/>
            <a:ext cx="15087600" cy="1371600"/>
            <a:chOff x="0" y="0"/>
            <a:chExt cx="20116800" cy="1828800"/>
          </a:xfrm>
        </p:grpSpPr>
        <p:sp>
          <p:nvSpPr>
            <p:cNvPr id="43" name="Freeform 43"/>
            <p:cNvSpPr/>
            <p:nvPr/>
          </p:nvSpPr>
          <p:spPr>
            <a:xfrm>
              <a:off x="0" y="0"/>
              <a:ext cx="20116800" cy="1828800"/>
            </a:xfrm>
            <a:custGeom>
              <a:avLst/>
              <a:gdLst/>
              <a:ahLst/>
              <a:cxnLst/>
              <a:rect l="l" t="t" r="r" b="b"/>
              <a:pathLst>
                <a:path w="20116800" h="1828800">
                  <a:moveTo>
                    <a:pt x="0" y="0"/>
                  </a:moveTo>
                  <a:lnTo>
                    <a:pt x="20116800" y="0"/>
                  </a:lnTo>
                  <a:lnTo>
                    <a:pt x="20116800" y="1828800"/>
                  </a:lnTo>
                  <a:lnTo>
                    <a:pt x="0" y="1828800"/>
                  </a:lnTo>
                  <a:close/>
                </a:path>
              </a:pathLst>
            </a:custGeom>
            <a:blipFill>
              <a:blip r:embed="rId4">
                <a:alphaModFix amt="0"/>
              </a:blip>
              <a:stretch>
                <a:fillRect t="-164335" b="-164335"/>
              </a:stretch>
            </a:blipFill>
          </p:spPr>
          <p:txBody>
            <a:bodyPr/>
            <a:lstStyle/>
            <a:p>
              <a:endParaRPr lang="es-CO"/>
            </a:p>
          </p:txBody>
        </p:sp>
        <p:sp>
          <p:nvSpPr>
            <p:cNvPr id="44" name="TextBox 44"/>
            <p:cNvSpPr txBox="1"/>
            <p:nvPr/>
          </p:nvSpPr>
          <p:spPr>
            <a:xfrm>
              <a:off x="0" y="-38100"/>
              <a:ext cx="20116800" cy="1866900"/>
            </a:xfrm>
            <a:prstGeom prst="rect">
              <a:avLst/>
            </a:prstGeom>
          </p:spPr>
          <p:txBody>
            <a:bodyPr lIns="0" tIns="0" rIns="0" bIns="0" rtlCol="0" anchor="ctr"/>
            <a:lstStyle/>
            <a:p>
              <a:pPr algn="l">
                <a:lnSpc>
                  <a:spcPts val="2250"/>
                </a:lnSpc>
              </a:pPr>
              <a:r>
                <a:rPr lang="en-US" sz="1875" b="1">
                  <a:solidFill>
                    <a:srgbClr val="00304D"/>
                  </a:solidFill>
                  <a:latin typeface="Calibri (MS) Bold"/>
                  <a:ea typeface="Calibri (MS) Bold"/>
                  <a:cs typeface="Calibri (MS) Bold"/>
                  <a:sym typeface="Calibri (MS) Bold"/>
                </a:rPr>
                <a:t>Trabajo futuro:  </a:t>
              </a:r>
              <a:r>
                <a:rPr lang="en-US" sz="1875">
                  <a:solidFill>
                    <a:srgbClr val="00304D"/>
                  </a:solidFill>
                  <a:latin typeface="Calibri (MS)"/>
                  <a:ea typeface="Calibri (MS)"/>
                  <a:cs typeface="Calibri (MS)"/>
                  <a:sym typeface="Calibri (MS)"/>
                </a:rPr>
                <a:t>pasarela de pagos real, app móvil (APK) para clientes y notificaciones automáticas de mantenimiento.</a:t>
              </a:r>
            </a:p>
          </p:txBody>
        </p:sp>
      </p:grpSp>
      <p:grpSp>
        <p:nvGrpSpPr>
          <p:cNvPr id="45" name="Group 45"/>
          <p:cNvGrpSpPr/>
          <p:nvPr/>
        </p:nvGrpSpPr>
        <p:grpSpPr>
          <a:xfrm>
            <a:off x="1296162" y="3367321"/>
            <a:ext cx="493776" cy="493776"/>
            <a:chOff x="0" y="0"/>
            <a:chExt cx="658368" cy="658368"/>
          </a:xfrm>
        </p:grpSpPr>
        <p:sp>
          <p:nvSpPr>
            <p:cNvPr id="46" name="Freeform 46" descr="icons/server.png"/>
            <p:cNvSpPr/>
            <p:nvPr/>
          </p:nvSpPr>
          <p:spPr>
            <a:xfrm>
              <a:off x="0" y="0"/>
              <a:ext cx="658368" cy="658368"/>
            </a:xfrm>
            <a:custGeom>
              <a:avLst/>
              <a:gdLst/>
              <a:ahLst/>
              <a:cxnLst/>
              <a:rect l="l" t="t" r="r" b="b"/>
              <a:pathLst>
                <a:path w="658368" h="658368">
                  <a:moveTo>
                    <a:pt x="0" y="0"/>
                  </a:moveTo>
                  <a:lnTo>
                    <a:pt x="658368" y="0"/>
                  </a:lnTo>
                  <a:lnTo>
                    <a:pt x="658368" y="658368"/>
                  </a:lnTo>
                  <a:lnTo>
                    <a:pt x="0" y="658368"/>
                  </a:lnTo>
                  <a:lnTo>
                    <a:pt x="0" y="0"/>
                  </a:lnTo>
                  <a:close/>
                </a:path>
              </a:pathLst>
            </a:custGeom>
            <a:blipFill>
              <a:blip r:embed="rId7"/>
              <a:stretch>
                <a:fillRect/>
              </a:stretch>
            </a:blipFill>
          </p:spPr>
          <p:txBody>
            <a:bodyPr/>
            <a:lstStyle/>
            <a:p>
              <a:endParaRPr lang="es-CO"/>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lang="es-CO"/>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TotalTime>
  <Words>701</Words>
  <Application>Microsoft Office PowerPoint</Application>
  <PresentationFormat>Personalizado</PresentationFormat>
  <Paragraphs>113</Paragraphs>
  <Slides>8</Slides>
  <Notes>8</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8</vt:i4>
      </vt:variant>
    </vt:vector>
  </HeadingPairs>
  <TitlesOfParts>
    <vt:vector size="15" baseType="lpstr">
      <vt:lpstr>Calibri</vt:lpstr>
      <vt:lpstr>Calibri (MS)</vt:lpstr>
      <vt:lpstr>Calibri (MS) Bold</vt:lpstr>
      <vt:lpstr>Work Sans Bold</vt:lpstr>
      <vt:lpstr>Arial Bold</vt: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Presentacion MSS.pptx</dc:title>
  <dc:creator>Aprendiz</dc:creator>
  <cp:lastModifiedBy>24A_9212109946</cp:lastModifiedBy>
  <cp:revision>4</cp:revision>
  <dcterms:created xsi:type="dcterms:W3CDTF">2006-08-16T00:00:00Z</dcterms:created>
  <dcterms:modified xsi:type="dcterms:W3CDTF">2026-09-17T15:49:44Z</dcterms:modified>
  <dc:identifier>DAHVLpckKfQ</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c111285-cafa-4fc9-8a9a-bd902089b24f_Enabled">
    <vt:lpwstr>true</vt:lpwstr>
  </property>
  <property fmtid="{D5CDD505-2E9C-101B-9397-08002B2CF9AE}" pid="3" name="MSIP_Label_fc111285-cafa-4fc9-8a9a-bd902089b24f_SetDate">
    <vt:lpwstr>2026-09-17T15:01:58Z</vt:lpwstr>
  </property>
  <property fmtid="{D5CDD505-2E9C-101B-9397-08002B2CF9AE}" pid="4" name="MSIP_Label_fc111285-cafa-4fc9-8a9a-bd902089b24f_Method">
    <vt:lpwstr>Privileged</vt:lpwstr>
  </property>
  <property fmtid="{D5CDD505-2E9C-101B-9397-08002B2CF9AE}" pid="5" name="MSIP_Label_fc111285-cafa-4fc9-8a9a-bd902089b24f_Name">
    <vt:lpwstr>Public</vt:lpwstr>
  </property>
  <property fmtid="{D5CDD505-2E9C-101B-9397-08002B2CF9AE}" pid="6" name="MSIP_Label_fc111285-cafa-4fc9-8a9a-bd902089b24f_SiteId">
    <vt:lpwstr>cbc2c381-2f2e-4d93-91d1-506c9316ace7</vt:lpwstr>
  </property>
  <property fmtid="{D5CDD505-2E9C-101B-9397-08002B2CF9AE}" pid="7" name="MSIP_Label_fc111285-cafa-4fc9-8a9a-bd902089b24f_ActionId">
    <vt:lpwstr>f9c9f001-ed7e-4c8f-94f6-8eb741ccba3e</vt:lpwstr>
  </property>
  <property fmtid="{D5CDD505-2E9C-101B-9397-08002B2CF9AE}" pid="8" name="MSIP_Label_fc111285-cafa-4fc9-8a9a-bd902089b24f_ContentBits">
    <vt:lpwstr>0</vt:lpwstr>
  </property>
  <property fmtid="{D5CDD505-2E9C-101B-9397-08002B2CF9AE}" pid="9" name="MSIP_Label_fc111285-cafa-4fc9-8a9a-bd902089b24f_Tag">
    <vt:lpwstr>10, 0, 1, 1</vt:lpwstr>
  </property>
</Properties>
</file>